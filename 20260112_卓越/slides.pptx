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311" r:id="rId3"/>
    <p:sldId id="312" r:id="rId4"/>
    <p:sldId id="313" r:id="rId6"/>
    <p:sldId id="261" r:id="rId7"/>
    <p:sldId id="336" r:id="rId8"/>
    <p:sldId id="337" r:id="rId9"/>
    <p:sldId id="359" r:id="rId10"/>
    <p:sldId id="262" r:id="rId11"/>
    <p:sldId id="324" r:id="rId12"/>
    <p:sldId id="360" r:id="rId13"/>
    <p:sldId id="361" r:id="rId14"/>
    <p:sldId id="369" r:id="rId15"/>
    <p:sldId id="275" r:id="rId16"/>
    <p:sldId id="316" r:id="rId17"/>
    <p:sldId id="363" r:id="rId18"/>
    <p:sldId id="362" r:id="rId19"/>
    <p:sldId id="364" r:id="rId20"/>
    <p:sldId id="368" r:id="rId21"/>
    <p:sldId id="370" r:id="rId22"/>
    <p:sldId id="365" r:id="rId23"/>
    <p:sldId id="371" r:id="rId24"/>
    <p:sldId id="366" r:id="rId25"/>
    <p:sldId id="367" r:id="rId26"/>
    <p:sldId id="372" r:id="rId27"/>
    <p:sldId id="314" r:id="rId28"/>
    <p:sldId id="315" r:id="rId29"/>
    <p:sldId id="373" r:id="rId30"/>
    <p:sldId id="374" r:id="rId31"/>
    <p:sldId id="341" r:id="rId32"/>
    <p:sldId id="375" r:id="rId33"/>
    <p:sldId id="338" r:id="rId34"/>
    <p:sldId id="335" r:id="rId35"/>
    <p:sldId id="376" r:id="rId36"/>
    <p:sldId id="377" r:id="rId37"/>
    <p:sldId id="380" r:id="rId38"/>
    <p:sldId id="381" r:id="rId39"/>
    <p:sldId id="378" r:id="rId40"/>
    <p:sldId id="347" r:id="rId41"/>
    <p:sldId id="348" r:id="rId42"/>
    <p:sldId id="382" r:id="rId43"/>
    <p:sldId id="383" r:id="rId44"/>
    <p:sldId id="384" r:id="rId45"/>
    <p:sldId id="385" r:id="rId46"/>
    <p:sldId id="387" r:id="rId47"/>
    <p:sldId id="390" r:id="rId48"/>
    <p:sldId id="388" r:id="rId49"/>
    <p:sldId id="386" r:id="rId50"/>
    <p:sldId id="389" r:id="rId51"/>
    <p:sldId id="357" r:id="rId5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900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3" autoAdjust="0"/>
    <p:restoredTop sz="80218" autoAdjust="0"/>
  </p:normalViewPr>
  <p:slideViewPr>
    <p:cSldViewPr snapToGrid="0" showGuides="1">
      <p:cViewPr varScale="1">
        <p:scale>
          <a:sx n="90" d="100"/>
          <a:sy n="90" d="100"/>
        </p:scale>
        <p:origin x="738" y="60"/>
      </p:cViewPr>
      <p:guideLst>
        <p:guide orient="horz" pos="218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CC432B-1ADD-4E95-A7F4-16EFB76613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CF531E-88B5-40F8-84AB-51B14DBCBF3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C7FC5C-4C7F-4BD2-8E54-3AF7782822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模糊化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C11DC-1649-433F-B62C-C97A01EC6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基于密集互联的知识图谱（引入循环结构、多跳依赖），而非简单树状扩展；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除“模糊化”外，引入多种不确定性定义（如信息缺失、冲突、多源歧义等），迫使模型发展更高级的推理能力；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保留完整的工具调用过程（如搜索查询、</a:t>
            </a:r>
            <a:r>
              <a:rPr lang="en-US" altLang="zh-CN" dirty="0"/>
              <a:t>URL </a:t>
            </a:r>
            <a:r>
              <a:rPr lang="zh-CN" altLang="en-US" dirty="0"/>
              <a:t>来源），使数据更贴近真实智能体交互轨迹。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C11DC-1649-433F-B62C-C97A01EC6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C11DC-1649-433F-B62C-C97A01EC6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 err="1"/>
              <a:t>WebShaper</a:t>
            </a:r>
            <a:r>
              <a:rPr lang="zh-CN" altLang="en-US" dirty="0"/>
              <a:t>、</a:t>
            </a:r>
            <a:r>
              <a:rPr lang="en-US" altLang="zh-CN" dirty="0" err="1"/>
              <a:t>Asearcher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采用“由易到难”策略：</a:t>
            </a:r>
            <a:endParaRPr lang="en-US" altLang="zh-CN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刻意构造环状子图，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包含完整的工具调用历史，计算并存储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数值型或类别型统计特征</a:t>
            </a:r>
            <a:endParaRPr lang="zh-CN" alt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设计问题模板，构造实体数据库，自动生成问题和</a:t>
            </a:r>
            <a:r>
              <a:rPr lang="en-US" altLang="zh-CN" dirty="0"/>
              <a:t>html</a:t>
            </a:r>
            <a:r>
              <a:rPr lang="zh-CN" altLang="en-US" dirty="0"/>
              <a:t>，专家策略推理生成轨迹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C11DC-1649-433F-B62C-C97A01EC6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C11DC-1649-433F-B62C-C97A01EC6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识别其中的 非同构节点，即在图中扮演不同结构角色的节点。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C11DC-1649-433F-B62C-C97A01EC6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基础算法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：基于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GRPO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 Relative Policy Optimization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），使用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组内相对优势估计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endParaRPr lang="en-US" altLang="zh-CN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关键技巧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严格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on-policy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：始终用最新策略采样轨迹；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Token-level policy gradient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：更细粒度更新；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Leave-one-out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优势估计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：降低方差；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保守处理负样本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：过滤“无最终答案”的轨迹（如超长截断），防“格式坍塌”（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format collapse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）；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大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batch +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大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 size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：替代动态采样，稳定训练。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C11DC-1649-433F-B62C-C97A01EC6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C11DC-1649-433F-B62C-C97A01EC6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上下文长度扩展至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128k tokens</a:t>
            </a:r>
            <a:endParaRPr lang="en-US" altLang="zh-CN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拒绝采样，保留成功样本，拒绝失败样本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C11DC-1649-433F-B62C-C97A01EC6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Simulated Environment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（仿真环境）：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基于离线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Wikipedia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构建；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高速、低成本、可复现，用于高频算法迭代；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行为与真实环境高度一致（状态转移、奖励机制、工具行为）。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 Environment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（真实环境）：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对接真实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Google Search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Google Scholar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）；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通过统一工具调度层屏蔽不稳定性（缓存、重试、限流、备用源）；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保证轨迹质量，避免噪声污染训练数据。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search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调用搜索引擎（如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Google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visit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访问指定网页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google scholar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Google Scholar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中检索学术文献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python interpreter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执行代码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/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C11DC-1649-433F-B62C-C97A01EC6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基础算法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：基于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GRPO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 Relative Policy Optimization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），使用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组内相对优势估计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关键技巧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严格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on-policy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：始终用最新策略采样轨迹；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Token-level policy gradient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：更细粒度更新；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Leave-one-out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优势估计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：降低方差；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保守处理负样本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：过滤“无最终答案”的轨迹（如超长截断），防“格式坍塌”（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format collapse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）；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大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batch +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大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 size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：替代动态采样，稳定训练。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C11DC-1649-433F-B62C-C97A01EC6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基础算法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：基于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GRPO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 Relative Policy Optimization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），使用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组内相对优势估计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关键技巧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严格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on-policy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：始终用最新策略采样轨迹；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Token-level policy gradient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：更细粒度更新；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Leave-one-out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优势估计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：降低方差；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保守处理负样本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：过滤“无最终答案”的轨迹（如超长截断），防“格式坍塌”（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format collapse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）；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大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batch +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大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 size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：替代动态采样，稳定训练。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C11DC-1649-433F-B62C-C97A01EC6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1200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800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466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1500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500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400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C11DC-1649-433F-B62C-C97A01EC6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算法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SailorFog-QA-V2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的结构多样性与不确定性设计是性能跃升的基石；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环境稳定性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花哨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RL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技巧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：仿真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真实双环境保障了训练信号干净；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智能体架构是“杠杆”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：让中小模型借力外部工具，实现能力跃迁。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C11DC-1649-433F-B62C-C97A01EC6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评估维度：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信息检索能力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研究报告生成质量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C11DC-1649-433F-B62C-C97A01EC6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pass@1</a:t>
            </a: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pass@3</a:t>
            </a: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的差距表示是否学习到新东西</a:t>
            </a:r>
            <a:endParaRPr lang="en-US" altLang="zh-CN" sz="1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C11DC-1649-433F-B62C-C97A01EC6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C11DC-1649-433F-B62C-C97A01EC6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C11DC-1649-433F-B62C-C97A01EC6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C11DC-1649-433F-B62C-C97A01EC6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C11DC-1649-433F-B62C-C97A01EC6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C11DC-1649-433F-B62C-C97A01EC6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C11DC-1649-433F-B62C-C97A01EC6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随机抽样、基于节点重要性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C11DC-1649-433F-B62C-C97A01EC6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C11DC-1649-433F-B62C-C97A01EC6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1.</a:t>
            </a:r>
            <a:r>
              <a:rPr lang="zh-CN" altLang="en-US" dirty="0"/>
              <a:t>找到主题实体，是则为</a:t>
            </a:r>
            <a:r>
              <a:rPr lang="en-US" altLang="zh-CN" dirty="0"/>
              <a:t>1</a:t>
            </a:r>
            <a:r>
              <a:rPr lang="zh-CN" altLang="en-US" dirty="0"/>
              <a:t>，否则为</a:t>
            </a:r>
            <a:r>
              <a:rPr lang="en-US" altLang="zh-CN" dirty="0"/>
              <a:t>0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2.</a:t>
            </a:r>
            <a:r>
              <a:rPr lang="zh-CN" altLang="en-US" dirty="0"/>
              <a:t>正向：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实体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的新特征是其所有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前驱节点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在上一层特征的平均值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实体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的新特征是其所有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后继节点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在上一层特征的平均值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C11DC-1649-433F-B62C-C97A01EC6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表示该三元组是否应该被包含在最终的检索子图中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C11DC-1649-433F-B62C-C97A01EC6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C11DC-1649-433F-B62C-C97A01EC6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C11DC-1649-433F-B62C-C97A01EC6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C11DC-1649-433F-B62C-C97A01EC6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模型：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结构无关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路径约束</a:t>
            </a:r>
            <a:r>
              <a:rPr lang="en-US" altLang="zh-CN" dirty="0"/>
              <a:t> rog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子图构建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C11DC-1649-433F-B62C-C97A01EC6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不同跳数占比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C11DC-1649-433F-B62C-C97A01EC6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C11DC-1649-433F-B62C-C97A01EC6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C11DC-1649-433F-B62C-C97A01EC6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Rog—joint</a:t>
            </a:r>
            <a:r>
              <a:rPr lang="zh-CN" altLang="en-US" dirty="0"/>
              <a:t>存在数据泄露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C11DC-1649-433F-B62C-C97A01EC6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C11DC-1649-433F-B62C-C97A01EC6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C11DC-1649-433F-B62C-C97A01EC6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C11DC-1649-433F-B62C-C97A01EC6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8F0E6-9E6C-4946-AE1F-635E60D782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5E657-966A-481F-A9C8-9B69999C6C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8F0E6-9E6C-4946-AE1F-635E60D782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5E657-966A-481F-A9C8-9B69999C6C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8F0E6-9E6C-4946-AE1F-635E60D782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5E657-966A-481F-A9C8-9B69999C6C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8F0E6-9E6C-4946-AE1F-635E60D782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5E657-966A-481F-A9C8-9B69999C6C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8F0E6-9E6C-4946-AE1F-635E60D782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5E657-966A-481F-A9C8-9B69999C6C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8F0E6-9E6C-4946-AE1F-635E60D782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5E657-966A-481F-A9C8-9B69999C6C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8F0E6-9E6C-4946-AE1F-635E60D782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5E657-966A-481F-A9C8-9B69999C6C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8F0E6-9E6C-4946-AE1F-635E60D782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5E657-966A-481F-A9C8-9B69999C6C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8F0E6-9E6C-4946-AE1F-635E60D782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5E657-966A-481F-A9C8-9B69999C6C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8F0E6-9E6C-4946-AE1F-635E60D782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5E657-966A-481F-A9C8-9B69999C6C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8F0E6-9E6C-4946-AE1F-635E60D782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5E657-966A-481F-A9C8-9B69999C6C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A8F0E6-9E6C-4946-AE1F-635E60D782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D5E657-966A-481F-A9C8-9B69999C6CB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1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.jpe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.jpeg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1.jpe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1" Type="http://schemas.openxmlformats.org/officeDocument/2006/relationships/image" Target="../media/image1.jpe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1" Type="http://schemas.openxmlformats.org/officeDocument/2006/relationships/image" Target="../media/image1.jpe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1" Type="http://schemas.openxmlformats.org/officeDocument/2006/relationships/image" Target="../media/image1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9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0.png"/><Relationship Id="rId1" Type="http://schemas.openxmlformats.org/officeDocument/2006/relationships/image" Target="../media/image1.jpe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1.png"/><Relationship Id="rId1" Type="http://schemas.openxmlformats.org/officeDocument/2006/relationships/image" Target="../media/image1.jpeg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3.png"/><Relationship Id="rId2" Type="http://schemas.openxmlformats.org/officeDocument/2006/relationships/image" Target="../media/image1.jpeg"/><Relationship Id="rId1" Type="http://schemas.openxmlformats.org/officeDocument/2006/relationships/image" Target="../media/image32.png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3.png"/><Relationship Id="rId2" Type="http://schemas.openxmlformats.org/officeDocument/2006/relationships/image" Target="../media/image34.png"/><Relationship Id="rId1" Type="http://schemas.openxmlformats.org/officeDocument/2006/relationships/image" Target="../media/image1.jpe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5.png"/><Relationship Id="rId1" Type="http://schemas.openxmlformats.org/officeDocument/2006/relationships/image" Target="../media/image1.jpeg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1" Type="http://schemas.openxmlformats.org/officeDocument/2006/relationships/image" Target="../media/image1.jpeg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7.png"/><Relationship Id="rId1" Type="http://schemas.openxmlformats.org/officeDocument/2006/relationships/image" Target="../media/image1.jpeg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8.png"/><Relationship Id="rId1" Type="http://schemas.openxmlformats.org/officeDocument/2006/relationships/image" Target="../media/image1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569334"/>
            <a:ext cx="12192000" cy="1719330"/>
          </a:xfrm>
          <a:prstGeom prst="rect">
            <a:avLst/>
          </a:prstGeom>
          <a:solidFill>
            <a:srgbClr val="871F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0" y="830687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800321" y="2767279"/>
            <a:ext cx="459135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组会汇报</a:t>
            </a:r>
            <a:endParaRPr lang="zh-CN" altLang="en-US" sz="8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47399" y="5239466"/>
            <a:ext cx="24401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汇报人：卓越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034777" y="5884903"/>
            <a:ext cx="2065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2026.1.12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0" y="830687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3" name="组合 12"/>
          <p:cNvGrpSpPr/>
          <p:nvPr/>
        </p:nvGrpSpPr>
        <p:grpSpPr>
          <a:xfrm>
            <a:off x="0" y="1715558"/>
            <a:ext cx="12192000" cy="1308629"/>
            <a:chOff x="0" y="976119"/>
            <a:chExt cx="12192000" cy="1308629"/>
          </a:xfrm>
        </p:grpSpPr>
        <p:sp>
          <p:nvSpPr>
            <p:cNvPr id="9" name="矩形 8"/>
            <p:cNvSpPr/>
            <p:nvPr/>
          </p:nvSpPr>
          <p:spPr>
            <a:xfrm>
              <a:off x="0" y="976119"/>
              <a:ext cx="12192000" cy="1308629"/>
            </a:xfrm>
            <a:prstGeom prst="rect">
              <a:avLst/>
            </a:prstGeom>
            <a:solidFill>
              <a:srgbClr val="871F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94160" y="1166980"/>
              <a:ext cx="973924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WebSailor-V2:Bridging the Chasm to Proprietary Agents via Synthetic Data and Scalable Reinforcement Learning</a:t>
              </a:r>
              <a:endPara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9860205" y="1773214"/>
              <a:ext cx="2137635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Deep Research</a:t>
              </a:r>
              <a:endPara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0" y="4366664"/>
            <a:ext cx="12192000" cy="1308629"/>
            <a:chOff x="0" y="3833813"/>
            <a:chExt cx="12192000" cy="1308629"/>
          </a:xfrm>
        </p:grpSpPr>
        <p:sp>
          <p:nvSpPr>
            <p:cNvPr id="11" name="矩形 10"/>
            <p:cNvSpPr/>
            <p:nvPr/>
          </p:nvSpPr>
          <p:spPr>
            <a:xfrm>
              <a:off x="0" y="3833813"/>
              <a:ext cx="12192000" cy="1308629"/>
            </a:xfrm>
            <a:prstGeom prst="rect">
              <a:avLst/>
            </a:prstGeom>
            <a:solidFill>
              <a:srgbClr val="871F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94159" y="4011073"/>
              <a:ext cx="1031017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Simple Is Effective: The Roles of Graphs and Large Language Models in Knowledge-Graph-Based Retrieval-Augmented Generation</a:t>
              </a:r>
              <a:endPara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297264" y="4623127"/>
              <a:ext cx="1700576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ICLR</a:t>
              </a:r>
              <a:r>
                <a:rPr lang="zh-CN" alt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2025</a:t>
              </a:r>
              <a:endPara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sp>
        <p:nvSpPr>
          <p:cNvPr id="9" name="矩形 8"/>
          <p:cNvSpPr/>
          <p:nvPr/>
        </p:nvSpPr>
        <p:spPr>
          <a:xfrm>
            <a:off x="0" y="1461752"/>
            <a:ext cx="12192000" cy="1719330"/>
          </a:xfrm>
          <a:prstGeom prst="rect">
            <a:avLst/>
          </a:prstGeom>
          <a:solidFill>
            <a:srgbClr val="871F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-139506" y="1721252"/>
            <a:ext cx="12471011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WebSailor-V2:Bridging the Chasm to Proprietary Agents via Synthetic Data and Scalable Reinforcement Learning</a:t>
            </a:r>
            <a:endParaRPr lang="zh-CN" altLang="en-US" sz="32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875690" y="5673370"/>
            <a:ext cx="33163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Research</a:t>
            </a:r>
            <a:endParaRPr lang="en-US" altLang="zh-C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0" y="830687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" name="图片 6" descr="文本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68" y="3728059"/>
            <a:ext cx="9940965" cy="16681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569334"/>
            <a:ext cx="12192000" cy="1719330"/>
          </a:xfrm>
          <a:prstGeom prst="rect">
            <a:avLst/>
          </a:prstGeom>
          <a:solidFill>
            <a:srgbClr val="871F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0" y="830687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2903719" y="2767280"/>
            <a:ext cx="6384563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 </a:t>
            </a:r>
            <a:r>
              <a:rPr lang="zh-CN" altLang="en-US" sz="8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背景与动机</a:t>
            </a:r>
            <a:endParaRPr lang="zh-CN" altLang="en-US" sz="80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0" y="830687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9268" y="259050"/>
            <a:ext cx="36254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1.1 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背景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592580" y="4380865"/>
            <a:ext cx="925068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2C2C3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训练数据缺乏多样性，仅用“模糊化”建模不确定性，难以反映真实知识图谱中的循环依赖和多源歧义</a:t>
            </a:r>
            <a:endParaRPr lang="en-US" altLang="zh-CN" sz="2000" dirty="0">
              <a:solidFill>
                <a:srgbClr val="2C2C3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CN" sz="2000" dirty="0">
              <a:solidFill>
                <a:srgbClr val="2C2C3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2C2C3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强化学习依赖真实网络环境，面临高成本、高延迟、不稳定等问题，难以实现高效、稳定、可复现的训练</a:t>
            </a:r>
            <a:endParaRPr lang="en-US" altLang="zh-CN" sz="2000" dirty="0">
              <a:solidFill>
                <a:srgbClr val="2C2C3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17930" y="3590925"/>
            <a:ext cx="19329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面临问题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91945" y="1967230"/>
            <a:ext cx="87395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2C2C3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Deep Research</a:t>
            </a:r>
            <a:r>
              <a:rPr lang="zh-CN" altLang="en-US" sz="2000" dirty="0">
                <a:solidFill>
                  <a:srgbClr val="2C2C3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智能体能像人类一样通过工具自主完成多步推理与信息整合</a:t>
            </a:r>
            <a:endParaRPr lang="en-US" altLang="zh-CN" sz="2000" dirty="0">
              <a:solidFill>
                <a:srgbClr val="2C2C3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CN" sz="2000" dirty="0">
              <a:solidFill>
                <a:srgbClr val="2C2C3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2C2C3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当前开源网络智能体在复杂任务上远逊于闭源模型</a:t>
            </a:r>
            <a:endParaRPr lang="en-US" altLang="zh-CN" sz="2000" dirty="0">
              <a:solidFill>
                <a:srgbClr val="2C2C3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217478" y="1316541"/>
            <a:ext cx="1230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背景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119268" y="923801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9268" y="259050"/>
            <a:ext cx="36254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1.2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动机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00685" y="1360170"/>
            <a:ext cx="13271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动机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62483" y="2035045"/>
            <a:ext cx="111304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通过高质量合成数据和可扩展、鲁棒的强化学习框架，缩小开源与闭源智能体之间的性能差距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62635" y="3744595"/>
            <a:ext cx="1065212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2C2C3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SailorFog-QA-V2 </a:t>
            </a:r>
            <a:r>
              <a:rPr lang="zh-CN" altLang="en-US" sz="2000" dirty="0">
                <a:solidFill>
                  <a:srgbClr val="2C2C3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数据集：更贴近真实世界复杂性的合成数据</a:t>
            </a:r>
            <a:endParaRPr lang="en-US" altLang="zh-CN" sz="2000" dirty="0">
              <a:solidFill>
                <a:srgbClr val="2C2C3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000" dirty="0">
              <a:solidFill>
                <a:srgbClr val="2C2C3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000" dirty="0">
              <a:solidFill>
                <a:srgbClr val="2C2C3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en-US" sz="2000" dirty="0">
              <a:solidFill>
                <a:srgbClr val="2C2C3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2C2C3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“仿真 </a:t>
            </a:r>
            <a:r>
              <a:rPr lang="en-US" altLang="zh-CN" sz="2000" dirty="0">
                <a:solidFill>
                  <a:srgbClr val="2C2C3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 </a:t>
            </a:r>
            <a:r>
              <a:rPr lang="zh-CN" altLang="en-US" sz="2000" dirty="0">
                <a:solidFill>
                  <a:srgbClr val="2C2C3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真实”双环境 </a:t>
            </a:r>
            <a:r>
              <a:rPr lang="en-US" altLang="zh-CN" sz="2000" dirty="0">
                <a:solidFill>
                  <a:srgbClr val="2C2C3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RL </a:t>
            </a:r>
            <a:r>
              <a:rPr lang="zh-CN" altLang="en-US" sz="2000" dirty="0">
                <a:solidFill>
                  <a:srgbClr val="2C2C3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框架：结合数据与策略的闭环协同进化，实现高效、稳定、持续提升的智能体训练</a:t>
            </a:r>
            <a:endParaRPr lang="en-US" altLang="zh-CN" sz="2000" dirty="0">
              <a:solidFill>
                <a:srgbClr val="2C2C3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9090" y="3043555"/>
            <a:ext cx="18573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核心创新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119268" y="923801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19268" y="259050"/>
            <a:ext cx="442697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1.3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模型训练效果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 descr="图表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68" y="1167691"/>
            <a:ext cx="11958725" cy="4219606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78812" y="5426367"/>
            <a:ext cx="1113049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BrowseComp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-EN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：问题高度复杂且模糊，需多步工具调用，答案需结构化且可验证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xbench-DeepSearch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：真实世界专业任务，对噪声的鲁棒性要求高，更强调工具的组合使用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569334"/>
            <a:ext cx="12192000" cy="1719330"/>
          </a:xfrm>
          <a:prstGeom prst="rect">
            <a:avLst/>
          </a:prstGeom>
          <a:solidFill>
            <a:srgbClr val="871F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0" y="830687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636578" y="2921168"/>
            <a:ext cx="1091884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 SailorFog-QA-V2</a:t>
            </a:r>
            <a:r>
              <a:rPr lang="zh-CN" altLang="en-US" sz="6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数据集构建</a:t>
            </a:r>
            <a:endParaRPr lang="zh-CN" altLang="en-US" sz="60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119268" y="923801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9268" y="259050"/>
            <a:ext cx="597673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2.1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SailorFog-QA-V2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数据集构建方法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0004" y="2777488"/>
            <a:ext cx="4000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现有方法数据集构造方法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9819" y="1130641"/>
            <a:ext cx="364951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信息检索任务：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16890" y="1798320"/>
            <a:ext cx="73463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理解并利用由实体及其关系构成的复杂网络进行多跳推理</a:t>
            </a:r>
            <a:endParaRPr lang="zh-CN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6571" y="3469576"/>
            <a:ext cx="544879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从一个种子问题或实体出发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p"/>
            </a:pP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通过搜索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浏览工具逐步扩展，发现新实体和事实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p"/>
            </a:pP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动态构建知识图谱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p"/>
            </a:pP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这种扩展方式天然倾向于生成树状，缺乏循环</a:t>
            </a:r>
            <a:endParaRPr lang="zh-CN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892707" y="2777488"/>
            <a:ext cx="4408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SailorFog-QA-V2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构造方法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296023" y="3470928"/>
            <a:ext cx="5736771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主动引入循环结构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保留完整的推理过程信息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为实体添加统计特征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构建结构更复杂、覆盖更全面、过程更透明的知识图谱</a:t>
            </a:r>
            <a:endParaRPr lang="zh-CN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119268" y="923801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9268" y="259050"/>
            <a:ext cx="605293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2.2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SailorFog-V2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子图采样策略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494" y="3201724"/>
            <a:ext cx="4759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WebSailor-V2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的子图采样策略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21970" y="3961746"/>
            <a:ext cx="9894194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采用随机游走策略从图中高效采样子图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计算高效：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避免了暴力搜索的高开销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覆盖全面：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仍能采样到结构多样的子图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去重保障：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 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Weisfeiler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-Leman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算法验证子图是否非同构，确保采样的子图在结构上是真正不同的，而非仅仅是节点重命名的变体。</a:t>
            </a:r>
            <a:endParaRPr lang="zh-CN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82949" y="1119142"/>
            <a:ext cx="4868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WebSailor-V1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的子图采样策略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21715" y="1576705"/>
            <a:ext cx="82664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charset="0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对知识图谱中固定边数的所有可能子结构进行穷举并辅以随机采样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箭头: 下 16"/>
          <p:cNvSpPr/>
          <p:nvPr/>
        </p:nvSpPr>
        <p:spPr>
          <a:xfrm>
            <a:off x="2921459" y="2041500"/>
            <a:ext cx="587829" cy="398029"/>
          </a:xfrm>
          <a:prstGeom prst="downArrow">
            <a:avLst/>
          </a:prstGeom>
          <a:solidFill>
            <a:srgbClr val="790075"/>
          </a:solidFill>
          <a:ln>
            <a:solidFill>
              <a:srgbClr val="790075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021715" y="2504440"/>
            <a:ext cx="51288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charset="0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子图数量随节点和边的增加呈组合爆炸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119268" y="923801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9268" y="259050"/>
            <a:ext cx="605293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2.3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SailorFog-QA-V2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数据集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QA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对构建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65505" y="3664585"/>
            <a:ext cx="30276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引入多元不确定性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65505" y="1137920"/>
            <a:ext cx="3465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结构感知的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QA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对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生成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21740" y="1753870"/>
            <a:ext cx="956500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不直接用子图生成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QA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对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：避免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LLM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只关注图中显眼或局部节点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识别结构差异：通过分析子图的对称性，找出非同构节点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均衡覆盖问题焦点：确保每个结构节点都能生成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QA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对，全面提升模型推理能力</a:t>
            </a:r>
            <a:endParaRPr lang="zh-CN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21740" y="4309745"/>
            <a:ext cx="615886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多源歧义：不同来源说法矛盾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信息缺失：部分线索无法直接获取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逻辑循环：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依赖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又依赖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数值范围推理：如“营收占比在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27%–74%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之间”</a:t>
            </a:r>
            <a:endParaRPr lang="zh-CN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119268" y="923801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9380" y="259080"/>
            <a:ext cx="61423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2.4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SailorFog-QA-V2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数据集构建方法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8479" y="1237737"/>
            <a:ext cx="192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数据优化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13929" y="2012703"/>
            <a:ext cx="9880857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核心观点：数据质量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算法技巧，是模型泛化能力的上限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动态数据闭环：建立自动合成与过滤流水线，根据当前训练动态实时调整数据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p"/>
            </a:pP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关键发现：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p"/>
            </a:pP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直接在 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BrowseComp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测试集上微调效果差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合成数据性能更好，因其分布更一致、规模更大、噪声更少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人类标注数据规模小、噪声高、分布难学，难以支撑有效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RL</a:t>
            </a:r>
            <a:endParaRPr lang="zh-CN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569334"/>
            <a:ext cx="12192000" cy="1719330"/>
          </a:xfrm>
          <a:prstGeom prst="rect">
            <a:avLst/>
          </a:prstGeom>
          <a:solidFill>
            <a:srgbClr val="871F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0" y="830687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2634621" y="2767280"/>
            <a:ext cx="6552922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 RL</a:t>
            </a:r>
            <a:r>
              <a:rPr lang="zh-CN" altLang="en-US" sz="8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训练框架</a:t>
            </a:r>
            <a:endParaRPr lang="zh-CN" altLang="en-US" sz="80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119268" y="923801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9268" y="259050"/>
            <a:ext cx="442697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Agentic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框架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61334" y="1090902"/>
            <a:ext cx="3358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ReAct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16934" y="1685655"/>
            <a:ext cx="57370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一种将推理与工具调用交替进行的智能体架构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316934" y="2308070"/>
            <a:ext cx="9582793" cy="430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ReAct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的工作流程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智能体的完整执行轨迹表示为：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其中：</a:t>
            </a:r>
            <a:endParaRPr lang="zh-CN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/>
            <a:r>
              <a:rPr lang="en-US" altLang="zh-CN" b="1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τ</a:t>
            </a:r>
            <a:r>
              <a:rPr lang="en-US" altLang="zh-CN" b="1" i="1" baseline="-25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 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步的内部推理，即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我接下来该做什么？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/>
            <a:endParaRPr lang="zh-CN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/>
            <a:r>
              <a:rPr lang="en-US" altLang="zh-CN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b="1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t 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步的动作，如搜索、访问网页等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/>
            <a:endParaRPr lang="zh-CN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/>
            <a:r>
              <a:rPr lang="en-US" altLang="zh-CN" b="1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</a:t>
            </a:r>
            <a:r>
              <a:rPr lang="en-US" altLang="zh-CN" b="1" i="1" baseline="-25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该动作返回的观察结果，如搜索结果或网页摘要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/>
            <a:endParaRPr lang="zh-CN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每一步的动作和思考都由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策略生成，即基于之前所有历史上下文进行决策</a:t>
            </a:r>
            <a:endParaRPr lang="zh-CN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615" y="3472544"/>
            <a:ext cx="4212356" cy="457202"/>
          </a:xfrm>
          <a:prstGeom prst="rect">
            <a:avLst/>
          </a:prstGeom>
        </p:spPr>
      </p:pic>
      <p:pic>
        <p:nvPicPr>
          <p:cNvPr id="13" name="图片 12" descr="文本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7391" y="6258383"/>
            <a:ext cx="1228734" cy="32861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119268" y="923801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9268" y="259050"/>
            <a:ext cx="522561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3.2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SFT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冷启动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78148" y="3081501"/>
            <a:ext cx="3649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SFT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数据来源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8148" y="1511263"/>
            <a:ext cx="3649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目的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34404" y="2264211"/>
            <a:ext cx="9894194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通过高质量示例，让基础模型初步掌握“思考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工具调用”的推理行为</a:t>
            </a:r>
            <a:endParaRPr lang="zh-CN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4695" y="3907155"/>
            <a:ext cx="1092136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完全使用合成数据：来自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SailorFog-QA-V2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，确保数据结构丰富、不确定性多样；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轨迹生成方式：由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Qwen3-30B-A3B-Thinking-2507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在该数据集上自主完成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QA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任务；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质量控制机制：采用拒绝采样，即只保留成功解决问题的高质量轨迹，过滤失败或低效路径。</a:t>
            </a:r>
            <a:endParaRPr lang="zh-CN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图示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318" y="1462793"/>
            <a:ext cx="10956852" cy="3646096"/>
          </a:xfrm>
          <a:prstGeom prst="rect">
            <a:avLst/>
          </a:prstGeom>
        </p:spPr>
      </p:pic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119268" y="923801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9268" y="259050"/>
            <a:ext cx="414793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3.3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RL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训练框架（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GRPO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177415" y="5534025"/>
            <a:ext cx="67868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环境交互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→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奖励反馈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→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策略持续更新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数据动态生成</a:t>
            </a:r>
            <a:endParaRPr lang="zh-CN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119268" y="923801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9268" y="259050"/>
            <a:ext cx="522561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3.4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Agentic RL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4629" y="1161991"/>
            <a:ext cx="192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仿真环境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48335" y="1861820"/>
            <a:ext cx="10824845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目的：解决真实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API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的高成本</a:t>
            </a:r>
            <a:r>
              <a:rPr 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结果不一致等问题，支持高速、低成本、可复现的算法迭代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构建方式：基于离线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Wikipedia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数据库，复现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search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visit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等工具行为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p"/>
            </a:pP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数据适配：将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SailorFog-QA-V2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生成流程迁移至该离线语料，生成专用于仿真的训练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测试集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p"/>
            </a:pP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优势：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p"/>
            </a:pP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完全可控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支持高并发 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避免因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API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波动导致的错误归因</a:t>
            </a:r>
            <a:endParaRPr lang="zh-CN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119268" y="923801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9268" y="259050"/>
            <a:ext cx="522561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3.4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Agentic RL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4629" y="1161991"/>
            <a:ext cx="192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真实环境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89444" y="1861845"/>
            <a:ext cx="11662742" cy="3476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目标：在部署前，让策略在真实网络世界中鲁棒运行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挑战：工具链复杂，外部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API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不稳定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p"/>
            </a:pP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解决方案：设计统一工具执行接口，包含：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p"/>
            </a:pP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自动超时重试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0">
              <a:buFont typeface="Wingdings" panose="05000000000000000000" pitchFamily="2" charset="2"/>
              <a:buNone/>
            </a:pP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备用数据源切换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效果：对智能体而言，工具调用变为确定性、稳定接口，屏蔽外部噪声</a:t>
            </a:r>
            <a:endParaRPr lang="zh-CN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569334"/>
            <a:ext cx="12192000" cy="1719330"/>
          </a:xfrm>
          <a:prstGeom prst="rect">
            <a:avLst/>
          </a:prstGeom>
          <a:solidFill>
            <a:srgbClr val="871F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0" y="830687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200678" y="2767280"/>
            <a:ext cx="5267181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 </a:t>
            </a:r>
            <a:r>
              <a:rPr lang="zh-CN" altLang="en-US" sz="8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实验部分</a:t>
            </a:r>
            <a:endParaRPr lang="zh-CN" altLang="en-US" sz="80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119268" y="923801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9268" y="259050"/>
            <a:ext cx="2732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4.1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实验数据集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781931" y="1240972"/>
          <a:ext cx="10014858" cy="47788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528"/>
                <a:gridCol w="5063895"/>
                <a:gridCol w="3122435"/>
              </a:tblGrid>
              <a:tr h="392025">
                <a:tc>
                  <a:txBody>
                    <a:bodyPr/>
                    <a:lstStyle/>
                    <a:p>
                      <a:pPr marL="0" marR="0" indent="0" algn="ctr" fontAlgn="b">
                        <a:buNone/>
                      </a:pPr>
                      <a:r>
                        <a:rPr lang="zh-CN" altLang="en-US" sz="1400" kern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基准</a:t>
                      </a:r>
                      <a:endParaRPr lang="zh-CN" altLang="en-US" sz="1400" kern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">
                        <a:buNone/>
                      </a:pPr>
                      <a:r>
                        <a:rPr lang="zh-CN" altLang="en-US" sz="1400" kern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特点</a:t>
                      </a:r>
                      <a:endParaRPr lang="zh-CN" altLang="en-US" sz="1400" kern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">
                        <a:buNone/>
                      </a:pPr>
                      <a:r>
                        <a:rPr lang="zh-CN" altLang="en-US" sz="1400" kern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用途</a:t>
                      </a:r>
                      <a:endParaRPr lang="zh-CN" altLang="en-US" sz="1400" kern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62669">
                <a:tc>
                  <a:txBody>
                    <a:bodyPr/>
                    <a:lstStyle/>
                    <a:p>
                      <a:pPr marL="0" marR="0" indent="0" algn="ctr" fontAlgn="b">
                        <a:buNone/>
                      </a:pPr>
                      <a:r>
                        <a:rPr lang="en-US" sz="1400" kern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BrowseComp-EN</a:t>
                      </a:r>
                      <a:endParaRPr lang="en-US" sz="1400" kern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">
                        <a:buNone/>
                      </a:pPr>
                      <a:r>
                        <a:rPr lang="en-US" altLang="zh-CN" sz="1400" kern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OpenAI </a:t>
                      </a:r>
                      <a:r>
                        <a:rPr lang="zh-CN" altLang="en-US" sz="1400" kern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提出，测试英文下复杂多跳信息检索能力</a:t>
                      </a:r>
                      <a:endParaRPr lang="zh-CN" altLang="en-US" sz="11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">
                        <a:buNone/>
                      </a:pPr>
                      <a:r>
                        <a:rPr lang="zh-CN" altLang="en-US" sz="1400" kern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最具挑战性的 </a:t>
                      </a:r>
                      <a:r>
                        <a:rPr lang="en-US" sz="1400" kern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Web Agent </a:t>
                      </a:r>
                      <a:r>
                        <a:rPr lang="zh-CN" altLang="en-US" sz="1400" kern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基准之一</a:t>
                      </a:r>
                      <a:endParaRPr lang="zh-CN" altLang="en-US" sz="11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62669">
                <a:tc>
                  <a:txBody>
                    <a:bodyPr/>
                    <a:lstStyle/>
                    <a:p>
                      <a:pPr marL="0" marR="0" indent="0" algn="ctr" fontAlgn="b">
                        <a:buNone/>
                      </a:pPr>
                      <a:r>
                        <a:rPr lang="en-US" sz="1400" kern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BrowseComp-ZH</a:t>
                      </a:r>
                      <a:endParaRPr lang="en-US" sz="1400" kern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">
                        <a:buNone/>
                      </a:pPr>
                      <a:r>
                        <a:rPr lang="zh-CN" altLang="en-US" sz="1400" kern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中文版 </a:t>
                      </a:r>
                      <a:r>
                        <a:rPr lang="en-US" sz="1400" kern="0" dirty="0" err="1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BrowseComp</a:t>
                      </a:r>
                      <a:r>
                        <a:rPr lang="en-US" sz="1400" kern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zh-CN" altLang="en-US" sz="1400" kern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任务结构相同</a:t>
                      </a:r>
                      <a:endParaRPr lang="zh-CN" altLang="en-US" sz="11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">
                        <a:buNone/>
                      </a:pPr>
                      <a:r>
                        <a:rPr lang="zh-CN" altLang="en-US" sz="1400" kern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评估跨语言泛化能力</a:t>
                      </a:r>
                      <a:endParaRPr lang="zh-CN" altLang="en-US" sz="1400" kern="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62669">
                <a:tc>
                  <a:txBody>
                    <a:bodyPr/>
                    <a:lstStyle/>
                    <a:p>
                      <a:pPr marL="0" marR="0" indent="0" algn="ctr" fontAlgn="b">
                        <a:buNone/>
                      </a:pPr>
                      <a:r>
                        <a:rPr lang="en-US" sz="1400" kern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GAIA</a:t>
                      </a:r>
                      <a:endParaRPr lang="en-US" sz="1400" kern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">
                        <a:buNone/>
                      </a:pPr>
                      <a:r>
                        <a:rPr lang="zh-CN" altLang="en-US" sz="1400" kern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需多模态</a:t>
                      </a:r>
                      <a:r>
                        <a:rPr lang="en-US" altLang="zh-CN" sz="1400" kern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zh-CN" altLang="en-US" sz="1400" kern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工具使用，但仅用</a:t>
                      </a:r>
                      <a:r>
                        <a:rPr lang="en-US" altLang="zh-CN" sz="1400" kern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103</a:t>
                      </a:r>
                      <a:r>
                        <a:rPr lang="zh-CN" altLang="en-US" sz="1400" kern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个纯文本验证子集</a:t>
                      </a:r>
                      <a:endParaRPr lang="zh-CN" altLang="en-US" sz="11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">
                        <a:buNone/>
                      </a:pPr>
                      <a:r>
                        <a:rPr lang="zh-CN" altLang="en-US" sz="1400" kern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测试通用工具调用与推理</a:t>
                      </a:r>
                      <a:endParaRPr lang="zh-CN" altLang="en-US" sz="1400" kern="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73459">
                <a:tc>
                  <a:txBody>
                    <a:bodyPr/>
                    <a:lstStyle/>
                    <a:p>
                      <a:pPr marL="0" marR="0" indent="0" algn="ctr" fontAlgn="b">
                        <a:buNone/>
                      </a:pPr>
                      <a:r>
                        <a:rPr lang="en-US" sz="1400" kern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xbench-DeepSearch</a:t>
                      </a:r>
                      <a:endParaRPr lang="en-US" sz="1400" kern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">
                        <a:buNone/>
                      </a:pPr>
                      <a:r>
                        <a:rPr lang="zh-CN" altLang="en-US" sz="1400" kern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新兴专业级基准，聚焦深度检索与工具链效率</a:t>
                      </a:r>
                      <a:endParaRPr lang="zh-CN" altLang="en-US" sz="1400" kern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">
                        <a:buNone/>
                      </a:pPr>
                      <a:r>
                        <a:rPr lang="zh-CN" altLang="en-US" sz="1400" kern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评估专业场景下的搜索能力</a:t>
                      </a:r>
                      <a:endParaRPr lang="zh-CN" altLang="en-US" sz="1400" kern="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62669">
                <a:tc>
                  <a:txBody>
                    <a:bodyPr/>
                    <a:lstStyle/>
                    <a:p>
                      <a:pPr marL="0" marR="0" indent="0" algn="ctr" fontAlgn="b">
                        <a:buNone/>
                      </a:pPr>
                      <a:r>
                        <a:rPr lang="en-US" sz="1400" kern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HLE</a:t>
                      </a:r>
                      <a:endParaRPr lang="en-US" sz="1400" kern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">
                        <a:buNone/>
                      </a:pPr>
                      <a:r>
                        <a:rPr lang="zh-CN" altLang="en-US" sz="1400" kern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由全球</a:t>
                      </a:r>
                      <a:r>
                        <a:rPr lang="en-US" altLang="zh-CN" sz="1400" kern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1000+</a:t>
                      </a:r>
                      <a:r>
                        <a:rPr lang="zh-CN" altLang="en-US" sz="1400" kern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专家编写的高难度综合考试</a:t>
                      </a:r>
                      <a:endParaRPr lang="zh-CN" altLang="en-US" sz="11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">
                        <a:buNone/>
                      </a:pPr>
                      <a:r>
                        <a:rPr lang="zh-CN" altLang="en-US" sz="1400" kern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测试广度与深度知识整合</a:t>
                      </a:r>
                      <a:endParaRPr lang="zh-CN" altLang="en-US" sz="1400" kern="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62669">
                <a:tc>
                  <a:txBody>
                    <a:bodyPr/>
                    <a:lstStyle/>
                    <a:p>
                      <a:pPr marL="0" marR="0" indent="0" algn="ctr" fontAlgn="b">
                        <a:buNone/>
                      </a:pPr>
                      <a:r>
                        <a:rPr lang="en-US" sz="1400" kern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DeepResearch Bench</a:t>
                      </a:r>
                      <a:endParaRPr lang="en-US" sz="1400" kern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">
                        <a:buNone/>
                      </a:pPr>
                      <a:r>
                        <a:rPr lang="zh-CN" altLang="en-US" sz="1400" kern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包含</a:t>
                      </a:r>
                      <a:r>
                        <a:rPr lang="en-US" altLang="zh-CN" sz="1400" kern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PhD</a:t>
                      </a:r>
                      <a:r>
                        <a:rPr lang="zh-CN" altLang="en-US" sz="1400" kern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级研究任务，评估研究报告质量与信息收集能力</a:t>
                      </a:r>
                      <a:endParaRPr lang="zh-CN" altLang="en-US" sz="11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">
                        <a:buNone/>
                      </a:pPr>
                      <a:r>
                        <a:rPr lang="zh-CN" altLang="en-US" sz="1400" kern="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模拟真实学术研究流程</a:t>
                      </a:r>
                      <a:endParaRPr lang="zh-CN" altLang="en-US" sz="1400" kern="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119268" y="923801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9268" y="259050"/>
            <a:ext cx="2732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4.2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实验结果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 descr="表格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43" y="962871"/>
            <a:ext cx="8027230" cy="565159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715595" y="2973060"/>
            <a:ext cx="347640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环境稳定性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RL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技巧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Agentic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架构是“杠杆”</a:t>
            </a:r>
            <a:endParaRPr lang="zh-CN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图表, 条形图, 瀑布图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296" y="1673453"/>
            <a:ext cx="6634903" cy="4957986"/>
          </a:xfrm>
          <a:prstGeom prst="rect">
            <a:avLst/>
          </a:prstGeom>
        </p:spPr>
      </p:pic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119268" y="923801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9267" y="259050"/>
            <a:ext cx="60855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4.3 </a:t>
            </a:r>
            <a:r>
              <a:rPr lang="en-US" altLang="zh-CN" sz="28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DeepResearch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Bench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基准上的效果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018788" y="2952337"/>
            <a:ext cx="50539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差距不源于“研究能力” 的缺陷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在于“报告生成风格”</a:t>
            </a:r>
            <a:endParaRPr lang="zh-CN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99297" y="1245376"/>
            <a:ext cx="600353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p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评估维度：信息检索能力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研究报告生成质量</a:t>
            </a:r>
            <a:endParaRPr lang="zh-CN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119268" y="923801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9268" y="259050"/>
            <a:ext cx="522561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4.4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RL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的效果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0" name="图片 9" descr="图表, 条形图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68" y="1403515"/>
            <a:ext cx="6139472" cy="4442856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841713" y="2809335"/>
            <a:ext cx="404400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难题任务：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RL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真正扩展能力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简单任务：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RL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主要提升效率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表, 直方图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8197" y="962871"/>
            <a:ext cx="7783761" cy="4776504"/>
          </a:xfrm>
          <a:prstGeom prst="rect">
            <a:avLst/>
          </a:prstGeom>
        </p:spPr>
      </p:pic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119268" y="923801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9268" y="259050"/>
            <a:ext cx="522561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4.5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RL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熵动态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875987" y="6063394"/>
            <a:ext cx="89208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智能体始终保留多样化的行动选择，避免过早收敛到单一、确定性的策略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sp>
        <p:nvSpPr>
          <p:cNvPr id="9" name="矩形 8"/>
          <p:cNvSpPr/>
          <p:nvPr/>
        </p:nvSpPr>
        <p:spPr>
          <a:xfrm>
            <a:off x="0" y="1461752"/>
            <a:ext cx="12192000" cy="1719330"/>
          </a:xfrm>
          <a:prstGeom prst="rect">
            <a:avLst/>
          </a:prstGeom>
          <a:solidFill>
            <a:srgbClr val="871F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-139506" y="1721252"/>
            <a:ext cx="1247101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Is Effective: The Roles of Graphs and Large Language Models in Knowledge-Graph-Based Retrieval-Augmented Generation</a:t>
            </a:r>
            <a:endParaRPr lang="en-US" altLang="zh-C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875690" y="5855261"/>
            <a:ext cx="33163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ICLR 2025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0" y="830687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图片 3" descr="文本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15" y="3758102"/>
            <a:ext cx="7453367" cy="179071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569334"/>
            <a:ext cx="12192000" cy="1719330"/>
          </a:xfrm>
          <a:prstGeom prst="rect">
            <a:avLst/>
          </a:prstGeom>
          <a:solidFill>
            <a:srgbClr val="871F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0" y="830687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2588932" y="2767280"/>
            <a:ext cx="6384563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 </a:t>
            </a:r>
            <a:r>
              <a:rPr lang="zh-CN" altLang="en-US" sz="8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背景与动机</a:t>
            </a:r>
            <a:endParaRPr lang="zh-CN" altLang="en-US" sz="80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0" y="830687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9268" y="259050"/>
            <a:ext cx="36254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1.1 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背景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64895" y="4418965"/>
            <a:ext cx="984821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2C2C3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传统检索方法往往计算开销大、延迟高</a:t>
            </a:r>
            <a:endParaRPr lang="en-US" altLang="zh-CN" sz="2000" dirty="0">
              <a:solidFill>
                <a:srgbClr val="2C2C3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CN" sz="2000" dirty="0">
              <a:solidFill>
                <a:srgbClr val="2C2C3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2C2C3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仅检索固定结构无法全面覆盖复杂问题所需的多跳、多实体证据</a:t>
            </a:r>
            <a:endParaRPr lang="en-US" altLang="zh-CN" sz="2000" dirty="0">
              <a:solidFill>
                <a:srgbClr val="2C2C3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000" dirty="0">
              <a:solidFill>
                <a:srgbClr val="2C2C3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2C2C3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检索结果可能包含过多无关信息，或信息不足，限制</a:t>
            </a:r>
            <a:r>
              <a:rPr lang="en-US" altLang="zh-CN" sz="2000" dirty="0">
                <a:solidFill>
                  <a:srgbClr val="2C2C3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LLM</a:t>
            </a:r>
            <a:r>
              <a:rPr lang="zh-CN" altLang="en-US" sz="2000" dirty="0">
                <a:solidFill>
                  <a:srgbClr val="2C2C3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推理能力</a:t>
            </a:r>
            <a:endParaRPr lang="en-US" altLang="zh-CN" sz="2000" dirty="0">
              <a:solidFill>
                <a:srgbClr val="2C2C3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08660" y="3550285"/>
            <a:ext cx="21717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面临问题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97915" y="2030730"/>
            <a:ext cx="1044829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2C2C3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大语言模型在推理方面表现出色，但仍存在幻觉、缺乏特定领域专业知识等问题</a:t>
            </a:r>
            <a:endParaRPr lang="en-US" altLang="zh-CN" sz="2000" dirty="0">
              <a:solidFill>
                <a:srgbClr val="2C2C3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CN" sz="2000" dirty="0">
              <a:solidFill>
                <a:srgbClr val="2C2C3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2C2C3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基于知识图谱的</a:t>
            </a:r>
            <a:r>
              <a:rPr lang="en-US" altLang="zh-CN" sz="2000" dirty="0">
                <a:solidFill>
                  <a:srgbClr val="2C2C3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RAG</a:t>
            </a:r>
            <a:r>
              <a:rPr lang="zh-CN" altLang="en-US" sz="2000" dirty="0">
                <a:solidFill>
                  <a:srgbClr val="2C2C3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因其结构化、关系明确、冗余低等优势，成为当前热门研究方向</a:t>
            </a:r>
            <a:endParaRPr lang="en-US" altLang="zh-CN" sz="2000" dirty="0">
              <a:solidFill>
                <a:srgbClr val="2C2C3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08843" y="1277171"/>
            <a:ext cx="1230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背景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119268" y="923801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9268" y="259050"/>
            <a:ext cx="36254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1.2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动机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71983" y="1360015"/>
            <a:ext cx="1841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动机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89483" y="2022980"/>
            <a:ext cx="785293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构建一个轻量检索器，释放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LLM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的复杂推理潜力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483" y="3687445"/>
            <a:ext cx="1034415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2C2C3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分工明确：轻量级的检索器负责筛选问题相关的信息，</a:t>
            </a:r>
            <a:r>
              <a:rPr lang="en-US" altLang="zh-CN" sz="2000" dirty="0">
                <a:solidFill>
                  <a:srgbClr val="2C2C3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LLM</a:t>
            </a:r>
            <a:r>
              <a:rPr lang="zh-CN" altLang="en-US" sz="2000" dirty="0">
                <a:solidFill>
                  <a:srgbClr val="2C2C3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负责细粒度推理与答案生成</a:t>
            </a:r>
            <a:endParaRPr lang="en-US" altLang="zh-CN" sz="2000" dirty="0">
              <a:solidFill>
                <a:srgbClr val="2C2C3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CN" sz="2000" dirty="0">
              <a:solidFill>
                <a:srgbClr val="2C2C3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zh-CN" altLang="en-US" sz="2000" dirty="0">
              <a:solidFill>
                <a:srgbClr val="2C2C3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2C2C3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子图灵活可调：检索的子图应形式自由、规模可控</a:t>
            </a:r>
            <a:endParaRPr lang="en-US" altLang="zh-CN" sz="2000" dirty="0">
              <a:solidFill>
                <a:srgbClr val="2C2C3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CN" sz="2000" dirty="0">
              <a:solidFill>
                <a:srgbClr val="2C2C3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zh-CN" altLang="en-US" sz="2000" dirty="0">
              <a:solidFill>
                <a:srgbClr val="2C2C3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2C2C3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无需微调：利用未微调的开源或闭源</a:t>
            </a:r>
            <a:r>
              <a:rPr lang="en-US" altLang="zh-CN" sz="2000" dirty="0">
                <a:solidFill>
                  <a:srgbClr val="2C2C3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LLM</a:t>
            </a:r>
            <a:r>
              <a:rPr lang="zh-CN" altLang="en-US" sz="2000" dirty="0">
                <a:solidFill>
                  <a:srgbClr val="2C2C3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，保持泛化性、适应动态更新的</a:t>
            </a:r>
            <a:r>
              <a:rPr lang="en-US" altLang="zh-CN" sz="2000" dirty="0">
                <a:solidFill>
                  <a:srgbClr val="2C2C3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KG</a:t>
            </a:r>
            <a:endParaRPr lang="en-US" altLang="zh-CN" sz="2000" dirty="0">
              <a:solidFill>
                <a:srgbClr val="2C2C3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10474" y="3043340"/>
            <a:ext cx="3806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框架核心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图片包含 文本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060" y="1694180"/>
            <a:ext cx="7652385" cy="2241550"/>
          </a:xfrm>
          <a:prstGeom prst="rect">
            <a:avLst/>
          </a:prstGeom>
        </p:spPr>
      </p:pic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119268" y="923801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9268" y="259050"/>
            <a:ext cx="459243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1.3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知识图谱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61010" y="1136015"/>
            <a:ext cx="18522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知识图谱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61010" y="4136390"/>
            <a:ext cx="18522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实体链接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6" name="图片 15" descr="文本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130" y="4848860"/>
            <a:ext cx="7294245" cy="9296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119268" y="923801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9268" y="259050"/>
            <a:ext cx="459243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1.4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知识图谱问答（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KBQA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60813" y="1136090"/>
            <a:ext cx="3649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定义：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60813" y="2744540"/>
            <a:ext cx="3649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问题分类：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739" y="1731998"/>
            <a:ext cx="8542103" cy="58911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34772" y="3511308"/>
            <a:ext cx="1022946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单跳问题：仅需一个三元组即可回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 “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Who founded Tesla?” → (Tesla, 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founded_by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Elon Musk)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多跳问题：需多个三元组组合推理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 “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What is the capital of the country where Michelangelo was born?” 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需先找出生地（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Italy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），再找其首都（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Rome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 descr="形状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884" y="1936911"/>
            <a:ext cx="266855" cy="30871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569334"/>
            <a:ext cx="12192000" cy="1719330"/>
          </a:xfrm>
          <a:prstGeom prst="rect">
            <a:avLst/>
          </a:prstGeom>
          <a:solidFill>
            <a:srgbClr val="871F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0" y="830687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200678" y="2767280"/>
            <a:ext cx="5267181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 </a:t>
            </a:r>
            <a:r>
              <a:rPr lang="zh-CN" altLang="en-US" sz="8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模型介绍</a:t>
            </a:r>
            <a:endParaRPr lang="zh-CN" altLang="en-US" sz="80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119268" y="923801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9268" y="259050"/>
            <a:ext cx="408568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2.1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SubgraphRAG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框架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 descr="图形用户界面, 应用程序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172149"/>
            <a:ext cx="11176000" cy="373571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704" y="5118330"/>
            <a:ext cx="8199688" cy="38228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703" y="5934199"/>
            <a:ext cx="9627413" cy="343280"/>
          </a:xfrm>
          <a:prstGeom prst="rect">
            <a:avLst/>
          </a:prstGeom>
        </p:spPr>
      </p:pic>
      <p:pic>
        <p:nvPicPr>
          <p:cNvPr id="17" name="图片 16" descr="形状&#10;&#10;AI 生成的内容可能不正确。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227" y="5170959"/>
            <a:ext cx="239467" cy="277030"/>
          </a:xfrm>
          <a:prstGeom prst="rect">
            <a:avLst/>
          </a:prstGeom>
        </p:spPr>
      </p:pic>
      <p:pic>
        <p:nvPicPr>
          <p:cNvPr id="19" name="图片 18" descr="形状&#10;&#10;AI 生成的内容可能不正确。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513" y="5967324"/>
            <a:ext cx="239467" cy="27703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图示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0972" y="5645207"/>
            <a:ext cx="3937562" cy="833997"/>
          </a:xfrm>
          <a:prstGeom prst="rect">
            <a:avLst/>
          </a:prstGeom>
        </p:spPr>
      </p:pic>
      <p:pic>
        <p:nvPicPr>
          <p:cNvPr id="16" name="图片 15" descr="文本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9222" y="5183148"/>
            <a:ext cx="3465875" cy="601572"/>
          </a:xfrm>
          <a:prstGeom prst="rect">
            <a:avLst/>
          </a:prstGeom>
        </p:spPr>
      </p:pic>
      <p:pic>
        <p:nvPicPr>
          <p:cNvPr id="11" name="图片 10" descr="文本, 信件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960" y="3516007"/>
            <a:ext cx="7533523" cy="108642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238" y="1847539"/>
            <a:ext cx="9498508" cy="1146023"/>
          </a:xfrm>
          <a:prstGeom prst="rect">
            <a:avLst/>
          </a:prstGeom>
        </p:spPr>
      </p:pic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119268" y="923801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9268" y="259050"/>
            <a:ext cx="36254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2.2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子图检索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5436" y="1243676"/>
            <a:ext cx="3649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问题形式化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11858" y="3495417"/>
            <a:ext cx="805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构建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5436" y="2879751"/>
            <a:ext cx="3649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学习目标重构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55436" y="4711710"/>
            <a:ext cx="3649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弱监督替代策略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011858" y="5238691"/>
            <a:ext cx="3320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用启发式方法构造代理子图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000712" y="5883922"/>
            <a:ext cx="19272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最大似然估计：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手机屏幕截图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4952" y="4244030"/>
            <a:ext cx="5372994" cy="857535"/>
          </a:xfrm>
          <a:prstGeom prst="rect">
            <a:avLst/>
          </a:prstGeom>
        </p:spPr>
      </p:pic>
      <p:pic>
        <p:nvPicPr>
          <p:cNvPr id="20" name="图片 19" descr="文本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969" y="4327953"/>
            <a:ext cx="2368322" cy="42454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182" y="1902485"/>
            <a:ext cx="7359389" cy="931567"/>
          </a:xfrm>
          <a:prstGeom prst="rect">
            <a:avLst/>
          </a:prstGeom>
        </p:spPr>
      </p:pic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119268" y="923801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9268" y="259050"/>
            <a:ext cx="362540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2.2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子图检索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5436" y="1243676"/>
            <a:ext cx="364951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三元组选择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6630" y="2815353"/>
            <a:ext cx="5584136" cy="370148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555436" y="3661510"/>
            <a:ext cx="364951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二元分类损失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119268" y="923801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9268" y="259050"/>
            <a:ext cx="362540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2.2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子图检索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5436" y="1243676"/>
            <a:ext cx="3649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方向距离编码（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DDE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848485"/>
            <a:ext cx="8078470" cy="358902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960120" y="5685790"/>
            <a:ext cx="53016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找到所有实体节点到主题节点的相对距离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119268" y="923801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9268" y="259050"/>
            <a:ext cx="36254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2.2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子图检索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5436" y="1243676"/>
            <a:ext cx="3649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轻量打分函数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 descr="文本, 信件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230" y="1883113"/>
            <a:ext cx="8046941" cy="379471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119268" y="923801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9268" y="259050"/>
            <a:ext cx="362540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2.3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Prompt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设计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5436" y="1243676"/>
            <a:ext cx="3649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上下文学习（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ICL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5497" y="4140390"/>
            <a:ext cx="64708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通过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ICL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示例，让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LLM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学会“如何思考”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强制引用证据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格式约束，使错误更容易被检测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0" name="图片 9" descr="图形用户界面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76" y="2025850"/>
            <a:ext cx="11123848" cy="1625687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569334"/>
            <a:ext cx="12192000" cy="1719330"/>
          </a:xfrm>
          <a:prstGeom prst="rect">
            <a:avLst/>
          </a:prstGeom>
          <a:solidFill>
            <a:srgbClr val="871F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0" y="830687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200678" y="2767280"/>
            <a:ext cx="5267181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 </a:t>
            </a:r>
            <a:r>
              <a:rPr lang="zh-CN" altLang="en-US" sz="8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实验部分</a:t>
            </a:r>
            <a:endParaRPr lang="zh-CN" altLang="en-US" sz="80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119268" y="923801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9268" y="259050"/>
            <a:ext cx="44666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 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数据集准备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555436" y="1661385"/>
            <a:ext cx="9361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Webqsp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（训练集：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3000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条，测试集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1600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条）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895494" y="2259048"/>
            <a:ext cx="71599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特点：基于 </a:t>
            </a:r>
            <a:r>
              <a:rPr lang="en-US" altLang="zh-CN" dirty="0"/>
              <a:t>Freebase </a:t>
            </a:r>
            <a:r>
              <a:rPr lang="zh-CN" altLang="en-US" dirty="0"/>
              <a:t>的 </a:t>
            </a:r>
            <a:r>
              <a:rPr lang="en-US" altLang="zh-CN" dirty="0" err="1"/>
              <a:t>WebQuestionS</a:t>
            </a:r>
            <a:r>
              <a:rPr lang="en-US" altLang="zh-CN" dirty="0"/>
              <a:t> </a:t>
            </a:r>
            <a:r>
              <a:rPr lang="zh-CN" altLang="en-US" dirty="0"/>
              <a:t>数据集，需 </a:t>
            </a:r>
            <a:r>
              <a:rPr lang="en-US" altLang="zh-CN" dirty="0"/>
              <a:t>1-2 </a:t>
            </a:r>
            <a:r>
              <a:rPr lang="zh-CN" altLang="en-US" dirty="0"/>
              <a:t>跳推理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挑战：实体链接噪声大，需处理模糊查询</a:t>
            </a:r>
            <a:endParaRPr lang="zh-CN" altLang="en-US" dirty="0"/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555435" y="3975444"/>
            <a:ext cx="61283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Cwq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（训练集：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28000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条，测试集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3500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条）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895494" y="4619813"/>
            <a:ext cx="71599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特点：</a:t>
            </a:r>
            <a:r>
              <a:rPr lang="en-US" altLang="zh-CN" dirty="0" err="1"/>
              <a:t>WebQSP</a:t>
            </a:r>
            <a:r>
              <a:rPr lang="en-US" altLang="zh-CN" dirty="0"/>
              <a:t> </a:t>
            </a:r>
            <a:r>
              <a:rPr lang="zh-CN" altLang="en-US" dirty="0"/>
              <a:t>的扩展版，明确设计为多跳，即</a:t>
            </a:r>
            <a:r>
              <a:rPr lang="en-US" altLang="zh-CN" dirty="0"/>
              <a:t>2-4 </a:t>
            </a:r>
            <a:r>
              <a:rPr lang="zh-CN" altLang="en-US" dirty="0"/>
              <a:t>跳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挑战：问题结构更复杂（含比较、聚合、组合约束等）</a:t>
            </a:r>
            <a:endParaRPr lang="zh-CN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119268" y="923801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9268" y="259050"/>
            <a:ext cx="446669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3.2 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实验设计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5436" y="1312135"/>
            <a:ext cx="3649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核心问题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95493" y="2238333"/>
            <a:ext cx="11429735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整体检索效率与效果：能否在低延迟下高效检索到高相关性信息？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复杂问题的结构信息利用：对多跳推理、多主题实体问题，能否有效整合图结构进行检索？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KGQA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任务性能与影响因素：最终问答准确率如何？受哪些因素影响？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可解释性与抗幻觉能力：能否生成基于知识的解释，减少幻觉？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119268" y="923801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9268" y="259050"/>
            <a:ext cx="446669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3.3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检索效率与效果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51271" y="4726766"/>
            <a:ext cx="30259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性能大幅提升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检索时间大幅减少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 descr="图形用户界面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87" y="2055857"/>
            <a:ext cx="11689025" cy="210804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119268" y="923801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9267" y="259050"/>
            <a:ext cx="560661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3.4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复杂问题的结构信息利用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16003" y="5348955"/>
            <a:ext cx="5309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局部偏置利好一跳答案，损害多跳答案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0" name="图片 9" descr="表格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02" y="2162133"/>
            <a:ext cx="11123376" cy="249963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手机屏幕截图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266" y="1090056"/>
            <a:ext cx="5789501" cy="5386943"/>
          </a:xfrm>
          <a:prstGeom prst="rect">
            <a:avLst/>
          </a:prstGeom>
        </p:spPr>
      </p:pic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119268" y="923801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9267" y="259050"/>
            <a:ext cx="557396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3.5 KGQA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任务性能与影响因素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41310" y="4234785"/>
            <a:ext cx="40627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模型参数更多的影响在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Recall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0" name="图片 9" descr="图片包含 游戏机, 家具, 桌子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729" y="2653108"/>
            <a:ext cx="347665" cy="252414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917194" y="2568374"/>
            <a:ext cx="15791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：双向检索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119268" y="923801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9267" y="259050"/>
            <a:ext cx="557396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3.5 KGQA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任务性能与影响因素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905640" y="5579605"/>
            <a:ext cx="59350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DDE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使用双向检索效果更差，多数问题是找源头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模型抗幻觉能力更好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 descr="表格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26263"/>
            <a:ext cx="10613571" cy="4270622"/>
          </a:xfrm>
          <a:prstGeom prst="rect">
            <a:avLst/>
          </a:prstGeom>
        </p:spPr>
      </p:pic>
      <p:pic>
        <p:nvPicPr>
          <p:cNvPr id="10" name="图片 9" descr="图片包含 游戏机, 家具, 桌子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629" y="5853508"/>
            <a:ext cx="347665" cy="252414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164094" y="5768774"/>
            <a:ext cx="15791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：双向检索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119268" y="923801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9267" y="259050"/>
            <a:ext cx="557396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3.5 KGQA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任务性能与影响因素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71552" y="5015066"/>
            <a:ext cx="28913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多跳问题上性能更好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 descr="表格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62" y="1917804"/>
            <a:ext cx="10439476" cy="243365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119268" y="923801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9267" y="259050"/>
            <a:ext cx="557396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3.5 KGQA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任务性能与影响因素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38307" y="5246992"/>
            <a:ext cx="57216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性能提升主要来自检索器改进，而非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LLM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本身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 descr="表格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701" y="1814755"/>
            <a:ext cx="11514598" cy="2606114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119268" y="923801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9268" y="259050"/>
            <a:ext cx="6357732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3.6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三元组数量限制对检索结果的影响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92683" y="5868216"/>
            <a:ext cx="78705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局部定位有帮助，但不够全面，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GNN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会导致语义扩散引入噪声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 descr="图表, 散点图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25" y="1773800"/>
            <a:ext cx="9436255" cy="383613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119268" y="923801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9267" y="259050"/>
            <a:ext cx="648836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3.7 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模型大小与三元组数量的关系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96950" y="5224489"/>
            <a:ext cx="85235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小模型易被无关上下文误导，大模型能有效过滤噪声，利用更多信息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 descr="图表, 散点图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817" y="2093109"/>
            <a:ext cx="10682366" cy="2671782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569334"/>
            <a:ext cx="12192000" cy="1719330"/>
          </a:xfrm>
          <a:prstGeom prst="rect">
            <a:avLst/>
          </a:prstGeom>
          <a:solidFill>
            <a:srgbClr val="871F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图片包含 图表&#10;&#10;描述已自动生成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t="40300" r="4821" b="39880"/>
          <a:stretch>
            <a:fillRect/>
          </a:stretch>
        </p:blipFill>
        <p:spPr>
          <a:xfrm>
            <a:off x="9520847" y="128788"/>
            <a:ext cx="2551885" cy="755944"/>
          </a:xfrm>
          <a:custGeom>
            <a:avLst/>
            <a:gdLst>
              <a:gd name="connsiteX0" fmla="*/ 226545 w 4588475"/>
              <a:gd name="connsiteY0" fmla="*/ 0 h 1359243"/>
              <a:gd name="connsiteX1" fmla="*/ 4361930 w 4588475"/>
              <a:gd name="connsiteY1" fmla="*/ 0 h 1359243"/>
              <a:gd name="connsiteX2" fmla="*/ 4588475 w 4588475"/>
              <a:gd name="connsiteY2" fmla="*/ 226545 h 1359243"/>
              <a:gd name="connsiteX3" fmla="*/ 4588475 w 4588475"/>
              <a:gd name="connsiteY3" fmla="*/ 1132698 h 1359243"/>
              <a:gd name="connsiteX4" fmla="*/ 4361930 w 4588475"/>
              <a:gd name="connsiteY4" fmla="*/ 1359243 h 1359243"/>
              <a:gd name="connsiteX5" fmla="*/ 226545 w 4588475"/>
              <a:gd name="connsiteY5" fmla="*/ 1359243 h 1359243"/>
              <a:gd name="connsiteX6" fmla="*/ 0 w 4588475"/>
              <a:gd name="connsiteY6" fmla="*/ 1132698 h 1359243"/>
              <a:gd name="connsiteX7" fmla="*/ 0 w 4588475"/>
              <a:gd name="connsiteY7" fmla="*/ 226545 h 1359243"/>
              <a:gd name="connsiteX8" fmla="*/ 226545 w 4588475"/>
              <a:gd name="connsiteY8" fmla="*/ 0 h 1359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475" h="1359243">
                <a:moveTo>
                  <a:pt x="226545" y="0"/>
                </a:moveTo>
                <a:lnTo>
                  <a:pt x="4361930" y="0"/>
                </a:lnTo>
                <a:cubicBezTo>
                  <a:pt x="4487047" y="0"/>
                  <a:pt x="4588475" y="101428"/>
                  <a:pt x="4588475" y="226545"/>
                </a:cubicBezTo>
                <a:lnTo>
                  <a:pt x="4588475" y="1132698"/>
                </a:lnTo>
                <a:cubicBezTo>
                  <a:pt x="4588475" y="1257815"/>
                  <a:pt x="4487047" y="1359243"/>
                  <a:pt x="4361930" y="1359243"/>
                </a:cubicBezTo>
                <a:lnTo>
                  <a:pt x="226545" y="1359243"/>
                </a:lnTo>
                <a:cubicBezTo>
                  <a:pt x="101428" y="1359243"/>
                  <a:pt x="0" y="1257815"/>
                  <a:pt x="0" y="1132698"/>
                </a:cubicBezTo>
                <a:lnTo>
                  <a:pt x="0" y="226545"/>
                </a:lnTo>
                <a:cubicBezTo>
                  <a:pt x="0" y="101428"/>
                  <a:pt x="101428" y="0"/>
                  <a:pt x="226545" y="0"/>
                </a:cubicBezTo>
                <a:close/>
              </a:path>
            </a:pathLst>
          </a:custGeom>
          <a:noFill/>
        </p:spPr>
      </p:pic>
      <p:cxnSp>
        <p:nvCxnSpPr>
          <p:cNvPr id="3" name="直接连接符 2"/>
          <p:cNvCxnSpPr/>
          <p:nvPr/>
        </p:nvCxnSpPr>
        <p:spPr>
          <a:xfrm>
            <a:off x="0" y="830687"/>
            <a:ext cx="12192000" cy="0"/>
          </a:xfrm>
          <a:prstGeom prst="line">
            <a:avLst/>
          </a:prstGeom>
          <a:ln>
            <a:solidFill>
              <a:srgbClr val="9A5A9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365570" y="2767279"/>
            <a:ext cx="56510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Thank you</a:t>
            </a:r>
            <a:r>
              <a:rPr lang="zh-CN" altLang="en-US" sz="8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！</a:t>
            </a:r>
            <a:endParaRPr lang="zh-CN" altLang="en-US" sz="80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3.6502362204725,&quot;left&quot;:43.73503937007874,&quot;top&quot;:103.31771653543308,&quot;width&quot;:737.122125984252}"/>
</p:tagLst>
</file>

<file path=ppt/tags/tag2.xml><?xml version="1.0" encoding="utf-8"?>
<p:tagLst xmlns:p="http://schemas.openxmlformats.org/presentationml/2006/main">
  <p:tag name="KSO_WM_DIAGRAM_VIRTUALLY_FRAME" val="{&quot;height&quot;:313.6502362204725,&quot;left&quot;:43.73503937007874,&quot;top&quot;:103.31771653543308,&quot;width&quot;:737.122125984252}"/>
</p:tagLst>
</file>

<file path=ppt/tags/tag3.xml><?xml version="1.0" encoding="utf-8"?>
<p:tagLst xmlns:p="http://schemas.openxmlformats.org/presentationml/2006/main">
  <p:tag name="KSO_WM_DIAGRAM_VIRTUALLY_FRAME" val="{&quot;height&quot;:313.6502362204725,&quot;left&quot;:43.73503937007874,&quot;top&quot;:103.31771653543308,&quot;width&quot;:737.122125984252}"/>
</p:tagLst>
</file>

<file path=ppt/tags/tag4.xml><?xml version="1.0" encoding="utf-8"?>
<p:tagLst xmlns:p="http://schemas.openxmlformats.org/presentationml/2006/main">
  <p:tag name="KSO_WM_DIAGRAM_VIRTUALLY_FRAME" val="{&quot;height&quot;:313.6502362204725,&quot;left&quot;:43.73503937007874,&quot;top&quot;:103.31771653543308,&quot;width&quot;:737.122125984252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4398</Words>
  <Application>WPS 演示</Application>
  <PresentationFormat>宽屏</PresentationFormat>
  <Paragraphs>466</Paragraphs>
  <Slides>49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9" baseType="lpstr">
      <vt:lpstr>Arial</vt:lpstr>
      <vt:lpstr>宋体</vt:lpstr>
      <vt:lpstr>Wingdings</vt:lpstr>
      <vt:lpstr>微软雅黑</vt:lpstr>
      <vt:lpstr>Times New Roman</vt:lpstr>
      <vt:lpstr>Wingdings</vt:lpstr>
      <vt:lpstr>等线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越 卓</dc:creator>
  <cp:lastModifiedBy>WPS_1640749721</cp:lastModifiedBy>
  <cp:revision>28</cp:revision>
  <dcterms:created xsi:type="dcterms:W3CDTF">2026-01-07T08:24:00Z</dcterms:created>
  <dcterms:modified xsi:type="dcterms:W3CDTF">2026-01-12T07:33:34Z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E4BAF71752F7445E9E2A1B590EA8267E_12</vt:lpwstr>
  </property>
  <property fmtid="{D5CDD505-2E9C-101B-9397-08002B2CF9AE}" pid="3" name="KSOProductBuildVer">
    <vt:lpwstr>2052-12.1.0.24034</vt:lpwstr>
  </property>
</Properties>
</file>