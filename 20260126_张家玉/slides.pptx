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9" r:id="rId3"/>
    <p:sldId id="258" r:id="rId4"/>
    <p:sldId id="256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649" autoAdjust="0"/>
  </p:normalViewPr>
  <p:slideViewPr>
    <p:cSldViewPr snapToGrid="0">
      <p:cViewPr varScale="1">
        <p:scale>
          <a:sx n="75" d="100"/>
          <a:sy n="75" d="100"/>
        </p:scale>
        <p:origin x="69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D57E5-97CD-49AC-874D-FF7F00EB0B75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0BDFD-B404-4863-AD14-2567ED97C2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92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0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奶油腰果意面酱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332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933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6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65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552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63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次用户交互的主题是 </a:t>
            </a:r>
            <a:r>
              <a:rPr lang="en-US" altLang="zh-CN" dirty="0"/>
              <a:t>t</a:t>
            </a:r>
            <a:r>
              <a:rPr lang="zh-CN" altLang="en-US" dirty="0"/>
              <a:t>，那就把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记到 </a:t>
            </a:r>
            <a:r>
              <a:rPr lang="en-US" altLang="zh-CN" dirty="0"/>
              <a:t>t </a:t>
            </a:r>
            <a:r>
              <a:rPr lang="zh-CN" altLang="en-US" dirty="0"/>
              <a:t>这个主题下面。</a:t>
            </a:r>
            <a:endParaRPr lang="en-US" altLang="zh-CN" dirty="0"/>
          </a:p>
          <a:p>
            <a:r>
              <a:rPr lang="zh-CN" altLang="en-US" dirty="0"/>
              <a:t>如果第</a:t>
            </a:r>
            <a:r>
              <a:rPr lang="en-US" altLang="zh-CN" dirty="0" err="1"/>
              <a:t>i</a:t>
            </a:r>
            <a:r>
              <a:rPr lang="zh-CN" altLang="en-US" dirty="0"/>
              <a:t>次对话出现了词</a:t>
            </a:r>
            <a:r>
              <a:rPr lang="en-US" altLang="zh-CN" dirty="0"/>
              <a:t>w,</a:t>
            </a:r>
            <a:r>
              <a:rPr lang="zh-CN" altLang="en-US" dirty="0"/>
              <a:t>那就记下来：这个词在第</a:t>
            </a:r>
            <a:r>
              <a:rPr lang="en-US" altLang="zh-CN" dirty="0" err="1"/>
              <a:t>i</a:t>
            </a:r>
            <a:r>
              <a:rPr lang="zh-CN" altLang="en-US" dirty="0"/>
              <a:t>次对话中出现过。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789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805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953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08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、增加</a:t>
            </a:r>
            <a:r>
              <a:rPr lang="en-US" altLang="zh-CN" dirty="0"/>
              <a:t>token</a:t>
            </a:r>
            <a:r>
              <a:rPr lang="zh-CN" altLang="en-US" dirty="0"/>
              <a:t>消耗，但是推理质量和连贯性没有相应提高。</a:t>
            </a:r>
            <a:endParaRPr lang="en-US" altLang="zh-CN" dirty="0"/>
          </a:p>
          <a:p>
            <a:r>
              <a:rPr lang="en-US" altLang="zh-CN" dirty="0"/>
              <a:t>too few items:</a:t>
            </a:r>
            <a:r>
              <a:rPr lang="zh-CN" altLang="en-US" dirty="0"/>
              <a:t>原始信息中包含大量噪声，经过繁琐的多次迭代后，最终提取出的有价值记忆条目（</a:t>
            </a:r>
            <a:r>
              <a:rPr lang="en-US" altLang="zh-CN" dirty="0"/>
              <a:t>Memory items</a:t>
            </a:r>
            <a:r>
              <a:rPr lang="zh-CN" altLang="en-US" dirty="0"/>
              <a:t>）却寥寥无几 。</a:t>
            </a:r>
            <a:endParaRPr lang="en-US" altLang="zh-CN" dirty="0"/>
          </a:p>
          <a:p>
            <a:r>
              <a:rPr lang="en-US" altLang="zh-CN" dirty="0"/>
              <a:t>too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iterations:</a:t>
            </a:r>
            <a:r>
              <a:rPr lang="zh-CN" altLang="en-US" dirty="0"/>
              <a:t>即使对话中包含大量重复或无意义的废话，系统仍需对每一轮都调用 </a:t>
            </a:r>
            <a:r>
              <a:rPr lang="en-US" altLang="zh-CN" dirty="0"/>
              <a:t>LLM </a:t>
            </a:r>
            <a:r>
              <a:rPr lang="zh-CN" altLang="en-US" dirty="0"/>
              <a:t>进行处理，导致处理循环（</a:t>
            </a:r>
            <a:r>
              <a:rPr lang="en-US" altLang="zh-CN" dirty="0"/>
              <a:t>Iteration</a:t>
            </a:r>
            <a:r>
              <a:rPr lang="zh-CN" altLang="en-US" dirty="0"/>
              <a:t>）次数过多，极大地消耗了 </a:t>
            </a:r>
            <a:r>
              <a:rPr lang="en-US" altLang="zh-CN" dirty="0"/>
              <a:t>API </a:t>
            </a:r>
            <a:r>
              <a:rPr lang="zh-CN" altLang="en-US" dirty="0"/>
              <a:t>调用次数和 </a:t>
            </a:r>
            <a:r>
              <a:rPr lang="en-US" altLang="zh-CN" dirty="0"/>
              <a:t>Token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b="1" dirty="0"/>
              <a:t>Information loss</a:t>
            </a:r>
            <a:r>
              <a:rPr lang="zh-CN" altLang="en-US" b="1" dirty="0"/>
              <a:t>（信息丢失）</a:t>
            </a:r>
            <a:r>
              <a:rPr lang="zh-CN" altLang="en-US" dirty="0"/>
              <a:t>：由于缺乏细致的主题边界划分，多个对话的主题被强行压缩在一起，导致原本关键的细节在总结过程中被忽略或遗漏 。</a:t>
            </a:r>
          </a:p>
          <a:p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17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352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如果模型预测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与真实情况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非常接近（即交叉熵很低），说明这个词在当前语境下是极其“可预测”的，冗余度高，因此保留概率低 。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如果模型预测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与真实情况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偏差很大（即交叉熵很高），说明这个词在当前语境下是“不可预测”的，具有极高的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信息独特性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Informational Uniqueness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），因此它的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P(retain)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概率更高，会被优先保留以用于后续的记忆构建 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percentile </a:t>
            </a:r>
            <a:r>
              <a:rPr lang="zh-CN" altLang="en-US" dirty="0"/>
              <a:t>阈值不是固定数值判断，而是按概率排序后保留前 </a:t>
            </a:r>
            <a:r>
              <a:rPr lang="en-US" altLang="zh-CN" dirty="0"/>
              <a:t>r% </a:t>
            </a:r>
            <a:r>
              <a:rPr lang="zh-CN" altLang="en-US" dirty="0"/>
              <a:t>的 </a:t>
            </a:r>
            <a:r>
              <a:rPr lang="en-US" altLang="zh-CN" dirty="0"/>
              <a:t>token</a:t>
            </a:r>
            <a:r>
              <a:rPr lang="zh-CN" altLang="en-US" dirty="0"/>
              <a:t>，用于稳定地控制压缩比例。即前</a:t>
            </a:r>
            <a:r>
              <a:rPr lang="en-US" altLang="zh-CN" dirty="0"/>
              <a:t>r</a:t>
            </a:r>
            <a:r>
              <a:rPr lang="zh-CN" altLang="en-US" dirty="0"/>
              <a:t>个百分位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111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当第</a:t>
            </a:r>
            <a:r>
              <a:rPr lang="en-US" altLang="zh-CN" dirty="0"/>
              <a:t>k</a:t>
            </a:r>
            <a:r>
              <a:rPr lang="zh-CN" altLang="en-US" dirty="0"/>
              <a:t>句开启一个新话题时，它对极远处的旧信息关注度极低，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论文提到注意力得分在句子内部是经过归一化（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）处理的 。如果一个新话题的句子对更早的句子（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k-2, k-3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）几乎没有注意力，那么分配给紧邻句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Mk,k-1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的份额在比例上就会显得异常高，从而形成一个局部峰值 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Mk,k-1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：表示第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轮对话对其紧邻前一轮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的注意力得分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592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</a:t>
            </a:r>
            <a:r>
              <a:rPr lang="zh-CN" altLang="en-US" dirty="0"/>
              <a:t>是原始消息，最终输出的</a:t>
            </a:r>
            <a:r>
              <a:rPr lang="en-US" altLang="zh-CN" dirty="0"/>
              <a:t>{</a:t>
            </a:r>
            <a:r>
              <a:rPr lang="en-US" altLang="zh-CN" dirty="0" err="1"/>
              <a:t>user,model</a:t>
            </a:r>
            <a:r>
              <a:rPr lang="en-US" altLang="zh-CN" dirty="0"/>
              <a:t>}</a:t>
            </a:r>
            <a:r>
              <a:rPr lang="zh-CN" altLang="en-US" dirty="0"/>
              <a:t>是原始的消息备份。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255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系统会为每一个旧的记忆条目寻找与其语义相似、但时间更晚的新条目 。</a:t>
            </a:r>
            <a:endParaRPr lang="en-US" altLang="zh-CN" dirty="0"/>
          </a:p>
          <a:p>
            <a:r>
              <a:rPr lang="zh-CN" altLang="en-US" dirty="0"/>
              <a:t>更新的对象是存放在长期记忆中的早期记忆条目</a:t>
            </a:r>
            <a:r>
              <a:rPr lang="en-US" altLang="zh-CN" dirty="0" err="1"/>
              <a:t>ei</a:t>
            </a:r>
            <a:r>
              <a:rPr lang="zh-CN" altLang="en-US" dirty="0"/>
              <a:t>，更新的依据是具有较晚时间戳的新记忆条目</a:t>
            </a:r>
            <a:r>
              <a:rPr lang="en-US" altLang="zh-CN" dirty="0" err="1"/>
              <a:t>ej</a:t>
            </a:r>
            <a:endParaRPr lang="en-US" altLang="zh-CN" dirty="0"/>
          </a:p>
          <a:p>
            <a:r>
              <a:rPr lang="en-US" altLang="zh-CN" dirty="0"/>
              <a:t>Q(</a:t>
            </a:r>
            <a:r>
              <a:rPr lang="en-US" altLang="zh-CN" dirty="0" err="1"/>
              <a:t>ei</a:t>
            </a:r>
            <a:r>
              <a:rPr lang="en-US" altLang="zh-CN" dirty="0"/>
              <a:t>)</a:t>
            </a:r>
            <a:r>
              <a:rPr lang="zh-CN" altLang="en-US" dirty="0"/>
              <a:t>：这是最终为旧记忆</a:t>
            </a:r>
            <a:r>
              <a:rPr lang="en-US" altLang="zh-CN" dirty="0" err="1"/>
              <a:t>ei</a:t>
            </a:r>
            <a:r>
              <a:rPr lang="zh-CN" altLang="en-US" dirty="0"/>
              <a:t>生成的一个任务清单，里面装满了可能更新它的新信息。时间晚的才能更新时间早的，排除掉记忆自己更新自己。</a:t>
            </a:r>
            <a:endParaRPr lang="en-US" altLang="zh-CN" dirty="0"/>
          </a:p>
          <a:p>
            <a:r>
              <a:rPr lang="en-US" altLang="zh-CN" dirty="0" err="1"/>
              <a:t>Topk</a:t>
            </a:r>
            <a:r>
              <a:rPr lang="zh-CN" altLang="en-US" dirty="0"/>
              <a:t>从所有符合时间条件的新记忆中，选出相似度最高的前</a:t>
            </a:r>
            <a:r>
              <a:rPr lang="en-US" altLang="zh-CN" dirty="0"/>
              <a:t>k</a:t>
            </a:r>
            <a:r>
              <a:rPr lang="zh-CN" altLang="en-US" dirty="0"/>
              <a:t>个。</a:t>
            </a:r>
            <a:endParaRPr lang="en-US" altLang="zh-CN" dirty="0"/>
          </a:p>
          <a:p>
            <a:pPr algn="l"/>
            <a:r>
              <a:rPr lang="en-US" altLang="zh-CN" dirty="0"/>
              <a:t>:n</a:t>
            </a:r>
            <a:r>
              <a:rPr lang="zh-CN" altLang="en-US" dirty="0"/>
              <a:t>从所有符合时间条件的新记忆中，选出相似度最高的前</a:t>
            </a:r>
            <a:r>
              <a:rPr lang="en-US" altLang="zh-CN" dirty="0"/>
              <a:t>k</a:t>
            </a:r>
            <a:r>
              <a:rPr lang="zh-CN" altLang="en-US" dirty="0"/>
              <a:t>个。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602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177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r-</a:t>
            </a:r>
            <a:r>
              <a:rPr lang="zh-CN" altLang="en-US" dirty="0"/>
              <a:t>压缩率，随着</a:t>
            </a:r>
            <a:r>
              <a:rPr lang="en-US" altLang="zh-CN" dirty="0"/>
              <a:t>r</a:t>
            </a:r>
            <a:r>
              <a:rPr lang="zh-CN" altLang="en-US" dirty="0"/>
              <a:t>的增大，保留的信息增多，</a:t>
            </a:r>
            <a:r>
              <a:rPr lang="en-US" altLang="zh-CN" dirty="0"/>
              <a:t>ACC</a:t>
            </a:r>
            <a:r>
              <a:rPr lang="zh-CN" altLang="en-US" dirty="0"/>
              <a:t>通常会随之上升，但</a:t>
            </a:r>
            <a:r>
              <a:rPr lang="en-US" altLang="zh-CN" dirty="0"/>
              <a:t>Token</a:t>
            </a:r>
            <a:r>
              <a:rPr lang="zh-CN" altLang="en-US" dirty="0"/>
              <a:t>消耗也会增加</a:t>
            </a:r>
            <a:endParaRPr lang="en-US" altLang="zh-CN" dirty="0"/>
          </a:p>
          <a:p>
            <a:r>
              <a:rPr lang="en-US" altLang="zh-CN" dirty="0" err="1"/>
              <a:t>th</a:t>
            </a:r>
            <a:r>
              <a:rPr lang="en-US" altLang="zh-CN" dirty="0"/>
              <a:t>-STM</a:t>
            </a:r>
            <a:r>
              <a:rPr lang="zh-CN" altLang="en-US" dirty="0"/>
              <a:t>缓冲区容量的阈值，较大的</a:t>
            </a:r>
            <a:r>
              <a:rPr lang="en-US" altLang="zh-CN" dirty="0" err="1"/>
              <a:t>th</a:t>
            </a:r>
            <a:r>
              <a:rPr lang="zh-CN" altLang="en-US" dirty="0"/>
              <a:t>意味着更晚触发</a:t>
            </a:r>
            <a:r>
              <a:rPr lang="en-US" altLang="zh-CN" dirty="0"/>
              <a:t>STM</a:t>
            </a:r>
            <a:r>
              <a:rPr lang="zh-CN" altLang="en-US" dirty="0"/>
              <a:t>到</a:t>
            </a:r>
            <a:r>
              <a:rPr lang="en-US" altLang="zh-CN" dirty="0"/>
              <a:t>LTM</a:t>
            </a:r>
            <a:r>
              <a:rPr lang="zh-CN" altLang="en-US" dirty="0"/>
              <a:t>的转移，因为单次处理的信息量变大了，这通常会减少</a:t>
            </a:r>
            <a:r>
              <a:rPr lang="en-US" altLang="zh-CN" dirty="0"/>
              <a:t>API</a:t>
            </a:r>
            <a:r>
              <a:rPr lang="zh-CN" altLang="en-US" dirty="0"/>
              <a:t>调用次数。</a:t>
            </a:r>
            <a:endParaRPr lang="en-US" altLang="zh-CN" dirty="0"/>
          </a:p>
          <a:p>
            <a:r>
              <a:rPr lang="en-US" altLang="zh-CN" dirty="0"/>
              <a:t>OP-update</a:t>
            </a:r>
            <a:r>
              <a:rPr lang="zh-CN" altLang="en-US" dirty="0"/>
              <a:t>：离线并行更新，</a:t>
            </a:r>
            <a:r>
              <a:rPr lang="en-US" altLang="zh-CN" dirty="0"/>
              <a:t>Token</a:t>
            </a:r>
            <a:r>
              <a:rPr lang="zh-CN" altLang="en-US" dirty="0"/>
              <a:t>、</a:t>
            </a:r>
            <a:r>
              <a:rPr lang="en-US" altLang="zh-CN" dirty="0"/>
              <a:t>Calls </a:t>
            </a:r>
            <a:r>
              <a:rPr lang="zh-CN" altLang="en-US" dirty="0"/>
              <a:t>和 </a:t>
            </a:r>
            <a:r>
              <a:rPr lang="en-US" altLang="zh-CN" dirty="0"/>
              <a:t>Runtime </a:t>
            </a:r>
            <a:r>
              <a:rPr lang="zh-CN" altLang="en-US" dirty="0"/>
              <a:t>是累加的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845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运行时间（</a:t>
            </a:r>
            <a:r>
              <a:rPr lang="en-US" altLang="zh-CN" dirty="0"/>
              <a:t>Runtime</a:t>
            </a:r>
            <a:r>
              <a:rPr lang="zh-CN" altLang="en-US" dirty="0"/>
              <a:t>）主要由 </a:t>
            </a:r>
            <a:r>
              <a:rPr lang="en-US" altLang="zh-CN" b="1" dirty="0"/>
              <a:t>API </a:t>
            </a:r>
            <a:r>
              <a:rPr lang="zh-CN" altLang="en-US" b="1" dirty="0"/>
              <a:t>调用产生的网络延迟和排队等待时间</a:t>
            </a:r>
            <a:r>
              <a:rPr lang="zh-CN" altLang="en-US" dirty="0"/>
              <a:t> 决定，而不是处理 </a:t>
            </a:r>
            <a:r>
              <a:rPr lang="en-US" altLang="zh-CN" dirty="0"/>
              <a:t>Token </a:t>
            </a:r>
            <a:r>
              <a:rPr lang="zh-CN" altLang="en-US" dirty="0"/>
              <a:t>的纯计算时间。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BDFD-B404-4863-AD14-2567ED97C27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4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482D7-AADB-04ED-9E69-834BB4205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C9334F-A9E0-92FF-CE48-D46F9F568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CC40B-3E81-D610-DC82-40E12FD1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6546EA-994F-CB7B-4ECD-87F63A6B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805637-93C8-CDFA-9470-6434B18A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52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AE199-CFED-2F29-E224-D1573C45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F6B632-0D84-0605-8D50-005E2FA61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E7A60-6AFF-C72D-4D05-0FC7D1BA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A3A71C-9CD0-E755-7ED0-D2690B66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2AA80-3B0A-B7B1-1A92-DF4BE995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06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0B039-AF5C-8C49-33D9-AE4BFBA7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210488-8276-03E3-17AA-82DA8CD37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CC7FA-4FA3-9C34-FB7B-D2585795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461F3D-BC0D-5598-B029-272CB2CF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33C007-4D74-199B-EBE6-105E415B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14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7E167-204C-81E1-2C31-28EA0388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999F94-C683-C17E-2A73-FB2D8E972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9EF150-4042-FFD8-857F-196098BA0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836B7A-AEA5-A57A-2E70-3D1A4230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F3275B-51AD-707C-CB99-34AC5169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FC5EA6-4AC3-6378-EA68-9E746B50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50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58C9C-09B3-4632-FF2A-8061E269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0D1E87-2A3E-A2DF-CDC3-2F44DEB55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0F2612-60ED-DF70-1A72-3D7EF8855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6E7641-039C-578C-3894-5A6DFADD5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17E162-127C-F6BB-D286-12E8E1C4B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7F64FA-7A88-3918-E9EC-B0EE91C6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79DB63-B938-6DCC-B4F4-0E0AB051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A8FD1-E9CD-4602-F358-63CAECA9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3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F4406-3994-B864-65A0-06F763E9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19BF04-6D03-B1CA-1D79-57F5C0DF4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CC4454-04D8-7724-A0A8-B126AD37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0C5E7E-7964-5968-6D65-6C9BB838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2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A62492-1716-D572-49FD-C7EBA29A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12AAC2-F9CB-A8BA-EFDD-34DDC293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78D535-B3FC-1933-E11E-15CC6150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21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28F2C-2248-58BD-781D-083969B7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31772-6995-22E9-AE83-A764300CF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42515E-A985-7ABD-5DA2-75EB79071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CA1157-D315-DD5A-1B48-86CC80C9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DCE728-EC37-0871-CD39-516E9E21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8ADBE7-B977-A330-7A7B-D3384048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03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D5201-291A-961D-9E22-3B2FC16A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BB4538-B9A0-9BE8-0A57-A69F216CF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A96863-BAC7-A759-4CB7-6923D0611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F272A8-7142-B284-201D-CEA333F2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C321E5-2B50-CA4E-6882-8217F8C6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83114C-2E72-D751-8E42-F8E11C05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0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680CB-94C4-56E9-DEF5-22FD17C9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D53179-804A-42A3-2760-7EE614383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6D8D5-5DC9-BE0C-FD95-4074A820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C241D4-9D77-3AE8-613E-7BB232AE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96B19-E513-852B-68B3-26B63594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6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9315A1-A569-F195-6E6D-D0A1B681D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2CF083-70D5-66D0-76C1-7A0903198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D3DC79-2019-10A0-8F54-29BD3DED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88C09-920E-EE6C-1A96-1BB2747F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66AE9-3E0E-4148-337F-A489D6DF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32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D6C577-7B26-842A-7060-87C892E5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9824A-C9D9-DB0F-128C-ABD91180D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B3F1E4-F59C-2196-5F8A-08D0DC001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0D230-0504-4519-9BBF-EBCC329F6C89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49E14-58C5-9875-6903-6D7CA1731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588845-C607-64DF-E463-5E70F9638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E9BB2-C6D2-44A1-B6CB-3D11FDFB4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18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59917E-5555-85C9-2796-9B68A5B87C6A}"/>
              </a:ext>
            </a:extLst>
          </p:cNvPr>
          <p:cNvSpPr txBox="1"/>
          <p:nvPr/>
        </p:nvSpPr>
        <p:spPr>
          <a:xfrm>
            <a:off x="1319349" y="1214845"/>
            <a:ext cx="973182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000" dirty="0"/>
              <a:t> Agent Memory</a:t>
            </a:r>
            <a:r>
              <a:rPr lang="zh-CN" altLang="en-US" sz="5000" dirty="0"/>
              <a:t>相关论文汇报</a:t>
            </a:r>
            <a:endParaRPr lang="en-US" altLang="zh-CN" sz="5000" dirty="0"/>
          </a:p>
          <a:p>
            <a:pPr algn="ctr"/>
            <a:endParaRPr lang="en-US" altLang="zh-CN" sz="3200" dirty="0"/>
          </a:p>
          <a:p>
            <a:endParaRPr lang="en-US" altLang="zh-CN" sz="2500" dirty="0"/>
          </a:p>
          <a:p>
            <a:endParaRPr lang="en-US" altLang="zh-CN" sz="2500" dirty="0"/>
          </a:p>
          <a:p>
            <a:r>
              <a:rPr lang="en-US" altLang="zh-CN" sz="2500" dirty="0"/>
              <a:t>1.《O-Mem: Omni Memory System for Personalized, Long Horizon, Self-Evolving Agents》</a:t>
            </a:r>
          </a:p>
          <a:p>
            <a:r>
              <a:rPr lang="en-US" altLang="zh-CN" sz="2500" dirty="0"/>
              <a:t>2.《LIGHTMEM: LIGHTWEIGHT AND EFFICIENT  MEMORY-AUGMENTED GENERATION》</a:t>
            </a:r>
          </a:p>
          <a:p>
            <a:endParaRPr lang="en-US" altLang="zh-CN" sz="2500" dirty="0"/>
          </a:p>
          <a:p>
            <a:pPr algn="ctr"/>
            <a:endParaRPr lang="en-US" altLang="zh-CN" sz="2800" dirty="0"/>
          </a:p>
          <a:p>
            <a:pPr algn="ctr"/>
            <a:r>
              <a:rPr lang="zh-CN" altLang="en-US" sz="2800" dirty="0"/>
              <a:t>汇报人：张家玉</a:t>
            </a:r>
            <a:endParaRPr lang="en-US" altLang="zh-CN" sz="2800" dirty="0"/>
          </a:p>
          <a:p>
            <a:endParaRPr lang="en-US" altLang="zh-CN" sz="2500" dirty="0"/>
          </a:p>
        </p:txBody>
      </p:sp>
    </p:spTree>
    <p:extLst>
      <p:ext uri="{BB962C8B-B14F-4D97-AF65-F5344CB8AC3E}">
        <p14:creationId xmlns:p14="http://schemas.microsoft.com/office/powerpoint/2010/main" val="128635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DF01346-DC68-047E-A02C-1BF8ADE8A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247" y="1286507"/>
            <a:ext cx="7455542" cy="37890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5B97DC9-377A-E2D2-1D14-3AB7A1D21647}"/>
              </a:ext>
            </a:extLst>
          </p:cNvPr>
          <p:cNvSpPr txBox="1"/>
          <p:nvPr/>
        </p:nvSpPr>
        <p:spPr>
          <a:xfrm>
            <a:off x="631370" y="457199"/>
            <a:ext cx="3252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记忆有什么用</a:t>
            </a:r>
            <a:r>
              <a:rPr lang="en-US" altLang="zh-CN" sz="3200" dirty="0"/>
              <a:t>?</a:t>
            </a:r>
            <a:endParaRPr lang="zh-CN" altLang="en-US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202C3C-3ACB-5B4C-2D30-18E8811868E3}"/>
              </a:ext>
            </a:extLst>
          </p:cNvPr>
          <p:cNvSpPr txBox="1"/>
          <p:nvPr/>
        </p:nvSpPr>
        <p:spPr>
          <a:xfrm>
            <a:off x="1680753" y="5322502"/>
            <a:ext cx="7602583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1.有Memory系统的Agent可以通过与用户交互获取用户相关的Memory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2.Memory以Messages的原生形式组织、存储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3.通过召回Memory中的对应信息，Agent可以更个性化地响应用户的请求</a:t>
            </a:r>
          </a:p>
        </p:txBody>
      </p:sp>
    </p:spTree>
    <p:extLst>
      <p:ext uri="{BB962C8B-B14F-4D97-AF65-F5344CB8AC3E}">
        <p14:creationId xmlns:p14="http://schemas.microsoft.com/office/powerpoint/2010/main" val="389917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39EB378-AD36-E056-B927-A9E22340EABD}"/>
              </a:ext>
            </a:extLst>
          </p:cNvPr>
          <p:cNvSpPr txBox="1"/>
          <p:nvPr/>
        </p:nvSpPr>
        <p:spPr>
          <a:xfrm>
            <a:off x="387530" y="317863"/>
            <a:ext cx="1894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概念区别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9B04D4-51F3-F3E3-12DE-C13EEA4241AD}"/>
              </a:ext>
            </a:extLst>
          </p:cNvPr>
          <p:cNvSpPr txBox="1"/>
          <p:nvPr/>
        </p:nvSpPr>
        <p:spPr>
          <a:xfrm>
            <a:off x="870856" y="1147413"/>
            <a:ext cx="10023566" cy="545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、Agent Memory（智能体记忆）： 智能体的长期、可演化的认知状态，用于支持智能体在跨任务、跨时间的长期行为一致性。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三个关键特征：① 持久性：不会因为一次对话或一次推理结束就消失；</a:t>
            </a:r>
            <a:r>
              <a:rPr lang="en-US" altLang="zh-CN" dirty="0"/>
              <a:t>	</a:t>
            </a:r>
            <a:r>
              <a:rPr lang="zh-CN" altLang="en-US" dirty="0"/>
              <a:t>② 自我演化：会被更新、压缩、抽象、遗忘；③与环境交互产生：记的是</a:t>
            </a:r>
            <a:r>
              <a:rPr lang="en-US" altLang="zh-CN" dirty="0"/>
              <a:t>Agent</a:t>
            </a:r>
            <a:r>
              <a:rPr lang="zh-CN" altLang="en-US" dirty="0"/>
              <a:t>的经验，而不仅是外部知识。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、LLM Memory（模型记忆）： 模型内部保留上下文信息的机制，</a:t>
            </a:r>
            <a:r>
              <a:rPr lang="en-US" altLang="zh-CN" dirty="0" err="1"/>
              <a:t>eg.KV</a:t>
            </a:r>
            <a:r>
              <a:rPr lang="en-US" altLang="zh-CN" dirty="0"/>
              <a:t> cache</a:t>
            </a:r>
            <a:r>
              <a:rPr lang="zh-CN" altLang="en-US" dirty="0"/>
              <a:t>管理，长上下文</a:t>
            </a:r>
            <a:r>
              <a:rPr lang="en-US" altLang="zh-CN" dirty="0"/>
              <a:t>Transformer</a:t>
            </a:r>
            <a:r>
              <a:rPr lang="zh-CN" altLang="en-US" dirty="0"/>
              <a:t>，注意力压缩、重用等。</a:t>
            </a:r>
            <a:r>
              <a:rPr lang="zh-CN" altLang="en-US" b="1" dirty="0"/>
              <a:t>缺点</a:t>
            </a:r>
            <a:r>
              <a:rPr lang="zh-CN" altLang="en-US" dirty="0"/>
              <a:t>：每记住一个新知识，都要重新训练一次模型；学会新东西，可能忘掉旧知识（灾难性遗忘）。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、RAG（检索增强生成）：在生成前，从外部数据库检索相关信息，拼进 </a:t>
            </a:r>
            <a:r>
              <a:rPr lang="en-US" altLang="zh-CN" dirty="0"/>
              <a:t>prompt</a:t>
            </a:r>
            <a:r>
              <a:rPr lang="zh-CN" altLang="en-US" dirty="0"/>
              <a:t>。特点：知识是静态的，且每次推理独立。</a:t>
            </a:r>
            <a:r>
              <a:rPr lang="zh-CN" altLang="en-US" b="1" dirty="0"/>
              <a:t>缺点</a:t>
            </a:r>
            <a:r>
              <a:rPr lang="zh-CN" altLang="en-US" dirty="0"/>
              <a:t>：</a:t>
            </a:r>
            <a:r>
              <a:rPr lang="en-US" altLang="zh-CN" dirty="0"/>
              <a:t>RAG</a:t>
            </a:r>
            <a:r>
              <a:rPr lang="zh-CN" altLang="en-US" dirty="0"/>
              <a:t>的更新成本主要来自规模化知识维护，知识一变，就要重新向量化还要维护检索结构。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650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064FA3-3600-7BEF-067B-7B566B56C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004148"/>
            <a:ext cx="7612030" cy="4935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5794882-E6D6-746D-A78D-E30B9F8041F1}"/>
              </a:ext>
            </a:extLst>
          </p:cNvPr>
          <p:cNvSpPr txBox="1"/>
          <p:nvPr/>
        </p:nvSpPr>
        <p:spPr>
          <a:xfrm>
            <a:off x="1290916" y="6008914"/>
            <a:ext cx="55366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《</a:t>
            </a:r>
            <a:r>
              <a:rPr lang="zh-CN" altLang="en-US" sz="1600" dirty="0"/>
              <a:t>Memory in the Age of AI Agents: A Survey</a:t>
            </a:r>
            <a:r>
              <a:rPr lang="en-US" altLang="zh-CN" sz="1600" dirty="0"/>
              <a:t>》 2025.12.15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66F1A4-0145-FE66-43F2-8C6791181EBD}"/>
              </a:ext>
            </a:extLst>
          </p:cNvPr>
          <p:cNvSpPr txBox="1"/>
          <p:nvPr/>
        </p:nvSpPr>
        <p:spPr>
          <a:xfrm>
            <a:off x="7707086" y="163721"/>
            <a:ext cx="4484914" cy="741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记忆的存储形式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、词元级记忆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：记忆是离散的、外部存储的，可被单独操作的单位；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、参数化记忆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：将记忆存储在模型的权重中；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、隐空间记忆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：将信息存储在模型的中间激活状态或连续向量空间中。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记忆的功能分类体系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时间维度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、长期记忆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：跨会话的持久存储；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、短期记忆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：会话内的临时工作区。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B.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核心功能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、事实性记忆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a.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情景记忆：存储特定时间、空间相关的个人经历；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b.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语义记忆：存储通用的事实知识、概念和词义。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、经验性记忆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：从过去的成功或失败案例中抽象出解题思路；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、工作记忆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：存储当前任务的即时上下文和中间推理结果。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5FC6B4-B57B-3DE5-5723-F0B6F23BB191}"/>
              </a:ext>
            </a:extLst>
          </p:cNvPr>
          <p:cNvSpPr txBox="1"/>
          <p:nvPr/>
        </p:nvSpPr>
        <p:spPr>
          <a:xfrm>
            <a:off x="230776" y="204651"/>
            <a:ext cx="1894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记忆分类</a:t>
            </a:r>
          </a:p>
        </p:txBody>
      </p:sp>
    </p:spTree>
    <p:extLst>
      <p:ext uri="{BB962C8B-B14F-4D97-AF65-F5344CB8AC3E}">
        <p14:creationId xmlns:p14="http://schemas.microsoft.com/office/powerpoint/2010/main" val="154730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7F1D5E1-AD76-C571-3081-D948FB4EEA51}"/>
              </a:ext>
            </a:extLst>
          </p:cNvPr>
          <p:cNvSpPr txBox="1"/>
          <p:nvPr/>
        </p:nvSpPr>
        <p:spPr>
          <a:xfrm>
            <a:off x="5171286" y="4310971"/>
            <a:ext cx="185515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2025.12.10</a:t>
            </a:r>
            <a:endParaRPr lang="zh-CN" altLang="en-US" sz="25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9AC14E6-3984-A1B2-9407-6EB7937CE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920" y="827676"/>
            <a:ext cx="9341672" cy="32882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08A99FA-DAA1-6716-3B13-2E0F45447582}"/>
              </a:ext>
            </a:extLst>
          </p:cNvPr>
          <p:cNvSpPr txBox="1"/>
          <p:nvPr/>
        </p:nvSpPr>
        <p:spPr>
          <a:xfrm>
            <a:off x="492607" y="5549439"/>
            <a:ext cx="1144363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00" dirty="0"/>
              <a:t>任务：构建一个支持长期交互，动态用户建模，高效推理的</a:t>
            </a:r>
            <a:r>
              <a:rPr lang="en-US" altLang="zh-CN" sz="2500" dirty="0"/>
              <a:t>Agent Memory </a:t>
            </a:r>
            <a:r>
              <a:rPr lang="zh-CN" altLang="en-US" sz="2500" dirty="0"/>
              <a:t>系统。</a:t>
            </a:r>
            <a:endParaRPr lang="en-US" altLang="zh-CN" sz="2500" dirty="0"/>
          </a:p>
        </p:txBody>
      </p:sp>
    </p:spTree>
    <p:extLst>
      <p:ext uri="{BB962C8B-B14F-4D97-AF65-F5344CB8AC3E}">
        <p14:creationId xmlns:p14="http://schemas.microsoft.com/office/powerpoint/2010/main" val="208766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C89BC60-ECCC-A587-0944-E702972CFD25}"/>
              </a:ext>
            </a:extLst>
          </p:cNvPr>
          <p:cNvSpPr txBox="1"/>
          <p:nvPr/>
        </p:nvSpPr>
        <p:spPr>
          <a:xfrm>
            <a:off x="152710" y="123118"/>
            <a:ext cx="11962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 动机</a:t>
            </a:r>
            <a:endParaRPr lang="en-US" altLang="zh-CN" sz="3200" dirty="0"/>
          </a:p>
          <a:p>
            <a:endParaRPr lang="en-US" altLang="zh-CN" sz="2400" dirty="0"/>
          </a:p>
          <a:p>
            <a:r>
              <a:rPr lang="zh-CN" altLang="en-US" sz="2400" dirty="0"/>
              <a:t> 现有的</a:t>
            </a:r>
            <a:r>
              <a:rPr lang="en-US" altLang="zh-CN" sz="2400" dirty="0"/>
              <a:t>memory</a:t>
            </a:r>
            <a:r>
              <a:rPr lang="zh-CN" altLang="en-US" sz="2400" dirty="0"/>
              <a:t>系统只记内容，不理解人的个性化需求。</a:t>
            </a:r>
            <a:endParaRPr lang="zh-CN" altLang="en-US" sz="3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2BAD98-B6C7-27B1-1201-A72D6291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50" y="1668182"/>
            <a:ext cx="6830416" cy="42609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7A8EBAC-2E22-2E36-55E3-8168EC5E3E83}"/>
              </a:ext>
            </a:extLst>
          </p:cNvPr>
          <p:cNvSpPr txBox="1"/>
          <p:nvPr/>
        </p:nvSpPr>
        <p:spPr>
          <a:xfrm>
            <a:off x="375385" y="6083166"/>
            <a:ext cx="827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大多数</a:t>
            </a:r>
            <a:r>
              <a:rPr lang="en-US" altLang="zh-CN" dirty="0"/>
              <a:t>Agent Memory</a:t>
            </a:r>
            <a:r>
              <a:rPr lang="zh-CN" altLang="en-US" dirty="0"/>
              <a:t>系统的范式是：把历史对话</a:t>
            </a:r>
            <a:r>
              <a:rPr lang="en-US" altLang="zh-CN" dirty="0"/>
              <a:t>-&gt;</a:t>
            </a:r>
            <a:r>
              <a:rPr lang="zh-CN" altLang="en-US" dirty="0"/>
              <a:t>按语义分组</a:t>
            </a:r>
            <a:r>
              <a:rPr lang="en-US" altLang="zh-CN" dirty="0"/>
              <a:t>-&gt;</a:t>
            </a:r>
            <a:r>
              <a:rPr lang="zh-CN" altLang="en-US" dirty="0"/>
              <a:t>检索相关</a:t>
            </a:r>
            <a:r>
              <a:rPr lang="en-US" altLang="zh-CN" dirty="0"/>
              <a:t>chunk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0F2E54-5D53-5820-DB11-95984F3ACA59}"/>
              </a:ext>
            </a:extLst>
          </p:cNvPr>
          <p:cNvSpPr txBox="1"/>
          <p:nvPr/>
        </p:nvSpPr>
        <p:spPr>
          <a:xfrm>
            <a:off x="7055318" y="1588168"/>
            <a:ext cx="46778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  忽略上下文重要但语义距离较远的信息</a:t>
            </a:r>
            <a:endParaRPr lang="en-US" altLang="zh-CN" dirty="0"/>
          </a:p>
          <a:p>
            <a:r>
              <a:rPr lang="zh-CN" altLang="en-US" dirty="0"/>
              <a:t>用户问：“帮我规划周末活动”</a:t>
            </a:r>
            <a:endParaRPr lang="en-US" altLang="zh-CN" dirty="0"/>
          </a:p>
          <a:p>
            <a:r>
              <a:rPr lang="zh-CN" altLang="en-US" dirty="0"/>
              <a:t>一个做语义检索的系统可能只会找：旅游，周末，活动。</a:t>
            </a:r>
            <a:endParaRPr lang="en-US" altLang="zh-CN" dirty="0"/>
          </a:p>
          <a:p>
            <a:r>
              <a:rPr lang="zh-CN" altLang="en-US" dirty="0"/>
              <a:t>但真正重要的可能是：</a:t>
            </a:r>
            <a:endParaRPr lang="en-US" altLang="zh-CN" dirty="0"/>
          </a:p>
          <a:p>
            <a:pPr lvl="1"/>
            <a:r>
              <a:rPr lang="zh-CN" altLang="en-US" dirty="0"/>
              <a:t>用户最近身体不好</a:t>
            </a:r>
            <a:endParaRPr lang="en-US" altLang="zh-CN" dirty="0"/>
          </a:p>
          <a:p>
            <a:pPr lvl="1"/>
            <a:r>
              <a:rPr lang="zh-CN" altLang="en-US" dirty="0"/>
              <a:t>用户这周的学习状况</a:t>
            </a:r>
            <a:endParaRPr lang="en-US" altLang="zh-CN" dirty="0"/>
          </a:p>
          <a:p>
            <a:pPr lvl="1"/>
            <a:r>
              <a:rPr lang="zh-CN" altLang="en-US" dirty="0"/>
              <a:t>用户不喜欢人多的地方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② 分组检索会引入噪声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检索结果冗余、噪声大</a:t>
            </a:r>
            <a:endParaRPr lang="en-US" altLang="zh-CN" dirty="0"/>
          </a:p>
          <a:p>
            <a:r>
              <a:rPr lang="en-US" altLang="zh-CN" dirty="0"/>
              <a:t>     Token</a:t>
            </a:r>
            <a:r>
              <a:rPr lang="zh-CN" altLang="en-US" dirty="0"/>
              <a:t>成本和延迟上升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0D2BE8-820F-BB1E-9E53-820CD2DC3BB3}"/>
              </a:ext>
            </a:extLst>
          </p:cNvPr>
          <p:cNvSpPr txBox="1"/>
          <p:nvPr/>
        </p:nvSpPr>
        <p:spPr>
          <a:xfrm>
            <a:off x="6992751" y="3830855"/>
            <a:ext cx="502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“语义相关性”无法覆盖“用户整体状态与人格特征”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968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A67FC6-C471-4643-CD35-9BC2010E00B8}"/>
              </a:ext>
            </a:extLst>
          </p:cNvPr>
          <p:cNvSpPr txBox="1"/>
          <p:nvPr/>
        </p:nvSpPr>
        <p:spPr>
          <a:xfrm>
            <a:off x="327257" y="134754"/>
            <a:ext cx="1953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821F58-4D0B-89AB-6925-A3EFB66CEA1A}"/>
              </a:ext>
            </a:extLst>
          </p:cNvPr>
          <p:cNvSpPr txBox="1"/>
          <p:nvPr/>
        </p:nvSpPr>
        <p:spPr>
          <a:xfrm>
            <a:off x="314769" y="865017"/>
            <a:ext cx="11244713" cy="13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dirty="0"/>
              <a:t>O-Mem </a:t>
            </a:r>
            <a:r>
              <a:rPr lang="zh-CN" altLang="en-US" dirty="0"/>
              <a:t>提出了一种“以用户为中心（</a:t>
            </a:r>
            <a:r>
              <a:rPr lang="en-US" altLang="zh-CN" dirty="0"/>
              <a:t>user-centric</a:t>
            </a:r>
            <a:r>
              <a:rPr lang="zh-CN" altLang="en-US" dirty="0"/>
              <a:t>）”的三层记忆架构，通过主动用户画像建模 </a:t>
            </a:r>
            <a:r>
              <a:rPr lang="en-US" altLang="zh-CN" dirty="0"/>
              <a:t>+ </a:t>
            </a:r>
            <a:r>
              <a:rPr lang="zh-CN" altLang="en-US" dirty="0"/>
              <a:t>并行分层检索，取代传统的“语义分组→检索”式记忆系统。</a:t>
            </a:r>
            <a:endParaRPr lang="en-US" altLang="zh-CN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r>
              <a:rPr lang="zh-CN" altLang="en-US" sz="3000" dirty="0"/>
              <a:t>总体流程</a:t>
            </a:r>
            <a:endParaRPr lang="en-US" altLang="zh-CN" sz="3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9460AA-F420-3B1C-58CC-53DD8920C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11" y="2351557"/>
            <a:ext cx="6971317" cy="402036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3BE780E-95E1-9A07-EE00-7D54C0F8D126}"/>
              </a:ext>
            </a:extLst>
          </p:cNvPr>
          <p:cNvSpPr txBox="1"/>
          <p:nvPr/>
        </p:nvSpPr>
        <p:spPr>
          <a:xfrm>
            <a:off x="7899132" y="4562374"/>
            <a:ext cx="4292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Working Memory</a:t>
            </a:r>
            <a:r>
              <a:rPr lang="zh-CN" altLang="en-US" dirty="0"/>
              <a:t>：</a:t>
            </a:r>
            <a:r>
              <a:rPr lang="en-US" altLang="zh-CN" dirty="0"/>
              <a:t>topic-&gt;Interaction</a:t>
            </a:r>
          </a:p>
          <a:p>
            <a:r>
              <a:rPr lang="en-US" altLang="zh-CN" dirty="0" err="1"/>
              <a:t>Epsiodic</a:t>
            </a:r>
            <a:r>
              <a:rPr lang="en-US" altLang="zh-CN" dirty="0"/>
              <a:t> Memory</a:t>
            </a:r>
            <a:r>
              <a:rPr lang="zh-CN" altLang="en-US" dirty="0"/>
              <a:t>：</a:t>
            </a:r>
            <a:r>
              <a:rPr lang="en-US" altLang="zh-CN" dirty="0"/>
              <a:t>keyword-&gt;Interaction</a:t>
            </a:r>
          </a:p>
          <a:p>
            <a:r>
              <a:rPr lang="en-US" altLang="zh-CN" dirty="0"/>
              <a:t>Persona Memory</a:t>
            </a:r>
            <a:r>
              <a:rPr lang="zh-CN" altLang="en-US" dirty="0"/>
              <a:t>：用户特征和事件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F4028A-4FBA-E95B-300C-7F34517B8A5D}"/>
              </a:ext>
            </a:extLst>
          </p:cNvPr>
          <p:cNvSpPr txBox="1"/>
          <p:nvPr/>
        </p:nvSpPr>
        <p:spPr>
          <a:xfrm>
            <a:off x="7762774" y="2165684"/>
            <a:ext cx="3373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两个部分：</a:t>
            </a:r>
            <a:endParaRPr lang="en-US" altLang="zh-CN" dirty="0"/>
          </a:p>
          <a:p>
            <a:r>
              <a:rPr lang="zh-CN" altLang="en-US" dirty="0"/>
              <a:t>记忆构建和记忆检索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6864B9-056A-D4DD-D4AC-2AAD6B781F61}"/>
              </a:ext>
            </a:extLst>
          </p:cNvPr>
          <p:cNvSpPr txBox="1"/>
          <p:nvPr/>
        </p:nvSpPr>
        <p:spPr>
          <a:xfrm>
            <a:off x="7782024" y="3147461"/>
            <a:ext cx="3315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三层记忆：</a:t>
            </a:r>
            <a:endParaRPr lang="en-US" altLang="zh-CN" dirty="0"/>
          </a:p>
          <a:p>
            <a:r>
              <a:rPr lang="zh-CN" altLang="en-US" dirty="0"/>
              <a:t>工作记忆</a:t>
            </a:r>
            <a:r>
              <a:rPr lang="en-US" altLang="zh-CN" dirty="0"/>
              <a:t>Working Memory</a:t>
            </a:r>
          </a:p>
          <a:p>
            <a:r>
              <a:rPr lang="zh-CN" altLang="en-US" dirty="0"/>
              <a:t>情景记忆</a:t>
            </a:r>
            <a:r>
              <a:rPr lang="en-US" altLang="zh-CN" dirty="0"/>
              <a:t>Episodic Memory</a:t>
            </a:r>
          </a:p>
          <a:p>
            <a:r>
              <a:rPr lang="zh-CN" altLang="en-US" dirty="0"/>
              <a:t>人格记忆</a:t>
            </a:r>
            <a:r>
              <a:rPr lang="en-US" altLang="zh-CN" dirty="0"/>
              <a:t>Persona Memory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420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7FFB93-2E2E-9297-8B9A-6D4C44AFD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07" y="322217"/>
            <a:ext cx="7329283" cy="41361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043C68B-2900-0DF8-FCE8-4F6E3B08F882}"/>
              </a:ext>
            </a:extLst>
          </p:cNvPr>
          <p:cNvSpPr txBox="1"/>
          <p:nvPr/>
        </p:nvSpPr>
        <p:spPr>
          <a:xfrm>
            <a:off x="222068" y="317864"/>
            <a:ext cx="25211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/>
              <a:t>1 </a:t>
            </a:r>
            <a:r>
              <a:rPr lang="zh-CN" altLang="en-US" sz="3000" dirty="0"/>
              <a:t>记忆构建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AB737A-99DD-94AE-ABE0-C3634594897A}"/>
                  </a:ext>
                </a:extLst>
              </p:cNvPr>
              <p:cNvSpPr txBox="1"/>
              <p:nvPr/>
            </p:nvSpPr>
            <p:spPr>
              <a:xfrm>
                <a:off x="265610" y="1101635"/>
                <a:ext cx="437605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circleNumDbPlain"/>
                </a:pPr>
                <a:r>
                  <a:rPr lang="en-US" altLang="zh-CN" sz="2400" dirty="0"/>
                  <a:t>Persona Memory</a:t>
                </a:r>
              </a:p>
              <a:p>
                <a:pPr marL="342900" indent="-342900">
                  <a:buAutoNum type="alphaLcPeriod"/>
                </a:pPr>
                <a:r>
                  <a:rPr lang="zh-CN" altLang="en-US" dirty="0"/>
                  <a:t>用户长期属性 </a:t>
                </a:r>
                <a:r>
                  <a:rPr lang="en-US" altLang="zh-CN" dirty="0"/>
                  <a:t>Pa</a:t>
                </a:r>
              </a:p>
              <a:p>
                <a:pPr marL="342900" indent="-342900">
                  <a:buAutoNum type="alphaLcPeriod"/>
                </a:pPr>
                <a:r>
                  <a:rPr lang="zh-CN" altLang="en-US" dirty="0"/>
                  <a:t>重要事实事件 </a:t>
                </a:r>
                <a:r>
                  <a:rPr lang="en-US" altLang="zh-CN" dirty="0" err="1"/>
                  <a:t>Pf</a:t>
                </a:r>
                <a:endParaRPr lang="en-US" altLang="zh-CN" dirty="0"/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step1: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LLM</a:t>
                </a:r>
                <a:r>
                  <a:rPr lang="zh-CN" altLang="en-US" sz="2000" dirty="0"/>
                  <a:t>抽取</a:t>
                </a:r>
                <a:endParaRPr lang="en-US" altLang="zh-CN" sz="20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对第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次用户交互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ar-AE" dirty="0"/>
                  <a:t>，</a:t>
                </a:r>
                <a:r>
                  <a:rPr lang="en-US" altLang="zh-CN" dirty="0"/>
                  <a:t>LLM </a:t>
                </a:r>
                <a:r>
                  <a:rPr lang="zh-CN" altLang="en-US" dirty="0"/>
                  <a:t>输出三样东西：</a:t>
                </a:r>
              </a:p>
              <a:p>
                <a:endParaRPr lang="en-US" altLang="zh-CN" dirty="0"/>
              </a:p>
              <a:p>
                <a:endParaRPr lang="ar-AE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ar-AE" dirty="0"/>
                  <a:t>：</a:t>
                </a:r>
                <a:r>
                  <a:rPr lang="zh-CN" altLang="en-US" dirty="0"/>
                  <a:t>主题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ar-AE" dirty="0"/>
                  <a:t>：</a:t>
                </a:r>
                <a:r>
                  <a:rPr lang="zh-CN" altLang="en-US" dirty="0"/>
                  <a:t>用户属性（如“喜欢独立思考”）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ar-AE" dirty="0"/>
                  <a:t>：</a:t>
                </a:r>
                <a:r>
                  <a:rPr lang="zh-CN" altLang="en-US" dirty="0"/>
                  <a:t>用户事件（如“考研失败”）</a:t>
                </a:r>
              </a:p>
              <a:p>
                <a:endParaRPr lang="en-US" altLang="zh-CN" i="1" dirty="0"/>
              </a:p>
              <a:p>
                <a:r>
                  <a:rPr lang="en-US" altLang="zh-CN" sz="2000" dirty="0"/>
                  <a:t>Step2</a:t>
                </a:r>
                <a:r>
                  <a:rPr lang="zh-CN" altLang="en-US" sz="2000" dirty="0"/>
                  <a:t>：事件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ar-AE" sz="20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ar-AE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zh-CN" altLang="en-US" sz="2000" b="0" i="0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000" dirty="0"/>
                  <a:t>处理</a:t>
                </a:r>
                <a:endParaRPr lang="en-US" altLang="zh-CN" sz="20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不是</m:t>
                    </m:r>
                  </m:oMath>
                </a14:m>
                <a:r>
                  <a:rPr lang="zh-CN" altLang="en-US" dirty="0"/>
                  <a:t>直接存，先让</a:t>
                </a:r>
                <a:r>
                  <a:rPr lang="en-US" altLang="zh-CN" dirty="0"/>
                  <a:t>LLM</a:t>
                </a:r>
                <a:r>
                  <a:rPr lang="zh-CN" altLang="en-US" dirty="0"/>
                  <a:t>判断：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AB737A-99DD-94AE-ABE0-C36345948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10" y="1101635"/>
                <a:ext cx="4376058" cy="4708981"/>
              </a:xfrm>
              <a:prstGeom prst="rect">
                <a:avLst/>
              </a:prstGeom>
              <a:blipFill>
                <a:blip r:embed="rId4"/>
                <a:stretch>
                  <a:fillRect l="-1674" t="-907" r="-6416" b="-1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28D266A8-8060-615E-BCD9-A11CD498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551" y="3451764"/>
            <a:ext cx="2037775" cy="3277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F7A1E7-1285-3FCC-652B-E1DD0FCC3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379" y="5853698"/>
            <a:ext cx="4242867" cy="4426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940BD2D-2D6A-89A4-AEAB-213F4EF8EFF6}"/>
              </a:ext>
            </a:extLst>
          </p:cNvPr>
          <p:cNvSpPr txBox="1"/>
          <p:nvPr/>
        </p:nvSpPr>
        <p:spPr>
          <a:xfrm>
            <a:off x="4889861" y="4646023"/>
            <a:ext cx="662287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step3</a:t>
            </a:r>
            <a:r>
              <a:rPr lang="zh-CN" altLang="en-US" sz="2000" dirty="0"/>
              <a:t>：属性的聚类和合并</a:t>
            </a:r>
            <a:endParaRPr lang="en-US" altLang="zh-CN" sz="2000" dirty="0"/>
          </a:p>
          <a:p>
            <a:endParaRPr lang="en-US" altLang="zh-CN" b="1" dirty="0"/>
          </a:p>
          <a:p>
            <a:r>
              <a:rPr lang="zh-CN" altLang="en-US" dirty="0"/>
              <a:t>论文观察到一个问题：用户会反复以不同说法表述同一属性</a:t>
            </a:r>
            <a:endParaRPr lang="en-US" altLang="zh-CN" dirty="0"/>
          </a:p>
          <a:p>
            <a:r>
              <a:rPr lang="zh-CN" altLang="en-US" dirty="0"/>
              <a:t>① 属性最近邻匹配</a:t>
            </a:r>
            <a:endParaRPr lang="en-US" altLang="zh-CN" dirty="0"/>
          </a:p>
          <a:p>
            <a:r>
              <a:rPr lang="zh-CN" altLang="en-US" dirty="0"/>
              <a:t>② 连通分量聚类</a:t>
            </a:r>
            <a:endParaRPr lang="en-US" altLang="zh-CN" dirty="0"/>
          </a:p>
          <a:p>
            <a:r>
              <a:rPr lang="zh-CN" altLang="en-US" dirty="0"/>
              <a:t>③ 每一簇再由</a:t>
            </a:r>
            <a:r>
              <a:rPr lang="en-US" altLang="zh-CN" dirty="0"/>
              <a:t>LLM</a:t>
            </a:r>
            <a:r>
              <a:rPr lang="zh-CN" altLang="en-US" dirty="0"/>
              <a:t>生成一个抽象属性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4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DE51928-AF65-02FE-E482-BA692437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943" y="775697"/>
            <a:ext cx="8556151" cy="27238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6C6D1D-D00E-2EC9-FAE2-77EE29056E7E}"/>
              </a:ext>
            </a:extLst>
          </p:cNvPr>
          <p:cNvSpPr txBox="1"/>
          <p:nvPr/>
        </p:nvSpPr>
        <p:spPr>
          <a:xfrm>
            <a:off x="1001459" y="3782333"/>
            <a:ext cx="11190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② </a:t>
            </a:r>
            <a:r>
              <a:rPr lang="en-US" altLang="zh-CN" sz="2400" dirty="0"/>
              <a:t>Working Memory Mt  </a:t>
            </a:r>
            <a:r>
              <a:rPr lang="zh-CN" altLang="en-US" dirty="0"/>
              <a:t>按主题对用户交互进行索引，而不是按语义相似度聚类全文。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C979DE-DE06-23F1-D95B-283E754F2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445" y="4339129"/>
            <a:ext cx="3078782" cy="5914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1AC5A2-F86E-60FB-F87D-BA4065E46F39}"/>
              </a:ext>
            </a:extLst>
          </p:cNvPr>
          <p:cNvSpPr txBox="1"/>
          <p:nvPr/>
        </p:nvSpPr>
        <p:spPr>
          <a:xfrm>
            <a:off x="10913557" y="7238801"/>
            <a:ext cx="4349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③ </a:t>
            </a:r>
            <a:r>
              <a:rPr lang="en-US" altLang="zh-CN" sz="2400" dirty="0"/>
              <a:t>Episodic Memory  Mw</a:t>
            </a:r>
          </a:p>
          <a:p>
            <a:r>
              <a:rPr lang="zh-CN" altLang="en-US" sz="2000" dirty="0"/>
              <a:t>词</a:t>
            </a:r>
            <a:r>
              <a:rPr lang="en-US" altLang="zh-CN" sz="2000" dirty="0"/>
              <a:t>-&gt;</a:t>
            </a:r>
            <a:r>
              <a:rPr lang="zh-CN" altLang="en-US" sz="2000" dirty="0"/>
              <a:t>交互索引的映射表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E368A4D-B9C0-732D-FC03-20D3B2634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002" y="5619463"/>
            <a:ext cx="3112349" cy="5835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D6273AD-5FBA-B889-C96F-AFD7B2CB5AC4}"/>
              </a:ext>
            </a:extLst>
          </p:cNvPr>
          <p:cNvSpPr txBox="1"/>
          <p:nvPr/>
        </p:nvSpPr>
        <p:spPr>
          <a:xfrm>
            <a:off x="8553271" y="7032434"/>
            <a:ext cx="31046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对用户交互进行分词</a:t>
            </a:r>
            <a:endParaRPr lang="en-US" altLang="zh-CN" dirty="0"/>
          </a:p>
          <a:p>
            <a:r>
              <a:rPr lang="zh-CN" altLang="en-US" dirty="0"/>
              <a:t>把每个词作为</a:t>
            </a:r>
            <a:r>
              <a:rPr lang="en-US" altLang="zh-CN" dirty="0"/>
              <a:t>potential clue</a:t>
            </a:r>
          </a:p>
          <a:p>
            <a:r>
              <a:rPr lang="zh-CN" altLang="en-US" dirty="0"/>
              <a:t>倒排索引</a:t>
            </a:r>
            <a:r>
              <a:rPr lang="en-US" altLang="zh-CN" dirty="0"/>
              <a:t>+TF-IDF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BA80CC-CE9A-966D-BB8F-F412AF156C39}"/>
              </a:ext>
            </a:extLst>
          </p:cNvPr>
          <p:cNvSpPr txBox="1"/>
          <p:nvPr/>
        </p:nvSpPr>
        <p:spPr>
          <a:xfrm>
            <a:off x="383177" y="242053"/>
            <a:ext cx="25341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1 </a:t>
            </a:r>
            <a:r>
              <a:rPr lang="zh-CN" altLang="en-US" sz="3000" dirty="0"/>
              <a:t>记忆构建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366578-4EBF-5875-2219-15389318B725}"/>
              </a:ext>
            </a:extLst>
          </p:cNvPr>
          <p:cNvSpPr txBox="1"/>
          <p:nvPr/>
        </p:nvSpPr>
        <p:spPr>
          <a:xfrm>
            <a:off x="4291014" y="4448174"/>
            <a:ext cx="2652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主题</a:t>
            </a:r>
            <a:r>
              <a:rPr lang="en-US" altLang="zh-CN" sz="1800" dirty="0"/>
              <a:t>-&gt;</a:t>
            </a:r>
            <a:r>
              <a:rPr lang="zh-CN" altLang="en-US" sz="1800" dirty="0"/>
              <a:t>交互索引映射表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97944B-3C46-D9A3-C333-8ECD78323C50}"/>
              </a:ext>
            </a:extLst>
          </p:cNvPr>
          <p:cNvSpPr txBox="1"/>
          <p:nvPr/>
        </p:nvSpPr>
        <p:spPr>
          <a:xfrm>
            <a:off x="7277101" y="4410075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eg.</a:t>
            </a:r>
            <a:r>
              <a:rPr lang="en-US" altLang="zh-CN" dirty="0"/>
              <a:t> Mt[</a:t>
            </a:r>
            <a:r>
              <a:rPr lang="zh-CN" altLang="en-US" dirty="0"/>
              <a:t>“学习”</a:t>
            </a:r>
            <a:r>
              <a:rPr lang="en-US" altLang="zh-CN" dirty="0"/>
              <a:t>] = {2,5}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4EA873-7E80-F24A-18D0-0D4793A8EAE7}"/>
              </a:ext>
            </a:extLst>
          </p:cNvPr>
          <p:cNvSpPr txBox="1"/>
          <p:nvPr/>
        </p:nvSpPr>
        <p:spPr>
          <a:xfrm>
            <a:off x="942975" y="5129212"/>
            <a:ext cx="1102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③ </a:t>
            </a:r>
            <a:r>
              <a:rPr lang="en-US" altLang="zh-CN" sz="2400" dirty="0"/>
              <a:t>Episodic Memory Mw  </a:t>
            </a:r>
            <a:r>
              <a:rPr lang="zh-CN" altLang="en-US" dirty="0"/>
              <a:t>不是找最相似的文本，而是通过关键词触发历史事件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CE00E4-1F46-675B-E950-F0B4442DC95F}"/>
              </a:ext>
            </a:extLst>
          </p:cNvPr>
          <p:cNvSpPr txBox="1"/>
          <p:nvPr/>
        </p:nvSpPr>
        <p:spPr>
          <a:xfrm>
            <a:off x="4395789" y="5734049"/>
            <a:ext cx="3167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关键词</a:t>
            </a:r>
            <a:r>
              <a:rPr lang="en-US" altLang="zh-CN" sz="1800" dirty="0"/>
              <a:t>-&gt;</a:t>
            </a:r>
            <a:r>
              <a:rPr lang="zh-CN" altLang="en-US" sz="1800" dirty="0"/>
              <a:t>交互索引映射表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226214-A206-DEB0-06E3-4627F877E3AA}"/>
              </a:ext>
            </a:extLst>
          </p:cNvPr>
          <p:cNvSpPr txBox="1"/>
          <p:nvPr/>
        </p:nvSpPr>
        <p:spPr>
          <a:xfrm>
            <a:off x="7343776" y="5753100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eg.</a:t>
            </a:r>
            <a:r>
              <a:rPr lang="en-US" altLang="zh-CN" dirty="0"/>
              <a:t> Mw[</a:t>
            </a:r>
            <a:r>
              <a:rPr lang="zh-CN" altLang="en-US" dirty="0"/>
              <a:t>“考研”</a:t>
            </a:r>
            <a:r>
              <a:rPr lang="en-US" altLang="zh-CN" dirty="0"/>
              <a:t>] = {3,7,12}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765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2BE460F-4342-F7F4-FC18-81387DA903A6}"/>
              </a:ext>
            </a:extLst>
          </p:cNvPr>
          <p:cNvSpPr txBox="1"/>
          <p:nvPr/>
        </p:nvSpPr>
        <p:spPr>
          <a:xfrm>
            <a:off x="226159" y="212437"/>
            <a:ext cx="25341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2 </a:t>
            </a:r>
            <a:r>
              <a:rPr lang="zh-CN" altLang="en-US" sz="3000" dirty="0"/>
              <a:t>记忆检索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E54C21-7C9A-2EC2-C7F4-402FD209C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068" y="120073"/>
            <a:ext cx="6729946" cy="356523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B8B68F9-29C3-D1F8-7BA1-2586BE8B5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19" y="1121131"/>
            <a:ext cx="525015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在一次新的用户询到来时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同时从三类记忆中检索相关信息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整体流程：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Arial" panose="020B0604020202020204" pitchFamily="34" charset="0"/>
              </a:rPr>
              <a:t>输入：当前用户交互</a:t>
            </a:r>
            <a:r>
              <a:rPr lang="en-US" altLang="zh-CN" sz="1600" dirty="0">
                <a:latin typeface="Arial" panose="020B0604020202020204" pitchFamily="34" charset="0"/>
              </a:rPr>
              <a:t>/</a:t>
            </a:r>
            <a:r>
              <a:rPr lang="zh-CN" altLang="en-US" sz="1600" dirty="0">
                <a:latin typeface="Arial" panose="020B0604020202020204" pitchFamily="34" charset="0"/>
              </a:rPr>
              <a:t>查询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并行检索三类记忆：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Arial" panose="020B0604020202020204" pitchFamily="34" charset="0"/>
              </a:rPr>
              <a:t>①</a:t>
            </a:r>
            <a:r>
              <a:rPr lang="en-US" altLang="zh-CN" sz="1600" dirty="0">
                <a:latin typeface="Arial" panose="020B0604020202020204" pitchFamily="34" charset="0"/>
              </a:rPr>
              <a:t> Persona Memory</a:t>
            </a:r>
            <a:r>
              <a:rPr lang="zh-CN" altLang="en-US" sz="1600" dirty="0">
                <a:latin typeface="Arial" panose="020B0604020202020204" pitchFamily="34" charset="0"/>
              </a:rPr>
              <a:t>（用户是谁）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Memory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（当前在聊什么）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Arial" panose="020B0604020202020204" pitchFamily="34" charset="0"/>
              </a:rPr>
              <a:t>③ </a:t>
            </a:r>
            <a:r>
              <a:rPr lang="en-US" altLang="zh-CN" sz="1600" dirty="0">
                <a:latin typeface="Arial" panose="020B0604020202020204" pitchFamily="34" charset="0"/>
              </a:rPr>
              <a:t>Episodic Memory</a:t>
            </a:r>
            <a:r>
              <a:rPr lang="zh-CN" altLang="en-US" sz="1600" dirty="0">
                <a:latin typeface="Arial" panose="020B0604020202020204" pitchFamily="34" charset="0"/>
              </a:rPr>
              <a:t>（是否有关键线索触发历史事件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Arial" panose="020B0604020202020204" pitchFamily="34" charset="0"/>
              </a:rPr>
              <a:t>输出：聚合后的整体记忆送入</a:t>
            </a:r>
            <a:r>
              <a:rPr lang="en-US" altLang="zh-CN" sz="1600" dirty="0">
                <a:latin typeface="Arial" panose="020B0604020202020204" pitchFamily="34" charset="0"/>
              </a:rPr>
              <a:t>LLM</a:t>
            </a:r>
            <a:r>
              <a:rPr lang="zh-CN" altLang="en-US" sz="1600" dirty="0">
                <a:latin typeface="Arial" panose="020B0604020202020204" pitchFamily="34" charset="0"/>
              </a:rPr>
              <a:t>生成最终响应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76A7CC-6587-36B4-93F6-F88576D691B4}"/>
                  </a:ext>
                </a:extLst>
              </p:cNvPr>
              <p:cNvSpPr txBox="1"/>
              <p:nvPr/>
            </p:nvSpPr>
            <p:spPr>
              <a:xfrm>
                <a:off x="180107" y="3740728"/>
                <a:ext cx="4428837" cy="3339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Working Memory </a:t>
                </a:r>
                <a:r>
                  <a:rPr lang="en-US" altLang="zh-CN" b="1" dirty="0" err="1"/>
                  <a:t>Retrievel</a:t>
                </a:r>
                <a:endParaRPr lang="en-US" altLang="zh-CN" b="1" dirty="0"/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a.</a:t>
                </a:r>
                <a:r>
                  <a:rPr lang="zh-CN" altLang="en-US" sz="1600" dirty="0"/>
                  <a:t>获取 </a:t>
                </a:r>
                <a:r>
                  <a:rPr lang="en-US" altLang="zh-CN" sz="1600" dirty="0"/>
                  <a:t>Working Memory </a:t>
                </a:r>
                <a:r>
                  <a:rPr lang="zh-CN" altLang="en-US" sz="1600" dirty="0"/>
                  <a:t>中的所有主题集合：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zh-CN" sz="1600" dirty="0"/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b.</a:t>
                </a:r>
                <a:r>
                  <a:rPr lang="zh-CN" altLang="en-US" sz="1600" dirty="0"/>
                  <a:t>计算当前交互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与各主题的语义相似度</a:t>
                </a:r>
                <a:br>
                  <a:rPr lang="zh-CN" altLang="en-US" sz="1600" dirty="0"/>
                </a:br>
                <a:r>
                  <a:rPr lang="zh-CN" altLang="en-US" sz="1600" dirty="0"/>
                  <a:t>（基于 </a:t>
                </a:r>
                <a:r>
                  <a:rPr lang="en-US" altLang="zh-CN" sz="1600" dirty="0"/>
                  <a:t>embedding + </a:t>
                </a:r>
                <a:r>
                  <a:rPr lang="zh-CN" altLang="en-US" sz="1600" dirty="0"/>
                  <a:t>余弦相似度）</a:t>
                </a:r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c.</a:t>
                </a:r>
                <a:r>
                  <a:rPr lang="zh-CN" altLang="en-US" sz="1600" dirty="0"/>
                  <a:t>选取 </a:t>
                </a:r>
                <a:r>
                  <a:rPr lang="en-US" altLang="zh-CN" sz="1600" dirty="0"/>
                  <a:t>Top-k </a:t>
                </a:r>
                <a:r>
                  <a:rPr lang="zh-CN" altLang="en-US" sz="1600" dirty="0"/>
                  <a:t>相关主题：</a:t>
                </a:r>
              </a:p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ar-AE" altLang="zh-CN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sz="1600" i="1">
                        <a:latin typeface="Cambria Math" panose="02040503050406030204" pitchFamily="18" charset="0"/>
                      </a:rPr>
                      <m:t>𝐹𝑅𝑒𝑡𝑟𝑖𝑒𝑣𝑒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dirty="0"/>
                  <a:t>,</a:t>
                </a:r>
                <a:r>
                  <a:rPr lang="ar-AE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)</a:t>
                </a:r>
                <a:endParaRPr lang="ar-AE" altLang="zh-CN" sz="1600" dirty="0"/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d.</a:t>
                </a:r>
                <a:r>
                  <a:rPr lang="zh-CN" altLang="en-US" sz="1600" dirty="0"/>
                  <a:t>汇总这些主题下的交互记录：</a:t>
                </a:r>
                <a:endParaRPr lang="en-US" altLang="zh-CN" sz="1600" dirty="0"/>
              </a:p>
              <a:p>
                <a:pPr>
                  <a:lnSpc>
                    <a:spcPts val="1000"/>
                  </a:lnSpc>
                </a:pPr>
                <a:endParaRPr lang="zh-CN" altLang="en-US" sz="1600" dirty="0"/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𝑤𝑜𝑟𝑘𝑖𝑛𝑔</m:t>
                          </m:r>
                        </m:sub>
                      </m:sSub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grow m:val="on"/>
                          <m:supHide m:val="on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∈</m:t>
                          </m:r>
                          <m:acc>
                            <m:accPr>
                              <m:chr m:val="̂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sub>
                        <m:sup/>
                        <m:e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altLang="zh-CN" sz="16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676A7CC-6587-36B4-93F6-F88576D69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07" y="3740728"/>
                <a:ext cx="4428837" cy="3339376"/>
              </a:xfrm>
              <a:prstGeom prst="rect">
                <a:avLst/>
              </a:prstGeom>
              <a:blipFill>
                <a:blip r:embed="rId4"/>
                <a:stretch>
                  <a:fillRect l="-1240" t="-1097" b="-28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3AEE894-B5E9-89F3-F4A5-90289077EE53}"/>
                  </a:ext>
                </a:extLst>
              </p:cNvPr>
              <p:cNvSpPr txBox="1"/>
              <p:nvPr/>
            </p:nvSpPr>
            <p:spPr>
              <a:xfrm>
                <a:off x="4350327" y="3717698"/>
                <a:ext cx="3574473" cy="3531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/>
                  <a:t>Episodic Memory </a:t>
                </a:r>
                <a:r>
                  <a:rPr lang="en-US" altLang="zh-CN" b="1" dirty="0" err="1"/>
                  <a:t>Retrievel</a:t>
                </a:r>
                <a:endParaRPr lang="en-US" altLang="zh-CN" b="1" dirty="0"/>
              </a:p>
              <a:p>
                <a:r>
                  <a:rPr lang="en-US" altLang="zh-CN" sz="1600" dirty="0"/>
                  <a:t>a.</a:t>
                </a:r>
                <a:r>
                  <a:rPr lang="zh-CN" altLang="en-US" sz="1600" dirty="0"/>
                  <a:t>对当前交互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/>
                  <a:t>进行分词：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𝑇𝑜𝑘𝑒𝑛𝑖𝑧𝑒</m:t>
                      </m:r>
                      <m:d>
                        <m:d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zh-CN" sz="1600" dirty="0"/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b.</a:t>
                </a:r>
                <a:r>
                  <a:rPr lang="zh-CN" altLang="en-US" sz="1600" dirty="0"/>
                  <a:t>对每个词计算线索评分：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𝑆𝑐𝑜𝑟𝑒</m:t>
                      </m:r>
                      <m:d>
                        <m:dPr>
                          <m:sepChr m:val=",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e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altLang="zh-CN" sz="1600" dirty="0"/>
              </a:p>
              <a:p>
                <a:pPr>
                  <a:lnSpc>
                    <a:spcPts val="2500"/>
                  </a:lnSpc>
                </a:pPr>
                <a14:m>
                  <m:oMath xmlns:m="http://schemas.openxmlformats.org/officeDocument/2006/math">
                    <m:r>
                      <a:rPr lang="zh-CN" altLang="ar-AE" sz="16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ar-AE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ar-AE" sz="1600" dirty="0"/>
                  <a:t>：</a:t>
                </a:r>
                <a:r>
                  <a:rPr lang="zh-CN" altLang="en-US" sz="1600" dirty="0"/>
                  <a:t>该词在历史中出现的次数</a:t>
                </a:r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c.</a:t>
                </a:r>
                <a:r>
                  <a:rPr lang="zh-CN" altLang="en-US" sz="1600" dirty="0"/>
                  <a:t>选择得分最高的关键词作为触发线索：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zh-CN" altLang="ar-AE" sz="1600" i="1">
                                      <a:latin typeface="Cambria Math" panose="02040503050406030204" pitchFamily="18" charset="0"/>
                                    </a:rPr>
                                    <m:t>𝑆𝑐𝑜𝑟𝑒</m:t>
                                  </m:r>
                                  <m:d>
                                    <m:dPr>
                                      <m:sepChr m:val=","/>
                                      <m:ctrlPr>
                                        <a:rPr lang="ar-AE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ar-AE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ar-AE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ar-AE" sz="16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zh-CN" altLang="ar-AE" sz="1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  <m:lim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e>
                      </m:func>
                    </m:oMath>
                  </m:oMathPara>
                </a14:m>
                <a:endParaRPr lang="ar-AE" altLang="zh-CN" sz="1600" dirty="0"/>
              </a:p>
              <a:p>
                <a:pPr>
                  <a:lnSpc>
                    <a:spcPts val="2500"/>
                  </a:lnSpc>
                </a:pPr>
                <a:r>
                  <a:rPr lang="en-US" altLang="zh-CN" sz="1600" dirty="0"/>
                  <a:t>d.</a:t>
                </a:r>
                <a:r>
                  <a:rPr lang="zh-CN" altLang="en-US" sz="1600" dirty="0"/>
                  <a:t>取出该关键词对应的历史交互：</a:t>
                </a:r>
              </a:p>
              <a:p>
                <a:pPr>
                  <a:lnSpc>
                    <a:spcPts val="2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𝑒𝑝𝑖𝑠𝑜𝑑𝑖𝑐</m:t>
                          </m:r>
                        </m:sub>
                      </m:sSub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ar-AE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ar-AE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ar-AE" altLang="zh-CN" sz="1600" dirty="0"/>
              </a:p>
              <a:p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3AEE894-B5E9-89F3-F4A5-90289077E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327" y="3717698"/>
                <a:ext cx="3574473" cy="3531736"/>
              </a:xfrm>
              <a:prstGeom prst="rect">
                <a:avLst/>
              </a:prstGeom>
              <a:blipFill>
                <a:blip r:embed="rId5"/>
                <a:stretch>
                  <a:fillRect l="-1536" t="-1036" r="-6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A9052838-96DC-7B09-C69A-EF9D04AE420B}"/>
              </a:ext>
            </a:extLst>
          </p:cNvPr>
          <p:cNvSpPr txBox="1"/>
          <p:nvPr/>
        </p:nvSpPr>
        <p:spPr>
          <a:xfrm>
            <a:off x="8036269" y="3694567"/>
            <a:ext cx="2991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Persona Memory Retrieval</a:t>
            </a:r>
          </a:p>
          <a:p>
            <a:endParaRPr lang="zh-CN" altLang="en-US" b="1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6D0F919-59B5-B14E-604E-D74C3A81A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8576" y="4214486"/>
            <a:ext cx="4967432" cy="54971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CFDF2E4-AA6A-8761-4A92-F39A7DCEA4B6}"/>
              </a:ext>
            </a:extLst>
          </p:cNvPr>
          <p:cNvSpPr txBox="1"/>
          <p:nvPr/>
        </p:nvSpPr>
        <p:spPr>
          <a:xfrm>
            <a:off x="8083296" y="4780526"/>
            <a:ext cx="2933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Overall Memory Retrieval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4047C57-14D7-B022-319E-8BA58EA3FF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574" y="5212438"/>
            <a:ext cx="3612423" cy="40459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72544DC-AC1A-4143-1C1E-4849DBF9A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37" y="5865580"/>
            <a:ext cx="1840553" cy="44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4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EF4747-C32B-8D0A-A309-D82A76068EF8}"/>
              </a:ext>
            </a:extLst>
          </p:cNvPr>
          <p:cNvSpPr txBox="1"/>
          <p:nvPr/>
        </p:nvSpPr>
        <p:spPr>
          <a:xfrm>
            <a:off x="169817" y="178526"/>
            <a:ext cx="5394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实验设置与基准测试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89CEA1-93A2-63F0-965A-32ED2E2E5366}"/>
              </a:ext>
            </a:extLst>
          </p:cNvPr>
          <p:cNvSpPr txBox="1"/>
          <p:nvPr/>
        </p:nvSpPr>
        <p:spPr>
          <a:xfrm>
            <a:off x="209006" y="770432"/>
            <a:ext cx="12061371" cy="595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/>
              <a:t>评估基准</a:t>
            </a:r>
            <a:r>
              <a:rPr lang="en-US" altLang="zh-CN" sz="2400" b="1" dirty="0"/>
              <a:t>(Benchmarks)</a:t>
            </a:r>
            <a:endParaRPr lang="en-US" altLang="zh-CN" sz="2200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1.</a:t>
            </a:r>
            <a:r>
              <a:rPr lang="zh-CN" altLang="en-US" b="1" dirty="0"/>
              <a:t>LoCoMo</a:t>
            </a:r>
            <a:r>
              <a:rPr lang="zh-CN" altLang="en-US" dirty="0"/>
              <a:t>: 包含平均 300 轮的长对话，涵盖单跳、多跳、时序和开放域四种任务 。使用 </a:t>
            </a:r>
            <a:r>
              <a:rPr lang="zh-CN" altLang="en-US" b="1" dirty="0"/>
              <a:t>F1</a:t>
            </a:r>
            <a:r>
              <a:rPr lang="zh-CN" altLang="en-US" dirty="0"/>
              <a:t> 和 </a:t>
            </a:r>
            <a:r>
              <a:rPr lang="zh-CN" altLang="en-US" b="1" dirty="0"/>
              <a:t>BLEU-1 </a:t>
            </a:r>
            <a:r>
              <a:rPr lang="zh-CN" altLang="en-US" dirty="0"/>
              <a:t>分数作为指标 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2.</a:t>
            </a:r>
            <a:r>
              <a:rPr lang="zh-CN" altLang="en-US" b="1" dirty="0"/>
              <a:t>PERSONAMEM: </a:t>
            </a:r>
            <a:r>
              <a:rPr lang="zh-CN" altLang="en-US" dirty="0"/>
              <a:t>包含 15 个主题的用户与 LLM 对话 。使用多选题的</a:t>
            </a:r>
            <a:r>
              <a:rPr lang="zh-CN" altLang="en-US" b="1" dirty="0"/>
              <a:t>准确率 (Accuracy) </a:t>
            </a:r>
            <a:r>
              <a:rPr lang="zh-CN" altLang="en-US" dirty="0"/>
              <a:t>进行评估 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3.</a:t>
            </a:r>
            <a:r>
              <a:rPr lang="zh-CN" altLang="en-US" b="1" dirty="0"/>
              <a:t>Personalized Deep Research Bench: </a:t>
            </a:r>
            <a:r>
              <a:rPr lang="zh-CN" altLang="en-US" dirty="0"/>
              <a:t>团队新推出的基准，模拟真实世界的深度研究场景 。使用</a:t>
            </a:r>
            <a:r>
              <a:rPr lang="zh-CN" altLang="en-US" b="1" dirty="0"/>
              <a:t>目标一致性 (Goal Alignment)</a:t>
            </a:r>
            <a:r>
              <a:rPr lang="zh-CN" altLang="en-US" dirty="0"/>
              <a:t> 和 </a:t>
            </a:r>
            <a:r>
              <a:rPr lang="zh-CN" altLang="en-US" b="1" dirty="0"/>
              <a:t>内容一致性 (Content Alignment) </a:t>
            </a:r>
            <a:r>
              <a:rPr lang="zh-CN" altLang="en-US" dirty="0"/>
              <a:t>评分，由 LLM 作为评委 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对比基线 </a:t>
            </a:r>
            <a:r>
              <a:rPr lang="en-US" altLang="zh-CN" sz="2200" b="1" dirty="0"/>
              <a:t>(Baselines)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开源框架：</a:t>
            </a:r>
            <a:r>
              <a:rPr lang="en-US" altLang="zh-CN" dirty="0"/>
              <a:t>A-Mem, </a:t>
            </a:r>
            <a:r>
              <a:rPr lang="en-US" altLang="zh-CN" dirty="0" err="1"/>
              <a:t>MemoryOS</a:t>
            </a:r>
            <a:r>
              <a:rPr lang="en-US" altLang="zh-CN" dirty="0"/>
              <a:t>, Mem0, </a:t>
            </a:r>
            <a:r>
              <a:rPr lang="en-US" altLang="zh-CN" dirty="0" err="1"/>
              <a:t>LangMem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商业</a:t>
            </a:r>
            <a:r>
              <a:rPr lang="en-US" altLang="zh-CN" dirty="0"/>
              <a:t>/</a:t>
            </a:r>
            <a:r>
              <a:rPr lang="zh-CN" altLang="en-US" dirty="0"/>
              <a:t>闭源框架：</a:t>
            </a:r>
            <a:r>
              <a:rPr lang="en-US" altLang="zh-CN" dirty="0"/>
              <a:t>ZEP, Memos, OpenAI 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硬件与模型</a:t>
            </a:r>
            <a:endParaRPr lang="en-US" altLang="zh-CN" sz="22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使用 </a:t>
            </a:r>
            <a:r>
              <a:rPr lang="en-US" altLang="zh-CN" dirty="0"/>
              <a:t>GPT-4.1 </a:t>
            </a:r>
            <a:r>
              <a:rPr lang="zh-CN" altLang="en-US" dirty="0"/>
              <a:t>与 </a:t>
            </a:r>
            <a:r>
              <a:rPr lang="en-US" altLang="zh-CN" dirty="0"/>
              <a:t>GPT-4o-mini </a:t>
            </a:r>
            <a:r>
              <a:rPr lang="zh-CN" altLang="en-US" dirty="0"/>
              <a:t>作为主干 </a:t>
            </a:r>
            <a:r>
              <a:rPr lang="en-US" altLang="zh-CN" dirty="0"/>
              <a:t>LLM 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实验运行于 </a:t>
            </a:r>
            <a:r>
              <a:rPr lang="en-US" altLang="zh-CN" dirty="0"/>
              <a:t>A800 GPU </a:t>
            </a:r>
            <a:r>
              <a:rPr lang="zh-CN" altLang="en-US" dirty="0"/>
              <a:t>环境 。</a:t>
            </a:r>
          </a:p>
        </p:txBody>
      </p:sp>
    </p:spTree>
    <p:extLst>
      <p:ext uri="{BB962C8B-B14F-4D97-AF65-F5344CB8AC3E}">
        <p14:creationId xmlns:p14="http://schemas.microsoft.com/office/powerpoint/2010/main" val="274384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ADCDAF-86D5-72F0-8564-11234ED2CBE8}"/>
              </a:ext>
            </a:extLst>
          </p:cNvPr>
          <p:cNvSpPr txBox="1"/>
          <p:nvPr/>
        </p:nvSpPr>
        <p:spPr>
          <a:xfrm>
            <a:off x="161108" y="187234"/>
            <a:ext cx="19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性能表现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2BF7A3-6D7E-8C9E-9186-B117D827ED7C}"/>
              </a:ext>
            </a:extLst>
          </p:cNvPr>
          <p:cNvSpPr txBox="1"/>
          <p:nvPr/>
        </p:nvSpPr>
        <p:spPr>
          <a:xfrm>
            <a:off x="566058" y="2891246"/>
            <a:ext cx="17068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500" dirty="0" err="1"/>
              <a:t>LoCoMo</a:t>
            </a:r>
            <a:endParaRPr lang="zh-CN" altLang="en-US" sz="25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0FD6D0-20A7-8DCB-4C47-2FAD515AB5D6}"/>
              </a:ext>
            </a:extLst>
          </p:cNvPr>
          <p:cNvSpPr txBox="1"/>
          <p:nvPr/>
        </p:nvSpPr>
        <p:spPr>
          <a:xfrm>
            <a:off x="3235234" y="5064033"/>
            <a:ext cx="8172995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O-Mem </a:t>
            </a:r>
            <a:r>
              <a:rPr lang="zh-CN" altLang="en-US" dirty="0"/>
              <a:t>在 </a:t>
            </a:r>
            <a:r>
              <a:rPr lang="en-US" altLang="zh-CN" dirty="0"/>
              <a:t>GPT-4.1 </a:t>
            </a:r>
            <a:r>
              <a:rPr lang="zh-CN" altLang="en-US" dirty="0"/>
              <a:t>上取得 </a:t>
            </a:r>
            <a:r>
              <a:rPr lang="en-US" altLang="zh-CN" dirty="0"/>
              <a:t>51.67% </a:t>
            </a:r>
            <a:r>
              <a:rPr lang="zh-CN" altLang="en-US" dirty="0"/>
              <a:t>的平均 </a:t>
            </a:r>
            <a:r>
              <a:rPr lang="en-US" altLang="zh-CN" dirty="0"/>
              <a:t>F1 </a:t>
            </a:r>
            <a:r>
              <a:rPr lang="zh-CN" altLang="en-US" dirty="0"/>
              <a:t>分数，优于所有基线模型 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在时序推理 </a:t>
            </a:r>
            <a:r>
              <a:rPr lang="en-US" altLang="zh-CN" dirty="0"/>
              <a:t>(Temporal) </a:t>
            </a:r>
            <a:r>
              <a:rPr lang="zh-CN" altLang="en-US" dirty="0"/>
              <a:t>任务中优势显著，</a:t>
            </a:r>
            <a:r>
              <a:rPr lang="en-US" altLang="zh-CN" dirty="0"/>
              <a:t>F1 </a:t>
            </a:r>
            <a:r>
              <a:rPr lang="zh-CN" altLang="en-US" dirty="0"/>
              <a:t>达到 </a:t>
            </a:r>
            <a:r>
              <a:rPr lang="en-US" altLang="zh-CN" dirty="0"/>
              <a:t>57.48% </a:t>
            </a:r>
            <a:r>
              <a:rPr lang="zh-CN" altLang="en-US" dirty="0"/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6E25854-F85B-CD24-D38E-68819415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269" y="1166588"/>
            <a:ext cx="9056632" cy="369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7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C16BA04-FAE8-AA9A-CF18-ED3A551A044E}"/>
              </a:ext>
            </a:extLst>
          </p:cNvPr>
          <p:cNvSpPr txBox="1"/>
          <p:nvPr/>
        </p:nvSpPr>
        <p:spPr>
          <a:xfrm>
            <a:off x="161108" y="187234"/>
            <a:ext cx="1902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性能表现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1AC68B-2028-0FC5-6E0D-A8137EDBCCAA}"/>
              </a:ext>
            </a:extLst>
          </p:cNvPr>
          <p:cNvSpPr txBox="1"/>
          <p:nvPr/>
        </p:nvSpPr>
        <p:spPr>
          <a:xfrm>
            <a:off x="339634" y="1800888"/>
            <a:ext cx="207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PERSONAMEM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4D8DFA-0DF6-62FB-7A98-A9948B3AB787}"/>
              </a:ext>
            </a:extLst>
          </p:cNvPr>
          <p:cNvSpPr txBox="1"/>
          <p:nvPr/>
        </p:nvSpPr>
        <p:spPr>
          <a:xfrm>
            <a:off x="3039291" y="2822305"/>
            <a:ext cx="7846423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平均准确率达到 62.99%，超过最强竞争对手 A-Mem (59.42%) 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在“泛化至新场景” (73.68%) 和“追溯偏好更新原因” (89.90%) 任务中表现卓越 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9BEED09-6F2C-B056-53ED-BBB3ABD1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648" y="1145134"/>
            <a:ext cx="8401482" cy="167648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5B01914-8A87-41EA-EB8F-75ED565CC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939" y="4190606"/>
            <a:ext cx="4953602" cy="144384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A0BBCCF-E986-02D7-29F7-A380F1D34AC6}"/>
              </a:ext>
            </a:extLst>
          </p:cNvPr>
          <p:cNvSpPr txBox="1"/>
          <p:nvPr/>
        </p:nvSpPr>
        <p:spPr>
          <a:xfrm>
            <a:off x="3918855" y="5868629"/>
            <a:ext cx="5808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实现了 44.49% 的平均对齐分，较 Mem0 提升了 8.06% 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5E6953-7E61-2FBD-4E2F-A5B2BC7F6CB4}"/>
              </a:ext>
            </a:extLst>
          </p:cNvPr>
          <p:cNvSpPr txBox="1"/>
          <p:nvPr/>
        </p:nvSpPr>
        <p:spPr>
          <a:xfrm>
            <a:off x="148045" y="47792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Personalized Deep Research Bench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492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D8E3BB7-E811-8D69-5251-E9F188FF6C27}"/>
              </a:ext>
            </a:extLst>
          </p:cNvPr>
          <p:cNvSpPr txBox="1"/>
          <p:nvPr/>
        </p:nvSpPr>
        <p:spPr>
          <a:xfrm>
            <a:off x="274319" y="370114"/>
            <a:ext cx="4802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系统效率与帕累托最优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D4CF30-0194-44BD-85A4-38655806C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29" y="1846783"/>
            <a:ext cx="10595412" cy="34828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DEB2A2-5850-1768-9ED0-85BC2F8AAEAA}"/>
              </a:ext>
            </a:extLst>
          </p:cNvPr>
          <p:cNvSpPr txBox="1"/>
          <p:nvPr/>
        </p:nvSpPr>
        <p:spPr>
          <a:xfrm>
            <a:off x="3487781" y="1275805"/>
            <a:ext cx="49421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500" dirty="0"/>
              <a:t>时间和成本两个角度的效率对比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17D2C5-ABD9-3E6B-13B0-3E71990594DB}"/>
              </a:ext>
            </a:extLst>
          </p:cNvPr>
          <p:cNvSpPr txBox="1"/>
          <p:nvPr/>
        </p:nvSpPr>
        <p:spPr>
          <a:xfrm>
            <a:off x="1515291" y="5593305"/>
            <a:ext cx="10014857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对比 LangMem：O-Mem 在性能更优的情况下，Token 消耗降低了 94%，延迟降低了 80% 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对比 Memory OS：O-Mem 不仅 F1 分数高出 34%，延迟也同步降低了 34% </a:t>
            </a:r>
          </a:p>
        </p:txBody>
      </p:sp>
    </p:spTree>
    <p:extLst>
      <p:ext uri="{BB962C8B-B14F-4D97-AF65-F5344CB8AC3E}">
        <p14:creationId xmlns:p14="http://schemas.microsoft.com/office/powerpoint/2010/main" val="2391992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D8E97F-AC11-6D05-935F-85E91D988A37}"/>
              </a:ext>
            </a:extLst>
          </p:cNvPr>
          <p:cNvSpPr txBox="1"/>
          <p:nvPr/>
        </p:nvSpPr>
        <p:spPr>
          <a:xfrm>
            <a:off x="387531" y="222068"/>
            <a:ext cx="2346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消融实验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E51A86-F746-45C9-9A2D-FDA62BE4C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75" y="815302"/>
            <a:ext cx="8139019" cy="22966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E6DBE65-1A59-2997-C410-DE6790AC1F8B}"/>
              </a:ext>
            </a:extLst>
          </p:cNvPr>
          <p:cNvSpPr txBox="1"/>
          <p:nvPr/>
        </p:nvSpPr>
        <p:spPr>
          <a:xfrm>
            <a:off x="1367245" y="3108850"/>
            <a:ext cx="9797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为了排除“性能提升仅仅是因为检索到的信息变多（消耗 </a:t>
            </a:r>
            <a:r>
              <a:rPr lang="en-US" altLang="zh-CN" dirty="0"/>
              <a:t>Token </a:t>
            </a:r>
            <a:r>
              <a:rPr lang="zh-CN" altLang="en-US" dirty="0"/>
              <a:t>更多）”这一干扰因素，进行了受控实验，将所有配置的 </a:t>
            </a:r>
            <a:r>
              <a:rPr lang="en-US" altLang="zh-CN" dirty="0"/>
              <a:t>Token </a:t>
            </a:r>
            <a:r>
              <a:rPr lang="zh-CN" altLang="en-US" dirty="0"/>
              <a:t>预算统一固定在</a:t>
            </a:r>
            <a:r>
              <a:rPr lang="en-US" altLang="zh-CN" dirty="0"/>
              <a:t>1.5K</a:t>
            </a:r>
            <a:r>
              <a:rPr lang="zh-CN" altLang="en-US" dirty="0"/>
              <a:t> 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FF7A48-0D21-5C16-8B46-0A0657F0A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02" y="3904504"/>
            <a:ext cx="5101380" cy="162543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BA1A38E-4D2C-9D0E-F7BE-68E079863EC4}"/>
              </a:ext>
            </a:extLst>
          </p:cNvPr>
          <p:cNvSpPr txBox="1"/>
          <p:nvPr/>
        </p:nvSpPr>
        <p:spPr>
          <a:xfrm>
            <a:off x="505097" y="5595036"/>
            <a:ext cx="5538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人格属性不仅能提升性能，更是</a:t>
            </a:r>
            <a:r>
              <a:rPr lang="zh-CN" altLang="en-US" b="1" dirty="0"/>
              <a:t>精确记忆过滤</a:t>
            </a:r>
            <a:r>
              <a:rPr lang="zh-CN" altLang="en-US" dirty="0"/>
              <a:t>的核心 。没有它，系统必须检索大量原始记录来寻找有用信息，导致效率极低 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4E4B884-A39C-F944-4E18-9BBF17E0E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622" y="3599764"/>
            <a:ext cx="3022755" cy="197495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BA5AFE0-2350-B625-A36F-AED9022CF537}"/>
              </a:ext>
            </a:extLst>
          </p:cNvPr>
          <p:cNvSpPr txBox="1"/>
          <p:nvPr/>
        </p:nvSpPr>
        <p:spPr>
          <a:xfrm>
            <a:off x="6679474" y="5711875"/>
            <a:ext cx="5172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O-Mem </a:t>
            </a:r>
            <a:r>
              <a:rPr lang="zh-CN" altLang="en-US" dirty="0"/>
              <a:t>具备</a:t>
            </a:r>
            <a:r>
              <a:rPr lang="zh-CN" altLang="en-US" b="1" dirty="0"/>
              <a:t>自我进化</a:t>
            </a:r>
            <a:r>
              <a:rPr lang="zh-CN" altLang="en-US" dirty="0"/>
              <a:t>的能力，能够通过持续的交互不断精炼和修正用户画像，实现越来越精准的个性化 。</a:t>
            </a:r>
          </a:p>
        </p:txBody>
      </p:sp>
    </p:spTree>
    <p:extLst>
      <p:ext uri="{BB962C8B-B14F-4D97-AF65-F5344CB8AC3E}">
        <p14:creationId xmlns:p14="http://schemas.microsoft.com/office/powerpoint/2010/main" val="3104425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E40D602-2B05-A864-C24F-5FB3B42CDA7D}"/>
              </a:ext>
            </a:extLst>
          </p:cNvPr>
          <p:cNvSpPr txBox="1"/>
          <p:nvPr/>
        </p:nvSpPr>
        <p:spPr>
          <a:xfrm>
            <a:off x="5003074" y="4515395"/>
            <a:ext cx="20160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/>
              <a:t>2025.10.21</a:t>
            </a:r>
            <a:endParaRPr lang="zh-CN" altLang="en-US" sz="3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9A05EA-407F-BFEA-4BE3-EB543E9B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68" y="1531023"/>
            <a:ext cx="10620483" cy="276375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4BD75BC-1BD9-E979-9D67-B6B085E7C859}"/>
              </a:ext>
            </a:extLst>
          </p:cNvPr>
          <p:cNvSpPr txBox="1"/>
          <p:nvPr/>
        </p:nvSpPr>
        <p:spPr>
          <a:xfrm>
            <a:off x="1090371" y="5505557"/>
            <a:ext cx="1034406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300" dirty="0"/>
              <a:t>任务：构建了一个轻量且高效的外部记忆系统，保证</a:t>
            </a:r>
            <a:r>
              <a:rPr lang="en-US" altLang="zh-CN" sz="2300" dirty="0"/>
              <a:t>Agent</a:t>
            </a:r>
            <a:r>
              <a:rPr lang="zh-CN" altLang="en-US" sz="2300" dirty="0"/>
              <a:t>记忆能力的同时，又不会带来巨大的计算、时间和</a:t>
            </a:r>
            <a:r>
              <a:rPr lang="en-US" altLang="zh-CN" sz="2300" dirty="0"/>
              <a:t>API</a:t>
            </a:r>
            <a:r>
              <a:rPr lang="zh-CN" altLang="en-US" sz="2300" dirty="0"/>
              <a:t>成本。</a:t>
            </a:r>
            <a:endParaRPr lang="en-US" altLang="zh-CN" sz="2300" dirty="0"/>
          </a:p>
        </p:txBody>
      </p:sp>
    </p:spTree>
    <p:extLst>
      <p:ext uri="{BB962C8B-B14F-4D97-AF65-F5344CB8AC3E}">
        <p14:creationId xmlns:p14="http://schemas.microsoft.com/office/powerpoint/2010/main" val="3212473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032195-8857-5978-F10E-9FDF52C2B03A}"/>
              </a:ext>
            </a:extLst>
          </p:cNvPr>
          <p:cNvSpPr txBox="1"/>
          <p:nvPr/>
        </p:nvSpPr>
        <p:spPr>
          <a:xfrm>
            <a:off x="134983" y="222068"/>
            <a:ext cx="1136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动机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7B5E17-A3E4-489F-2FBD-4F98D3CE1737}"/>
              </a:ext>
            </a:extLst>
          </p:cNvPr>
          <p:cNvSpPr txBox="1"/>
          <p:nvPr/>
        </p:nvSpPr>
        <p:spPr>
          <a:xfrm>
            <a:off x="6765123" y="1000427"/>
            <a:ext cx="4484914" cy="420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、当前主流的记忆相关研究直接处理原始信息，引入噪声或不相关数据导致高开销；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、记忆构建通常孤立地处理每个回合或依赖于严格的上下文窗口边界，无法对不同回合之间的语义连接进行建模；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、记忆的更新和遗忘过程通常在推理阶段执行，这种紧耦合导致长程任务中的测试时延迟过高。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D93B2A-292F-5917-98DC-DC27D4855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66" y="973685"/>
            <a:ext cx="5433373" cy="44554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90F390F-860D-03E3-1230-DA72D7EB8109}"/>
              </a:ext>
            </a:extLst>
          </p:cNvPr>
          <p:cNvSpPr txBox="1"/>
          <p:nvPr/>
        </p:nvSpPr>
        <p:spPr>
          <a:xfrm>
            <a:off x="639191" y="5646198"/>
            <a:ext cx="10830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传统方法</a:t>
            </a:r>
            <a:r>
              <a:rPr lang="en-US" altLang="zh-CN" dirty="0"/>
              <a:t>1</a:t>
            </a:r>
            <a:r>
              <a:rPr lang="zh-CN" altLang="en-US" dirty="0"/>
              <a:t>：逐轮串行处理➡速度极慢（太多迭代），效率极低（太少条目）。</a:t>
            </a:r>
            <a:endParaRPr lang="en-US" altLang="zh-CN" dirty="0"/>
          </a:p>
          <a:p>
            <a:r>
              <a:rPr lang="zh-CN" altLang="en-US" dirty="0"/>
              <a:t>传统方法 </a:t>
            </a:r>
            <a:r>
              <a:rPr lang="en-US" altLang="zh-CN" dirty="0"/>
              <a:t>2</a:t>
            </a:r>
            <a:r>
              <a:rPr lang="zh-CN" altLang="en-US" dirty="0"/>
              <a:t>：无差别窗口并行处理➡虽然快一点，但内容乱套（条目不准确），细节丢了（信息丢失） 。</a:t>
            </a:r>
            <a:endParaRPr lang="en-US" altLang="zh-CN" dirty="0"/>
          </a:p>
          <a:p>
            <a:r>
              <a:rPr lang="en-US" altLang="zh-CN" dirty="0" err="1"/>
              <a:t>LightMem</a:t>
            </a:r>
            <a:r>
              <a:rPr lang="zh-CN" altLang="en-US" dirty="0"/>
              <a:t>方法：先过滤冗余信息，再按主题（</a:t>
            </a:r>
            <a:r>
              <a:rPr lang="en-US" altLang="zh-CN" dirty="0"/>
              <a:t>Topic</a:t>
            </a:r>
            <a:r>
              <a:rPr lang="zh-CN" altLang="en-US" dirty="0"/>
              <a:t>）进行语义分组处理 。</a:t>
            </a:r>
          </a:p>
        </p:txBody>
      </p:sp>
    </p:spTree>
    <p:extLst>
      <p:ext uri="{BB962C8B-B14F-4D97-AF65-F5344CB8AC3E}">
        <p14:creationId xmlns:p14="http://schemas.microsoft.com/office/powerpoint/2010/main" val="1126603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F31423-CDFF-331F-F1DB-B8E6F5F9A1B5}"/>
              </a:ext>
            </a:extLst>
          </p:cNvPr>
          <p:cNvSpPr txBox="1"/>
          <p:nvPr/>
        </p:nvSpPr>
        <p:spPr>
          <a:xfrm>
            <a:off x="257452" y="204185"/>
            <a:ext cx="1136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A825BF-1CCA-2315-B1D9-420E0E1D1A86}"/>
              </a:ext>
            </a:extLst>
          </p:cNvPr>
          <p:cNvSpPr txBox="1"/>
          <p:nvPr/>
        </p:nvSpPr>
        <p:spPr>
          <a:xfrm>
            <a:off x="266329" y="790113"/>
            <a:ext cx="11452196" cy="334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由三个轻量级模块组成：感官记忆（</a:t>
            </a:r>
            <a:r>
              <a:rPr lang="en-US" altLang="zh-CN" dirty="0"/>
              <a:t>Light1</a:t>
            </a:r>
            <a:r>
              <a:rPr lang="zh-CN" altLang="en-US" dirty="0"/>
              <a:t>）、短期记忆（</a:t>
            </a:r>
            <a:r>
              <a:rPr lang="en-US" altLang="zh-CN" dirty="0"/>
              <a:t>Light2</a:t>
            </a:r>
            <a:r>
              <a:rPr lang="zh-CN" altLang="en-US" dirty="0"/>
              <a:t>）和长期记忆（</a:t>
            </a:r>
            <a:r>
              <a:rPr lang="en-US" altLang="zh-CN" dirty="0"/>
              <a:t>Light3</a:t>
            </a:r>
            <a:r>
              <a:rPr lang="zh-CN" altLang="en-US" dirty="0"/>
              <a:t>） 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en-US" altLang="zh-CN" b="1" dirty="0"/>
              <a:t>Light1</a:t>
            </a:r>
            <a:r>
              <a:rPr lang="zh-CN" altLang="en-US" b="1" dirty="0"/>
              <a:t>：认知启发式感官记忆 </a:t>
            </a:r>
            <a:r>
              <a:rPr lang="en-US" altLang="zh-CN" b="1" dirty="0"/>
              <a:t>(Sensory Memory)</a:t>
            </a:r>
          </a:p>
          <a:p>
            <a:pPr>
              <a:lnSpc>
                <a:spcPts val="2600"/>
              </a:lnSpc>
            </a:pPr>
            <a:r>
              <a:rPr lang="zh-CN" altLang="en-US" sz="1600" dirty="0"/>
              <a:t>消除冗余信息，并将原始输入转化为语义连贯的主题段落。</a:t>
            </a:r>
            <a:endParaRPr lang="en-US" altLang="zh-CN" sz="1600" dirty="0"/>
          </a:p>
          <a:p>
            <a:pPr>
              <a:lnSpc>
                <a:spcPts val="2600"/>
              </a:lnSpc>
            </a:pPr>
            <a:r>
              <a:rPr lang="zh-CN" altLang="en-US" sz="1600" dirty="0"/>
              <a:t>① 预压缩子模块</a:t>
            </a:r>
            <a:r>
              <a:rPr lang="en-US" altLang="zh-CN" sz="1600" dirty="0"/>
              <a:t>(Pre-Compressing Submodule)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利用（</a:t>
            </a:r>
            <a:r>
              <a:rPr lang="en-US" altLang="zh-CN" sz="1600" dirty="0"/>
              <a:t>LLMLingua-2</a:t>
            </a:r>
            <a:r>
              <a:rPr lang="zh-CN" altLang="en-US" sz="1600" dirty="0"/>
              <a:t>）剔除冗余 </a:t>
            </a:r>
            <a:r>
              <a:rPr lang="en-US" altLang="zh-CN" sz="1600" dirty="0"/>
              <a:t>Token </a:t>
            </a:r>
            <a:r>
              <a:rPr lang="zh-CN" altLang="en-US" sz="1600" dirty="0"/>
              <a:t>。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通过压缩模型计算 </a:t>
            </a:r>
            <a:r>
              <a:rPr lang="en-US" altLang="zh-CN" sz="1600" dirty="0"/>
              <a:t>Token </a:t>
            </a:r>
            <a:r>
              <a:rPr lang="zh-CN" altLang="en-US" sz="1600" dirty="0"/>
              <a:t>的保留概率或交叉熵来识别并保留具有高信息唯一性的 </a:t>
            </a:r>
            <a:r>
              <a:rPr lang="en-US" altLang="zh-CN" sz="1600" dirty="0"/>
              <a:t>Token 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ts val="2600"/>
              </a:lnSpc>
            </a:pPr>
            <a:r>
              <a:rPr lang="zh-CN" altLang="en-US" sz="1600" dirty="0"/>
              <a:t>②主题分割子模块 </a:t>
            </a:r>
            <a:r>
              <a:rPr lang="en-US" altLang="zh-CN" sz="1600" dirty="0"/>
              <a:t>(Topic Segmentation Submodule)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信息在感官记忆缓冲区达到上限后触发分割 。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混合分割策略：结合基于注意力的边界（识别对话流中的突变）和基于语义相似度的边界（确保同一主题内的连贯性），取两者的交集作为最终主题边界 。</a:t>
            </a:r>
            <a:endParaRPr lang="en-US" altLang="zh-CN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B85BCB-030C-C802-54D4-560ABA846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33" y="4154113"/>
            <a:ext cx="9935761" cy="270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827E959-21F9-F0F0-8FA9-F8794FA52367}"/>
              </a:ext>
            </a:extLst>
          </p:cNvPr>
          <p:cNvSpPr txBox="1"/>
          <p:nvPr/>
        </p:nvSpPr>
        <p:spPr>
          <a:xfrm>
            <a:off x="408371" y="1633492"/>
            <a:ext cx="11310153" cy="2231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2200" b="1" dirty="0"/>
              <a:t>1</a:t>
            </a:r>
            <a:r>
              <a:rPr lang="zh-CN" altLang="en-US" sz="2200" b="1" dirty="0"/>
              <a:t>、基于分类的概率</a:t>
            </a:r>
            <a:endParaRPr lang="en-US" altLang="zh-CN" sz="2200" b="1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适用模型：专门设计的轻量级预压缩模型，论文中是</a:t>
            </a:r>
            <a:r>
              <a:rPr lang="en-US" altLang="zh-CN" dirty="0"/>
              <a:t>LLMLingua-2 </a:t>
            </a:r>
            <a:r>
              <a:rPr lang="zh-CN" altLang="en-US" dirty="0"/>
              <a:t>。</a:t>
            </a:r>
          </a:p>
          <a:p>
            <a:pPr>
              <a:lnSpc>
                <a:spcPts val="2400"/>
              </a:lnSpc>
            </a:pPr>
            <a:r>
              <a:rPr lang="zh-CN" altLang="en-US" dirty="0"/>
              <a:t>        核心逻辑：将压缩过程视为一个二分类任务（即“保留”或“丢弃”） 。</a:t>
            </a:r>
          </a:p>
          <a:p>
            <a:pPr>
              <a:lnSpc>
                <a:spcPts val="2400"/>
              </a:lnSpc>
            </a:pPr>
            <a:r>
              <a:rPr lang="zh-CN" altLang="en-US" dirty="0"/>
              <a:t>        计算方式：模型为每个 </a:t>
            </a:r>
            <a:r>
              <a:rPr lang="en-US" altLang="zh-CN" dirty="0"/>
              <a:t>Token </a:t>
            </a:r>
            <a:r>
              <a:rPr lang="zh-CN" altLang="en-US" dirty="0"/>
              <a:t>输出一个 </a:t>
            </a:r>
            <a:r>
              <a:rPr lang="en-US" altLang="zh-CN" dirty="0"/>
              <a:t>Logit    </a:t>
            </a:r>
            <a:r>
              <a:rPr lang="zh-CN" altLang="en-US" dirty="0"/>
              <a:t>向量   ，通过 </a:t>
            </a:r>
            <a:r>
              <a:rPr lang="en-US" altLang="zh-CN" dirty="0"/>
              <a:t>Softmax </a:t>
            </a:r>
            <a:r>
              <a:rPr lang="zh-CN" altLang="en-US" dirty="0"/>
              <a:t>函数提取出“保留”类对应的概率值 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2AD89F-9A67-767C-A13A-1E998C5DC1B2}"/>
              </a:ext>
            </a:extLst>
          </p:cNvPr>
          <p:cNvSpPr txBox="1"/>
          <p:nvPr/>
        </p:nvSpPr>
        <p:spPr>
          <a:xfrm>
            <a:off x="470515" y="381740"/>
            <a:ext cx="55041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/>
              <a:t>两种过滤冗余</a:t>
            </a:r>
            <a:r>
              <a:rPr lang="en-US" altLang="zh-CN" sz="3000" dirty="0"/>
              <a:t>Token</a:t>
            </a:r>
            <a:r>
              <a:rPr lang="zh-CN" altLang="en-US" sz="3000" dirty="0"/>
              <a:t>的技术路径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E6025F-CF6F-897F-C59D-D4CD2AB9C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454" y="1018489"/>
            <a:ext cx="8184882" cy="4969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49F2F3-97EF-8294-BA45-E80EDA254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208" y="2251255"/>
            <a:ext cx="4468466" cy="4310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86DB38-C657-506F-152B-075DA07A0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976" y="4353882"/>
            <a:ext cx="5773636" cy="711177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FD04A18-C0C8-A54B-D4AF-06537190A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768150"/>
              </p:ext>
            </p:extLst>
          </p:nvPr>
        </p:nvGraphicFramePr>
        <p:xfrm>
          <a:off x="4114800" y="24384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FD04A18-C0C8-A54B-D4AF-06537190A7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14800" y="24384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6BC517-21F2-3629-3E8A-C3E15A8CDC2B}"/>
                  </a:ext>
                </a:extLst>
              </p:cNvPr>
              <p:cNvSpPr txBox="1"/>
              <p:nvPr/>
            </p:nvSpPr>
            <p:spPr>
              <a:xfrm>
                <a:off x="5513032" y="3533313"/>
                <a:ext cx="209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6BC517-21F2-3629-3E8A-C3E15A8C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032" y="3533313"/>
                <a:ext cx="209288" cy="276999"/>
              </a:xfrm>
              <a:prstGeom prst="rect">
                <a:avLst/>
              </a:prstGeom>
              <a:blipFill>
                <a:blip r:embed="rId8"/>
                <a:stretch>
                  <a:fillRect l="-40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732FB378-573D-6BE0-F699-EB47B2E2E9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537" y="4266587"/>
            <a:ext cx="2797051" cy="229445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C03B724-061A-430E-0380-D685A79E3FBC}"/>
              </a:ext>
            </a:extLst>
          </p:cNvPr>
          <p:cNvSpPr txBox="1"/>
          <p:nvPr/>
        </p:nvSpPr>
        <p:spPr>
          <a:xfrm>
            <a:off x="399406" y="3919492"/>
            <a:ext cx="8610123" cy="2231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2200" b="1" dirty="0"/>
              <a:t>2</a:t>
            </a:r>
            <a:r>
              <a:rPr lang="zh-CN" altLang="en-US" sz="2200" b="1" dirty="0"/>
              <a:t>、基于熵的概率</a:t>
            </a:r>
            <a:endParaRPr lang="en-US" altLang="zh-CN" sz="2200" b="1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endParaRPr lang="en-US" altLang="zh-CN" dirty="0"/>
          </a:p>
          <a:p>
            <a:pPr>
              <a:lnSpc>
                <a:spcPts val="2400"/>
              </a:lnSpc>
            </a:pPr>
            <a:r>
              <a:rPr lang="zh-CN" altLang="en-US" dirty="0"/>
              <a:t>        适用模型：更为通用的生成式大语言模型 。</a:t>
            </a:r>
          </a:p>
          <a:p>
            <a:pPr>
              <a:lnSpc>
                <a:spcPts val="2400"/>
              </a:lnSpc>
            </a:pPr>
            <a:r>
              <a:rPr lang="zh-CN" altLang="en-US" dirty="0"/>
              <a:t>        核心逻辑：利用信息论中的交叉熵来衡量 </a:t>
            </a:r>
            <a:r>
              <a:rPr lang="en-US" altLang="zh-CN" dirty="0"/>
              <a:t>Token </a:t>
            </a:r>
            <a:r>
              <a:rPr lang="zh-CN" altLang="en-US" dirty="0"/>
              <a:t>的重要性 。</a:t>
            </a:r>
          </a:p>
          <a:p>
            <a:pPr>
              <a:lnSpc>
                <a:spcPts val="2400"/>
              </a:lnSpc>
            </a:pPr>
            <a:r>
              <a:rPr lang="zh-CN" altLang="en-US" dirty="0"/>
              <a:t>        计算方式：计算模型预测概率分布与真实 </a:t>
            </a:r>
            <a:r>
              <a:rPr lang="en-US" altLang="zh-CN" dirty="0"/>
              <a:t>Token </a:t>
            </a:r>
            <a:r>
              <a:rPr lang="zh-CN" altLang="en-US" dirty="0"/>
              <a:t>标签分布之间的差异 。</a:t>
            </a:r>
          </a:p>
        </p:txBody>
      </p:sp>
    </p:spTree>
    <p:extLst>
      <p:ext uri="{BB962C8B-B14F-4D97-AF65-F5344CB8AC3E}">
        <p14:creationId xmlns:p14="http://schemas.microsoft.com/office/powerpoint/2010/main" val="4058998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021490-6AA2-C370-067F-4679F7CD3F27}"/>
              </a:ext>
            </a:extLst>
          </p:cNvPr>
          <p:cNvSpPr txBox="1"/>
          <p:nvPr/>
        </p:nvSpPr>
        <p:spPr>
          <a:xfrm>
            <a:off x="470516" y="381740"/>
            <a:ext cx="2651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/>
              <a:t>混合分割策略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871A2E-7369-1641-A2AC-09E263989AF7}"/>
              </a:ext>
            </a:extLst>
          </p:cNvPr>
          <p:cNvSpPr txBox="1"/>
          <p:nvPr/>
        </p:nvSpPr>
        <p:spPr>
          <a:xfrm>
            <a:off x="494144" y="1182254"/>
            <a:ext cx="10746509" cy="251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1</a:t>
            </a:r>
            <a:r>
              <a:rPr lang="zh-CN" altLang="en-US" sz="2200" b="1" dirty="0"/>
              <a:t>、基于注意力的边界识别 </a:t>
            </a:r>
            <a:r>
              <a:rPr lang="en-US" altLang="zh-CN" sz="2200" b="1" dirty="0"/>
              <a:t>(B1)</a:t>
            </a:r>
          </a:p>
          <a:p>
            <a:endParaRPr lang="en-US" altLang="zh-CN" sz="2200" b="1" dirty="0"/>
          </a:p>
          <a:p>
            <a:endParaRPr lang="en-US" altLang="zh-CN" sz="2200" b="1" dirty="0"/>
          </a:p>
          <a:p>
            <a:pPr>
              <a:lnSpc>
                <a:spcPts val="2800"/>
              </a:lnSpc>
            </a:pPr>
            <a:r>
              <a:rPr lang="zh-CN" altLang="en-US" dirty="0"/>
              <a:t>       原理：利用压缩模型（</a:t>
            </a:r>
            <a:r>
              <a:rPr lang="en-US" altLang="zh-CN" dirty="0"/>
              <a:t>LLMLingua-2</a:t>
            </a:r>
            <a:r>
              <a:rPr lang="zh-CN" altLang="en-US" dirty="0"/>
              <a:t>）计算对话轮次之间的注意力矩阵 </a:t>
            </a:r>
            <a:r>
              <a:rPr lang="en-US" altLang="zh-CN" dirty="0"/>
              <a:t>M </a:t>
            </a:r>
            <a:r>
              <a:rPr lang="zh-CN" altLang="en-US" dirty="0"/>
              <a:t>。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       局部峰值检测：系统重点关注矩阵的次对角线元素（即相邻句子间的注意力分值） 。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       逻辑：当一个句子对前一句子的注意力分值出现“局部峰值”（</a:t>
            </a:r>
            <a:r>
              <a:rPr lang="en-US" altLang="zh-CN" dirty="0"/>
              <a:t>Local Peak</a:t>
            </a:r>
            <a:r>
              <a:rPr lang="zh-CN" altLang="en-US" dirty="0"/>
              <a:t>）时，通常意味着该句子与前文的语义连接较弱，反映了从旧话题到新话题的清晰转换 。这些点被识别为候选边界 </a:t>
            </a:r>
            <a:r>
              <a:rPr lang="en-US" altLang="zh-CN" dirty="0"/>
              <a:t>B1 </a:t>
            </a:r>
            <a:r>
              <a:rPr lang="zh-CN" altLang="en-US" dirty="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328EF7-9A9C-8393-2389-32F9524CC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108" y="1848709"/>
            <a:ext cx="6740946" cy="3395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92DCD1-5CCE-7D8B-D661-C7B09BE4A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734" y="4223027"/>
            <a:ext cx="4522573" cy="5706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73C76C4-998D-3A71-D057-1D4A9D6A7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127" y="5980828"/>
            <a:ext cx="1555201" cy="3508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557A2F-311E-80D0-BB61-A3DC28EAC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706" y="147782"/>
            <a:ext cx="4134068" cy="1625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2B6EFDA-5CBC-DB8D-A263-08C798F04892}"/>
              </a:ext>
            </a:extLst>
          </p:cNvPr>
          <p:cNvSpPr txBox="1"/>
          <p:nvPr/>
        </p:nvSpPr>
        <p:spPr>
          <a:xfrm>
            <a:off x="378691" y="3791527"/>
            <a:ext cx="11176000" cy="1798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2</a:t>
            </a:r>
            <a:r>
              <a:rPr lang="zh-CN" altLang="en-US" sz="2200" b="1" dirty="0"/>
              <a:t>、 基于语义相似度的验证 </a:t>
            </a:r>
            <a:r>
              <a:rPr lang="en-US" altLang="zh-CN" sz="2200" b="1" dirty="0"/>
              <a:t>(B2)</a:t>
            </a:r>
          </a:p>
          <a:p>
            <a:endParaRPr lang="en-US" altLang="zh-CN" sz="2200" b="1" dirty="0"/>
          </a:p>
          <a:p>
            <a:endParaRPr lang="en-US" altLang="zh-CN" sz="2200" b="1" dirty="0"/>
          </a:p>
          <a:p>
            <a:pPr>
              <a:lnSpc>
                <a:spcPts val="2800"/>
              </a:lnSpc>
            </a:pPr>
            <a:r>
              <a:rPr lang="zh-CN" altLang="en-US" dirty="0"/>
              <a:t>       原理：使用嵌入模型计算相邻对话轮次之间的语义相似度 。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       阈值过滤：在候选边界</a:t>
            </a:r>
            <a:r>
              <a:rPr lang="en-US" altLang="zh-CN" dirty="0"/>
              <a:t>B1</a:t>
            </a:r>
            <a:r>
              <a:rPr lang="zh-CN" altLang="en-US" dirty="0"/>
              <a:t>附近，只有当相邻轮次的相似度低于预设阈值</a:t>
            </a:r>
            <a:r>
              <a:rPr lang="en-US" altLang="zh-CN" dirty="0"/>
              <a:t>T</a:t>
            </a:r>
            <a:r>
              <a:rPr lang="zh-CN" altLang="en-US" dirty="0"/>
              <a:t>时，才会被确认为语义边界</a:t>
            </a:r>
            <a:r>
              <a:rPr lang="en-US" altLang="zh-CN" dirty="0"/>
              <a:t>B2</a:t>
            </a:r>
            <a:r>
              <a:rPr lang="zh-CN" altLang="en-US" dirty="0"/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2578C3-5837-BB39-7B37-C3EB6A220DE8}"/>
              </a:ext>
            </a:extLst>
          </p:cNvPr>
          <p:cNvSpPr txBox="1"/>
          <p:nvPr/>
        </p:nvSpPr>
        <p:spPr>
          <a:xfrm>
            <a:off x="471052" y="5643418"/>
            <a:ext cx="11942620" cy="110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3</a:t>
            </a:r>
            <a:r>
              <a:rPr lang="zh-CN" altLang="en-US" sz="2200" b="1" dirty="0"/>
              <a:t>、最终边界确定</a:t>
            </a:r>
            <a:endParaRPr lang="en-US" altLang="zh-CN" sz="2200" b="1" dirty="0"/>
          </a:p>
          <a:p>
            <a:endParaRPr lang="en-US" altLang="zh-CN" sz="2200" b="1" dirty="0"/>
          </a:p>
          <a:p>
            <a:pPr>
              <a:lnSpc>
                <a:spcPts val="2800"/>
              </a:lnSpc>
            </a:pPr>
            <a:r>
              <a:rPr lang="zh-CN" altLang="en-US" dirty="0"/>
              <a:t>取交集：最终的主题边界</a:t>
            </a:r>
            <a:r>
              <a:rPr lang="en-US" altLang="zh-CN" dirty="0"/>
              <a:t>B</a:t>
            </a:r>
            <a:r>
              <a:rPr lang="zh-CN" altLang="en-US" dirty="0"/>
              <a:t>是上述两组边界的交集（</a:t>
            </a:r>
            <a:r>
              <a:rPr lang="en-US" altLang="zh-CN" dirty="0"/>
              <a:t>B1∩B2</a:t>
            </a:r>
            <a:r>
              <a:rPr lang="zh-CN" altLang="en-US" dirty="0"/>
              <a:t>），以确保分割既符合注意力动态又符合宏观语义逻辑 。</a:t>
            </a:r>
          </a:p>
        </p:txBody>
      </p:sp>
    </p:spTree>
    <p:extLst>
      <p:ext uri="{BB962C8B-B14F-4D97-AF65-F5344CB8AC3E}">
        <p14:creationId xmlns:p14="http://schemas.microsoft.com/office/powerpoint/2010/main" val="145530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095D83-8730-9419-29F4-47A55FAB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99" y="581519"/>
            <a:ext cx="5049801" cy="27580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500245-17E5-BCBE-B456-180DFC2D31BC}"/>
              </a:ext>
            </a:extLst>
          </p:cNvPr>
          <p:cNvSpPr txBox="1"/>
          <p:nvPr/>
        </p:nvSpPr>
        <p:spPr>
          <a:xfrm>
            <a:off x="173933" y="347870"/>
            <a:ext cx="6962363" cy="2649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Light2</a:t>
            </a:r>
            <a:r>
              <a:rPr lang="zh-CN" altLang="en-US" sz="2000" b="1" dirty="0"/>
              <a:t>：主题感知短期记忆 </a:t>
            </a:r>
            <a:r>
              <a:rPr lang="en-US" altLang="zh-CN" sz="2000" b="1" dirty="0"/>
              <a:t>(Short-Term Memory)</a:t>
            </a:r>
          </a:p>
          <a:p>
            <a:endParaRPr lang="en-US" altLang="zh-CN" b="1" dirty="0"/>
          </a:p>
          <a:p>
            <a:pPr>
              <a:lnSpc>
                <a:spcPts val="2600"/>
              </a:lnSpc>
            </a:pPr>
            <a:r>
              <a:rPr lang="zh-CN" altLang="en-US" sz="1600" dirty="0"/>
              <a:t>该模块负责对主题化的信息进行暂存和精简处理 。</a:t>
            </a:r>
          </a:p>
          <a:p>
            <a:pPr>
              <a:lnSpc>
                <a:spcPts val="2600"/>
              </a:lnSpc>
            </a:pPr>
            <a:r>
              <a:rPr lang="zh-CN" altLang="en-US" sz="1600" b="1" dirty="0"/>
              <a:t>①结构化索引：</a:t>
            </a:r>
            <a:r>
              <a:rPr lang="zh-CN" altLang="en-US" sz="1600" dirty="0"/>
              <a:t>将对话组织成 </a:t>
            </a:r>
            <a:r>
              <a:rPr lang="en-US" altLang="zh-CN" sz="1600" dirty="0"/>
              <a:t>{</a:t>
            </a:r>
            <a:r>
              <a:rPr lang="zh-CN" altLang="en-US" sz="1600" dirty="0"/>
              <a:t>主题</a:t>
            </a:r>
            <a:r>
              <a:rPr lang="en-US" altLang="zh-CN" sz="1600" dirty="0"/>
              <a:t>, </a:t>
            </a:r>
            <a:r>
              <a:rPr lang="zh-CN" altLang="en-US" sz="1600" dirty="0"/>
              <a:t>消息轮次</a:t>
            </a:r>
            <a:r>
              <a:rPr lang="en-US" altLang="zh-CN" sz="1600" dirty="0"/>
              <a:t>} </a:t>
            </a:r>
            <a:r>
              <a:rPr lang="zh-CN" altLang="en-US" sz="1600" dirty="0"/>
              <a:t>的索引结构并存入 </a:t>
            </a:r>
            <a:r>
              <a:rPr lang="en-US" altLang="zh-CN" sz="1600" dirty="0"/>
              <a:t>STM </a:t>
            </a:r>
            <a:r>
              <a:rPr lang="zh-CN" altLang="en-US" sz="1600" dirty="0"/>
              <a:t>缓冲区 。</a:t>
            </a:r>
          </a:p>
          <a:p>
            <a:pPr>
              <a:lnSpc>
                <a:spcPts val="2600"/>
              </a:lnSpc>
            </a:pPr>
            <a:r>
              <a:rPr lang="zh-CN" altLang="en-US" sz="1600" b="1" dirty="0"/>
              <a:t>②摘要生成：</a:t>
            </a:r>
            <a:r>
              <a:rPr lang="zh-CN" altLang="en-US" sz="1600" dirty="0"/>
              <a:t>当缓冲区达到 </a:t>
            </a:r>
            <a:r>
              <a:rPr lang="en-US" altLang="zh-CN" sz="1600" dirty="0"/>
              <a:t>Token </a:t>
            </a:r>
            <a:r>
              <a:rPr lang="zh-CN" altLang="en-US" sz="1600" dirty="0"/>
              <a:t>阈值时，调用 </a:t>
            </a:r>
            <a:r>
              <a:rPr lang="en-US" altLang="zh-CN" sz="1600" dirty="0"/>
              <a:t>LLM </a:t>
            </a:r>
            <a:r>
              <a:rPr lang="zh-CN" altLang="en-US" sz="1600" dirty="0"/>
              <a:t>生成简洁的摘要 。</a:t>
            </a:r>
          </a:p>
          <a:p>
            <a:pPr>
              <a:lnSpc>
                <a:spcPts val="2600"/>
              </a:lnSpc>
            </a:pPr>
            <a:r>
              <a:rPr lang="zh-CN" altLang="en-US" sz="1600" dirty="0"/>
              <a:t>优势：相比于按单一对话轮次处理，这种基于主题的粒度能极大减少 </a:t>
            </a:r>
            <a:r>
              <a:rPr lang="en-US" altLang="zh-CN" sz="1600" dirty="0"/>
              <a:t>API </a:t>
            </a:r>
            <a:r>
              <a:rPr lang="zh-CN" altLang="en-US" sz="1600" dirty="0"/>
              <a:t>调用次数，并避免因主题交织（</a:t>
            </a:r>
            <a:r>
              <a:rPr lang="en-US" altLang="zh-CN" sz="1600" dirty="0"/>
              <a:t>Topic mixing</a:t>
            </a:r>
            <a:r>
              <a:rPr lang="zh-CN" altLang="en-US" sz="1600" dirty="0"/>
              <a:t>）导致的准确率下降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33136A-AD3C-A3E9-A658-B9954E8FEAEE}"/>
              </a:ext>
            </a:extLst>
          </p:cNvPr>
          <p:cNvSpPr txBox="1"/>
          <p:nvPr/>
        </p:nvSpPr>
        <p:spPr>
          <a:xfrm>
            <a:off x="202979" y="3496452"/>
            <a:ext cx="11989021" cy="1371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工作机制</a:t>
            </a:r>
            <a:endParaRPr lang="en-US" altLang="zh-CN" sz="2000" b="1" dirty="0"/>
          </a:p>
          <a:p>
            <a:pPr>
              <a:lnSpc>
                <a:spcPts val="2600"/>
              </a:lnSpc>
            </a:pPr>
            <a:r>
              <a:rPr lang="zh-CN" altLang="en-US" sz="1600" b="1" dirty="0"/>
              <a:t>①输入</a:t>
            </a:r>
            <a:r>
              <a:rPr lang="zh-CN" altLang="en-US" sz="1600" dirty="0"/>
              <a:t>：</a:t>
            </a:r>
            <a:r>
              <a:rPr lang="en-US" altLang="zh-CN" sz="1600" dirty="0"/>
              <a:t>Light1</a:t>
            </a:r>
            <a:r>
              <a:rPr lang="zh-CN" altLang="en-US" sz="1600" dirty="0"/>
              <a:t>的主题分割结果，形式为</a:t>
            </a:r>
            <a:r>
              <a:rPr lang="en-US" altLang="zh-CN" sz="1600" dirty="0"/>
              <a:t>{topic</a:t>
            </a:r>
            <a:r>
              <a:rPr lang="zh-CN" altLang="en-US" sz="1600" dirty="0"/>
              <a:t>，</a:t>
            </a:r>
            <a:r>
              <a:rPr lang="en-US" altLang="zh-CN" sz="1600" dirty="0"/>
              <a:t>message turns}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>
              <a:lnSpc>
                <a:spcPts val="2600"/>
              </a:lnSpc>
            </a:pPr>
            <a:r>
              <a:rPr lang="zh-CN" altLang="en-US" sz="1600" b="1" dirty="0"/>
              <a:t>②</a:t>
            </a:r>
            <a:r>
              <a:rPr lang="en-US" altLang="zh-CN" sz="1600" b="1" dirty="0"/>
              <a:t>STM</a:t>
            </a:r>
            <a:r>
              <a:rPr lang="zh-CN" altLang="en-US" sz="1600" b="1" dirty="0"/>
              <a:t>缓冲区机制</a:t>
            </a:r>
            <a:r>
              <a:rPr lang="zh-CN" altLang="en-US" sz="1600" dirty="0"/>
              <a:t>：将输入存进短期记忆缓冲区；</a:t>
            </a:r>
            <a:endParaRPr lang="en-US" altLang="zh-CN" sz="1600" dirty="0"/>
          </a:p>
          <a:p>
            <a:pPr>
              <a:lnSpc>
                <a:spcPts val="2600"/>
              </a:lnSpc>
            </a:pPr>
            <a:r>
              <a:rPr lang="zh-CN" altLang="en-US" sz="1600" b="1" dirty="0"/>
              <a:t>③触发摘要生成：</a:t>
            </a:r>
            <a:r>
              <a:rPr lang="zh-CN" altLang="en-US" sz="1600" dirty="0"/>
              <a:t>当缓冲区内的 </a:t>
            </a:r>
            <a:r>
              <a:rPr lang="en-US" altLang="zh-CN" sz="1600" dirty="0"/>
              <a:t>Token </a:t>
            </a:r>
            <a:r>
              <a:rPr lang="zh-CN" altLang="en-US" sz="1600" dirty="0"/>
              <a:t>数量达到预设的阈值时，系统会调用 </a:t>
            </a:r>
            <a:r>
              <a:rPr lang="en-US" altLang="zh-CN" sz="1600" dirty="0"/>
              <a:t>LLM</a:t>
            </a:r>
            <a:r>
              <a:rPr lang="zh-CN" altLang="en-US" sz="1600" dirty="0"/>
              <a:t>来为缓冲区内的每一个主题结构生成简洁的摘要 。</a:t>
            </a:r>
            <a:endParaRPr lang="en-US" altLang="zh-CN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D8C43D7-9CED-EFB8-DCFB-880AC7433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733" y="5087022"/>
            <a:ext cx="7058023" cy="88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7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6BEA5D-A4A4-5572-229A-1C295B6275AA}"/>
              </a:ext>
            </a:extLst>
          </p:cNvPr>
          <p:cNvSpPr txBox="1"/>
          <p:nvPr/>
        </p:nvSpPr>
        <p:spPr>
          <a:xfrm>
            <a:off x="352837" y="298174"/>
            <a:ext cx="9377571" cy="354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Light3</a:t>
            </a:r>
            <a:r>
              <a:rPr lang="zh-CN" altLang="en-US" sz="2000" dirty="0"/>
              <a:t>：带睡眠更新的长期记忆 </a:t>
            </a:r>
            <a:r>
              <a:rPr lang="en-US" altLang="zh-CN" sz="2000" dirty="0"/>
              <a:t>(Long-Term Memory)</a:t>
            </a:r>
          </a:p>
          <a:p>
            <a:endParaRPr lang="en-US" altLang="zh-CN" sz="2000" dirty="0"/>
          </a:p>
          <a:p>
            <a:pPr>
              <a:lnSpc>
                <a:spcPts val="2800"/>
              </a:lnSpc>
            </a:pPr>
            <a:r>
              <a:rPr lang="zh-CN" altLang="en-US" sz="1600" dirty="0"/>
              <a:t>该模块通过将复杂的记忆维护工作转移至离线阶段，解决了实时交互的高延迟问题 。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①测试时软更新 </a:t>
            </a:r>
            <a:r>
              <a:rPr lang="en-US" altLang="zh-CN" sz="1600" dirty="0"/>
              <a:t>(Soft Updating)</a:t>
            </a:r>
            <a:endParaRPr lang="zh-CN" altLang="en-US" sz="1600" dirty="0"/>
          </a:p>
          <a:p>
            <a:pPr>
              <a:lnSpc>
                <a:spcPts val="2800"/>
              </a:lnSpc>
            </a:pPr>
            <a:r>
              <a:rPr lang="zh-CN" altLang="en-US" sz="1600" dirty="0"/>
              <a:t>在线推理期间，新生成的记忆条目仅带时间戳直接插入 </a:t>
            </a:r>
            <a:r>
              <a:rPr lang="en-US" altLang="zh-CN" sz="1600" dirty="0"/>
              <a:t>LTM </a:t>
            </a:r>
            <a:r>
              <a:rPr lang="zh-CN" altLang="en-US" sz="1600" dirty="0"/>
              <a:t>。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由于不涉及复杂的删除或合并操作，交互延迟显著降低 。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②离线并行更新 </a:t>
            </a:r>
            <a:r>
              <a:rPr lang="en-US" altLang="zh-CN" sz="1600" dirty="0"/>
              <a:t>(Offline Parallel Update)</a:t>
            </a:r>
            <a:endParaRPr lang="zh-CN" altLang="en-US" sz="1600" dirty="0"/>
          </a:p>
          <a:p>
            <a:pPr>
              <a:lnSpc>
                <a:spcPts val="2800"/>
              </a:lnSpc>
            </a:pPr>
            <a:r>
              <a:rPr lang="zh-CN" altLang="en-US" sz="1600" dirty="0"/>
              <a:t>在系统“睡眠时间”（离线阶段）进行记忆整合 。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更新队列：系统为每个条目寻找语义相似且时间更晚的更新源，构建更新队列。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并行化：不同条目的更新相互独立，可以并行执行，大幅缩短了总更新时长 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2669AC-7F5C-4758-502E-2FA18EAE0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11" y="3804016"/>
            <a:ext cx="5373519" cy="281328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AC812D6-0940-B4A9-AE66-6B7B123FD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30" y="4996195"/>
            <a:ext cx="5794513" cy="57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28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66F46D-75C3-6B52-67F1-70A125C2F26C}"/>
              </a:ext>
            </a:extLst>
          </p:cNvPr>
          <p:cNvSpPr txBox="1"/>
          <p:nvPr/>
        </p:nvSpPr>
        <p:spPr>
          <a:xfrm>
            <a:off x="370113" y="265612"/>
            <a:ext cx="2704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实验设置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75EDFA-A422-4CFC-A2CF-58567F7F0F07}"/>
              </a:ext>
            </a:extLst>
          </p:cNvPr>
          <p:cNvSpPr txBox="1"/>
          <p:nvPr/>
        </p:nvSpPr>
        <p:spPr>
          <a:xfrm>
            <a:off x="552994" y="1153885"/>
            <a:ext cx="11142617" cy="337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研究团队模拟了真实世界的增量对话轮次输入场景，即对话是逐轮产生的，而非一次性获得全部历史 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数据集</a:t>
            </a:r>
            <a:r>
              <a:rPr lang="zh-CN" altLang="en-US" dirty="0"/>
              <a:t>：使用了 </a:t>
            </a:r>
            <a:r>
              <a:rPr lang="en-US" altLang="zh-CN" dirty="0"/>
              <a:t>LONGMEMEVAL-S</a:t>
            </a:r>
            <a:r>
              <a:rPr lang="zh-CN" altLang="en-US" dirty="0"/>
              <a:t>，包含 </a:t>
            </a:r>
            <a:r>
              <a:rPr lang="en-US" altLang="zh-CN" dirty="0"/>
              <a:t>500 </a:t>
            </a:r>
            <a:r>
              <a:rPr lang="zh-CN" altLang="en-US" dirty="0"/>
              <a:t>个对话历史，平均每个对话约 </a:t>
            </a:r>
            <a:r>
              <a:rPr lang="en-US" altLang="zh-CN" dirty="0"/>
              <a:t>11 </a:t>
            </a:r>
            <a:r>
              <a:rPr lang="zh-CN" altLang="en-US" dirty="0"/>
              <a:t>万个 </a:t>
            </a:r>
            <a:r>
              <a:rPr lang="en-US" altLang="zh-CN" dirty="0"/>
              <a:t>token 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模型基座</a:t>
            </a:r>
            <a:r>
              <a:rPr lang="zh-CN" altLang="en-US" dirty="0"/>
              <a:t>：分别在 </a:t>
            </a:r>
            <a:r>
              <a:rPr lang="en-US" altLang="zh-CN" dirty="0"/>
              <a:t>GPT-4o-mini </a:t>
            </a:r>
            <a:r>
              <a:rPr lang="zh-CN" altLang="en-US" dirty="0"/>
              <a:t>和 </a:t>
            </a:r>
            <a:r>
              <a:rPr lang="en-US" altLang="zh-CN" dirty="0"/>
              <a:t>Qwen3-30B-A3B-Instruct-2507 </a:t>
            </a:r>
            <a:r>
              <a:rPr lang="zh-CN" altLang="en-US" dirty="0"/>
              <a:t>上进行了测试 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对比基线</a:t>
            </a:r>
            <a:r>
              <a:rPr lang="zh-CN" altLang="en-US" dirty="0"/>
              <a:t>：与 </a:t>
            </a:r>
            <a:r>
              <a:rPr lang="en-US" altLang="zh-CN" dirty="0"/>
              <a:t>Full Text</a:t>
            </a:r>
            <a:r>
              <a:rPr lang="zh-CN" altLang="en-US" dirty="0"/>
              <a:t>（全文本）、</a:t>
            </a:r>
            <a:r>
              <a:rPr lang="en-US" altLang="zh-CN" dirty="0"/>
              <a:t>Naive RAG</a:t>
            </a:r>
            <a:r>
              <a:rPr lang="zh-CN" altLang="en-US" dirty="0"/>
              <a:t>（朴素检索）、</a:t>
            </a:r>
            <a:r>
              <a:rPr lang="en-US" altLang="zh-CN" dirty="0" err="1"/>
              <a:t>LangMem</a:t>
            </a:r>
            <a:r>
              <a:rPr lang="zh-CN" altLang="en-US" dirty="0"/>
              <a:t>、</a:t>
            </a:r>
            <a:r>
              <a:rPr lang="en-US" altLang="zh-CN" dirty="0"/>
              <a:t>A-MEM</a:t>
            </a:r>
            <a:r>
              <a:rPr lang="zh-CN" altLang="en-US" dirty="0"/>
              <a:t>、</a:t>
            </a:r>
            <a:r>
              <a:rPr lang="en-US" altLang="zh-CN" dirty="0" err="1"/>
              <a:t>MemoryOS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Mem0</a:t>
            </a:r>
            <a:r>
              <a:rPr lang="zh-CN" altLang="en-US" dirty="0"/>
              <a:t>等多种主流记忆系统进行了对比 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评估指标</a:t>
            </a:r>
            <a:r>
              <a:rPr lang="zh-CN" altLang="en-US" dirty="0"/>
              <a:t>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有效性：</a:t>
            </a:r>
            <a:r>
              <a:rPr lang="en-US" altLang="zh-CN" dirty="0"/>
              <a:t>QA </a:t>
            </a:r>
            <a:r>
              <a:rPr lang="zh-CN" altLang="en-US" dirty="0"/>
              <a:t>准确率（</a:t>
            </a:r>
            <a:r>
              <a:rPr lang="en-US" altLang="zh-CN" dirty="0"/>
              <a:t>ACC</a:t>
            </a:r>
            <a:r>
              <a:rPr lang="zh-CN" altLang="en-US" dirty="0"/>
              <a:t>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效率：</a:t>
            </a:r>
            <a:r>
              <a:rPr lang="en-US" altLang="zh-CN" dirty="0"/>
              <a:t>Token </a:t>
            </a:r>
            <a:r>
              <a:rPr lang="zh-CN" altLang="en-US" dirty="0"/>
              <a:t>消耗量、</a:t>
            </a:r>
            <a:r>
              <a:rPr lang="en-US" altLang="zh-CN" dirty="0"/>
              <a:t>API </a:t>
            </a:r>
            <a:r>
              <a:rPr lang="zh-CN" altLang="en-US" dirty="0"/>
              <a:t>调用次数、系统运行时间（</a:t>
            </a:r>
            <a:r>
              <a:rPr lang="en-US" altLang="zh-CN" dirty="0"/>
              <a:t>Runtime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496392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1FB1D8-A34A-0B64-FB30-3B8B632D5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103" y="212807"/>
            <a:ext cx="6865538" cy="65159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DD84F1D-6DCC-CB35-BFD5-60A03E781299}"/>
              </a:ext>
            </a:extLst>
          </p:cNvPr>
          <p:cNvSpPr txBox="1"/>
          <p:nvPr/>
        </p:nvSpPr>
        <p:spPr>
          <a:xfrm>
            <a:off x="221380" y="317634"/>
            <a:ext cx="364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有效性和效率对比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2590F5-EF96-9F21-9548-D333AA1C5102}"/>
              </a:ext>
            </a:extLst>
          </p:cNvPr>
          <p:cNvSpPr txBox="1"/>
          <p:nvPr/>
        </p:nvSpPr>
        <p:spPr>
          <a:xfrm>
            <a:off x="77002" y="2117558"/>
            <a:ext cx="4350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 (</a:t>
            </a:r>
            <a:r>
              <a:rPr lang="zh-CN" altLang="en-US" dirty="0"/>
              <a:t>压缩率</a:t>
            </a:r>
            <a:r>
              <a:rPr lang="en-US" altLang="zh-CN" dirty="0"/>
              <a:t>)</a:t>
            </a:r>
            <a:r>
              <a:rPr lang="zh-CN" altLang="en-US" dirty="0"/>
              <a:t>变大，</a:t>
            </a:r>
            <a:r>
              <a:rPr lang="en-US" altLang="zh-CN" dirty="0"/>
              <a:t>Token</a:t>
            </a:r>
            <a:r>
              <a:rPr lang="zh-CN" altLang="en-US" dirty="0"/>
              <a:t>消耗也会变得多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th</a:t>
            </a:r>
            <a:r>
              <a:rPr lang="en-US" altLang="zh-CN" dirty="0"/>
              <a:t>(STM</a:t>
            </a:r>
            <a:r>
              <a:rPr lang="zh-CN" altLang="en-US" dirty="0"/>
              <a:t>阈值</a:t>
            </a:r>
            <a:r>
              <a:rPr lang="en-US" altLang="zh-CN" dirty="0"/>
              <a:t>)</a:t>
            </a:r>
            <a:r>
              <a:rPr lang="zh-CN" altLang="en-US" dirty="0"/>
              <a:t>变大，</a:t>
            </a:r>
            <a:r>
              <a:rPr lang="en-US" altLang="zh-CN" dirty="0"/>
              <a:t>API calls</a:t>
            </a:r>
            <a:r>
              <a:rPr lang="zh-CN" altLang="en-US" dirty="0"/>
              <a:t>会下降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14A6C7-9B2B-109C-7F56-B4AD542C2E1C}"/>
              </a:ext>
            </a:extLst>
          </p:cNvPr>
          <p:cNvSpPr txBox="1"/>
          <p:nvPr/>
        </p:nvSpPr>
        <p:spPr>
          <a:xfrm>
            <a:off x="144380" y="3465095"/>
            <a:ext cx="43602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性能超越：在 </a:t>
            </a:r>
            <a:r>
              <a:rPr lang="en-US" altLang="zh-CN" dirty="0"/>
              <a:t>GPT </a:t>
            </a:r>
            <a:r>
              <a:rPr lang="zh-CN" altLang="en-US" dirty="0"/>
              <a:t>和 </a:t>
            </a:r>
            <a:r>
              <a:rPr lang="en-US" altLang="zh-CN" dirty="0"/>
              <a:t>Qwen </a:t>
            </a:r>
            <a:r>
              <a:rPr lang="zh-CN" altLang="en-US" dirty="0"/>
              <a:t>两个大模型底座上，</a:t>
            </a:r>
            <a:r>
              <a:rPr lang="en-US" altLang="zh-CN" dirty="0" err="1"/>
              <a:t>LightMem</a:t>
            </a:r>
            <a:r>
              <a:rPr lang="en-US" altLang="zh-CN" dirty="0"/>
              <a:t> </a:t>
            </a:r>
            <a:r>
              <a:rPr lang="zh-CN" altLang="en-US" dirty="0"/>
              <a:t>的准确率（</a:t>
            </a:r>
            <a:r>
              <a:rPr lang="en-US" altLang="zh-CN" dirty="0"/>
              <a:t>ACC</a:t>
            </a:r>
            <a:r>
              <a:rPr lang="zh-CN" altLang="en-US" dirty="0"/>
              <a:t>）均超越了目前最强的基线模型 </a:t>
            </a:r>
            <a:r>
              <a:rPr lang="en-US" altLang="zh-CN" dirty="0"/>
              <a:t>A-MEM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极致效率：在保持高准确率的同时，极大地降低了资源消耗，</a:t>
            </a:r>
            <a:r>
              <a:rPr lang="en-US" altLang="zh-CN" dirty="0"/>
              <a:t>Token </a:t>
            </a:r>
            <a:r>
              <a:rPr lang="zh-CN" altLang="en-US" dirty="0"/>
              <a:t>使用量、</a:t>
            </a:r>
            <a:r>
              <a:rPr lang="en-US" altLang="zh-CN" dirty="0"/>
              <a:t>API </a:t>
            </a:r>
            <a:r>
              <a:rPr lang="zh-CN" altLang="en-US" dirty="0"/>
              <a:t>调用次数和运行时间均实现了数量级的削减 。</a:t>
            </a:r>
          </a:p>
        </p:txBody>
      </p:sp>
    </p:spTree>
    <p:extLst>
      <p:ext uri="{BB962C8B-B14F-4D97-AF65-F5344CB8AC3E}">
        <p14:creationId xmlns:p14="http://schemas.microsoft.com/office/powerpoint/2010/main" val="80056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E62E608-4AE3-8C9C-770C-4962B55CC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83" y="743023"/>
            <a:ext cx="8183257" cy="49551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3F47FEB-6BB5-871C-3016-21D0557BA67F}"/>
              </a:ext>
            </a:extLst>
          </p:cNvPr>
          <p:cNvSpPr txBox="1"/>
          <p:nvPr/>
        </p:nvSpPr>
        <p:spPr>
          <a:xfrm>
            <a:off x="336883" y="221381"/>
            <a:ext cx="2011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性能调节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4911A-15E6-397E-6E42-2E9A0AF5699A}"/>
              </a:ext>
            </a:extLst>
          </p:cNvPr>
          <p:cNvSpPr txBox="1"/>
          <p:nvPr/>
        </p:nvSpPr>
        <p:spPr>
          <a:xfrm>
            <a:off x="221382" y="1549667"/>
            <a:ext cx="34169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更高的</a:t>
            </a:r>
            <a:r>
              <a:rPr lang="en-US" altLang="zh-CN" dirty="0"/>
              <a:t>r(</a:t>
            </a:r>
            <a:r>
              <a:rPr lang="zh-CN" altLang="en-US" dirty="0"/>
              <a:t>压缩率</a:t>
            </a:r>
            <a:r>
              <a:rPr lang="en-US" altLang="zh-CN" dirty="0"/>
              <a:t>)</a:t>
            </a:r>
            <a:r>
              <a:rPr lang="zh-CN" altLang="en-US" dirty="0"/>
              <a:t>意味着单次处理的信息量更大，因此总</a:t>
            </a:r>
            <a:r>
              <a:rPr lang="en-US" altLang="zh-CN" dirty="0"/>
              <a:t>Token</a:t>
            </a:r>
            <a:r>
              <a:rPr lang="zh-CN" altLang="en-US" dirty="0"/>
              <a:t>消耗和运行时间会相应上升。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较大的</a:t>
            </a:r>
            <a:r>
              <a:rPr lang="en-US" altLang="zh-CN" dirty="0" err="1"/>
              <a:t>th</a:t>
            </a:r>
            <a:r>
              <a:rPr lang="en-US" altLang="zh-CN" dirty="0"/>
              <a:t>(STM</a:t>
            </a:r>
            <a:r>
              <a:rPr lang="zh-CN" altLang="en-US" dirty="0"/>
              <a:t>阈值</a:t>
            </a:r>
            <a:r>
              <a:rPr lang="en-US" altLang="zh-CN" dirty="0"/>
              <a:t>)</a:t>
            </a:r>
            <a:r>
              <a:rPr lang="zh-CN" altLang="en-US" dirty="0"/>
              <a:t>，能大幅削减</a:t>
            </a:r>
            <a:r>
              <a:rPr lang="en-US" altLang="zh-CN" dirty="0"/>
              <a:t>API</a:t>
            </a:r>
            <a:r>
              <a:rPr lang="zh-CN" altLang="en-US" dirty="0"/>
              <a:t>开始和运行时间，但是</a:t>
            </a:r>
            <a:r>
              <a:rPr lang="en-US" altLang="zh-CN" dirty="0" err="1"/>
              <a:t>th</a:t>
            </a:r>
            <a:r>
              <a:rPr lang="zh-CN" altLang="en-US" dirty="0"/>
              <a:t>设置的过大，单次摘要需要处理的信息过于杂乱，可能会导致准确率降低。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量化了 “保留多少信息</a:t>
            </a:r>
            <a:r>
              <a:rPr lang="en-US" altLang="zh-CN" dirty="0"/>
              <a:t>(r)</a:t>
            </a:r>
            <a:r>
              <a:rPr lang="zh-CN" altLang="en-US" dirty="0"/>
              <a:t>”与“多久总结一次（</a:t>
            </a:r>
            <a:r>
              <a:rPr lang="en-US" altLang="zh-CN" dirty="0" err="1"/>
              <a:t>th</a:t>
            </a:r>
            <a:r>
              <a:rPr lang="zh-CN" altLang="en-US" dirty="0"/>
              <a:t>）”之间的博弈，证明了</a:t>
            </a:r>
            <a:r>
              <a:rPr lang="en-US" altLang="zh-CN" dirty="0" err="1"/>
              <a:t>LightMem</a:t>
            </a:r>
            <a:r>
              <a:rPr lang="zh-CN" altLang="en-US" dirty="0"/>
              <a:t>可以通过参数微调，在保持高性能的同时，灵活地适配不同的成本预算需求 。</a:t>
            </a:r>
          </a:p>
        </p:txBody>
      </p:sp>
    </p:spTree>
    <p:extLst>
      <p:ext uri="{BB962C8B-B14F-4D97-AF65-F5344CB8AC3E}">
        <p14:creationId xmlns:p14="http://schemas.microsoft.com/office/powerpoint/2010/main" val="3838789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B0DFC5C-650C-F14A-BB78-2B595324D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15" y="1180013"/>
            <a:ext cx="10212349" cy="39961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D634AD7-CE2C-BED9-6A15-49C9B387A8E3}"/>
              </a:ext>
            </a:extLst>
          </p:cNvPr>
          <p:cNvSpPr txBox="1"/>
          <p:nvPr/>
        </p:nvSpPr>
        <p:spPr>
          <a:xfrm>
            <a:off x="240629" y="182879"/>
            <a:ext cx="2011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消融实验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C432AB-A5FE-9199-1F94-FF512B11C1FD}"/>
              </a:ext>
            </a:extLst>
          </p:cNvPr>
          <p:cNvSpPr txBox="1"/>
          <p:nvPr/>
        </p:nvSpPr>
        <p:spPr>
          <a:xfrm>
            <a:off x="1463039" y="5313144"/>
            <a:ext cx="10039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a.</a:t>
            </a:r>
            <a:r>
              <a:rPr lang="zh-CN" altLang="en-US" dirty="0"/>
              <a:t>当压缩率</a:t>
            </a:r>
            <a:r>
              <a:rPr lang="en-US" altLang="zh-CN" dirty="0"/>
              <a:t>r</a:t>
            </a:r>
            <a:r>
              <a:rPr lang="zh-CN" altLang="en-US" dirty="0"/>
              <a:t>在</a:t>
            </a:r>
            <a:r>
              <a:rPr lang="en-US" altLang="zh-CN" dirty="0"/>
              <a:t>50%</a:t>
            </a:r>
            <a:r>
              <a:rPr lang="zh-CN" altLang="en-US" dirty="0"/>
              <a:t>到</a:t>
            </a:r>
            <a:r>
              <a:rPr lang="en-US" altLang="zh-CN" dirty="0"/>
              <a:t>80%</a:t>
            </a:r>
            <a:r>
              <a:rPr lang="zh-CN" altLang="en-US" dirty="0"/>
              <a:t>之间时，压缩后的问答准确率与不压缩</a:t>
            </a:r>
            <a:r>
              <a:rPr lang="en-US" altLang="zh-CN" dirty="0"/>
              <a:t>(0%)</a:t>
            </a:r>
            <a:r>
              <a:rPr lang="zh-CN" altLang="en-US" dirty="0"/>
              <a:t>基本相当；</a:t>
            </a:r>
            <a:endParaRPr lang="en-US" altLang="zh-CN" dirty="0"/>
          </a:p>
          <a:p>
            <a:r>
              <a:rPr lang="en-US" altLang="zh-CN" dirty="0"/>
              <a:t>b.</a:t>
            </a:r>
            <a:r>
              <a:rPr lang="zh-CN" altLang="en-US" dirty="0"/>
              <a:t>在所有压缩率下，混合方法的准确率均显著高于单一方法，绝对准确率超过了 </a:t>
            </a:r>
            <a:r>
              <a:rPr lang="en-US" altLang="zh-CN" dirty="0"/>
              <a:t>80%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c.</a:t>
            </a:r>
            <a:r>
              <a:rPr lang="zh-CN" altLang="en-US" dirty="0"/>
              <a:t>如果移除主题分割模块，准确率会大幅下降：</a:t>
            </a:r>
            <a:r>
              <a:rPr lang="en-US" altLang="zh-CN" dirty="0"/>
              <a:t>GPT </a:t>
            </a:r>
            <a:r>
              <a:rPr lang="zh-CN" altLang="en-US" dirty="0"/>
              <a:t>下降了 </a:t>
            </a:r>
            <a:r>
              <a:rPr lang="en-US" altLang="zh-CN" dirty="0"/>
              <a:t>6.3%</a:t>
            </a:r>
            <a:r>
              <a:rPr lang="zh-CN" altLang="en-US" dirty="0"/>
              <a:t>，</a:t>
            </a:r>
            <a:r>
              <a:rPr lang="en-US" altLang="zh-CN" dirty="0"/>
              <a:t>Qwen </a:t>
            </a:r>
            <a:r>
              <a:rPr lang="zh-CN" altLang="en-US" dirty="0"/>
              <a:t>下降了 </a:t>
            </a:r>
            <a:r>
              <a:rPr lang="en-US" altLang="zh-CN" dirty="0"/>
              <a:t>5.4% 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85229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EF800B-0FD1-4A41-36BA-C44005095926}"/>
              </a:ext>
            </a:extLst>
          </p:cNvPr>
          <p:cNvSpPr txBox="1"/>
          <p:nvPr/>
        </p:nvSpPr>
        <p:spPr>
          <a:xfrm>
            <a:off x="433136" y="317633"/>
            <a:ext cx="6015789" cy="650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总结</a:t>
            </a:r>
            <a:endParaRPr lang="en-US" altLang="zh-CN" sz="3200" dirty="0"/>
          </a:p>
          <a:p>
            <a:r>
              <a:rPr lang="en-US" altLang="zh-CN" sz="2500" dirty="0" err="1"/>
              <a:t>LightMem</a:t>
            </a:r>
            <a:endParaRPr lang="en-US" altLang="zh-CN" sz="2500" dirty="0"/>
          </a:p>
          <a:p>
            <a:r>
              <a:rPr lang="zh-CN" altLang="en-US" b="1" dirty="0"/>
              <a:t>核心问题</a:t>
            </a:r>
          </a:p>
          <a:p>
            <a:r>
              <a:rPr lang="zh-CN" altLang="en-US" dirty="0"/>
              <a:t>现有 </a:t>
            </a:r>
            <a:r>
              <a:rPr lang="en-US" altLang="zh-CN" dirty="0"/>
              <a:t>LLM </a:t>
            </a:r>
            <a:r>
              <a:rPr lang="zh-CN" altLang="en-US" dirty="0"/>
              <a:t>记忆系统在长对话场景中存在冗余信息多、更新开销大、在线推理延迟高等问题，难以在性能与效率之间取得平衡。</a:t>
            </a:r>
          </a:p>
          <a:p>
            <a:r>
              <a:rPr lang="zh-CN" altLang="en-US" b="1" dirty="0"/>
              <a:t>核心思想</a:t>
            </a:r>
          </a:p>
          <a:p>
            <a:r>
              <a:rPr lang="en-US" altLang="zh-CN" dirty="0" err="1"/>
              <a:t>LightMem</a:t>
            </a:r>
            <a:r>
              <a:rPr lang="en-US" altLang="zh-CN" dirty="0"/>
              <a:t> </a:t>
            </a:r>
            <a:r>
              <a:rPr lang="zh-CN" altLang="en-US" dirty="0"/>
              <a:t>借鉴人类记忆的分层机制（感觉记忆</a:t>
            </a:r>
            <a:r>
              <a:rPr lang="en-US" altLang="zh-CN" dirty="0"/>
              <a:t>–</a:t>
            </a:r>
            <a:r>
              <a:rPr lang="zh-CN" altLang="en-US" dirty="0"/>
              <a:t>短期记忆</a:t>
            </a:r>
            <a:r>
              <a:rPr lang="en-US" altLang="zh-CN" dirty="0"/>
              <a:t>–</a:t>
            </a:r>
            <a:r>
              <a:rPr lang="zh-CN" altLang="en-US" dirty="0"/>
              <a:t>长期记忆），提出一种轻量化、多阶段的记忆构建与更新框架，在保证效果的同时显著降低系统开销。</a:t>
            </a:r>
          </a:p>
          <a:p>
            <a:r>
              <a:rPr lang="zh-CN" altLang="en-US" b="1" dirty="0"/>
              <a:t>方法特点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感知记忆（</a:t>
            </a:r>
            <a:r>
              <a:rPr lang="en-US" altLang="zh-CN" dirty="0"/>
              <a:t>Sensory Memory</a:t>
            </a:r>
            <a:r>
              <a:rPr lang="zh-CN" altLang="en-US" dirty="0"/>
              <a:t>）：通过轻量压缩与主题分割，过滤冗余信息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主题感知短期记忆（</a:t>
            </a:r>
            <a:r>
              <a:rPr lang="en-US" altLang="zh-CN" dirty="0"/>
              <a:t>STM</a:t>
            </a:r>
            <a:r>
              <a:rPr lang="zh-CN" altLang="en-US" dirty="0"/>
              <a:t>）：基于语义与主题聚合对话内容，减少无效构建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睡眠时更新的长期记忆（</a:t>
            </a:r>
            <a:r>
              <a:rPr lang="en-US" altLang="zh-CN" dirty="0"/>
              <a:t>LTM</a:t>
            </a:r>
            <a:r>
              <a:rPr lang="zh-CN" altLang="en-US" dirty="0"/>
              <a:t>）：将高成本更新从在线阶段解耦到离线阶段</a:t>
            </a:r>
          </a:p>
          <a:p>
            <a:r>
              <a:rPr lang="zh-CN" altLang="en-US" b="1" dirty="0"/>
              <a:t>实验结论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LONGMEMEVAL </a:t>
            </a:r>
            <a:r>
              <a:rPr lang="zh-CN" altLang="en-US" dirty="0"/>
              <a:t>上 准确率提升最高达 </a:t>
            </a:r>
            <a:r>
              <a:rPr lang="en-US" altLang="zh-CN" dirty="0"/>
              <a:t>10.9%</a:t>
            </a:r>
          </a:p>
          <a:p>
            <a:r>
              <a:rPr lang="en-US" altLang="zh-CN" dirty="0"/>
              <a:t>Token </a:t>
            </a:r>
            <a:r>
              <a:rPr lang="zh-CN" altLang="en-US" dirty="0"/>
              <a:t>使用量减少最高 </a:t>
            </a:r>
            <a:r>
              <a:rPr lang="en-US" altLang="zh-CN" dirty="0"/>
              <a:t>117×</a:t>
            </a:r>
          </a:p>
          <a:p>
            <a:r>
              <a:rPr lang="en-US" altLang="zh-CN" dirty="0"/>
              <a:t>API </a:t>
            </a:r>
            <a:r>
              <a:rPr lang="zh-CN" altLang="en-US" dirty="0"/>
              <a:t>调用次数减少最高 </a:t>
            </a:r>
            <a:r>
              <a:rPr lang="en-US" altLang="zh-CN" dirty="0"/>
              <a:t>159×</a:t>
            </a:r>
          </a:p>
          <a:p>
            <a:r>
              <a:rPr lang="zh-CN" altLang="en-US" dirty="0"/>
              <a:t>显著降低长时交互中的系统延迟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23BF6B-21E9-9217-F6D2-1F7CBA22C89E}"/>
              </a:ext>
            </a:extLst>
          </p:cNvPr>
          <p:cNvSpPr txBox="1"/>
          <p:nvPr/>
        </p:nvSpPr>
        <p:spPr>
          <a:xfrm>
            <a:off x="6525927" y="563969"/>
            <a:ext cx="5476776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O-Mem</a:t>
            </a:r>
          </a:p>
          <a:p>
            <a:r>
              <a:rPr lang="zh-CN" altLang="en-US" b="1" dirty="0"/>
              <a:t>核心问题</a:t>
            </a:r>
          </a:p>
          <a:p>
            <a:r>
              <a:rPr lang="zh-CN" altLang="en-US" dirty="0"/>
              <a:t>传统记忆系统主要依赖 语义相似度检索历史对话，难以形成对用户的整体认知，在长期交互和个性化任务中表现受限 </a:t>
            </a:r>
          </a:p>
          <a:p>
            <a:r>
              <a:rPr lang="zh-CN" altLang="en-US" b="1" dirty="0"/>
              <a:t>核心思想</a:t>
            </a:r>
          </a:p>
          <a:p>
            <a:r>
              <a:rPr lang="en-US" altLang="zh-CN" dirty="0"/>
              <a:t>O-Mem </a:t>
            </a:r>
            <a:r>
              <a:rPr lang="zh-CN" altLang="en-US" dirty="0"/>
              <a:t>从“存对话”转向“理解用户”，提出一种 以用户为中心的主动式记忆系统，通过持续建模用户画像来支撑长期、个性化交互。</a:t>
            </a:r>
          </a:p>
          <a:p>
            <a:r>
              <a:rPr lang="zh-CN" altLang="en-US" b="1" dirty="0"/>
              <a:t>方法特点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Persona Memory</a:t>
            </a:r>
            <a:r>
              <a:rPr lang="zh-CN" altLang="en-US" dirty="0"/>
              <a:t>：建模用户长期属性与重要事件（“这个用户是谁”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Episodic Memory</a:t>
            </a:r>
            <a:r>
              <a:rPr lang="zh-CN" altLang="en-US" dirty="0"/>
              <a:t>：基于线索词触发的情境回忆（“用户经历过什么”）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Working Memory</a:t>
            </a:r>
            <a:r>
              <a:rPr lang="zh-CN" altLang="en-US" dirty="0"/>
              <a:t>：维护当前话题相关的上下文信息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并行、多通道检索：融合三类记忆，避免单一语义检索的偏差</a:t>
            </a:r>
          </a:p>
          <a:p>
            <a:r>
              <a:rPr lang="zh-CN" altLang="en-US" b="1" dirty="0"/>
              <a:t>实验结论</a:t>
            </a:r>
          </a:p>
          <a:p>
            <a:r>
              <a:rPr lang="zh-CN" altLang="en-US" dirty="0"/>
              <a:t>在 </a:t>
            </a:r>
            <a:r>
              <a:rPr lang="en-US" altLang="zh-CN" dirty="0" err="1"/>
              <a:t>LoCoMo</a:t>
            </a:r>
            <a:r>
              <a:rPr lang="en-US" altLang="zh-CN" dirty="0"/>
              <a:t> </a:t>
            </a:r>
            <a:r>
              <a:rPr lang="zh-CN" altLang="en-US" dirty="0"/>
              <a:t>基准上取得 </a:t>
            </a:r>
            <a:r>
              <a:rPr lang="en-US" altLang="zh-CN" dirty="0"/>
              <a:t>51.67% F1</a:t>
            </a:r>
            <a:r>
              <a:rPr lang="zh-CN" altLang="en-US" dirty="0"/>
              <a:t>，优于现有方法</a:t>
            </a:r>
          </a:p>
          <a:p>
            <a:r>
              <a:rPr lang="zh-CN" altLang="en-US" dirty="0"/>
              <a:t>在 </a:t>
            </a:r>
            <a:r>
              <a:rPr lang="en-US" altLang="zh-CN" dirty="0"/>
              <a:t>PERSONAMEM </a:t>
            </a:r>
            <a:r>
              <a:rPr lang="zh-CN" altLang="en-US" dirty="0"/>
              <a:t>上达到 </a:t>
            </a:r>
            <a:r>
              <a:rPr lang="en-US" altLang="zh-CN" dirty="0"/>
              <a:t>62.99% </a:t>
            </a:r>
            <a:r>
              <a:rPr lang="zh-CN" altLang="en-US" dirty="0"/>
              <a:t>准确率</a:t>
            </a:r>
          </a:p>
          <a:p>
            <a:r>
              <a:rPr lang="zh-CN" altLang="en-US" dirty="0"/>
              <a:t>在多项个性化与长期推理任务中稳定领先</a:t>
            </a:r>
          </a:p>
        </p:txBody>
      </p:sp>
    </p:spTree>
    <p:extLst>
      <p:ext uri="{BB962C8B-B14F-4D97-AF65-F5344CB8AC3E}">
        <p14:creationId xmlns:p14="http://schemas.microsoft.com/office/powerpoint/2010/main" val="762125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3990</Words>
  <Application>Microsoft Office PowerPoint</Application>
  <PresentationFormat>宽屏</PresentationFormat>
  <Paragraphs>336</Paragraphs>
  <Slides>27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等线</vt:lpstr>
      <vt:lpstr>等线 Light</vt:lpstr>
      <vt:lpstr>宋体</vt:lpstr>
      <vt:lpstr>Arial</vt:lpstr>
      <vt:lpstr>Cambria Math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张家玉</dc:creator>
  <cp:lastModifiedBy>张家玉</cp:lastModifiedBy>
  <cp:revision>15</cp:revision>
  <dcterms:created xsi:type="dcterms:W3CDTF">2026-01-16T14:39:21Z</dcterms:created>
  <dcterms:modified xsi:type="dcterms:W3CDTF">2026-01-26T08:42:07Z</dcterms:modified>
</cp:coreProperties>
</file>