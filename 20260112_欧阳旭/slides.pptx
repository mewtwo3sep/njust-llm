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8" r:id="rId5"/>
    <p:sldId id="264" r:id="rId7"/>
    <p:sldId id="265" r:id="rId8"/>
    <p:sldId id="266" r:id="rId9"/>
    <p:sldId id="269" r:id="rId10"/>
    <p:sldId id="273" r:id="rId11"/>
    <p:sldId id="270" r:id="rId12"/>
    <p:sldId id="263" r:id="rId13"/>
    <p:sldId id="271" r:id="rId14"/>
    <p:sldId id="294" r:id="rId15"/>
    <p:sldId id="272" r:id="rId16"/>
    <p:sldId id="277" r:id="rId17"/>
    <p:sldId id="279" r:id="rId18"/>
    <p:sldId id="281" r:id="rId19"/>
    <p:sldId id="278" r:id="rId20"/>
    <p:sldId id="283" r:id="rId21"/>
    <p:sldId id="284" r:id="rId22"/>
    <p:sldId id="286" r:id="rId23"/>
    <p:sldId id="287" r:id="rId24"/>
    <p:sldId id="288" r:id="rId25"/>
    <p:sldId id="285" r:id="rId26"/>
    <p:sldId id="295" r:id="rId27"/>
    <p:sldId id="29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ina ZYX Zhang" initials="TZZ" lastIdx="0" clrIdx="0"/>
  <p:cmAuthor id="2" name="Shi, Serena Jiahui" initials="SSJ" lastIdx="0" clrIdx="1"/>
  <p:cmAuthor id="3" name="Duo, Li" initials="DL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ReAct </a:t>
            </a:r>
            <a:r>
              <a:rPr lang="zh-CN" altLang="en-US"/>
              <a:t>（</a:t>
            </a:r>
            <a:r>
              <a:rPr lang="en-US" altLang="zh-CN"/>
              <a:t>Yao SunYu</a:t>
            </a:r>
            <a:r>
              <a:rPr lang="zh-CN" altLang="en-US"/>
              <a:t>）</a:t>
            </a:r>
            <a:r>
              <a:rPr lang="en-US" altLang="zh-CN"/>
              <a:t>ICLR2023 </a:t>
            </a:r>
            <a:r>
              <a:rPr lang="zh-CN" altLang="en-US"/>
              <a:t>（提出于</a:t>
            </a:r>
            <a:r>
              <a:rPr lang="en-US" altLang="zh-CN"/>
              <a:t>2022</a:t>
            </a:r>
            <a:r>
              <a:rPr lang="zh-CN" altLang="en-US"/>
              <a:t>，该工作早于</a:t>
            </a:r>
            <a:r>
              <a:rPr lang="en-US" altLang="zh-CN"/>
              <a:t> AutoGPT</a:t>
            </a:r>
            <a:r>
              <a:rPr lang="zh-CN" altLang="en-US"/>
              <a:t>，</a:t>
            </a:r>
            <a:r>
              <a:rPr lang="en-US" altLang="zh-CN"/>
              <a:t>LLM agent</a:t>
            </a:r>
            <a:r>
              <a:rPr lang="zh-CN" altLang="en-US"/>
              <a:t>）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  LLM </a:t>
            </a:r>
            <a:r>
              <a:rPr lang="zh-CN" altLang="en-US"/>
              <a:t>交互的方式还不够完善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 LLM</a:t>
            </a:r>
            <a:r>
              <a:rPr lang="zh-CN" altLang="en-US"/>
              <a:t>直接回答问题</a:t>
            </a:r>
            <a:r>
              <a:rPr lang="en-US" altLang="zh-CN"/>
              <a:t>/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思维链：幻觉；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只搜索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只执行动作：对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的要求很高，要求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在内部参数计算过程中就能得到思考过程。（心算过程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有的人可以直接心算，有的人却需要草稿纸写出具体的计算</a:t>
            </a:r>
            <a:r>
              <a:rPr lang="zh-CN" altLang="en-US">
                <a:sym typeface="+mn-ea"/>
              </a:rPr>
              <a:t>过程）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-ReAct </a:t>
            </a:r>
            <a:r>
              <a:rPr lang="zh-CN" altLang="en-US">
                <a:sym typeface="+mn-ea"/>
              </a:rPr>
              <a:t>（思考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执行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观察范式，在</a:t>
            </a:r>
            <a:r>
              <a:rPr lang="en-US" altLang="zh-CN">
                <a:sym typeface="+mn-ea"/>
              </a:rPr>
              <a:t>Hotpot QA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Al4World</a:t>
            </a:r>
            <a:r>
              <a:rPr lang="zh-CN" altLang="en-US">
                <a:sym typeface="+mn-ea"/>
              </a:rPr>
              <a:t>中取得了好成绩，后续通过人工修复</a:t>
            </a:r>
            <a:r>
              <a:rPr lang="zh-CN" altLang="en-US">
                <a:sym typeface="+mn-ea"/>
              </a:rPr>
              <a:t>思考路径去微调模型，能力</a:t>
            </a:r>
            <a:r>
              <a:rPr lang="zh-CN" altLang="en-US">
                <a:sym typeface="+mn-ea"/>
              </a:rPr>
              <a:t>提升）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作者构建了两个</a:t>
            </a:r>
            <a:r>
              <a:rPr lang="zh-CN" altLang="en-US"/>
              <a:t>数据集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第一个，</a:t>
            </a:r>
            <a:r>
              <a:rPr lang="en-US" altLang="zh-CN"/>
              <a:t>CrwalQA</a:t>
            </a:r>
            <a:r>
              <a:rPr lang="zh-CN" altLang="en-US"/>
              <a:t>（大小</a:t>
            </a:r>
            <a:r>
              <a:rPr lang="en-US" altLang="zh-CN"/>
              <a:t>40K</a:t>
            </a:r>
            <a:r>
              <a:rPr lang="zh-CN" altLang="en-US"/>
              <a:t>）通过给定根目录，然后递归访问网站，将结果给</a:t>
            </a:r>
            <a:r>
              <a:rPr lang="en-US" altLang="zh-CN"/>
              <a:t>GPT-4O</a:t>
            </a:r>
            <a:r>
              <a:rPr lang="zh-CN" altLang="en-US"/>
              <a:t>合成问题，作者</a:t>
            </a:r>
            <a:r>
              <a:rPr lang="zh-CN" altLang="en-US" b="1"/>
              <a:t>没有</a:t>
            </a:r>
            <a:r>
              <a:rPr lang="zh-CN" altLang="en-US" b="1"/>
              <a:t>阐述如何验证问题的准确性</a:t>
            </a:r>
            <a:r>
              <a:rPr lang="zh-CN" altLang="en-US"/>
              <a:t>（</a:t>
            </a:r>
            <a:r>
              <a:rPr lang="zh-CN" altLang="en-US">
                <a:sym typeface="+mn-ea"/>
              </a:rPr>
              <a:t>作者提到参考了</a:t>
            </a:r>
            <a:r>
              <a:rPr lang="en-US" altLang="zh-CN">
                <a:sym typeface="+mn-ea"/>
              </a:rPr>
              <a:t>GAIA</a:t>
            </a:r>
            <a:r>
              <a:rPr lang="zh-CN" altLang="en-US">
                <a:sym typeface="+mn-ea"/>
              </a:rPr>
              <a:t>数据的构建，但是</a:t>
            </a:r>
            <a:r>
              <a:rPr lang="en-US" altLang="zh-CN">
                <a:sym typeface="+mn-ea"/>
              </a:rPr>
              <a:t>GAIA</a:t>
            </a:r>
            <a:r>
              <a:rPr lang="zh-CN" altLang="en-US">
                <a:sym typeface="+mn-ea"/>
              </a:rPr>
              <a:t>完全依赖人工提出问题和检查问题）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第二个，</a:t>
            </a:r>
            <a:r>
              <a:rPr lang="en-US" altLang="zh-CN"/>
              <a:t>E2HQA</a:t>
            </a:r>
            <a:r>
              <a:rPr lang="zh-CN" altLang="en-US"/>
              <a:t>（大小</a:t>
            </a:r>
            <a:r>
              <a:rPr lang="en-US" altLang="zh-CN"/>
              <a:t>60K</a:t>
            </a:r>
            <a:r>
              <a:rPr lang="zh-CN" altLang="en-US"/>
              <a:t>），作者使用了</a:t>
            </a:r>
            <a:r>
              <a:rPr lang="en-US" altLang="zh-CN"/>
              <a:t>OpenAI</a:t>
            </a:r>
            <a:r>
              <a:rPr lang="zh-CN" altLang="en-US"/>
              <a:t>的</a:t>
            </a:r>
            <a:r>
              <a:rPr lang="en-US" altLang="zh-CN"/>
              <a:t>SimpleQA(2024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30</a:t>
            </a:r>
            <a:r>
              <a:rPr lang="zh-CN" altLang="en-US"/>
              <a:t>日发布，该数据集专注于简短的、寻求事实的查询，用于衡量模型是否对齐</a:t>
            </a:r>
            <a:r>
              <a:rPr lang="en-US" altLang="zh-CN"/>
              <a:t>/</a:t>
            </a:r>
            <a:r>
              <a:rPr lang="zh-CN" altLang="en-US"/>
              <a:t>是否过度自信</a:t>
            </a:r>
            <a:r>
              <a:rPr lang="en-US" altLang="zh-CN"/>
              <a:t> or </a:t>
            </a:r>
            <a:r>
              <a:rPr lang="zh-CN" altLang="en-US"/>
              <a:t>幻觉</a:t>
            </a:r>
            <a:r>
              <a:rPr lang="en-US" altLang="zh-CN"/>
              <a:t>), </a:t>
            </a:r>
            <a:r>
              <a:rPr lang="zh-CN" altLang="en-US"/>
              <a:t>作者通过抽取问题中的实体，去检索与实体相关的文档，让</a:t>
            </a:r>
            <a:r>
              <a:rPr lang="en-US" altLang="zh-CN"/>
              <a:t>GPT</a:t>
            </a:r>
            <a:r>
              <a:rPr lang="zh-CN" altLang="en-US"/>
              <a:t>重写问题（</a:t>
            </a:r>
            <a:r>
              <a:rPr lang="zh-CN" altLang="en-US" b="1"/>
              <a:t>作者没有给出如何保证重写过程让问题不被异化</a:t>
            </a:r>
            <a:r>
              <a:rPr lang="zh-CN" altLang="en-US"/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作者虽然在</a:t>
            </a:r>
            <a:r>
              <a:rPr lang="en-US" altLang="zh-CN"/>
              <a:t>OpenReview</a:t>
            </a:r>
            <a:r>
              <a:rPr lang="zh-CN" altLang="en-US"/>
              <a:t>中说自己开源这两个数据集，实际上现在还没找到对应的数据</a:t>
            </a:r>
            <a:r>
              <a:rPr lang="zh-CN" altLang="en-US"/>
              <a:t>源。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翻译：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（哪款游戏在</a:t>
            </a:r>
            <a:r>
              <a:rPr lang="en-US" altLang="zh-CN"/>
              <a:t> 2025 </a:t>
            </a:r>
            <a:r>
              <a:rPr lang="zh-CN" altLang="en-US"/>
              <a:t>年</a:t>
            </a:r>
            <a:r>
              <a:rPr lang="en-US" altLang="zh-CN"/>
              <a:t> 2 </a:t>
            </a:r>
            <a:r>
              <a:rPr lang="zh-CN" altLang="en-US"/>
              <a:t>月的</a:t>
            </a:r>
            <a:r>
              <a:rPr lang="en-US" altLang="zh-CN"/>
              <a:t> </a:t>
            </a:r>
            <a:r>
              <a:rPr lang="en-US" altLang="zh-CN" b="1"/>
              <a:t>Godot XR </a:t>
            </a:r>
            <a:r>
              <a:rPr lang="zh-CN" altLang="en-US" b="1"/>
              <a:t>游戏创作大赛</a:t>
            </a:r>
            <a:r>
              <a:rPr lang="zh-CN" altLang="en-US"/>
              <a:t>中排名第四，但却没有出现在</a:t>
            </a:r>
            <a:r>
              <a:rPr lang="en-US" altLang="zh-CN"/>
              <a:t> 2024 </a:t>
            </a:r>
            <a:r>
              <a:rPr lang="zh-CN" altLang="en-US"/>
              <a:t>年</a:t>
            </a:r>
            <a:r>
              <a:rPr lang="en-US" altLang="zh-CN"/>
              <a:t> </a:t>
            </a:r>
            <a:r>
              <a:rPr lang="en-US" altLang="zh-CN" b="1"/>
              <a:t>Godot </a:t>
            </a:r>
            <a:r>
              <a:rPr lang="zh-CN" altLang="en-US" b="1"/>
              <a:t>游戏展示片</a:t>
            </a:r>
            <a:r>
              <a:rPr lang="zh-CN" altLang="en-US"/>
              <a:t>中？</a:t>
            </a:r>
            <a:r>
              <a:rPr lang="zh-CN" altLang="en-US"/>
              <a:t>）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（</a:t>
            </a:r>
            <a:r>
              <a:rPr lang="en-US" altLang="zh-CN"/>
              <a:t>2010 </a:t>
            </a:r>
            <a:r>
              <a:rPr lang="zh-CN" altLang="en-US"/>
              <a:t>年，谁获得了以一位技术先驱命名的著名奖项，以表彰其对模糊逻辑的重大贡献，</a:t>
            </a:r>
            <a:r>
              <a:rPr lang="zh-CN" altLang="en-US" b="1"/>
              <a:t>尤其是在智能数字技术和工业流程领域，利用以复杂推理而非传统二进制逻辑为特征的系统</a:t>
            </a:r>
            <a:r>
              <a:rPr lang="zh-CN" altLang="en-US"/>
              <a:t>，并且与</a:t>
            </a:r>
            <a:r>
              <a:rPr lang="en-US" altLang="zh-CN"/>
              <a:t> Mamdani </a:t>
            </a:r>
            <a:r>
              <a:rPr lang="zh-CN" altLang="en-US"/>
              <a:t>方法不同？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轨迹</a:t>
            </a:r>
            <a:r>
              <a:rPr lang="zh-CN" altLang="en-US"/>
              <a:t>采样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 </a:t>
            </a:r>
            <a:r>
              <a:rPr lang="zh-CN" altLang="en-US"/>
              <a:t>遵循</a:t>
            </a:r>
            <a:r>
              <a:rPr lang="en-US" altLang="zh-CN"/>
              <a:t>ReAct</a:t>
            </a:r>
            <a:r>
              <a:rPr lang="zh-CN" altLang="en-US"/>
              <a:t>范式，给定对应的提示词</a:t>
            </a:r>
            <a:r>
              <a:rPr lang="en-US" altLang="zh-CN"/>
              <a:t>+</a:t>
            </a:r>
            <a:r>
              <a:rPr lang="zh-CN" altLang="en-US"/>
              <a:t>问题，使用</a:t>
            </a:r>
            <a:r>
              <a:rPr lang="en-US" altLang="zh-CN">
                <a:sym typeface="+mn-ea"/>
              </a:rPr>
              <a:t>QwQ / GPT-4o</a:t>
            </a:r>
            <a:r>
              <a:rPr lang="zh-CN" altLang="en-US">
                <a:sym typeface="+mn-ea"/>
              </a:rPr>
              <a:t>生成轨迹数据。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有三个动作，查询指定年份的网站（返回前十个网页的</a:t>
            </a:r>
            <a:r>
              <a:rPr lang="zh-CN" altLang="en-US">
                <a:sym typeface="+mn-ea"/>
              </a:rPr>
              <a:t>摘要），访问某一个链接，生成最终答案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Agent Supervised Fine Tuning</a:t>
            </a:r>
            <a:r>
              <a:rPr lang="zh-CN" altLang="en-US"/>
              <a:t>阶段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在早期实验中，我们也评估了</a:t>
            </a:r>
            <a:r>
              <a:rPr lang="en-US" altLang="zh-CN"/>
              <a:t> GRPO </a:t>
            </a:r>
            <a:r>
              <a:rPr lang="zh-CN" altLang="en-US"/>
              <a:t>在</a:t>
            </a:r>
            <a:r>
              <a:rPr lang="en-US" altLang="zh-CN"/>
              <a:t> Qwen-32B </a:t>
            </a:r>
            <a:r>
              <a:rPr lang="zh-CN" altLang="en-US"/>
              <a:t>主干网络上的性能，发现其在</a:t>
            </a:r>
            <a:r>
              <a:rPr lang="en-US" altLang="zh-CN"/>
              <a:t> GAIA </a:t>
            </a:r>
            <a:r>
              <a:rPr lang="zh-CN" altLang="en-US"/>
              <a:t>数据集上得分约为</a:t>
            </a:r>
            <a:r>
              <a:rPr lang="en-US" altLang="zh-CN"/>
              <a:t> 35 </a:t>
            </a:r>
            <a:r>
              <a:rPr lang="zh-CN" altLang="en-US"/>
              <a:t>分，低于相同条件下的</a:t>
            </a:r>
            <a:r>
              <a:rPr lang="en-US" altLang="zh-CN"/>
              <a:t> DAPO</a:t>
            </a:r>
            <a:r>
              <a:rPr lang="zh-CN" altLang="en-US"/>
              <a:t>。性能差距可能源于</a:t>
            </a:r>
            <a:r>
              <a:rPr lang="en-US" altLang="zh-CN"/>
              <a:t> DAPO </a:t>
            </a:r>
            <a:r>
              <a:rPr lang="zh-CN" altLang="en-US"/>
              <a:t>对智能体轨迹进行了更有效的动态采样，这更符合我们的任务设定。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--</a:t>
            </a:r>
            <a:r>
              <a:rPr lang="zh-CN" altLang="en-US"/>
              <a:t>左边的图：</a:t>
            </a:r>
            <a:r>
              <a:rPr lang="zh-CN" altLang="en-US">
                <a:sym typeface="+mn-ea"/>
              </a:rPr>
              <a:t>红框数据，</a:t>
            </a:r>
            <a:r>
              <a:rPr lang="en-US" altLang="zh-CN">
                <a:sym typeface="+mn-ea"/>
              </a:rPr>
              <a:t>7B</a:t>
            </a:r>
            <a:r>
              <a:rPr lang="zh-CN" altLang="en-US">
                <a:sym typeface="+mn-ea"/>
              </a:rPr>
              <a:t>模型全没了，但是作者没有分析原因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--</a:t>
            </a:r>
            <a:r>
              <a:rPr lang="zh-CN" altLang="en-US"/>
              <a:t>右边的图</a:t>
            </a:r>
            <a:r>
              <a:rPr lang="en-US" altLang="zh-CN"/>
              <a:t>,</a:t>
            </a:r>
            <a:r>
              <a:rPr lang="zh-CN" altLang="en-US"/>
              <a:t>作者在其他数据集上另外做的一些</a:t>
            </a:r>
            <a:r>
              <a:rPr lang="zh-CN" altLang="en-US"/>
              <a:t>测试：在</a:t>
            </a:r>
            <a:r>
              <a:rPr lang="en-US" altLang="zh-CN"/>
              <a:t>BrowseComp</a:t>
            </a:r>
            <a:r>
              <a:rPr lang="zh-CN" altLang="en-US"/>
              <a:t>数据集上的测试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左图对比基线：</a:t>
            </a:r>
            <a:r>
              <a:rPr lang="en-US" altLang="zh-CN"/>
              <a:t>LLM + RAG </a:t>
            </a:r>
            <a:r>
              <a:rPr lang="zh-CN" altLang="en-US"/>
              <a:t>，闭源</a:t>
            </a:r>
            <a:r>
              <a:rPr lang="en-US" altLang="zh-CN"/>
              <a:t>ds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GAIA</a:t>
            </a:r>
            <a:r>
              <a:rPr lang="zh-CN" altLang="en-US"/>
              <a:t>数据集：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Level 1</a:t>
            </a:r>
            <a:r>
              <a:rPr lang="zh-CN" altLang="en-US"/>
              <a:t>。问题生成无需工具，或者至多一个工具，不超过</a:t>
            </a:r>
            <a:r>
              <a:rPr lang="en-US" altLang="zh-CN"/>
              <a:t>5</a:t>
            </a:r>
            <a:r>
              <a:rPr lang="zh-CN" altLang="en-US"/>
              <a:t>步。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Level 2</a:t>
            </a:r>
            <a:r>
              <a:rPr lang="zh-CN" altLang="en-US"/>
              <a:t>。问题包含更多步骤（</a:t>
            </a:r>
            <a:r>
              <a:rPr lang="en-US" altLang="zh-CN"/>
              <a:t>5-10</a:t>
            </a:r>
            <a:r>
              <a:rPr lang="zh-CN" altLang="en-US"/>
              <a:t>），需要借助不同的工具。</a:t>
            </a:r>
            <a:r>
              <a:rPr lang="en-US" altLang="zh-CN"/>
              <a:t>Results on BrowseComp (En.) and BrowseComp-zh (Zh.).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Level 3</a:t>
            </a:r>
            <a:r>
              <a:rPr lang="zh-CN" altLang="en-US"/>
              <a:t>。需要接近完美的助手才能解决，采取可能任意长度的步骤，使用任意数量的工具，并且接入真实世界。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--WebDancer </a:t>
            </a:r>
            <a:r>
              <a:rPr lang="zh-CN" altLang="en-US"/>
              <a:t>的主要性能指标是</a:t>
            </a:r>
            <a:r>
              <a:rPr lang="en-US" altLang="zh-CN"/>
              <a:t> Pass@1 accuracy under LLM-as-Judge evaluation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结论：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上图：</a:t>
            </a:r>
            <a:r>
              <a:rPr lang="zh-CN" altLang="en-US">
                <a:sym typeface="+mn-ea"/>
              </a:rPr>
              <a:t>强化学习后的</a:t>
            </a:r>
            <a:r>
              <a:rPr lang="en-US" altLang="zh-CN">
                <a:sym typeface="+mn-ea"/>
              </a:rPr>
              <a:t> Pass@1 </a:t>
            </a:r>
            <a:r>
              <a:rPr lang="zh-CN" altLang="en-US">
                <a:sym typeface="+mn-ea"/>
              </a:rPr>
              <a:t>性能与</a:t>
            </a:r>
            <a:r>
              <a:rPr lang="en-US" altLang="zh-CN">
                <a:sym typeface="+mn-ea"/>
              </a:rPr>
              <a:t> SFT </a:t>
            </a:r>
            <a:r>
              <a:rPr lang="zh-CN" altLang="en-US">
                <a:sym typeface="+mn-ea"/>
              </a:rPr>
              <a:t>基线的</a:t>
            </a:r>
            <a:r>
              <a:rPr lang="en-US" altLang="zh-CN">
                <a:sym typeface="+mn-ea"/>
              </a:rPr>
              <a:t> Pass@3 </a:t>
            </a:r>
            <a:r>
              <a:rPr lang="zh-CN" altLang="en-US">
                <a:sym typeface="+mn-ea"/>
              </a:rPr>
              <a:t>性能相当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RL </a:t>
            </a:r>
            <a:r>
              <a:rPr lang="zh-CN" altLang="en-US">
                <a:sym typeface="+mn-ea"/>
              </a:rPr>
              <a:t>学会</a:t>
            </a:r>
            <a:r>
              <a:rPr lang="en-US" altLang="zh-CN">
                <a:sym typeface="+mn-ea"/>
              </a:rPr>
              <a:t>“</a:t>
            </a:r>
            <a:r>
              <a:rPr lang="zh-CN" altLang="en-US" b="1">
                <a:sym typeface="+mn-ea"/>
              </a:rPr>
              <a:t>更快采到正确解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而不是</a:t>
            </a:r>
            <a:r>
              <a:rPr lang="en-US" altLang="zh-CN">
                <a:sym typeface="+mn-ea"/>
              </a:rPr>
              <a:t>“</a:t>
            </a:r>
            <a:r>
              <a:rPr lang="zh-CN" altLang="en-US" b="1">
                <a:sym typeface="+mn-ea"/>
              </a:rPr>
              <a:t>只会一个解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）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下图：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不是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多数据就好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（全部混合</a:t>
            </a:r>
            <a:r>
              <a:rPr lang="en-US" altLang="zh-CN">
                <a:sym typeface="+mn-ea"/>
              </a:rPr>
              <a:t> 17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764</a:t>
            </a:r>
            <a:r>
              <a:rPr lang="zh-CN" altLang="en-US">
                <a:sym typeface="+mn-ea"/>
              </a:rPr>
              <a:t>效果不如筛选后</a:t>
            </a:r>
            <a:r>
              <a:rPr lang="zh-CN" altLang="en-US">
                <a:sym typeface="+mn-ea"/>
              </a:rPr>
              <a:t>的），而是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高质量</a:t>
            </a:r>
            <a:r>
              <a:rPr lang="en-US" altLang="zh-CN">
                <a:sym typeface="+mn-ea"/>
              </a:rPr>
              <a:t> agent trajectory”</a:t>
            </a:r>
            <a:r>
              <a:rPr lang="zh-CN" altLang="en-US">
                <a:sym typeface="+mn-ea"/>
              </a:rPr>
              <a:t>最关键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pass@3: </a:t>
            </a:r>
            <a:r>
              <a:rPr lang="zh-CN" altLang="en-US"/>
              <a:t>试三次，有一次过就算该次</a:t>
            </a:r>
            <a:r>
              <a:rPr lang="zh-CN" altLang="en-US"/>
              <a:t>得分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cons@3: </a:t>
            </a:r>
            <a:r>
              <a:rPr lang="zh-CN" altLang="en-US"/>
              <a:t>试</a:t>
            </a:r>
            <a:r>
              <a:rPr lang="en-US" altLang="zh-CN"/>
              <a:t>3</a:t>
            </a:r>
            <a:r>
              <a:rPr lang="zh-CN" altLang="en-US"/>
              <a:t>次，一个</a:t>
            </a:r>
            <a:r>
              <a:rPr lang="en-US" altLang="zh-CN"/>
              <a:t>pass</a:t>
            </a:r>
            <a:r>
              <a:rPr lang="zh-CN" altLang="en-US"/>
              <a:t>就算</a:t>
            </a:r>
            <a:r>
              <a:rPr lang="en-US" altLang="zh-CN"/>
              <a:t>1/3</a:t>
            </a:r>
            <a:r>
              <a:rPr lang="zh-CN" altLang="en-US"/>
              <a:t>，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pass</a:t>
            </a:r>
            <a:r>
              <a:rPr lang="zh-CN" altLang="en-US">
                <a:sym typeface="+mn-ea"/>
              </a:rPr>
              <a:t>就算</a:t>
            </a:r>
            <a:r>
              <a:rPr lang="en-US" altLang="zh-CN">
                <a:sym typeface="+mn-ea"/>
              </a:rPr>
              <a:t>2/3</a:t>
            </a:r>
            <a:r>
              <a:rPr lang="zh-CN" altLang="en-US">
                <a:sym typeface="+mn-ea"/>
              </a:rPr>
              <a:t>，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a:  Pass@3 / Cons@3 </a:t>
            </a:r>
            <a:r>
              <a:rPr lang="zh-CN" altLang="en-US"/>
              <a:t>随</a:t>
            </a:r>
            <a:r>
              <a:rPr lang="en-US" altLang="zh-CN"/>
              <a:t> RL step </a:t>
            </a:r>
            <a:r>
              <a:rPr lang="zh-CN" altLang="en-US"/>
              <a:t>稳定上升</a:t>
            </a:r>
            <a:r>
              <a:rPr lang="en-US" altLang="zh-CN"/>
              <a:t>, </a:t>
            </a:r>
            <a:r>
              <a:rPr lang="zh-CN" altLang="en-US"/>
              <a:t>证明不是偶然采样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b: Action </a:t>
            </a:r>
            <a:r>
              <a:rPr lang="zh-CN" altLang="en-US"/>
              <a:t>次数</a:t>
            </a:r>
            <a:r>
              <a:rPr lang="en-US" altLang="zh-CN"/>
              <a:t> </a:t>
            </a:r>
            <a:r>
              <a:rPr lang="en-US" altLang="en-US"/>
              <a:t>↑</a:t>
            </a:r>
            <a:r>
              <a:rPr lang="en-US" altLang="zh-CN"/>
              <a:t>&lt;think&gt; </a:t>
            </a:r>
            <a:r>
              <a:rPr lang="zh-CN" altLang="en-US"/>
              <a:t>长度</a:t>
            </a:r>
            <a:r>
              <a:rPr lang="en-US" altLang="zh-CN"/>
              <a:t> </a:t>
            </a:r>
            <a:r>
              <a:rPr lang="en-US" altLang="en-US"/>
              <a:t>↑ </a:t>
            </a:r>
            <a:r>
              <a:rPr lang="zh-CN" altLang="en-US">
                <a:sym typeface="+mn-ea"/>
              </a:rPr>
              <a:t>说明</a:t>
            </a:r>
            <a:r>
              <a:rPr lang="en-US" altLang="zh-CN">
                <a:sym typeface="+mn-ea"/>
              </a:rPr>
              <a:t> RL </a:t>
            </a:r>
            <a:r>
              <a:rPr lang="zh-CN" altLang="en-US">
                <a:sym typeface="+mn-ea"/>
              </a:rPr>
              <a:t>鼓励</a:t>
            </a:r>
            <a:r>
              <a:rPr lang="en-US" altLang="zh-CN">
                <a:sym typeface="+mn-ea"/>
              </a:rPr>
              <a:t>  </a:t>
            </a:r>
            <a:r>
              <a:rPr lang="zh-CN" altLang="en-US"/>
              <a:t>更长程规划</a:t>
            </a:r>
            <a:r>
              <a:rPr lang="en-US" altLang="zh-CN"/>
              <a:t>  </a:t>
            </a:r>
            <a:r>
              <a:rPr lang="zh-CN" altLang="en-US">
                <a:sym typeface="+mn-ea"/>
              </a:rPr>
              <a:t>更复杂搜索路径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而不是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拍脑袋给答案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c:  </a:t>
            </a:r>
            <a:r>
              <a:rPr lang="zh-CN" altLang="en-US"/>
              <a:t>调高</a:t>
            </a:r>
            <a:r>
              <a:rPr lang="en-US" altLang="zh-CN"/>
              <a:t> sampling temperature ≠ </a:t>
            </a:r>
            <a:r>
              <a:rPr lang="zh-CN" altLang="en-US"/>
              <a:t>性能提升</a:t>
            </a:r>
            <a:r>
              <a:rPr lang="en-US" altLang="zh-CN"/>
              <a:t>, </a:t>
            </a:r>
            <a:r>
              <a:rPr lang="zh-CN" altLang="en-US"/>
              <a:t>性能不是靠随机性，而是靠</a:t>
            </a:r>
            <a:r>
              <a:rPr lang="en-US" altLang="zh-CN"/>
              <a:t> learned policy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在</a:t>
            </a:r>
            <a:r>
              <a:rPr lang="en-US" altLang="zh-CN"/>
              <a:t>RAG</a:t>
            </a:r>
            <a:r>
              <a:rPr lang="zh-CN" altLang="en-US"/>
              <a:t>场景中，</a:t>
            </a:r>
            <a:r>
              <a:rPr lang="zh-CN" altLang="en-US"/>
              <a:t>如果大型语言模型（</a:t>
            </a:r>
            <a:r>
              <a:rPr lang="en-US" altLang="zh-CN"/>
              <a:t>LLM</a:t>
            </a:r>
            <a:r>
              <a:rPr lang="zh-CN" altLang="en-US"/>
              <a:t>）在评估外部检索到的非参数知识的正确性时，如果这些知识与内部记忆存在差异，则难以准确判断其正确性，从而导致响应生成过程中出现知识冲突。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---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PRE EVAL: </a:t>
            </a:r>
            <a:r>
              <a:rPr lang="zh-CN" altLang="en-US"/>
              <a:t>对检索到的文档与问题的相关度进行评测，例如使用</a:t>
            </a:r>
            <a:r>
              <a:rPr lang="en-US" altLang="zh-CN"/>
              <a:t>Bert</a:t>
            </a:r>
            <a:r>
              <a:rPr lang="zh-CN" altLang="en-US"/>
              <a:t>输出</a:t>
            </a:r>
            <a:r>
              <a:rPr lang="zh-CN" altLang="en-US"/>
              <a:t>标签。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POST EVAL: </a:t>
            </a:r>
            <a:r>
              <a:rPr lang="zh-CN" altLang="en-US">
                <a:sym typeface="+mn-ea"/>
              </a:rPr>
              <a:t>对问答生成的结果进行评判，事实</a:t>
            </a:r>
            <a:r>
              <a:rPr lang="zh-CN" altLang="en-US">
                <a:sym typeface="+mn-ea"/>
              </a:rPr>
              <a:t>验证。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作者：通过强化学习，让模型</a:t>
            </a:r>
            <a:r>
              <a:rPr lang="zh-CN" altLang="en-US">
                <a:sym typeface="+mn-ea"/>
              </a:rPr>
              <a:t>内部学习判别和利用文档的</a:t>
            </a:r>
            <a:r>
              <a:rPr lang="zh-CN" altLang="en-US">
                <a:sym typeface="+mn-ea"/>
              </a:rPr>
              <a:t>相关性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---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ym typeface="+mn-ea"/>
              </a:rPr>
              <a:t>问题：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这些方法的最终性能都是依赖这些评估模型（作者这里认为是开销，因为接入了其他模型，但是本身让一个能力更弱的模型去筛选</a:t>
            </a:r>
            <a:r>
              <a:rPr lang="zh-CN" altLang="en-US">
                <a:sym typeface="+mn-ea"/>
              </a:rPr>
              <a:t>文档就比较的</a:t>
            </a:r>
            <a:r>
              <a:rPr lang="zh-CN" altLang="en-US">
                <a:sym typeface="+mn-ea"/>
              </a:rPr>
              <a:t>有问题）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DPO = </a:t>
            </a:r>
            <a:r>
              <a:rPr lang="zh-CN" altLang="en-US"/>
              <a:t>用</a:t>
            </a:r>
            <a:r>
              <a:rPr lang="en-US" altLang="zh-CN"/>
              <a:t>“</a:t>
            </a:r>
            <a:r>
              <a:rPr lang="zh-CN" altLang="en-US"/>
              <a:t>最优策略的隐式形式</a:t>
            </a:r>
            <a:r>
              <a:rPr lang="en-US" altLang="zh-CN"/>
              <a:t>”</a:t>
            </a:r>
            <a:r>
              <a:rPr lang="zh-CN" altLang="en-US"/>
              <a:t>直接做</a:t>
            </a:r>
            <a:r>
              <a:rPr lang="en-US" altLang="zh-CN"/>
              <a:t> policy-level </a:t>
            </a:r>
            <a:r>
              <a:rPr lang="zh-CN" altLang="en-US"/>
              <a:t>的</a:t>
            </a:r>
            <a:r>
              <a:rPr lang="en-US" altLang="zh-CN"/>
              <a:t> preference matching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---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DPO </a:t>
            </a:r>
            <a:r>
              <a:rPr lang="zh-CN" altLang="en-US"/>
              <a:t>之所以可行，是因为</a:t>
            </a:r>
            <a:r>
              <a:rPr lang="en-US" altLang="zh-CN"/>
              <a:t> </a:t>
            </a:r>
            <a:r>
              <a:rPr lang="zh-CN" altLang="en-US"/>
              <a:t>只优化</a:t>
            </a:r>
            <a:r>
              <a:rPr lang="en-US" altLang="zh-CN"/>
              <a:t> pairwise difference</a:t>
            </a:r>
            <a:r>
              <a:rPr lang="zh-CN" altLang="en-US"/>
              <a:t>，这一步</a:t>
            </a:r>
            <a:r>
              <a:rPr lang="en-US" altLang="zh-CN"/>
              <a:t> </a:t>
            </a:r>
            <a:r>
              <a:rPr lang="zh-CN" altLang="en-US"/>
              <a:t>隐含了</a:t>
            </a:r>
            <a:r>
              <a:rPr lang="en-US" altLang="zh-CN"/>
              <a:t> reward </a:t>
            </a:r>
            <a:r>
              <a:rPr lang="zh-CN" altLang="en-US"/>
              <a:t>的</a:t>
            </a:r>
            <a:r>
              <a:rPr lang="en-US" altLang="zh-CN"/>
              <a:t> shift-invariance </a:t>
            </a:r>
            <a:r>
              <a:rPr lang="zh-CN" altLang="en-US"/>
              <a:t>假设，</a:t>
            </a:r>
            <a:r>
              <a:rPr lang="en-US" altLang="zh-CN"/>
              <a:t>RPO </a:t>
            </a:r>
            <a:r>
              <a:rPr lang="zh-CN" altLang="en-US"/>
              <a:t>将打破这一假设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DPO</a:t>
            </a:r>
            <a:r>
              <a:rPr lang="zh-CN" altLang="en-US"/>
              <a:t>只对齐单一目标：</a:t>
            </a:r>
            <a:r>
              <a:rPr lang="en-US" altLang="zh-CN">
                <a:sym typeface="+mn-ea"/>
              </a:rPr>
              <a:t>Align the model with a single reference distribution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RPO/</a:t>
            </a:r>
            <a:r>
              <a:rPr lang="zh-CN" altLang="en-US"/>
              <a:t>知识冲突需要对齐两个目标：信任上下文就要根据上下问进行回答，上下文无效，就要当成没有上下文直接回答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下一页：</a:t>
            </a:r>
            <a:r>
              <a:rPr lang="en-US" altLang="zh-CN"/>
              <a:t> </a:t>
            </a:r>
            <a:r>
              <a:rPr lang="zh-CN" altLang="en-US"/>
              <a:t>我对齐两个目标就得了，也不行因为有一个归一化常数不可</a:t>
            </a:r>
            <a:r>
              <a:rPr lang="zh-CN" altLang="en-US"/>
              <a:t>抵消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Z(x) </a:t>
            </a:r>
            <a:r>
              <a:rPr lang="zh-CN" altLang="en-US"/>
              <a:t>不可消的根本原因是：</a:t>
            </a:r>
            <a:r>
              <a:rPr lang="en-US" altLang="zh-CN"/>
              <a:t>parametric </a:t>
            </a:r>
            <a:r>
              <a:rPr lang="zh-CN" altLang="en-US"/>
              <a:t>与</a:t>
            </a:r>
            <a:r>
              <a:rPr lang="en-US" altLang="zh-CN"/>
              <a:t> non-parametric reward</a:t>
            </a:r>
            <a:r>
              <a:rPr lang="zh-CN" altLang="en-US"/>
              <a:t>分别对应不同条件分布下的归一化常数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那么伪造参数化答案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初始条件分布差距大＋</a:t>
            </a:r>
            <a:r>
              <a:rPr lang="en-US" altLang="zh-CN"/>
              <a:t> KL </a:t>
            </a:r>
            <a:r>
              <a:rPr lang="zh-CN" altLang="en-US"/>
              <a:t>限制更新幅度</a:t>
            </a:r>
            <a:r>
              <a:rPr lang="en-US" altLang="zh-CN"/>
              <a:t> </a:t>
            </a:r>
            <a:r>
              <a:rPr lang="en-US" altLang="en-US"/>
              <a:t>⇒</a:t>
            </a:r>
            <a:r>
              <a:rPr lang="en-US" altLang="zh-CN"/>
              <a:t> </a:t>
            </a:r>
            <a:r>
              <a:rPr lang="zh-CN" altLang="en-US"/>
              <a:t>排序无法翻转</a:t>
            </a:r>
            <a:r>
              <a:rPr lang="en-US" altLang="zh-CN"/>
              <a:t> </a:t>
            </a:r>
            <a:r>
              <a:rPr lang="en-US" altLang="en-US"/>
              <a:t>⇒</a:t>
            </a:r>
            <a:r>
              <a:rPr lang="en-US" altLang="zh-CN"/>
              <a:t> </a:t>
            </a:r>
            <a:r>
              <a:rPr lang="zh-CN" altLang="en-US"/>
              <a:t>偏向</a:t>
            </a:r>
            <a:r>
              <a:rPr lang="en-US" altLang="zh-CN"/>
              <a:t> non-parametric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明确指出不再假设</a:t>
            </a:r>
            <a:r>
              <a:rPr lang="en-US" altLang="zh-CN"/>
              <a:t> R </a:t>
            </a:r>
            <a:r>
              <a:rPr lang="zh-CN" altLang="en-US"/>
              <a:t>是输入的一部分，建模</a:t>
            </a:r>
            <a:r>
              <a:rPr lang="en-US" altLang="zh-CN"/>
              <a:t> joint policy  π(y,R∣x) , 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Reward</a:t>
            </a:r>
            <a:r>
              <a:rPr lang="zh-CN" altLang="en-US"/>
              <a:t>条件</a:t>
            </a:r>
            <a:r>
              <a:rPr lang="zh-CN" altLang="en-US"/>
              <a:t>概率分解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然后做一点</a:t>
            </a:r>
            <a:r>
              <a:rPr lang="zh-CN" altLang="en-US"/>
              <a:t>修改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* indicate that the results are directly cited from the previous paper.</a:t>
            </a: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基线方法：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/>
              <a:t>PreEval / PostEval  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en-US" altLang="zh-CN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/>
              <a:t>小模型微调＞</a:t>
            </a:r>
            <a:r>
              <a:rPr lang="zh-CN" altLang="en-US"/>
              <a:t>大模型</a:t>
            </a:r>
            <a:endParaRPr lang="zh-CN" altLang="en-US"/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好对筛选对模型性能的影响</a:t>
            </a:r>
            <a:r>
              <a:rPr lang="en-US" altLang="zh-CN" b="1">
                <a:sym typeface="+mn-ea"/>
              </a:rPr>
              <a:t>:</a:t>
            </a:r>
            <a:r>
              <a:rPr lang="zh-CN" altLang="en-US" b="1">
                <a:sym typeface="+mn-ea"/>
              </a:rPr>
              <a:t>（不满足要么检索对</a:t>
            </a:r>
            <a:r>
              <a:rPr lang="en-US" altLang="zh-CN" b="1">
                <a:sym typeface="+mn-ea"/>
              </a:rPr>
              <a:t>/</a:t>
            </a:r>
            <a:r>
              <a:rPr lang="zh-CN" altLang="en-US" b="1">
                <a:sym typeface="+mn-ea"/>
              </a:rPr>
              <a:t>要么直接回答对）</a:t>
            </a:r>
            <a:r>
              <a:rPr lang="en-US" altLang="zh-CN" b="1">
                <a:sym typeface="+mn-ea"/>
              </a:rPr>
              <a:t> </a:t>
            </a:r>
            <a:r>
              <a:rPr lang="zh-CN" altLang="en-US" b="1">
                <a:sym typeface="+mn-ea"/>
              </a:rPr>
              <a:t>如果直接微调，那么性能</a:t>
            </a:r>
            <a:r>
              <a:rPr lang="zh-CN" altLang="en-US" b="1">
                <a:sym typeface="+mn-ea"/>
              </a:rPr>
              <a:t>下降。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 b="1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AD563-42A9-4912-819E-A53333D472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869D6-B2B5-498E-BFD1-21B78FEA021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tags" Target="../tags/tag8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89.xml"/><Relationship Id="rId10" Type="http://schemas.openxmlformats.org/officeDocument/2006/relationships/notesSlide" Target="../notesSlides/notesSlide14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1.xml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6.png"/><Relationship Id="rId13" Type="http://schemas.openxmlformats.org/officeDocument/2006/relationships/image" Target="../media/image35.png"/><Relationship Id="rId12" Type="http://schemas.openxmlformats.org/officeDocument/2006/relationships/image" Target="../media/image34.png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tags" Target="../tags/tag9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3.xml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tags" Target="../tags/tag9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36.png"/><Relationship Id="rId5" Type="http://schemas.openxmlformats.org/officeDocument/2006/relationships/tags" Target="../tags/tag96.xml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5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7.png"/><Relationship Id="rId1" Type="http://schemas.openxmlformats.org/officeDocument/2006/relationships/tags" Target="../tags/tag94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51.png"/><Relationship Id="rId7" Type="http://schemas.openxmlformats.org/officeDocument/2006/relationships/image" Target="../media/image50.png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98.xml"/><Relationship Id="rId15" Type="http://schemas.openxmlformats.org/officeDocument/2006/relationships/notesSlide" Target="../notesSlides/notesSlide18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55.png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tags" Target="../tags/tag9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6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415" y="1729105"/>
            <a:ext cx="12046585" cy="4309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 b="1"/>
              <a:t>WebDancer: Towards Autonomous Information Seeking Agency</a:t>
            </a:r>
            <a:endParaRPr lang="en-US" altLang="zh-CN" sz="2800" b="1"/>
          </a:p>
          <a:p>
            <a:r>
              <a:rPr lang="zh-CN" altLang="en-US"/>
              <a:t>【通义千问</a:t>
            </a:r>
            <a:r>
              <a:rPr lang="en-US" altLang="zh-CN"/>
              <a:t>DeepReasearch</a:t>
            </a:r>
            <a:r>
              <a:rPr lang="zh-CN" altLang="en-US"/>
              <a:t>系列论文</a:t>
            </a:r>
            <a:r>
              <a:rPr lang="en-US" altLang="zh-CN"/>
              <a:t>/NIPS 2025 Poster</a:t>
            </a:r>
            <a:r>
              <a:rPr lang="zh-CN" altLang="en-US"/>
              <a:t>】</a:t>
            </a:r>
            <a:endParaRPr lang="zh-CN" altLang="en-US" sz="1600"/>
          </a:p>
          <a:p>
            <a:r>
              <a:rPr lang="en-US" altLang="zh-CN"/>
              <a:t> 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  <a:p>
            <a:r>
              <a:rPr lang="en-US" altLang="zh-CN" sz="2800" b="1"/>
              <a:t>RPO: Retrieval Preference Optimization for Robust Retrieval-Augmented Generation</a:t>
            </a:r>
            <a:endParaRPr lang="en-US" altLang="zh-CN" sz="2800" b="1"/>
          </a:p>
          <a:p>
            <a:r>
              <a:rPr lang="zh-CN" altLang="en-US">
                <a:sym typeface="+mn-ea"/>
              </a:rPr>
              <a:t>【</a:t>
            </a:r>
            <a:r>
              <a:rPr lang="en-US" altLang="zh-CN">
                <a:sym typeface="+mn-ea"/>
              </a:rPr>
              <a:t>RAG</a:t>
            </a:r>
            <a:r>
              <a:rPr lang="zh-CN" altLang="en-US">
                <a:sym typeface="+mn-ea"/>
              </a:rPr>
              <a:t>场景下提升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对检索内容鲁棒性的强化学习方法</a:t>
            </a:r>
            <a:r>
              <a:rPr lang="en-US" altLang="zh-CN">
                <a:sym typeface="+mn-ea"/>
              </a:rPr>
              <a:t>/2025.acl-long.261</a:t>
            </a:r>
            <a:r>
              <a:rPr lang="zh-CN" altLang="en-US">
                <a:sym typeface="+mn-ea"/>
              </a:rPr>
              <a:t>】</a:t>
            </a:r>
            <a:endParaRPr lang="zh-CN" altLang="en-US">
              <a:sym typeface="+mn-ea"/>
            </a:endParaRPr>
          </a:p>
          <a:p>
            <a:endParaRPr lang="en-US" altLang="zh-CN" b="1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160" y="643890"/>
            <a:ext cx="10321290" cy="6214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265" y="3581400"/>
            <a:ext cx="9827895" cy="3276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研究</a:t>
            </a:r>
            <a:r>
              <a:rPr kumimoji="1" lang="zh-CN" altLang="en-US" sz="2500" dirty="0"/>
              <a:t>动机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7935" y="4576445"/>
            <a:ext cx="3324225" cy="1784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805" y="1297940"/>
            <a:ext cx="3348355" cy="280035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0" y="683260"/>
            <a:ext cx="8877935" cy="6019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目前已有</a:t>
            </a:r>
            <a:r>
              <a:rPr lang="zh-CN" altLang="en-US"/>
              <a:t>的先进的</a:t>
            </a:r>
            <a:r>
              <a:rPr lang="en-US" altLang="zh-CN" b="1"/>
              <a:t>W</a:t>
            </a:r>
            <a:r>
              <a:rPr lang="en-US" altLang="zh-CN" b="1"/>
              <a:t>eb Agent</a:t>
            </a:r>
            <a:r>
              <a:rPr lang="en-US" altLang="zh-CN"/>
              <a:t>(ChatGPT Deep Research/Grok DeepSearch)</a:t>
            </a:r>
            <a:r>
              <a:rPr lang="zh-CN" altLang="en-US"/>
              <a:t>已经展现出了强大的信息检索能力</a:t>
            </a:r>
            <a:r>
              <a:rPr lang="en-US" altLang="zh-CN"/>
              <a:t>,</a:t>
            </a:r>
            <a:r>
              <a:rPr lang="zh-CN" altLang="en-US"/>
              <a:t>但他们都是闭源的。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在此之前</a:t>
            </a:r>
            <a:r>
              <a:rPr lang="zh-CN" altLang="en-US"/>
              <a:t>的已有</a:t>
            </a:r>
            <a:r>
              <a:rPr lang="en-US" altLang="zh-CN"/>
              <a:t>web agent</a:t>
            </a:r>
            <a:r>
              <a:rPr lang="zh-CN" altLang="en-US"/>
              <a:t>方法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）使用</a:t>
            </a:r>
            <a:r>
              <a:rPr lang="zh-CN" altLang="en-US" b="1"/>
              <a:t>提示词工程</a:t>
            </a:r>
            <a:r>
              <a:rPr lang="zh-CN" altLang="en-US"/>
              <a:t>来引导拥有推理能力大模型执行任务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）通过</a:t>
            </a:r>
            <a:r>
              <a:rPr lang="zh-CN" altLang="en-US" b="1"/>
              <a:t>监督微调或强化学习</a:t>
            </a:r>
            <a:r>
              <a:rPr lang="zh-CN" altLang="en-US"/>
              <a:t>将搜索或浏览器功能集成到</a:t>
            </a:r>
            <a:r>
              <a:rPr lang="en-US" altLang="zh-CN"/>
              <a:t>Web</a:t>
            </a:r>
            <a:r>
              <a:rPr lang="zh-CN" altLang="en-US"/>
              <a:t>智能体中。这些工作</a:t>
            </a:r>
            <a:r>
              <a:rPr lang="zh-CN" altLang="en-US" b="1">
                <a:solidFill>
                  <a:srgbClr val="FF0000"/>
                </a:solidFill>
              </a:rPr>
              <a:t>在常规的多跳评估数据集上进行测试</a:t>
            </a:r>
            <a:r>
              <a:rPr lang="zh-CN" altLang="en-US"/>
              <a:t>，没有在真实的</a:t>
            </a:r>
            <a:r>
              <a:rPr lang="en-US" altLang="zh-CN"/>
              <a:t>web</a:t>
            </a:r>
            <a:r>
              <a:rPr lang="zh-CN" altLang="en-US"/>
              <a:t>场景下去执行对应的任务。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动机：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构建一个完整的端到端的</a:t>
            </a:r>
            <a:r>
              <a:rPr lang="en-US" altLang="zh-CN"/>
              <a:t>web Deep-Research agent</a:t>
            </a:r>
            <a:r>
              <a:rPr lang="zh-CN" altLang="en-US"/>
              <a:t>的构建方式</a:t>
            </a:r>
            <a:endParaRPr lang="zh-CN" altLang="en-US"/>
          </a:p>
          <a:p>
            <a:r>
              <a:rPr lang="zh-CN" altLang="en-US"/>
              <a:t>包含</a:t>
            </a:r>
            <a:r>
              <a:rPr lang="en-US" altLang="zh-CN"/>
              <a:t>web</a:t>
            </a:r>
            <a:r>
              <a:rPr lang="zh-CN" altLang="en-US"/>
              <a:t>浏览数据集构建、轨迹采样、模型微调、强化学习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贡献：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构建一个高质量，适用于</a:t>
            </a:r>
            <a:r>
              <a:rPr lang="en-US" altLang="zh-CN"/>
              <a:t>DeepResearch</a:t>
            </a:r>
            <a:r>
              <a:rPr lang="zh-CN" altLang="en-US"/>
              <a:t>的</a:t>
            </a:r>
            <a:r>
              <a:rPr lang="en-US" altLang="zh-CN"/>
              <a:t>QA</a:t>
            </a:r>
            <a:r>
              <a:rPr lang="zh-CN" altLang="en-US"/>
              <a:t>数据集（</a:t>
            </a:r>
            <a:r>
              <a:rPr lang="en-US" altLang="zh-CN"/>
              <a:t>CRAWLQA</a:t>
            </a:r>
            <a:r>
              <a:rPr lang="zh-CN" altLang="en-US"/>
              <a:t>，</a:t>
            </a:r>
            <a:r>
              <a:rPr lang="en-US" altLang="zh-CN"/>
              <a:t>E2HQA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在深度研究场景下设计</a:t>
            </a:r>
            <a:r>
              <a:rPr lang="en-US" altLang="zh-CN"/>
              <a:t> SFT </a:t>
            </a:r>
            <a:r>
              <a:rPr lang="zh-CN" altLang="en-US"/>
              <a:t>和</a:t>
            </a:r>
            <a:r>
              <a:rPr lang="en-US" altLang="zh-CN"/>
              <a:t> RL </a:t>
            </a:r>
            <a:r>
              <a:rPr lang="zh-CN" altLang="en-US"/>
              <a:t>的数据格式</a:t>
            </a:r>
            <a:r>
              <a:rPr lang="zh-CN" altLang="en-US" b="1"/>
              <a:t>（</a:t>
            </a:r>
            <a:r>
              <a:rPr lang="en-US" altLang="zh-CN" b="1"/>
              <a:t>ReAct</a:t>
            </a:r>
            <a:r>
              <a:rPr lang="zh-CN" altLang="en-US" b="1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提炼高质量</a:t>
            </a:r>
            <a:r>
              <a:rPr lang="zh-CN" altLang="en-US"/>
              <a:t>轨迹数据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核心目标就是：尝试</a:t>
            </a:r>
            <a:r>
              <a:rPr lang="zh-CN" altLang="en-US" b="1"/>
              <a:t>系统地复现</a:t>
            </a:r>
            <a:r>
              <a:rPr lang="en-US" altLang="zh-CN" b="1">
                <a:sym typeface="+mn-ea"/>
              </a:rPr>
              <a:t>Deep Research</a:t>
            </a:r>
            <a:r>
              <a:rPr lang="zh-CN" altLang="en-US"/>
              <a:t>并提供可操作的实现策略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相关背景</a:t>
            </a:r>
            <a:r>
              <a:rPr kumimoji="1" lang="en-US" altLang="zh-CN" sz="2500" dirty="0"/>
              <a:t>-</a:t>
            </a:r>
            <a:r>
              <a:rPr kumimoji="1" lang="en-US" sz="2500" dirty="0"/>
              <a:t>ReAct</a:t>
            </a:r>
            <a:r>
              <a:rPr kumimoji="1" lang="zh-CN" altLang="en-US" sz="2500" dirty="0"/>
              <a:t>（</a:t>
            </a:r>
            <a:r>
              <a:rPr kumimoji="1" lang="en-US" altLang="zh-CN" sz="2500" dirty="0"/>
              <a:t>ICLR 2023</a:t>
            </a:r>
            <a:r>
              <a:rPr kumimoji="1" lang="zh-CN" altLang="en-US" sz="2500" dirty="0"/>
              <a:t>）（</a:t>
            </a:r>
            <a:r>
              <a:rPr kumimoji="1" lang="en-US" altLang="zh-CN" sz="2500" b="1" dirty="0">
                <a:solidFill>
                  <a:schemeClr val="tx1"/>
                </a:solidFill>
              </a:rPr>
              <a:t>Re</a:t>
            </a:r>
            <a:r>
              <a:rPr kumimoji="1" lang="en-US" altLang="zh-CN" sz="2500" dirty="0"/>
              <a:t>asoning + </a:t>
            </a:r>
            <a:r>
              <a:rPr kumimoji="1" lang="en-US" altLang="zh-CN" sz="2500" b="1" dirty="0">
                <a:solidFill>
                  <a:schemeClr val="tx1"/>
                </a:solidFill>
              </a:rPr>
              <a:t>Act</a:t>
            </a:r>
            <a:r>
              <a:rPr kumimoji="1" lang="zh-CN" altLang="en-US" sz="2500" dirty="0"/>
              <a:t>）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" y="683260"/>
            <a:ext cx="7649845" cy="61741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64120" y="797560"/>
            <a:ext cx="4627880" cy="6059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 b="1"/>
              <a:t>除了</a:t>
            </a:r>
            <a:r>
              <a:rPr lang="en-US" altLang="zh-CN" sz="1400" b="1"/>
              <a:t>Apple</a:t>
            </a:r>
            <a:r>
              <a:rPr lang="zh-CN" altLang="en-US" sz="1400" b="1"/>
              <a:t>遥控器，还有什么其他设备可以控制相关软件？相关软件指的是，</a:t>
            </a:r>
            <a:r>
              <a:rPr lang="en-US" altLang="zh-CN" sz="1400" b="1"/>
              <a:t>Apple</a:t>
            </a:r>
            <a:r>
              <a:rPr lang="zh-CN" altLang="en-US" sz="1400" b="1"/>
              <a:t>遥控器最早可以控制的软件</a:t>
            </a:r>
            <a:r>
              <a:rPr lang="zh-CN" altLang="en-US" sz="1400"/>
              <a:t>。</a:t>
            </a:r>
            <a:endParaRPr lang="zh-CN" altLang="en-US" sz="1400"/>
          </a:p>
          <a:p>
            <a:r>
              <a:rPr lang="en-US" altLang="zh-CN" sz="1400"/>
              <a:t>------------------------------------------------------------</a:t>
            </a:r>
            <a:endParaRPr lang="zh-CN" altLang="en-US" sz="1400"/>
          </a:p>
          <a:p>
            <a:r>
              <a:rPr lang="zh-CN" altLang="en-US" sz="1400"/>
              <a:t>说明：</a:t>
            </a:r>
            <a:endParaRPr lang="en-US" altLang="zh-CN" sz="1400"/>
          </a:p>
          <a:p>
            <a:r>
              <a:rPr lang="en-US" altLang="zh-CN" sz="1400"/>
              <a:t>Apple</a:t>
            </a:r>
            <a:r>
              <a:rPr lang="zh-CN" altLang="en-US" sz="1400"/>
              <a:t>遥控器最早只能控制</a:t>
            </a:r>
            <a:r>
              <a:rPr lang="en-US" altLang="zh-CN" sz="1400"/>
              <a:t>Front Row</a:t>
            </a:r>
            <a:r>
              <a:rPr lang="zh-CN" altLang="en-US" sz="1400"/>
              <a:t>软件。</a:t>
            </a:r>
            <a:endParaRPr lang="zh-CN" altLang="en-US" sz="1400"/>
          </a:p>
          <a:p>
            <a:r>
              <a:rPr lang="en-US" altLang="zh-CN" sz="1400"/>
              <a:t>Front Row</a:t>
            </a:r>
            <a:r>
              <a:rPr lang="zh-CN" altLang="en-US" sz="1400"/>
              <a:t>软件可以被两种设备控制，</a:t>
            </a:r>
            <a:r>
              <a:rPr lang="en-US" altLang="zh-CN" sz="1400"/>
              <a:t>Apple</a:t>
            </a:r>
            <a:r>
              <a:rPr lang="zh-CN" altLang="en-US" sz="1400"/>
              <a:t>遥控器和键盘的功能键。</a:t>
            </a:r>
            <a:endParaRPr lang="zh-CN" altLang="en-US" sz="1400"/>
          </a:p>
          <a:p>
            <a:r>
              <a:rPr lang="zh-CN" altLang="en-US" sz="1400"/>
              <a:t>所以，正确答案是键盘的功能键。</a:t>
            </a:r>
            <a:endParaRPr lang="zh-CN" altLang="en-US" sz="1400"/>
          </a:p>
          <a:p>
            <a:r>
              <a:rPr lang="en-US" altLang="zh-CN" sz="1400"/>
              <a:t>------------------------------------------------------------</a:t>
            </a:r>
            <a:endParaRPr lang="en-US" altLang="zh-CN" sz="1400"/>
          </a:p>
          <a:p>
            <a:r>
              <a:rPr lang="zh-CN" altLang="en-US" sz="1400" b="1">
                <a:solidFill>
                  <a:srgbClr val="FF0000"/>
                </a:solidFill>
              </a:rPr>
              <a:t>直接问</a:t>
            </a:r>
            <a:r>
              <a:rPr lang="en-US" altLang="zh-CN" sz="1400" b="1">
                <a:solidFill>
                  <a:srgbClr val="FF0000"/>
                </a:solidFill>
              </a:rPr>
              <a:t>LLM</a:t>
            </a:r>
            <a:endParaRPr lang="zh-CN" altLang="en-US" sz="1400" b="1">
              <a:solidFill>
                <a:srgbClr val="FF0000"/>
              </a:solidFill>
            </a:endParaRPr>
          </a:p>
          <a:p>
            <a:r>
              <a:rPr lang="zh-CN" altLang="en-US" sz="1400"/>
              <a:t>对于长尾知识，</a:t>
            </a:r>
            <a:r>
              <a:rPr lang="en-US" altLang="zh-CN" sz="1400"/>
              <a:t>LLM</a:t>
            </a:r>
            <a:r>
              <a:rPr lang="zh-CN" altLang="en-US" sz="1400"/>
              <a:t>其实并不知道相关答案，只是</a:t>
            </a:r>
            <a:r>
              <a:rPr lang="en-US" altLang="zh-CN" sz="1400"/>
              <a:t>Apple</a:t>
            </a:r>
            <a:r>
              <a:rPr lang="zh-CN" altLang="en-US" sz="1400"/>
              <a:t>遥控器和</a:t>
            </a:r>
            <a:r>
              <a:rPr lang="en-US" altLang="zh-CN" sz="1400"/>
              <a:t>iPod</a:t>
            </a:r>
            <a:r>
              <a:rPr lang="zh-CN" altLang="en-US" sz="1400"/>
              <a:t>的语义很接近，所以才得出</a:t>
            </a:r>
            <a:r>
              <a:rPr lang="en-US" altLang="zh-CN" sz="1400"/>
              <a:t>iPod</a:t>
            </a:r>
            <a:r>
              <a:rPr lang="zh-CN" altLang="en-US" sz="1400"/>
              <a:t>这个结论。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 b="1">
                <a:solidFill>
                  <a:srgbClr val="FF0000"/>
                </a:solidFill>
              </a:rPr>
              <a:t>思维链</a:t>
            </a:r>
            <a:endParaRPr lang="zh-CN" altLang="en-US" sz="1400" b="1">
              <a:solidFill>
                <a:srgbClr val="FF0000"/>
              </a:solidFill>
            </a:endParaRPr>
          </a:p>
          <a:p>
            <a:r>
              <a:rPr lang="zh-CN" altLang="en-US" sz="1400"/>
              <a:t>模型不知道正确答案，</a:t>
            </a:r>
            <a:r>
              <a:rPr lang="zh-CN" altLang="en-US" sz="1400"/>
              <a:t>只能胡扯。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 b="1">
                <a:solidFill>
                  <a:srgbClr val="FF0000"/>
                </a:solidFill>
              </a:rPr>
              <a:t>仅进行动作</a:t>
            </a:r>
            <a:endParaRPr lang="zh-CN" altLang="en-US" sz="1400" b="1">
              <a:solidFill>
                <a:srgbClr val="FF0000"/>
              </a:solidFill>
            </a:endParaRPr>
          </a:p>
          <a:p>
            <a:r>
              <a:rPr lang="en-US" altLang="zh-CN" sz="1400"/>
              <a:t>LLM</a:t>
            </a:r>
            <a:r>
              <a:rPr lang="zh-CN" altLang="en-US" sz="1400"/>
              <a:t>进行隐式推理，也没有得到正确答案。隐式推理对</a:t>
            </a:r>
            <a:r>
              <a:rPr lang="en-US" altLang="zh-CN" sz="1400"/>
              <a:t>LLM</a:t>
            </a:r>
            <a:r>
              <a:rPr lang="zh-CN" altLang="en-US" sz="1400"/>
              <a:t>的推理能力要求很高，需要模型内部自己构建思考过程。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 b="1">
                <a:solidFill>
                  <a:schemeClr val="accent4"/>
                </a:solidFill>
              </a:rPr>
              <a:t>ReAct</a:t>
            </a:r>
            <a:endParaRPr lang="en-US" altLang="zh-CN" sz="1400" b="1">
              <a:solidFill>
                <a:schemeClr val="accent4"/>
              </a:solidFill>
            </a:endParaRPr>
          </a:p>
          <a:p>
            <a:r>
              <a:rPr lang="zh-CN" altLang="en-US" sz="1400"/>
              <a:t>把想法写出来，然后去综合所有想法和观察，接着再做出相应的动作。最终找到了答案。</a:t>
            </a:r>
            <a:endParaRPr lang="zh-CN" altLang="en-US" sz="1400"/>
          </a:p>
          <a:p>
            <a:endParaRPr lang="zh-CN" altLang="en-US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  <a:p>
            <a:endParaRPr lang="en-US" altLang="zh-CN" sz="1400"/>
          </a:p>
        </p:txBody>
      </p:sp>
      <p:sp>
        <p:nvSpPr>
          <p:cNvPr id="10" name="文本框 9"/>
          <p:cNvSpPr txBox="1"/>
          <p:nvPr/>
        </p:nvSpPr>
        <p:spPr>
          <a:xfrm>
            <a:off x="3048000" y="327533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>
                <a:solidFill>
                  <a:schemeClr val="accent4"/>
                </a:solidFill>
                <a:sym typeface="+mn-ea"/>
              </a:rPr>
              <a:t>:</a:t>
            </a:r>
            <a:endParaRPr lang="en-US" altLang="zh-CN" sz="1400" b="1">
              <a:solidFill>
                <a:schemeClr val="accent4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方法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12950" y="140335"/>
            <a:ext cx="9041765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QA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对构建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轨迹采样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微调</a:t>
            </a:r>
            <a:r>
              <a:rPr lang="en-US" altLang="zh-CN">
                <a:sym typeface="+mn-ea"/>
              </a:rPr>
              <a:t>-&gt;</a:t>
            </a:r>
            <a:r>
              <a:rPr lang="zh-CN" altLang="en-US">
                <a:sym typeface="+mn-ea"/>
              </a:rPr>
              <a:t>强化学习</a:t>
            </a:r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683260"/>
            <a:ext cx="8330565" cy="913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ym typeface="+mn-ea"/>
              </a:rPr>
              <a:t>QA</a:t>
            </a:r>
            <a:r>
              <a:rPr lang="zh-CN" altLang="en-US">
                <a:sym typeface="+mn-ea"/>
              </a:rPr>
              <a:t>对构建</a:t>
            </a:r>
            <a:r>
              <a:rPr lang="zh-CN" altLang="en-US">
                <a:sym typeface="+mn-ea"/>
              </a:rPr>
              <a:t>要求：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(i) </a:t>
            </a:r>
            <a:r>
              <a:rPr lang="zh-CN" altLang="en-US">
                <a:sym typeface="+mn-ea"/>
              </a:rPr>
              <a:t>问题类多样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(ii) </a:t>
            </a:r>
            <a:r>
              <a:rPr lang="zh-CN" altLang="en-US">
                <a:sym typeface="+mn-ea"/>
              </a:rPr>
              <a:t>任务复杂度的增加，解决问题所需的交互步骤数量越多，任务复杂度越高。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75" y="1596390"/>
            <a:ext cx="10174605" cy="518541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12140" y="2392680"/>
            <a:ext cx="1119505" cy="9144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2065020" y="2331720"/>
            <a:ext cx="2459990" cy="109728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158740" y="1870710"/>
            <a:ext cx="5173345" cy="160909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158240" y="1596390"/>
            <a:ext cx="46024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根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URL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爬取（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arXiv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GitHub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、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Wiki 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等）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508760" y="3429000"/>
            <a:ext cx="40690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chemeClr val="accent1"/>
                </a:solidFill>
                <a:sym typeface="+mn-ea"/>
              </a:rPr>
              <a:t>根站点访问的超链接递归地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导航子页面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77840" y="1502410"/>
            <a:ext cx="46932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chemeClr val="accent1"/>
                </a:solidFill>
                <a:sym typeface="+mn-ea"/>
              </a:rPr>
              <a:t>使用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 GPT-4o 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从收集的内容中合成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QA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对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3580" y="3989070"/>
            <a:ext cx="1360805" cy="9144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89230" y="3829685"/>
            <a:ext cx="5143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92D050"/>
                </a:solidFill>
                <a:sym typeface="+mn-ea"/>
              </a:rPr>
              <a:t>实体抽取</a:t>
            </a:r>
            <a:endParaRPr lang="zh-CN" altLang="en-US" b="1">
              <a:solidFill>
                <a:srgbClr val="92D050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58240" y="6489700"/>
            <a:ext cx="26574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92D050"/>
                </a:solidFill>
                <a:sym typeface="+mn-ea"/>
              </a:rPr>
              <a:t>s: </a:t>
            </a:r>
            <a:r>
              <a:rPr lang="zh-CN" altLang="en-US" b="1">
                <a:solidFill>
                  <a:srgbClr val="92D050"/>
                </a:solidFill>
                <a:sym typeface="+mn-ea"/>
              </a:rPr>
              <a:t>检索实体相关文档</a:t>
            </a:r>
            <a:endParaRPr lang="zh-CN" altLang="en-US" b="1">
              <a:solidFill>
                <a:srgbClr val="92D050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89885" y="5443220"/>
            <a:ext cx="2047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rgbClr val="92D050"/>
                </a:solidFill>
                <a:sym typeface="+mn-ea"/>
              </a:rPr>
              <a:t>GPT</a:t>
            </a:r>
            <a:r>
              <a:rPr lang="en-US" altLang="zh-CN" b="1">
                <a:solidFill>
                  <a:srgbClr val="92D050"/>
                </a:solidFill>
                <a:sym typeface="+mn-ea"/>
              </a:rPr>
              <a:t>4o</a:t>
            </a:r>
            <a:r>
              <a:rPr lang="zh-CN" altLang="en-US" b="1">
                <a:solidFill>
                  <a:srgbClr val="92D050"/>
                </a:solidFill>
                <a:sym typeface="+mn-ea"/>
              </a:rPr>
              <a:t>重写问题</a:t>
            </a:r>
            <a:endParaRPr lang="zh-CN" altLang="en-US" b="1">
              <a:solidFill>
                <a:srgbClr val="92D050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43965" y="1830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40K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58215" y="36366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60K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方法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12950" y="140335"/>
            <a:ext cx="9041765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QA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对构建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轨迹采样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微调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强化学习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22" name="图片 21" descr="unnam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" y="824230"/>
            <a:ext cx="10401300" cy="5678170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H="1">
            <a:off x="7544435" y="906145"/>
            <a:ext cx="1891030" cy="344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9090025" y="636270"/>
            <a:ext cx="37261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开始输入：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P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rompt+Query</a:t>
            </a:r>
            <a:endParaRPr lang="en-US" altLang="zh-CN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53200" y="1927860"/>
            <a:ext cx="4238625" cy="126619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H="1" flipV="1">
            <a:off x="9723755" y="3200400"/>
            <a:ext cx="868680" cy="579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140950" y="3785870"/>
            <a:ext cx="11779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动作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空间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496310" y="2887980"/>
            <a:ext cx="1450340" cy="31305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6743065" y="4002405"/>
            <a:ext cx="24384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532765" y="5926455"/>
            <a:ext cx="2138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solidFill>
                  <a:schemeClr val="accent1"/>
                </a:solidFill>
                <a:sym typeface="+mn-ea"/>
              </a:rPr>
              <a:t>GPT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最终答案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过滤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2285365" y="4650105"/>
            <a:ext cx="2133600" cy="127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8717915" y="5109845"/>
            <a:ext cx="21380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动作过滤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33" name="直接箭头连接符 32"/>
          <p:cNvCxnSpPr>
            <a:endCxn id="32" idx="1"/>
          </p:cNvCxnSpPr>
          <p:nvPr/>
        </p:nvCxnSpPr>
        <p:spPr>
          <a:xfrm flipV="1">
            <a:off x="6895465" y="5293995"/>
            <a:ext cx="1822450" cy="876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9090025" y="4307205"/>
            <a:ext cx="25495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1"/>
                </a:solidFill>
                <a:sym typeface="+mn-ea"/>
              </a:rPr>
              <a:t>ReAct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动作格式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过滤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73540" y="1051560"/>
            <a:ext cx="26555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模型：</a:t>
            </a:r>
            <a:r>
              <a:rPr lang="en-US" altLang="zh-CN"/>
              <a:t>QwQ or GPT-4o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方法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12950" y="140335"/>
            <a:ext cx="9041765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QA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对构建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轨迹采样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微调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强化学习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83260"/>
            <a:ext cx="7233920" cy="5791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2950" y="4893945"/>
            <a:ext cx="7810500" cy="12985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499350" y="1457325"/>
            <a:ext cx="46069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将得到的轨迹数据使用动作标签进行</a:t>
            </a:r>
            <a:r>
              <a:rPr lang="zh-CN" altLang="en-US">
                <a:sym typeface="+mn-ea"/>
              </a:rPr>
              <a:t>封闭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2. Agent SFT</a:t>
            </a:r>
            <a:r>
              <a:rPr lang="zh-CN" altLang="en-US">
                <a:sym typeface="+mn-ea"/>
              </a:rPr>
              <a:t>微调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自回归</a:t>
            </a:r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 </a:t>
            </a:r>
            <a:r>
              <a:rPr lang="zh-CN" altLang="en-US">
                <a:sym typeface="+mn-ea"/>
              </a:rPr>
              <a:t>对观察到的内容不计算</a:t>
            </a:r>
            <a:r>
              <a:rPr lang="zh-CN" altLang="en-US">
                <a:sym typeface="+mn-ea"/>
              </a:rPr>
              <a:t>损失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方法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012950" y="140335"/>
            <a:ext cx="9041765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QA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对构建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轨迹采样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微调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-&gt;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强化学习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0160" y="683260"/>
            <a:ext cx="9133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Agent Reinforcement Learning</a:t>
            </a:r>
            <a:r>
              <a:rPr lang="zh-CN" altLang="en-US"/>
              <a:t>阶段（使用</a:t>
            </a:r>
            <a:r>
              <a:rPr lang="en-US" altLang="zh-CN"/>
              <a:t>DAPO+LLM</a:t>
            </a:r>
            <a:r>
              <a:rPr lang="zh-CN" altLang="en-US"/>
              <a:t>作为奖励进行</a:t>
            </a:r>
            <a:r>
              <a:rPr lang="zh-CN" altLang="en-US"/>
              <a:t>计算）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6365"/>
            <a:ext cx="6667500" cy="13906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0160" y="1396365"/>
            <a:ext cx="4572000" cy="7715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03580" y="2368550"/>
            <a:ext cx="3390265" cy="372745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280285" y="1772920"/>
            <a:ext cx="240030" cy="550545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074795" y="1883410"/>
            <a:ext cx="1701165" cy="372745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" name="直接箭头连接符 25"/>
          <p:cNvCxnSpPr/>
          <p:nvPr/>
        </p:nvCxnSpPr>
        <p:spPr>
          <a:xfrm flipV="1">
            <a:off x="2558415" y="1304925"/>
            <a:ext cx="1089025" cy="458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722370" y="1076325"/>
            <a:ext cx="1884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词元级梯度损失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15" name="直接箭头连接符 14"/>
          <p:cNvCxnSpPr>
            <a:stCxn id="11" idx="3"/>
          </p:cNvCxnSpPr>
          <p:nvPr/>
        </p:nvCxnSpPr>
        <p:spPr>
          <a:xfrm>
            <a:off x="4093845" y="2555240"/>
            <a:ext cx="729615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976495" y="2368550"/>
            <a:ext cx="1158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动态采样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cxnSp>
        <p:nvCxnSpPr>
          <p:cNvPr id="19" name="直接箭头连接符 18"/>
          <p:cNvCxnSpPr>
            <a:stCxn id="14" idx="3"/>
          </p:cNvCxnSpPr>
          <p:nvPr/>
        </p:nvCxnSpPr>
        <p:spPr>
          <a:xfrm flipV="1">
            <a:off x="5775960" y="2061210"/>
            <a:ext cx="1217930" cy="88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075170" y="1883410"/>
            <a:ext cx="15398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chemeClr val="accent1"/>
                </a:solidFill>
                <a:sym typeface="+mn-ea"/>
              </a:rPr>
              <a:t>Clip-Higher </a:t>
            </a:r>
            <a:endParaRPr lang="en-US" altLang="zh-CN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007360"/>
            <a:ext cx="6238240" cy="38506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2988310"/>
            <a:ext cx="4895850" cy="4762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440170" y="2512695"/>
            <a:ext cx="1884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奖励设置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40345" y="3020695"/>
            <a:ext cx="1701165" cy="372745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783445" y="3020695"/>
            <a:ext cx="1701165" cy="372745"/>
          </a:xfrm>
          <a:prstGeom prst="rect">
            <a:avLst/>
          </a:prstGeom>
          <a:noFill/>
          <a:ln w="63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>
            <a:stCxn id="21" idx="2"/>
          </p:cNvCxnSpPr>
          <p:nvPr/>
        </p:nvCxnSpPr>
        <p:spPr>
          <a:xfrm>
            <a:off x="8691245" y="3393440"/>
            <a:ext cx="4445" cy="39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0710545" y="3393440"/>
            <a:ext cx="4445" cy="3987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114030" y="3792220"/>
            <a:ext cx="16687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格式奖励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  <a:p>
            <a:r>
              <a:rPr lang="zh-CN" altLang="en-US" sz="900" b="1">
                <a:solidFill>
                  <a:schemeClr val="accent1"/>
                </a:solidFill>
                <a:sym typeface="+mn-ea"/>
              </a:rPr>
              <a:t>（模型在</a:t>
            </a:r>
            <a:r>
              <a:rPr lang="en-US" altLang="zh-CN" sz="900" b="1">
                <a:solidFill>
                  <a:schemeClr val="accent1"/>
                </a:solidFill>
                <a:sym typeface="+mn-ea"/>
              </a:rPr>
              <a:t>SFT</a:t>
            </a:r>
            <a:r>
              <a:rPr lang="zh-CN" altLang="en-US" sz="900" b="1">
                <a:solidFill>
                  <a:schemeClr val="accent1"/>
                </a:solidFill>
                <a:sym typeface="+mn-ea"/>
              </a:rPr>
              <a:t>阶段已学会基础工具调用，给较小权重）</a:t>
            </a:r>
            <a:endParaRPr lang="zh-CN" altLang="en-US" sz="9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0120630" y="3792220"/>
            <a:ext cx="16687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答案奖励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  <a:p>
            <a:r>
              <a:rPr lang="zh-CN" altLang="en-US" sz="900" b="1">
                <a:solidFill>
                  <a:schemeClr val="accent1"/>
                </a:solidFill>
                <a:sym typeface="+mn-ea"/>
              </a:rPr>
              <a:t>（</a:t>
            </a:r>
            <a:r>
              <a:rPr lang="zh-CN" altLang="en-US" sz="900" b="1">
                <a:solidFill>
                  <a:schemeClr val="accent1"/>
                </a:solidFill>
                <a:sym typeface="+mn-ea"/>
              </a:rPr>
              <a:t>使用</a:t>
            </a:r>
            <a:r>
              <a:rPr lang="en-US" altLang="zh-CN" sz="900" b="1">
                <a:solidFill>
                  <a:schemeClr val="accent1"/>
                </a:solidFill>
                <a:sym typeface="+mn-ea"/>
              </a:rPr>
              <a:t>Qwen-72B-Instruct</a:t>
            </a:r>
            <a:endParaRPr lang="en-US" altLang="zh-CN" sz="900" b="1">
              <a:solidFill>
                <a:schemeClr val="accent1"/>
              </a:solidFill>
              <a:sym typeface="+mn-ea"/>
            </a:endParaRPr>
          </a:p>
          <a:p>
            <a:r>
              <a:rPr lang="zh-CN" altLang="en-US" sz="900" b="1">
                <a:solidFill>
                  <a:schemeClr val="accent1"/>
                </a:solidFill>
                <a:sym typeface="+mn-ea"/>
              </a:rPr>
              <a:t>作为对模型输出答案</a:t>
            </a:r>
            <a:r>
              <a:rPr lang="zh-CN" altLang="en-US" sz="900" b="1">
                <a:solidFill>
                  <a:schemeClr val="accent1"/>
                </a:solidFill>
                <a:sym typeface="+mn-ea"/>
              </a:rPr>
              <a:t>进行评判）</a:t>
            </a:r>
            <a:endParaRPr lang="zh-CN" altLang="en-US" sz="9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10630" y="4437380"/>
            <a:ext cx="5890895" cy="2437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奖励设置：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尝试过使用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Recall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作为奖励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模型为了提高召回率，该模型经常学习包含大量的候选答案，从而导致输出冗长且不可靠。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尝试过使用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F1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作为奖励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该模型往往只输出得分较高的部分答案，但缺乏完整性和可读性</a:t>
            </a:r>
            <a:r>
              <a:rPr lang="zh-CN" altLang="en-US" sz="900">
                <a:solidFill>
                  <a:schemeClr val="tx1"/>
                </a:solidFill>
                <a:sym typeface="+mn-ea"/>
              </a:rPr>
              <a:t>。</a:t>
            </a:r>
            <a:endParaRPr lang="zh-CN" altLang="en-US" sz="900">
              <a:solidFill>
                <a:schemeClr val="tx1"/>
              </a:solidFill>
              <a:sym typeface="+mn-ea"/>
            </a:endParaRPr>
          </a:p>
          <a:p>
            <a:endParaRPr lang="zh-CN" altLang="en-US" sz="900">
              <a:solidFill>
                <a:schemeClr val="tx1"/>
              </a:solidFill>
              <a:sym typeface="+mn-ea"/>
            </a:endParaRPr>
          </a:p>
          <a:p>
            <a:endParaRPr lang="zh-CN" altLang="en-US" sz="900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使用模型：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Qwen-2.5-7B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  Qwen-2.5-32B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 QwQ-32B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设备：</a:t>
            </a:r>
            <a:r>
              <a:rPr lang="en-US" altLang="zh-CN" sz="1400">
                <a:sym typeface="+mn-ea"/>
              </a:rPr>
              <a:t> 32 nodes with 8 NVIDIA H20 (96GB)</a:t>
            </a:r>
            <a:endParaRPr lang="en-US" altLang="zh-CN" sz="1400"/>
          </a:p>
          <a:p>
            <a:endParaRPr lang="en-US" altLang="zh-CN" sz="1400">
              <a:solidFill>
                <a:schemeClr val="tx1"/>
              </a:solidFill>
              <a:sym typeface="+mn-ea"/>
            </a:endParaRPr>
          </a:p>
          <a:p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/>
              <a:t>实验</a:t>
            </a:r>
            <a:r>
              <a:rPr kumimoji="1" lang="zh-CN" altLang="en-US" sz="2500" dirty="0"/>
              <a:t>结果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55" y="796290"/>
            <a:ext cx="6790690" cy="58870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86015" y="1201420"/>
            <a:ext cx="4705985" cy="14122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- OpenAI DeepResearch</a:t>
            </a:r>
            <a:r>
              <a:rPr lang="zh-CN" altLang="en-US"/>
              <a:t>在榜单中评分</a:t>
            </a:r>
            <a:r>
              <a:rPr lang="zh-CN" altLang="en-US"/>
              <a:t>最高</a:t>
            </a:r>
            <a:endParaRPr lang="zh-CN" altLang="en-US"/>
          </a:p>
          <a:p>
            <a:r>
              <a:rPr lang="zh-CN" altLang="en-US"/>
              <a:t>作者提出的工作</a:t>
            </a:r>
            <a:r>
              <a:rPr lang="zh-CN" altLang="en-US"/>
              <a:t>其次。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通过端到端训练的，相比基线模型有所</a:t>
            </a:r>
            <a:r>
              <a:rPr lang="zh-CN" altLang="en-US"/>
              <a:t>提升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408170" y="5257165"/>
            <a:ext cx="266700" cy="2952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08170" y="3831590"/>
            <a:ext cx="266700" cy="2952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560" y="4747260"/>
            <a:ext cx="4419600" cy="17907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333740" y="4187825"/>
            <a:ext cx="3657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Results on BrowseComp (En.) and BrowseComp-zh (Zh.).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实验结果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683260"/>
            <a:ext cx="7306310" cy="2342515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 flipV="1">
            <a:off x="2177415" y="1179195"/>
            <a:ext cx="2169160" cy="2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991235" y="1640205"/>
            <a:ext cx="2174875" cy="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574165" y="1435100"/>
            <a:ext cx="2191385" cy="1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397750" y="996950"/>
            <a:ext cx="4646930" cy="1929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对比</a:t>
            </a:r>
            <a:r>
              <a:rPr lang="en-US" altLang="zh-CN">
                <a:sym typeface="+mn-ea"/>
              </a:rPr>
              <a:t>SFT</a:t>
            </a:r>
            <a:r>
              <a:rPr lang="zh-CN" altLang="en-US">
                <a:sym typeface="+mn-ea"/>
              </a:rPr>
              <a:t>模型和强化学习后的</a:t>
            </a:r>
            <a:r>
              <a:rPr lang="en-US" altLang="zh-CN">
                <a:sym typeface="+mn-ea"/>
              </a:rPr>
              <a:t>Pass1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Pass3 (GAIA benchmark)</a:t>
            </a:r>
            <a:endParaRPr lang="en-US" altLang="zh-CN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3181350"/>
            <a:ext cx="4404360" cy="28625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82110" y="3181350"/>
            <a:ext cx="609600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高质量轨迹数据对</a:t>
            </a:r>
            <a:r>
              <a:rPr lang="en-US" altLang="zh-CN">
                <a:sym typeface="+mn-ea"/>
              </a:rPr>
              <a:t>SFT</a:t>
            </a:r>
            <a:r>
              <a:rPr lang="zh-CN" altLang="en-US">
                <a:sym typeface="+mn-ea"/>
              </a:rPr>
              <a:t>的有效性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Open-only</a:t>
            </a:r>
            <a:r>
              <a:rPr lang="zh-CN" altLang="en-US">
                <a:sym typeface="+mn-ea"/>
              </a:rPr>
              <a:t>：只用开源困难</a:t>
            </a:r>
            <a:r>
              <a:rPr lang="en-US" altLang="zh-CN">
                <a:sym typeface="+mn-ea"/>
              </a:rPr>
              <a:t> QA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GAIA / WebWalkerQA </a:t>
            </a:r>
            <a:r>
              <a:rPr lang="zh-CN" altLang="en-US">
                <a:sym typeface="+mn-ea"/>
              </a:rPr>
              <a:t>等）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Crawl-only</a:t>
            </a:r>
            <a:r>
              <a:rPr lang="zh-CN" altLang="en-US">
                <a:sym typeface="+mn-ea"/>
              </a:rPr>
              <a:t>：只用</a:t>
            </a:r>
            <a:r>
              <a:rPr lang="en-US" altLang="zh-CN">
                <a:sym typeface="+mn-ea"/>
              </a:rPr>
              <a:t> CRAWLQA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E2H-only</a:t>
            </a:r>
            <a:r>
              <a:rPr lang="zh-CN" altLang="en-US">
                <a:sym typeface="+mn-ea"/>
              </a:rPr>
              <a:t>：只用</a:t>
            </a:r>
            <a:r>
              <a:rPr lang="en-US" altLang="zh-CN">
                <a:sym typeface="+mn-ea"/>
              </a:rPr>
              <a:t> E2HQA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All</a:t>
            </a:r>
            <a:r>
              <a:rPr lang="zh-CN" altLang="en-US">
                <a:sym typeface="+mn-ea"/>
              </a:rPr>
              <a:t>：三者混合</a:t>
            </a:r>
            <a:r>
              <a:rPr lang="en-US" altLang="zh-CN">
                <a:sym typeface="+mn-ea"/>
              </a:rPr>
              <a:t>                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Final</a:t>
            </a:r>
            <a:r>
              <a:rPr lang="zh-CN" altLang="en-US">
                <a:sym typeface="+mn-ea"/>
              </a:rPr>
              <a:t>：混合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轨迹过滤后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实验结果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" y="914400"/>
            <a:ext cx="8754745" cy="41529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9250" y="4953000"/>
            <a:ext cx="11633200" cy="15944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Reasoning model</a:t>
            </a:r>
            <a:r>
              <a:rPr lang="zh-CN" altLang="en-US" sz="1600"/>
              <a:t>提取的轨迹数据</a:t>
            </a:r>
            <a:r>
              <a:rPr lang="en-US" altLang="zh-CN" sz="1600"/>
              <a:t> → reasoning model</a:t>
            </a:r>
            <a:r>
              <a:rPr lang="zh-CN" altLang="en-US" sz="1600"/>
              <a:t>：迁移有效，</a:t>
            </a:r>
            <a:r>
              <a:rPr lang="en-US" altLang="zh-CN" sz="1600"/>
              <a:t>QwQ-32B + Long-CoT </a:t>
            </a:r>
            <a:r>
              <a:rPr lang="en-US" altLang="en-US" sz="1600"/>
              <a:t>→</a:t>
            </a:r>
            <a:r>
              <a:rPr lang="en-US" altLang="zh-CN" sz="1600"/>
              <a:t> Pass@3 </a:t>
            </a:r>
            <a:r>
              <a:rPr lang="zh-CN" altLang="en-US" sz="1600"/>
              <a:t>大幅提升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Reasoning model </a:t>
            </a:r>
            <a:r>
              <a:rPr lang="en-US" altLang="en-US" sz="1600"/>
              <a:t>→</a:t>
            </a:r>
            <a:r>
              <a:rPr lang="en-US" altLang="zh-CN" sz="1600"/>
              <a:t> </a:t>
            </a:r>
            <a:r>
              <a:rPr lang="zh-CN" altLang="en-US" sz="1600"/>
              <a:t>普通</a:t>
            </a:r>
            <a:r>
              <a:rPr lang="en-US" altLang="zh-CN" sz="1600"/>
              <a:t> LLM</a:t>
            </a:r>
            <a:r>
              <a:rPr lang="zh-CN" altLang="en-US" sz="1600"/>
              <a:t>：迁移不稳定</a:t>
            </a:r>
            <a:endParaRPr lang="zh-CN" altLang="en-US" sz="1600"/>
          </a:p>
          <a:p>
            <a:r>
              <a:rPr lang="en-US" altLang="zh-CN" sz="1600"/>
              <a:t>  - </a:t>
            </a:r>
            <a:r>
              <a:rPr lang="zh-CN" altLang="en-US" sz="1600"/>
              <a:t>将长的</a:t>
            </a:r>
            <a:r>
              <a:rPr lang="en-US" altLang="zh-CN" sz="1600"/>
              <a:t>COT</a:t>
            </a:r>
            <a:r>
              <a:rPr lang="zh-CN" altLang="en-US" sz="1600"/>
              <a:t>链</a:t>
            </a:r>
            <a:r>
              <a:rPr lang="en-US" altLang="zh-CN" sz="1600"/>
              <a:t>SFT</a:t>
            </a:r>
            <a:r>
              <a:rPr lang="zh-CN" altLang="en-US" sz="1600"/>
              <a:t>到非推理的小模型，</a:t>
            </a:r>
            <a:r>
              <a:rPr lang="en-US" altLang="zh-CN" sz="1600"/>
              <a:t>invalid rate</a:t>
            </a:r>
            <a:r>
              <a:rPr lang="zh-CN" altLang="en-US" sz="1600"/>
              <a:t>升高（超出上下文，输出重复的无效</a:t>
            </a:r>
            <a:r>
              <a:rPr lang="en-US" altLang="zh-CN" sz="1600"/>
              <a:t>token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en-US" altLang="zh-CN" sz="1600"/>
              <a:t>  - </a:t>
            </a:r>
            <a:r>
              <a:rPr lang="zh-CN" altLang="en-US" sz="1600"/>
              <a:t>推理模式难以迁移到指令调整模型，因为指令调整模型通常针对任务跟踪行为而非深度推理进行</a:t>
            </a:r>
            <a:endParaRPr lang="zh-CN" altLang="en-US" sz="1600"/>
          </a:p>
          <a:p>
            <a:r>
              <a:rPr lang="en-US" altLang="zh-CN" sz="1600"/>
              <a:t>    </a:t>
            </a:r>
            <a:r>
              <a:rPr lang="zh-CN" altLang="en-US" sz="1600"/>
              <a:t>优化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实验结果</a:t>
            </a:r>
            <a:endParaRPr kumimoji="1" lang="zh-CN" altLang="en-US" sz="2500" dirty="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" y="751840"/>
            <a:ext cx="12192000" cy="39884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1440" y="4631690"/>
            <a:ext cx="11390630" cy="1929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r>
              <a:rPr lang="en-US" altLang="zh-CN"/>
              <a:t>- a: DAPO</a:t>
            </a:r>
            <a:r>
              <a:rPr lang="zh-CN" altLang="en-US"/>
              <a:t>训练过程中模型的性能</a:t>
            </a:r>
            <a:r>
              <a:rPr lang="zh-CN" altLang="en-US"/>
              <a:t>提升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- b: </a:t>
            </a:r>
            <a:r>
              <a:rPr lang="en-US" altLang="zh-CN" b="1"/>
              <a:t>BASE</a:t>
            </a:r>
            <a:r>
              <a:rPr lang="zh-CN" altLang="en-US" b="1"/>
              <a:t>模型</a:t>
            </a:r>
            <a:r>
              <a:rPr lang="zh-CN" altLang="en-US"/>
              <a:t>、</a:t>
            </a:r>
            <a:r>
              <a:rPr lang="zh-CN" altLang="en-US" b="1"/>
              <a:t>微调模型</a:t>
            </a:r>
            <a:r>
              <a:rPr lang="zh-CN" altLang="en-US"/>
              <a:t>、</a:t>
            </a:r>
            <a:r>
              <a:rPr lang="en-US" altLang="zh-CN" b="1"/>
              <a:t>RL</a:t>
            </a:r>
            <a:r>
              <a:rPr lang="zh-CN" altLang="en-US" b="1"/>
              <a:t>的模型</a:t>
            </a:r>
            <a:r>
              <a:rPr lang="en-US" altLang="zh-CN"/>
              <a:t> </a:t>
            </a:r>
            <a:r>
              <a:rPr lang="zh-CN" altLang="en-US"/>
              <a:t>在思考路径和工具调用</a:t>
            </a:r>
            <a:r>
              <a:rPr lang="zh-CN" altLang="en-US"/>
              <a:t>次数上的</a:t>
            </a:r>
            <a:r>
              <a:rPr lang="zh-CN" altLang="en-US"/>
              <a:t>提升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c: </a:t>
            </a:r>
            <a:r>
              <a:rPr lang="zh-CN" altLang="en-US"/>
              <a:t>调整解码温度</a:t>
            </a:r>
            <a:r>
              <a:rPr lang="en-US" altLang="zh-CN"/>
              <a:t>,</a:t>
            </a:r>
            <a:r>
              <a:rPr lang="zh-CN" altLang="en-US"/>
              <a:t>最终性能的影响</a:t>
            </a:r>
            <a:r>
              <a:rPr lang="en-US" altLang="zh-CN"/>
              <a:t> (</a:t>
            </a:r>
            <a:r>
              <a:rPr lang="zh-CN" altLang="en-US"/>
              <a:t>微乎其微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论文总结</a:t>
            </a:r>
            <a:endParaRPr kumimoji="1" lang="zh-CN" altLang="en-US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250" y="1202690"/>
            <a:ext cx="1043876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  <a:p>
            <a:r>
              <a:rPr lang="zh-CN" altLang="en-US"/>
              <a:t>优势：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属于</a:t>
            </a:r>
            <a:r>
              <a:rPr lang="zh-CN" altLang="en-US" b="1"/>
              <a:t>较早且开源</a:t>
            </a:r>
            <a:r>
              <a:rPr lang="en-US" altLang="zh-CN"/>
              <a:t>deep research</a:t>
            </a:r>
            <a:r>
              <a:rPr lang="zh-CN" altLang="en-US"/>
              <a:t>工作，提出了相对完整的</a:t>
            </a:r>
            <a:r>
              <a:rPr lang="en-US" altLang="zh-CN"/>
              <a:t>pipeline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目前已开源</a:t>
            </a:r>
            <a:r>
              <a:rPr lang="en-US" altLang="zh-CN"/>
              <a:t>32B</a:t>
            </a:r>
            <a:r>
              <a:rPr lang="zh-CN" altLang="en-US"/>
              <a:t>权重，部分</a:t>
            </a:r>
            <a:r>
              <a:rPr lang="en-US" altLang="zh-CN"/>
              <a:t>rollout</a:t>
            </a:r>
            <a:r>
              <a:rPr lang="zh-CN" altLang="en-US"/>
              <a:t>数据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劣势：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训练使用的两个</a:t>
            </a:r>
            <a:r>
              <a:rPr lang="en-US" altLang="zh-CN"/>
              <a:t>QA</a:t>
            </a:r>
            <a:r>
              <a:rPr lang="zh-CN" altLang="en-US"/>
              <a:t>数据集没有</a:t>
            </a:r>
            <a:r>
              <a:rPr lang="zh-CN" altLang="en-US"/>
              <a:t>开源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智能体的行动空间太少，只有检索和</a:t>
            </a:r>
            <a:r>
              <a:rPr lang="zh-CN" altLang="en-US"/>
              <a:t>访问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方法的泛化性，</a:t>
            </a:r>
            <a:r>
              <a:rPr lang="zh-CN" altLang="en-US"/>
              <a:t>审稿人提出了该模型只在</a:t>
            </a:r>
            <a:r>
              <a:rPr lang="en-US" altLang="zh-CN"/>
              <a:t>Qwen</a:t>
            </a:r>
            <a:r>
              <a:rPr lang="zh-CN" altLang="en-US"/>
              <a:t>系列模型上训练，在其他模型上是否有相同</a:t>
            </a:r>
            <a:r>
              <a:rPr lang="zh-CN" altLang="en-US"/>
              <a:t>效果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训练性能消耗</a:t>
            </a:r>
            <a:r>
              <a:rPr lang="en-US" altLang="zh-CN"/>
              <a:t>(</a:t>
            </a:r>
            <a:r>
              <a:rPr lang="zh-CN" altLang="en-US"/>
              <a:t>模型</a:t>
            </a:r>
            <a:r>
              <a:rPr lang="zh-CN" altLang="en-US"/>
              <a:t>训练，调用</a:t>
            </a:r>
            <a:r>
              <a:rPr lang="en-US" altLang="zh-CN"/>
              <a:t>Google S</a:t>
            </a:r>
            <a:r>
              <a:rPr lang="en-US" altLang="zh-CN"/>
              <a:t>earch API)</a:t>
            </a:r>
            <a:endParaRPr lang="en-US" altLang="zh-CN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923925"/>
            <a:ext cx="12192635" cy="33127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56000" y="474630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2400" b="0" i="0">
                <a:solidFill>
                  <a:srgbClr val="212529"/>
                </a:solidFill>
                <a:latin typeface="微软雅黑" panose="020B0503020204020204" charset="-122"/>
                <a:ea typeface="微软雅黑" panose="020B0503020204020204" charset="-122"/>
              </a:rPr>
              <a:t>2025.ACL-long.261</a:t>
            </a:r>
            <a:endParaRPr lang="en-US" altLang="zh-CN" sz="2400" b="0" i="0">
              <a:solidFill>
                <a:srgbClr val="21252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0426065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研究动机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58215" y="1466850"/>
            <a:ext cx="12203430" cy="403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457200" lvl="1" indent="457200"/>
            <a:endParaRPr lang="en-US" altLang="zh-CN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3" name="图片 2" descr="Gemini_Generated_Image_joyd9sjoyd9sjoy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160" y="683260"/>
            <a:ext cx="4649470" cy="253619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1459230" y="1103630"/>
            <a:ext cx="2118995" cy="1937385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596005" y="1108710"/>
            <a:ext cx="1348740" cy="76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4944745" y="928370"/>
            <a:ext cx="6600825" cy="22193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核心问题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: 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知识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冲突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检索到的内容与当前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LLM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内部的知识相互冲突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- LLM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更倾向于外部上下文知识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-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检索到无关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有损害的文本，影响模型输出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160" y="3511550"/>
            <a:ext cx="4916805" cy="12896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445" y="3573780"/>
            <a:ext cx="5133975" cy="12973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0" y="31813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chemeClr val="accent1"/>
                </a:solidFill>
                <a:sym typeface="+mn-ea"/>
              </a:rPr>
              <a:t>现有的解决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方法：</a:t>
            </a:r>
            <a:endParaRPr lang="zh-CN" altLang="en-US" b="1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4295" y="5267960"/>
            <a:ext cx="5912485" cy="15487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614295" y="4895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b="1">
                <a:solidFill>
                  <a:schemeClr val="accent1"/>
                </a:solidFill>
                <a:sym typeface="+mn-ea"/>
              </a:rPr>
              <a:t>作者的</a:t>
            </a:r>
            <a:r>
              <a:rPr lang="zh-CN" altLang="zh-CN" b="1">
                <a:solidFill>
                  <a:schemeClr val="accent1"/>
                </a:solidFill>
                <a:sym typeface="+mn-ea"/>
              </a:rPr>
              <a:t>方法：</a:t>
            </a:r>
            <a:endParaRPr lang="zh-CN" altLang="zh-CN" b="1">
              <a:solidFill>
                <a:schemeClr val="accent1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理论分析（</a:t>
            </a:r>
            <a:r>
              <a:rPr kumimoji="1" lang="en-US" altLang="zh-CN" sz="2500" dirty="0">
                <a:sym typeface="+mn-ea"/>
              </a:rPr>
              <a:t>DPO</a:t>
            </a:r>
            <a:r>
              <a:rPr kumimoji="1" lang="zh-CN" altLang="en-US" sz="2500" dirty="0">
                <a:sym typeface="+mn-ea"/>
              </a:rPr>
              <a:t>）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735" y="1372870"/>
            <a:ext cx="3711575" cy="4184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-10160" y="8775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PPO</a:t>
            </a:r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DPO</a:t>
            </a:r>
            <a:endParaRPr lang="en-US" altLang="zh-CN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10160" y="1372870"/>
            <a:ext cx="13855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PPO</a:t>
            </a:r>
            <a:r>
              <a:rPr lang="zh-CN" altLang="en-US">
                <a:sym typeface="+mn-ea"/>
              </a:rPr>
              <a:t>目标：</a:t>
            </a:r>
            <a:endParaRPr lang="zh-CN" altLang="en-US"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8310" y="1372870"/>
            <a:ext cx="3224530" cy="4191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893310" y="1372870"/>
            <a:ext cx="6762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其中</a:t>
            </a:r>
            <a:endParaRPr lang="zh-CN" altLang="en-US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0" y="1868170"/>
            <a:ext cx="2352040" cy="33909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/>
              <a:t>推导</a:t>
            </a:r>
            <a:r>
              <a:rPr lang="en-US" altLang="zh-CN" sz="1600"/>
              <a:t>PPO</a:t>
            </a:r>
            <a:r>
              <a:rPr lang="zh-CN" altLang="en-US" sz="1600"/>
              <a:t>下的最优</a:t>
            </a:r>
            <a:r>
              <a:rPr lang="zh-CN" altLang="en-US" sz="1600"/>
              <a:t>策略： 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315" y="1868170"/>
            <a:ext cx="1013460" cy="3848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0" y="245808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对</a:t>
            </a:r>
            <a:r>
              <a:rPr lang="en-US" altLang="zh-CN" sz="1600">
                <a:sym typeface="+mn-ea"/>
              </a:rPr>
              <a:t>PPO</a:t>
            </a:r>
            <a:r>
              <a:rPr lang="zh-CN" altLang="en-US" sz="1600">
                <a:sym typeface="+mn-ea"/>
              </a:rPr>
              <a:t>的目标按照期望进行</a:t>
            </a:r>
            <a:r>
              <a:rPr lang="zh-CN" altLang="en-US" sz="1600">
                <a:sym typeface="+mn-ea"/>
              </a:rPr>
              <a:t>展开：</a:t>
            </a:r>
            <a:endParaRPr lang="zh-CN" altLang="en-US" sz="1600">
              <a:sym typeface="+mn-ea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15" y="2430780"/>
            <a:ext cx="4498340" cy="45402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510145" y="2458085"/>
            <a:ext cx="6762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st.</a:t>
            </a:r>
            <a:endParaRPr lang="en-US" altLang="zh-CN"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4010" y="2458085"/>
            <a:ext cx="1376680" cy="32956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0" y="3000375"/>
            <a:ext cx="18757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构建拉格朗日函数：</a:t>
            </a:r>
            <a:endParaRPr lang="zh-CN" altLang="en-US" sz="1600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71965" y="2458085"/>
            <a:ext cx="6762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➡</a:t>
            </a:r>
            <a:endParaRPr lang="zh-CN" altLang="en-US">
              <a:sym typeface="+mn-ea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2330" y="2414270"/>
            <a:ext cx="1562100" cy="5143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6115" y="2928620"/>
            <a:ext cx="7165975" cy="54165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005840" y="3572510"/>
            <a:ext cx="99504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求</a:t>
            </a:r>
            <a:r>
              <a:rPr lang="zh-CN" altLang="en-US" sz="1600">
                <a:sym typeface="+mn-ea"/>
              </a:rPr>
              <a:t>偏导：</a:t>
            </a:r>
            <a:endParaRPr lang="zh-CN" altLang="en-US" sz="1600">
              <a:sym typeface="+mn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0885" y="3439795"/>
            <a:ext cx="5657215" cy="60071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0" y="3988435"/>
            <a:ext cx="34048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整合等式，得到最优</a:t>
            </a:r>
            <a:r>
              <a:rPr lang="zh-CN" altLang="en-US" sz="1600">
                <a:sym typeface="+mn-ea"/>
              </a:rPr>
              <a:t>策略：</a:t>
            </a:r>
            <a:endParaRPr lang="zh-CN" altLang="en-US" sz="1600">
              <a:sym typeface="+mn-ea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0160" y="4331970"/>
            <a:ext cx="5669915" cy="206184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28310" y="4145915"/>
            <a:ext cx="6610350" cy="2495550"/>
          </a:xfrm>
          <a:prstGeom prst="rect">
            <a:avLst/>
          </a:prstGeom>
        </p:spPr>
      </p:pic>
      <p:cxnSp>
        <p:nvCxnSpPr>
          <p:cNvPr id="43" name="直接连接符 42"/>
          <p:cNvCxnSpPr/>
          <p:nvPr/>
        </p:nvCxnSpPr>
        <p:spPr>
          <a:xfrm>
            <a:off x="5669280" y="4130040"/>
            <a:ext cx="0" cy="2499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理论分析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6105" y="683260"/>
            <a:ext cx="1543050" cy="7048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2730" y="863600"/>
            <a:ext cx="1466850" cy="2857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1440" y="812165"/>
            <a:ext cx="75552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对于输入的问题</a:t>
            </a:r>
            <a:r>
              <a:rPr lang="en-US" altLang="zh-CN" sz="1600">
                <a:sym typeface="+mn-ea"/>
              </a:rPr>
              <a:t>q</a:t>
            </a:r>
            <a:r>
              <a:rPr lang="zh-CN" altLang="en-US" sz="1600">
                <a:sym typeface="+mn-ea"/>
              </a:rPr>
              <a:t>，检索文档</a:t>
            </a:r>
            <a:r>
              <a:rPr lang="en-US" altLang="zh-CN" sz="1600">
                <a:sym typeface="+mn-ea"/>
              </a:rPr>
              <a:t>                           </a:t>
            </a:r>
            <a:r>
              <a:rPr lang="zh-CN" altLang="en-US" sz="1600">
                <a:sym typeface="+mn-ea"/>
              </a:rPr>
              <a:t>，使用结合</a:t>
            </a:r>
            <a:r>
              <a:rPr lang="en-US" altLang="zh-CN" sz="1600">
                <a:sym typeface="+mn-ea"/>
              </a:rPr>
              <a:t>LLM</a:t>
            </a:r>
            <a:r>
              <a:rPr lang="zh-CN" altLang="en-US" sz="1600">
                <a:sym typeface="+mn-ea"/>
              </a:rPr>
              <a:t>做最终的问答</a:t>
            </a:r>
            <a:r>
              <a:rPr lang="en-US" altLang="zh-CN" sz="1600">
                <a:sym typeface="+mn-ea"/>
              </a:rPr>
              <a:t>           </a:t>
            </a:r>
            <a:endParaRPr lang="en-US" altLang="zh-CN" sz="16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0" y="1388110"/>
            <a:ext cx="858393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对于输入的问题</a:t>
            </a:r>
            <a:r>
              <a:rPr lang="en-US" altLang="zh-CN" sz="1600">
                <a:sym typeface="+mn-ea"/>
              </a:rPr>
              <a:t>q</a:t>
            </a:r>
            <a:r>
              <a:rPr lang="zh-CN" altLang="en-US" sz="1600">
                <a:sym typeface="+mn-ea"/>
              </a:rPr>
              <a:t>，模型仅使用内部知识进行</a:t>
            </a:r>
            <a:r>
              <a:rPr lang="zh-CN" altLang="en-US" sz="1600">
                <a:sym typeface="+mn-ea"/>
              </a:rPr>
              <a:t>回答</a:t>
            </a:r>
            <a:endParaRPr lang="zh-CN" altLang="en-US" sz="160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8990" y="1223645"/>
            <a:ext cx="1238250" cy="6667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601845" y="1946275"/>
            <a:ext cx="797941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检索增强答案正确，直接回答答案错误（应该相信</a:t>
            </a:r>
            <a:r>
              <a:rPr lang="zh-CN" altLang="en-US" sz="1600"/>
              <a:t>文档）</a:t>
            </a:r>
            <a:endParaRPr lang="zh-CN" altLang="en-US" sz="1600"/>
          </a:p>
          <a:p>
            <a:r>
              <a:rPr lang="zh-CN" altLang="en-US" sz="1600">
                <a:sym typeface="+mn-ea"/>
              </a:rPr>
              <a:t>检索增强答案错误，直接回答答案正确</a:t>
            </a:r>
            <a:r>
              <a:rPr lang="zh-CN" altLang="en-US" sz="1600"/>
              <a:t>（应该不信文档）</a:t>
            </a:r>
            <a:endParaRPr lang="zh-CN" altLang="en-US" sz="160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4370" y="2116455"/>
            <a:ext cx="2553970" cy="24955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0" y="2723515"/>
            <a:ext cx="116039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问题（</a:t>
            </a:r>
            <a:r>
              <a:rPr lang="en-US" altLang="zh-CN" sz="1600" b="1">
                <a:sym typeface="+mn-ea"/>
              </a:rPr>
              <a:t>1</a:t>
            </a:r>
            <a:r>
              <a:rPr lang="zh-CN" altLang="en-US" sz="1600" b="1">
                <a:sym typeface="+mn-ea"/>
              </a:rPr>
              <a:t>）</a:t>
            </a:r>
            <a:r>
              <a:rPr lang="zh-CN" altLang="en-US" sz="1600">
                <a:sym typeface="+mn-ea"/>
              </a:rPr>
              <a:t>如果直接使用</a:t>
            </a:r>
            <a:r>
              <a:rPr lang="en-US" altLang="zh-CN" sz="1600">
                <a:sym typeface="+mn-ea"/>
              </a:rPr>
              <a:t>DPO</a:t>
            </a:r>
            <a:r>
              <a:rPr lang="zh-CN" altLang="en-US" sz="1600">
                <a:sym typeface="+mn-ea"/>
              </a:rPr>
              <a:t>，与</a:t>
            </a:r>
            <a:r>
              <a:rPr lang="en-US" altLang="zh-CN" sz="1600">
                <a:sym typeface="+mn-ea"/>
              </a:rPr>
              <a:t>RAG</a:t>
            </a:r>
            <a:r>
              <a:rPr lang="zh-CN" altLang="en-US" sz="1600">
                <a:sym typeface="+mn-ea"/>
              </a:rPr>
              <a:t>在知识冲突中理想目标</a:t>
            </a:r>
            <a:r>
              <a:rPr lang="zh-CN" altLang="en-US" sz="1600">
                <a:sym typeface="+mn-ea"/>
              </a:rPr>
              <a:t>不一致</a:t>
            </a:r>
            <a:endParaRPr lang="zh-CN" altLang="en-US" sz="1600">
              <a:sym typeface="+mn-ea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860" y="3175000"/>
            <a:ext cx="4400550" cy="857250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226695" y="4796790"/>
            <a:ext cx="598932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情况 </a:t>
            </a:r>
            <a:r>
              <a:rPr lang="en-US" altLang="zh-CN" sz="1600"/>
              <a:t>A</a:t>
            </a:r>
            <a:r>
              <a:rPr lang="zh-CN" altLang="en-US" sz="1600"/>
              <a:t>：参数知识是对的（检索不该被信）模型行为应接近</a:t>
            </a:r>
            <a:endParaRPr lang="zh-CN" altLang="en-US" sz="160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3885" y="4759325"/>
            <a:ext cx="1085850" cy="342900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226695" y="5260975"/>
            <a:ext cx="598932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情况 </a:t>
            </a:r>
            <a:r>
              <a:rPr lang="en-US" altLang="zh-CN" sz="1600"/>
              <a:t>B</a:t>
            </a:r>
            <a:r>
              <a:rPr lang="zh-CN" altLang="en-US" sz="1600"/>
              <a:t>：检索知识是对的（文档该被信）模型行为应接近</a:t>
            </a:r>
            <a:endParaRPr lang="zh-CN" altLang="en-US" sz="16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3885" y="5248275"/>
            <a:ext cx="1390650" cy="32385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5167630" y="3418205"/>
            <a:ext cx="619506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DPO</a:t>
            </a:r>
            <a:r>
              <a:rPr lang="zh-CN" altLang="en-US" sz="1600"/>
              <a:t>目标：</a:t>
            </a:r>
            <a:r>
              <a:rPr lang="en-US" altLang="zh-CN" sz="1600"/>
              <a:t>How to answer </a:t>
            </a:r>
            <a:r>
              <a:rPr lang="en-US" altLang="zh-CN" sz="1600"/>
              <a:t>better given retrieved context</a:t>
            </a:r>
            <a:endParaRPr lang="en-US" altLang="zh-CN" sz="1600"/>
          </a:p>
        </p:txBody>
      </p:sp>
      <p:sp>
        <p:nvSpPr>
          <p:cNvPr id="45" name="文本框 44"/>
          <p:cNvSpPr txBox="1"/>
          <p:nvPr/>
        </p:nvSpPr>
        <p:spPr>
          <a:xfrm>
            <a:off x="7188835" y="49234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知识</a:t>
            </a:r>
            <a:r>
              <a:rPr lang="zh-CN" altLang="en-US" sz="1600"/>
              <a:t>冲突目标：</a:t>
            </a:r>
            <a:r>
              <a:rPr lang="en-US" altLang="zh-CN" sz="1600"/>
              <a:t>Whether to trust the retrieved context</a:t>
            </a:r>
            <a:endParaRPr lang="en-US" altLang="zh-CN" sz="1600"/>
          </a:p>
        </p:txBody>
      </p:sp>
      <p:sp>
        <p:nvSpPr>
          <p:cNvPr id="46" name="文本框 45"/>
          <p:cNvSpPr txBox="1"/>
          <p:nvPr/>
        </p:nvSpPr>
        <p:spPr>
          <a:xfrm>
            <a:off x="0" y="439610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知识冲突目标</a:t>
            </a:r>
            <a:r>
              <a:rPr lang="zh-CN" altLang="en-US" sz="1600">
                <a:sym typeface="+mn-ea"/>
              </a:rPr>
              <a:t>：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理论分析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-10160" y="687705"/>
            <a:ext cx="116039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>
                <a:sym typeface="+mn-ea"/>
              </a:rPr>
              <a:t>问题（</a:t>
            </a:r>
            <a:r>
              <a:rPr lang="en-US" altLang="zh-CN" sz="1600" b="1">
                <a:sym typeface="+mn-ea"/>
              </a:rPr>
              <a:t>2</a:t>
            </a:r>
            <a:r>
              <a:rPr lang="zh-CN" altLang="en-US" sz="1600" b="1">
                <a:sym typeface="+mn-ea"/>
              </a:rPr>
              <a:t>）：</a:t>
            </a:r>
            <a:r>
              <a:rPr lang="zh-CN" altLang="en-US" sz="1600">
                <a:sym typeface="+mn-ea"/>
              </a:rPr>
              <a:t>引入</a:t>
            </a:r>
            <a:r>
              <a:rPr lang="zh-CN" altLang="en-US" sz="1600">
                <a:sym typeface="+mn-ea"/>
              </a:rPr>
              <a:t>知识冲突的两个不同对齐目标后，分别对应不同条件分布下的</a:t>
            </a:r>
            <a:endParaRPr lang="zh-CN" altLang="en-US" sz="1600">
              <a:sym typeface="+mn-ea"/>
            </a:endParaRPr>
          </a:p>
          <a:p>
            <a:r>
              <a:rPr lang="zh-CN" altLang="en-US" sz="1600">
                <a:sym typeface="+mn-ea"/>
              </a:rPr>
              <a:t>归一化常数不可被</a:t>
            </a:r>
            <a:r>
              <a:rPr lang="zh-CN" altLang="en-US" sz="1600">
                <a:sym typeface="+mn-ea"/>
              </a:rPr>
              <a:t>抵消</a:t>
            </a:r>
            <a:endParaRPr lang="zh-CN" altLang="en-US" sz="1600">
              <a:sym typeface="+mn-ea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3175" y="687705"/>
            <a:ext cx="4568825" cy="17246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" y="1271270"/>
            <a:ext cx="6586220" cy="258000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0859135" y="2047240"/>
            <a:ext cx="1009650" cy="2806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705985" y="3357245"/>
            <a:ext cx="1852295" cy="33782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-10160" y="4031615"/>
            <a:ext cx="9677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问题（</a:t>
            </a:r>
            <a:r>
              <a:rPr lang="en-US" altLang="zh-CN" b="1"/>
              <a:t>3</a:t>
            </a:r>
            <a:r>
              <a:rPr lang="zh-CN" altLang="en-US" b="1"/>
              <a:t>）：</a:t>
            </a:r>
            <a:r>
              <a:rPr lang="zh-CN" altLang="en-US"/>
              <a:t>伪造参数化答案，造成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735" y="4481195"/>
            <a:ext cx="1619250" cy="40005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340610" y="44970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其中</a:t>
            </a:r>
            <a:r>
              <a:rPr lang="en-US" altLang="zh-CN"/>
              <a:t>y_p </a:t>
            </a:r>
            <a:r>
              <a:rPr lang="zh-CN" altLang="en-US"/>
              <a:t>是是直接从通过输出问题获取的样本</a:t>
            </a:r>
            <a:r>
              <a:rPr lang="zh-CN" altLang="en-US"/>
              <a:t>对</a:t>
            </a:r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9870" y="4962525"/>
            <a:ext cx="3352800" cy="381000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3669030" y="4962525"/>
            <a:ext cx="79825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在输入文档</a:t>
            </a:r>
            <a:r>
              <a:rPr lang="en-US" altLang="zh-CN"/>
              <a:t>+</a:t>
            </a:r>
            <a:r>
              <a:rPr lang="zh-CN" altLang="en-US"/>
              <a:t>问题时，模型输出</a:t>
            </a:r>
            <a:r>
              <a:rPr lang="zh-CN" altLang="en-US">
                <a:sym typeface="+mn-ea"/>
              </a:rPr>
              <a:t>检索知识的概率远大于输出参数知识的</a:t>
            </a:r>
            <a:r>
              <a:rPr lang="zh-CN" altLang="en-US">
                <a:sym typeface="+mn-ea"/>
              </a:rPr>
              <a:t>概率</a:t>
            </a:r>
            <a:endParaRPr lang="zh-CN" altLang="en-US">
              <a:sym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" y="5619115"/>
            <a:ext cx="3181350" cy="62865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3865245" y="5780405"/>
            <a:ext cx="73317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/>
              <a:t>KL</a:t>
            </a:r>
            <a:r>
              <a:rPr lang="zh-CN" altLang="en-US" b="1"/>
              <a:t>惩罚项</a:t>
            </a:r>
            <a:r>
              <a:rPr lang="zh-CN" altLang="en-US"/>
              <a:t>，导致即便有可能参数知识输出是对的，但是模型依旧输出非参数化</a:t>
            </a:r>
            <a:r>
              <a:rPr lang="zh-CN" altLang="en-US"/>
              <a:t>知识</a:t>
            </a:r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092835" y="5958840"/>
            <a:ext cx="2647315" cy="2882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理论分析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0" y="683260"/>
            <a:ext cx="7446010" cy="37401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zh-CN" altLang="en-US" sz="1600"/>
              <a:t>根据上述的缺陷，作者提出</a:t>
            </a:r>
            <a:r>
              <a:rPr lang="en-US" altLang="zh-CN" sz="1600"/>
              <a:t>RPO</a:t>
            </a:r>
            <a:r>
              <a:rPr lang="zh-CN" altLang="en-US" sz="1600"/>
              <a:t>，不再试图假装</a:t>
            </a:r>
            <a:r>
              <a:rPr lang="en-US" altLang="zh-CN" sz="1600"/>
              <a:t> </a:t>
            </a:r>
            <a:r>
              <a:rPr lang="zh-CN" altLang="en-US" sz="1600"/>
              <a:t>𝑅是输入的一部分，</a:t>
            </a:r>
            <a:r>
              <a:rPr lang="zh-CN" altLang="en-US" sz="1600"/>
              <a:t>通过建模：</a:t>
            </a:r>
            <a:endParaRPr lang="zh-CN" altLang="en-US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010" y="683260"/>
            <a:ext cx="1104900" cy="400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266825"/>
            <a:ext cx="3729990" cy="12503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5075" y="2714625"/>
            <a:ext cx="3810000" cy="895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825" y="3533775"/>
            <a:ext cx="3790950" cy="8382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2894965"/>
            <a:ext cx="13722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求出</a:t>
            </a:r>
            <a:r>
              <a:rPr lang="zh-CN" altLang="en-US" sz="1600">
                <a:sym typeface="+mn-ea"/>
              </a:rPr>
              <a:t>最优解：</a:t>
            </a:r>
            <a:endParaRPr lang="zh-CN" altLang="en-US" sz="1600"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440" y="3710305"/>
            <a:ext cx="175323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得到</a:t>
            </a:r>
            <a:r>
              <a:rPr lang="en-US" altLang="zh-CN" sz="1600">
                <a:sym typeface="+mn-ea"/>
              </a:rPr>
              <a:t>Reward</a:t>
            </a:r>
            <a:r>
              <a:rPr lang="zh-CN" altLang="en-US" sz="1600">
                <a:sym typeface="+mn-ea"/>
              </a:rPr>
              <a:t>形式：</a:t>
            </a:r>
            <a:endParaRPr lang="zh-CN" altLang="en-US" sz="1600"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4870" y="1901190"/>
            <a:ext cx="6157595" cy="23247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5195" y="1424940"/>
            <a:ext cx="3181350" cy="4762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7825" y="4100830"/>
            <a:ext cx="5334000" cy="66675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990" y="3285490"/>
            <a:ext cx="2585720" cy="371475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6113145" y="1418590"/>
            <a:ext cx="5752465" cy="280733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86560" y="5267325"/>
            <a:ext cx="3276600" cy="133350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0" y="5267325"/>
            <a:ext cx="16865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整合，</a:t>
            </a:r>
            <a:r>
              <a:rPr lang="zh-CN" altLang="en-US" sz="1600">
                <a:sym typeface="+mn-ea"/>
              </a:rPr>
              <a:t>得到最终</a:t>
            </a:r>
            <a:r>
              <a:rPr lang="en-US" altLang="zh-CN" sz="1600">
                <a:sym typeface="+mn-ea"/>
              </a:rPr>
              <a:t>PRO</a:t>
            </a:r>
            <a:r>
              <a:rPr lang="zh-CN" altLang="en-US" sz="1600">
                <a:sym typeface="+mn-ea"/>
              </a:rPr>
              <a:t>损失：</a:t>
            </a:r>
            <a:endParaRPr lang="zh-CN" altLang="en-US" sz="1600"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438775" y="476758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RPO:  </a:t>
            </a:r>
            <a:r>
              <a:rPr lang="zh-CN" altLang="en-US" sz="1600"/>
              <a:t>在单一策略中联合优化</a:t>
            </a:r>
            <a:r>
              <a:rPr lang="zh-CN" altLang="en-US" sz="1600" b="1"/>
              <a:t>生成偏好</a:t>
            </a:r>
            <a:r>
              <a:rPr lang="zh-CN" altLang="en-US" sz="1600"/>
              <a:t>和</a:t>
            </a:r>
            <a:r>
              <a:rPr lang="zh-CN" altLang="en-US" sz="1600" b="1"/>
              <a:t>检索偏好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生成项仍然是 </a:t>
            </a:r>
            <a:r>
              <a:rPr lang="en-US" altLang="zh-CN" sz="1600"/>
              <a:t>DPO </a:t>
            </a:r>
            <a:r>
              <a:rPr lang="zh-CN" altLang="en-US" sz="1600"/>
              <a:t>形式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→ </a:t>
            </a:r>
            <a:r>
              <a:rPr lang="zh-CN" altLang="en-US" sz="1600"/>
              <a:t>不破坏原有 </a:t>
            </a:r>
            <a:r>
              <a:rPr lang="en-US" altLang="zh-CN" sz="1600"/>
              <a:t>preference optimization </a:t>
            </a:r>
            <a:r>
              <a:rPr lang="zh-CN" altLang="en-US" sz="1600"/>
              <a:t>优点</a:t>
            </a:r>
            <a:endParaRPr lang="zh-CN" altLang="en-US" sz="1600"/>
          </a:p>
          <a:p>
            <a:r>
              <a:rPr lang="zh-CN" altLang="en-US" sz="1600"/>
              <a:t>检索项</a:t>
            </a:r>
            <a:r>
              <a:rPr lang="zh-CN" altLang="en-US" sz="1600"/>
              <a:t>奖励正负号</a:t>
            </a:r>
            <a:endParaRPr lang="zh-CN" altLang="en-US" sz="1600"/>
          </a:p>
          <a:p>
            <a:r>
              <a:rPr lang="zh-CN" altLang="en-US" sz="1600"/>
              <a:t> </a:t>
            </a:r>
            <a:r>
              <a:rPr lang="en-US" altLang="zh-CN" sz="1600"/>
              <a:t>→ </a:t>
            </a:r>
            <a:r>
              <a:rPr lang="zh-CN" altLang="en-US" sz="1600"/>
              <a:t>当非参数化答案被偏好是为正，反之为负</a:t>
            </a:r>
            <a:endParaRPr lang="en-US" altLang="zh-CN" sz="1600"/>
          </a:p>
          <a:p>
            <a:r>
              <a:rPr lang="zh-CN" altLang="en-US" sz="1600"/>
              <a:t>除以 </a:t>
            </a:r>
            <a:r>
              <a:rPr lang="en-US" altLang="zh-CN" sz="1600"/>
              <a:t>∣Dr​∣</a:t>
            </a:r>
            <a:endParaRPr lang="en-US" altLang="zh-CN" sz="1600"/>
          </a:p>
          <a:p>
            <a:r>
              <a:rPr lang="en-US" altLang="zh-CN" sz="1600"/>
              <a:t> → </a:t>
            </a:r>
            <a:r>
              <a:rPr lang="zh-CN" altLang="en-US" sz="1600"/>
              <a:t>防止文档越长，</a:t>
            </a:r>
            <a:r>
              <a:rPr lang="en-US" altLang="zh-CN" sz="1600"/>
              <a:t>reward </a:t>
            </a:r>
            <a:r>
              <a:rPr lang="zh-CN" altLang="en-US" sz="1600"/>
              <a:t>越大（长度偏置）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实验</a:t>
            </a:r>
            <a:endParaRPr kumimoji="1" lang="en-US" altLang="zh-CN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5850" y="683260"/>
            <a:ext cx="7479665" cy="29845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1440" y="3796030"/>
            <a:ext cx="9399270" cy="26104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1. </a:t>
            </a:r>
            <a:r>
              <a:rPr lang="zh-CN" altLang="en-US" sz="1600"/>
              <a:t>偏好对</a:t>
            </a:r>
            <a:r>
              <a:rPr lang="zh-CN" altLang="en-US" sz="1600"/>
              <a:t>收集</a:t>
            </a:r>
            <a:endParaRPr lang="zh-CN" altLang="en-US" sz="1600"/>
          </a:p>
          <a:p>
            <a:r>
              <a:rPr lang="en-US" altLang="zh-CN" sz="1600"/>
              <a:t>- </a:t>
            </a:r>
            <a:r>
              <a:rPr lang="zh-CN" altLang="en-US" sz="1600"/>
              <a:t>模型无法直接回答问题，但能正确生成检索结果的实例</a:t>
            </a:r>
            <a:endParaRPr lang="zh-CN" altLang="en-US" sz="1600"/>
          </a:p>
          <a:p>
            <a:r>
              <a:rPr lang="en-US" altLang="zh-CN" sz="1600"/>
              <a:t>- </a:t>
            </a:r>
            <a:r>
              <a:rPr lang="zh-CN" altLang="en-US" sz="1600"/>
              <a:t>模型本可以正确回答问题，但却受到检索到的知识影响而生成错误答案的实例</a:t>
            </a:r>
            <a:endParaRPr lang="zh-CN" altLang="en-US" sz="1600"/>
          </a:p>
          <a:p>
            <a:endParaRPr lang="zh-CN" altLang="en-US" sz="1600"/>
          </a:p>
          <a:p>
            <a:r>
              <a:rPr lang="en-US" altLang="zh-CN" sz="1600"/>
              <a:t>2. </a:t>
            </a:r>
            <a:r>
              <a:rPr lang="zh-CN" altLang="en-US" sz="1600"/>
              <a:t>收集到的偏好对，一部分</a:t>
            </a:r>
            <a:r>
              <a:rPr lang="en-US" altLang="zh-CN" sz="1600">
                <a:sym typeface="+mn-ea"/>
              </a:rPr>
              <a:t>SFT</a:t>
            </a:r>
            <a:r>
              <a:rPr lang="zh-CN" altLang="en-US" sz="1600">
                <a:sym typeface="+mn-ea"/>
              </a:rPr>
              <a:t>微调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3. </a:t>
            </a:r>
            <a:r>
              <a:rPr lang="zh-CN" altLang="en-US" sz="1600"/>
              <a:t>根据得到的偏好对进行</a:t>
            </a:r>
            <a:r>
              <a:rPr lang="en-US" altLang="zh-CN" sz="1600"/>
              <a:t>RPO</a:t>
            </a:r>
            <a:r>
              <a:rPr lang="zh-CN" altLang="en-US" sz="1600"/>
              <a:t>微调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665" y="4971415"/>
            <a:ext cx="3276600" cy="13335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10160" y="-7620"/>
            <a:ext cx="12212320" cy="690880"/>
          </a:xfrm>
          <a:prstGeom prst="rect">
            <a:avLst/>
          </a:prstGeom>
          <a:solidFill>
            <a:srgbClr val="6D2B8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2175" y="0"/>
            <a:ext cx="11095990" cy="683260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6002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20574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500" dirty="0">
                <a:sym typeface="+mn-ea"/>
              </a:rPr>
              <a:t>实验</a:t>
            </a:r>
            <a:r>
              <a:rPr kumimoji="1" lang="zh-CN" altLang="en-US" sz="2500" dirty="0">
                <a:sym typeface="+mn-ea"/>
              </a:rPr>
              <a:t>结果</a:t>
            </a:r>
            <a:endParaRPr kumimoji="1" lang="zh-CN" altLang="en-US" sz="25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31750"/>
            <a:ext cx="612140" cy="6121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40" y="969645"/>
            <a:ext cx="8759190" cy="4435475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3754120" y="3818890"/>
            <a:ext cx="2245995" cy="27876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445" y="131445"/>
            <a:ext cx="5486400" cy="24765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162675" y="610870"/>
            <a:ext cx="40874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消融</a:t>
            </a:r>
            <a:r>
              <a:rPr lang="zh-CN" altLang="en-US" b="1"/>
              <a:t>实验：</a:t>
            </a:r>
            <a:endParaRPr lang="zh-CN" altLang="en-US" b="1"/>
          </a:p>
          <a:p>
            <a:r>
              <a:rPr lang="en-US" altLang="zh-CN"/>
              <a:t>1. </a:t>
            </a:r>
            <a:r>
              <a:rPr lang="zh-CN" altLang="en-US"/>
              <a:t>移除检索内容奖励偏好项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移除生成答案偏好项目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不进行</a:t>
            </a:r>
            <a:r>
              <a:rPr lang="en-US" altLang="zh-CN"/>
              <a:t>SFT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45" y="2708910"/>
            <a:ext cx="5295900" cy="1828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28690" y="3010535"/>
            <a:ext cx="40874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偏好对筛选对模型性能的</a:t>
            </a:r>
            <a:r>
              <a:rPr lang="zh-CN" altLang="en-US" b="1"/>
              <a:t>影响：</a:t>
            </a:r>
            <a:endParaRPr lang="zh-CN" altLang="en-US" b="1"/>
          </a:p>
          <a:p>
            <a:r>
              <a:rPr lang="zh-CN" altLang="en-US"/>
              <a:t>原始</a:t>
            </a:r>
            <a:r>
              <a:rPr lang="en-US" altLang="zh-CN"/>
              <a:t>LLM</a:t>
            </a:r>
            <a:endParaRPr lang="en-US" altLang="zh-CN"/>
          </a:p>
          <a:p>
            <a:r>
              <a:rPr lang="zh-CN" altLang="en-US"/>
              <a:t>使用未经筛选的偏好对去微调模型</a:t>
            </a:r>
            <a:endParaRPr lang="zh-CN" altLang="en-US"/>
          </a:p>
          <a:p>
            <a:r>
              <a:rPr lang="zh-CN" altLang="en-US"/>
              <a:t>使用筛选后的数据微调模型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581025"/>
            <a:ext cx="3251835" cy="29114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418528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A</a:t>
            </a:r>
            <a:r>
              <a:rPr lang="en-US" altLang="zh-CN">
                <a:sym typeface="+mn-ea"/>
              </a:rPr>
              <a:t>:  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单独回答正确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检索文档正确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B:  LLM</a:t>
            </a:r>
            <a:r>
              <a:rPr lang="zh-CN" altLang="en-US">
                <a:sym typeface="+mn-ea"/>
              </a:rPr>
              <a:t>单独回答错误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检索文档正确（冲突场景）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</a:t>
            </a:r>
            <a:r>
              <a:rPr lang="en-US" altLang="zh-CN">
                <a:sym typeface="+mn-ea"/>
              </a:rPr>
              <a:t>:  LLM</a:t>
            </a:r>
            <a:r>
              <a:rPr lang="zh-CN" altLang="en-US">
                <a:sym typeface="+mn-ea"/>
              </a:rPr>
              <a:t>单独回答正确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检索文档错误（冲突</a:t>
            </a:r>
            <a:r>
              <a:rPr lang="zh-CN" altLang="en-US">
                <a:sym typeface="+mn-ea"/>
              </a:rPr>
              <a:t>场景）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</a:t>
            </a:r>
            <a:r>
              <a:rPr lang="en-US" altLang="zh-CN">
                <a:sym typeface="+mn-ea"/>
              </a:rPr>
              <a:t>:  LLM</a:t>
            </a:r>
            <a:r>
              <a:rPr lang="zh-CN" altLang="en-US">
                <a:sym typeface="+mn-ea"/>
              </a:rPr>
              <a:t>单独回答错误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检索文档错误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96290"/>
            <a:ext cx="4876800" cy="3314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41035" y="41852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ym typeface="+mn-ea"/>
              </a:rPr>
              <a:t>四类场景下不同方法的</a:t>
            </a:r>
            <a:r>
              <a:rPr lang="zh-CN" altLang="en-US">
                <a:sym typeface="+mn-ea"/>
              </a:rPr>
              <a:t>性能提升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2B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91490" y="2236470"/>
            <a:ext cx="11209655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  <a:uFillTx/>
                <a:ea typeface="张海山草泥马体" panose="02000000000000000000" pitchFamily="2" charset="-122"/>
                <a:cs typeface="Sitka Heading" charset="0"/>
              </a:rPr>
              <a:t>Thanks</a:t>
            </a:r>
            <a:endParaRPr lang="en-US" altLang="zh-CN" sz="11500" b="1" dirty="0">
              <a:solidFill>
                <a:schemeClr val="bg1"/>
              </a:solidFill>
              <a:uFillTx/>
              <a:ea typeface="张海山草泥马体" panose="02000000000000000000" pitchFamily="2" charset="-122"/>
              <a:cs typeface="Sitka Heading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DIAGRAM_VIRTUALLY_FRAME" val="{&quot;height&quot;:50,&quot;left&quot;:-0.8,&quot;top&quot;:54.15,&quot;width&quot;:966.2}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3797</Words>
  <Application>WPS 演示</Application>
  <PresentationFormat>宽屏</PresentationFormat>
  <Paragraphs>323</Paragraphs>
  <Slides>24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-apple-system</vt:lpstr>
      <vt:lpstr>JetBrains Mono</vt:lpstr>
      <vt:lpstr>BatangChe</vt:lpstr>
      <vt:lpstr>张海山草泥马体</vt:lpstr>
      <vt:lpstr>Sitka Heading</vt:lpstr>
      <vt:lpstr>印品黑体</vt:lpstr>
      <vt:lpstr>黑体</vt:lpstr>
      <vt:lpstr>印品黑体</vt:lpstr>
      <vt:lpstr>张海山草泥马体</vt:lpstr>
      <vt:lpstr>腹黑体</vt:lpstr>
      <vt:lpstr>印品酷黑体</vt:lpstr>
      <vt:lpstr>等线</vt:lpstr>
      <vt:lpstr>等线 Light</vt:lpstr>
      <vt:lpstr>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ExplodingTNT</cp:lastModifiedBy>
  <cp:revision>754</cp:revision>
  <dcterms:created xsi:type="dcterms:W3CDTF">2019-06-19T02:08:00Z</dcterms:created>
  <dcterms:modified xsi:type="dcterms:W3CDTF">2026-01-12T10:05:02Z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C7739A630C8B49BEB4C23A0F3B9DDB81_11</vt:lpwstr>
  </property>
</Properties>
</file>