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5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10.xml" ContentType="application/vnd.openxmlformats-officedocument.presentationml.tags+xml"/>
  <Override PartName="/ppt/tags/tag230.xml" ContentType="application/vnd.openxmlformats-officedocument.presentationml.tags+xml"/>
  <Override PartName="/ppt/tags/tag25.xml" ContentType="application/vnd.openxmlformats-officedocument.presentationml.tags+xml"/>
  <Override PartName="/ppt/tags/tag3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7" r:id="rId2"/>
    <p:sldId id="351" r:id="rId3"/>
    <p:sldId id="389" r:id="rId4"/>
    <p:sldId id="417" r:id="rId5"/>
    <p:sldId id="414" r:id="rId6"/>
    <p:sldId id="415" r:id="rId7"/>
    <p:sldId id="418" r:id="rId8"/>
    <p:sldId id="419" r:id="rId9"/>
    <p:sldId id="420" r:id="rId10"/>
    <p:sldId id="421" r:id="rId11"/>
    <p:sldId id="422" r:id="rId12"/>
    <p:sldId id="425" r:id="rId13"/>
    <p:sldId id="440" r:id="rId14"/>
    <p:sldId id="423" r:id="rId15"/>
    <p:sldId id="424" r:id="rId16"/>
    <p:sldId id="426" r:id="rId17"/>
    <p:sldId id="427" r:id="rId18"/>
    <p:sldId id="428" r:id="rId19"/>
    <p:sldId id="430" r:id="rId20"/>
    <p:sldId id="431" r:id="rId21"/>
    <p:sldId id="432" r:id="rId22"/>
    <p:sldId id="433" r:id="rId23"/>
    <p:sldId id="434" r:id="rId24"/>
    <p:sldId id="435" r:id="rId25"/>
    <p:sldId id="437" r:id="rId26"/>
    <p:sldId id="436" r:id="rId27"/>
    <p:sldId id="438" r:id="rId28"/>
    <p:sldId id="439" r:id="rId29"/>
    <p:sldId id="413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467B"/>
    <a:srgbClr val="92278F"/>
    <a:srgbClr val="6D2B85"/>
    <a:srgbClr val="3B1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006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3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    </a:t>
            </a:r>
            <a:r>
              <a:rPr lang="en-US" altLang="en-US"/>
              <a:t>■</a:t>
            </a:r>
            <a:r>
              <a:rPr lang="en-US" altLang="zh-CN"/>
              <a:t> GPQA</a:t>
            </a:r>
            <a:r>
              <a:rPr lang="zh-CN" altLang="en-US"/>
              <a:t>：博士级科学问答（物理</a:t>
            </a:r>
            <a:r>
              <a:rPr lang="en-US" altLang="zh-CN"/>
              <a:t>/</a:t>
            </a:r>
            <a:r>
              <a:rPr lang="zh-CN" altLang="en-US"/>
              <a:t>化学</a:t>
            </a:r>
            <a:r>
              <a:rPr lang="en-US" altLang="zh-CN"/>
              <a:t>/</a:t>
            </a:r>
            <a:r>
              <a:rPr lang="zh-CN" altLang="en-US"/>
              <a:t>生物）</a:t>
            </a:r>
          </a:p>
          <a:p>
            <a:r>
              <a:rPr lang="en-US" altLang="zh-CN"/>
              <a:t>    </a:t>
            </a:r>
            <a:r>
              <a:rPr lang="en-US" altLang="en-US"/>
              <a:t>■</a:t>
            </a:r>
            <a:r>
              <a:rPr lang="en-US" altLang="zh-CN"/>
              <a:t> GAIA</a:t>
            </a:r>
            <a:r>
              <a:rPr lang="zh-CN" altLang="en-US"/>
              <a:t>：通用人工智能助手任务</a:t>
            </a:r>
          </a:p>
          <a:p>
            <a:r>
              <a:rPr lang="en-US" altLang="zh-CN"/>
              <a:t>    </a:t>
            </a:r>
            <a:r>
              <a:rPr lang="en-US" altLang="en-US"/>
              <a:t>■</a:t>
            </a:r>
            <a:r>
              <a:rPr lang="en-US" altLang="zh-CN"/>
              <a:t> WebWalkerQA</a:t>
            </a:r>
            <a:r>
              <a:rPr lang="zh-CN" altLang="en-US"/>
              <a:t>：网页遍历与信息提取</a:t>
            </a:r>
          </a:p>
          <a:p>
            <a:r>
              <a:rPr lang="en-US" altLang="zh-CN"/>
              <a:t>    </a:t>
            </a:r>
            <a:r>
              <a:rPr lang="en-US" altLang="en-US"/>
              <a:t>■</a:t>
            </a:r>
            <a:r>
              <a:rPr lang="en-US" altLang="zh-CN"/>
              <a:t> HLE</a:t>
            </a:r>
            <a:r>
              <a:rPr lang="zh-CN" altLang="en-US"/>
              <a:t>（人类终极考试）：跨学科超难题目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ReAct  </a:t>
            </a:r>
            <a:r>
              <a:rPr lang="zh-CN" altLang="en-US"/>
              <a:t>让</a:t>
            </a:r>
            <a:r>
              <a:rPr lang="en-US" altLang="zh-CN"/>
              <a:t> LLM </a:t>
            </a:r>
            <a:r>
              <a:rPr lang="zh-CN" altLang="en-US"/>
              <a:t>在</a:t>
            </a:r>
            <a:r>
              <a:rPr lang="en-US" altLang="zh-CN"/>
              <a:t>“</a:t>
            </a:r>
            <a:r>
              <a:rPr lang="zh-CN" altLang="en-US"/>
              <a:t>思考（</a:t>
            </a:r>
            <a:r>
              <a:rPr lang="en-US" altLang="zh-CN"/>
              <a:t>Thought</a:t>
            </a:r>
            <a:r>
              <a:rPr lang="zh-CN" altLang="en-US"/>
              <a:t>）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行动（</a:t>
            </a:r>
            <a:r>
              <a:rPr lang="en-US" altLang="zh-CN"/>
              <a:t>Action</a:t>
            </a:r>
            <a:r>
              <a:rPr lang="zh-CN" altLang="en-US"/>
              <a:t>）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观察（</a:t>
            </a:r>
            <a:r>
              <a:rPr lang="en-US" altLang="zh-CN"/>
              <a:t>Observation</a:t>
            </a:r>
            <a:r>
              <a:rPr lang="zh-CN" altLang="en-US"/>
              <a:t>）</a:t>
            </a:r>
            <a:r>
              <a:rPr lang="en-US" altLang="zh-CN"/>
              <a:t>”</a:t>
            </a:r>
            <a:r>
              <a:rPr lang="zh-CN" altLang="en-US"/>
              <a:t>的循环中逐步推理并执行操作</a:t>
            </a:r>
          </a:p>
          <a:p>
            <a:r>
              <a:rPr lang="en-US" altLang="zh-CN"/>
              <a:t>A.C. </a:t>
            </a:r>
            <a:r>
              <a:rPr lang="zh-CN" altLang="en-US"/>
              <a:t>动作数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1A2E-23F4-8641-4D0E-A7BD74F6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DAAE3C-CB5A-EB46-848F-84354D52F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1372F8-8E3A-507D-F40E-8317BBF64A7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0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AD563-42A9-4912-819E-A53333D4722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869D6-B2B5-498E-BFD1-21B78FEA02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.xml"/><Relationship Id="rId10" Type="http://schemas.openxmlformats.org/officeDocument/2006/relationships/hyperlink" Target="https://arxiv.org/pdf/2501.07572" TargetMode="External"/><Relationship Id="rId4" Type="http://schemas.openxmlformats.org/officeDocument/2006/relationships/tags" Target="../tags/tag9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1.png"/><Relationship Id="rId3" Type="http://schemas.openxmlformats.org/officeDocument/2006/relationships/tags" Target="../tags/tag21.xml"/><Relationship Id="rId7" Type="http://schemas.openxmlformats.org/officeDocument/2006/relationships/image" Target="../media/image2.png"/><Relationship Id="rId12" Type="http://schemas.openxmlformats.org/officeDocument/2006/relationships/tags" Target="../tags/tag230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7.png"/><Relationship Id="rId5" Type="http://schemas.openxmlformats.org/officeDocument/2006/relationships/tags" Target="../tags/tag23.xml"/><Relationship Id="rId1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tags" Target="../tags/tag22.xml"/><Relationship Id="rId9" Type="http://schemas.openxmlformats.org/officeDocument/2006/relationships/tags" Target="../tags/tag210.xml"/><Relationship Id="rId14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7.xml"/><Relationship Id="rId7" Type="http://schemas.microsoft.com/office/2007/relationships/hdphoto" Target="../media/hdphoto2.wdp"/><Relationship Id="rId2" Type="http://schemas.openxmlformats.org/officeDocument/2006/relationships/tags" Target="../tags/tag26.xml"/><Relationship Id="rId1" Type="http://schemas.openxmlformats.org/officeDocument/2006/relationships/tags" Target="../tags/tag24.xml"/><Relationship Id="rId6" Type="http://schemas.openxmlformats.org/officeDocument/2006/relationships/image" Target="../media/image2.png"/><Relationship Id="rId11" Type="http://schemas.openxmlformats.org/officeDocument/2006/relationships/image" Target="../media/image15.png"/><Relationship Id="rId5" Type="http://schemas.openxmlformats.org/officeDocument/2006/relationships/slideLayout" Target="../slideLayouts/slideLayout7.xml"/><Relationship Id="rId10" Type="http://schemas.openxmlformats.org/officeDocument/2006/relationships/tags" Target="../tags/tag31.xml"/><Relationship Id="rId4" Type="http://schemas.openxmlformats.org/officeDocument/2006/relationships/tags" Target="../tags/tag28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32.xml"/><Relationship Id="rId7" Type="http://schemas.openxmlformats.org/officeDocument/2006/relationships/image" Target="../media/image13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35.xml"/><Relationship Id="rId7" Type="http://schemas.microsoft.com/office/2007/relationships/hdphoto" Target="../media/hdphoto2.wdp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microsoft.com/office/2007/relationships/hdphoto" Target="../media/hdphoto2.wdp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tags" Target="../tags/tag43.xml"/><Relationship Id="rId7" Type="http://schemas.openxmlformats.org/officeDocument/2006/relationships/image" Target="../media/image2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9.png"/><Relationship Id="rId5" Type="http://schemas.openxmlformats.org/officeDocument/2006/relationships/slideLayout" Target="../slideLayouts/slideLayout7.xml"/><Relationship Id="rId10" Type="http://schemas.openxmlformats.org/officeDocument/2006/relationships/hyperlink" Target="https://cs.njust.edu.cn/" TargetMode="External"/><Relationship Id="rId4" Type="http://schemas.openxmlformats.org/officeDocument/2006/relationships/tags" Target="../tags/tag44.xml"/><Relationship Id="rId9" Type="http://schemas.openxmlformats.org/officeDocument/2006/relationships/hyperlink" Target="https://huggingface.co/datasets/callanwu/WebWalkerQA/viewer?row=65&amp;views%5B%5D=mai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1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22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6.20670" TargetMode="External"/><Relationship Id="rId3" Type="http://schemas.openxmlformats.org/officeDocument/2006/relationships/tags" Target="../tags/tag56.xml"/><Relationship Id="rId7" Type="http://schemas.microsoft.com/office/2007/relationships/hdphoto" Target="../media/hdphoto2.wdp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26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27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28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29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30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31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32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4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3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B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4451350" y="5802630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2025.12.29</a:t>
            </a:r>
            <a:endParaRPr lang="en-US" altLang="zh-CN" dirty="0">
              <a:solidFill>
                <a:schemeClr val="bg1"/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1172" y="2507839"/>
            <a:ext cx="1120965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60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Sitka Heading" charset="0"/>
              </a:rPr>
              <a:t>基于强化学习的</a:t>
            </a:r>
            <a:r>
              <a:rPr lang="en-US" altLang="zh-CN" sz="60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Agent</a:t>
            </a:r>
            <a:r>
              <a:rPr lang="zh-CN" altLang="en-US" sz="60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Sitka Heading" charset="0"/>
              </a:rPr>
              <a:t>论文解读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" y="288290"/>
            <a:ext cx="1200785" cy="120078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451350" y="5294630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报告人：陈斌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733" y="6389370"/>
            <a:ext cx="719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出版物：</a:t>
            </a:r>
            <a:r>
              <a:rPr lang="en-US" altLang="zh-CN" dirty="0" err="1"/>
              <a:t>NeurIPS</a:t>
            </a:r>
            <a:r>
              <a:rPr lang="en-US" altLang="zh-CN" dirty="0"/>
              <a:t> 2025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45" y="953770"/>
            <a:ext cx="10328275" cy="42316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动机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09270" y="958850"/>
            <a:ext cx="10808970" cy="3071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+mn-ea"/>
              </a:rPr>
              <a:t>现有</a:t>
            </a:r>
            <a:r>
              <a:rPr lang="en-US" altLang="zh-CN" sz="2000" dirty="0">
                <a:latin typeface="+mn-ea"/>
                <a:cs typeface="+mn-ea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LRMs</a:t>
            </a:r>
            <a:r>
              <a:rPr lang="en-US" altLang="zh-CN" sz="2000" dirty="0">
                <a:latin typeface="+mn-ea"/>
                <a:cs typeface="+mn-ea"/>
              </a:rPr>
              <a:t> </a:t>
            </a:r>
            <a:r>
              <a:rPr lang="zh-CN" altLang="en-US" sz="2000" dirty="0">
                <a:latin typeface="+mn-ea"/>
                <a:cs typeface="+mn-ea"/>
              </a:rPr>
              <a:t>在处理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复杂、知识密集型任务</a:t>
            </a:r>
            <a:r>
              <a:rPr lang="zh-CN" altLang="en-US" sz="2000" dirty="0">
                <a:latin typeface="+mn-ea"/>
                <a:cs typeface="+mn-ea"/>
              </a:rPr>
              <a:t>时，由于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依赖模型的静态内部知识</a:t>
            </a:r>
            <a:r>
              <a:rPr lang="zh-CN" altLang="en-US" sz="2000" dirty="0">
                <a:latin typeface="+mn-ea"/>
                <a:cs typeface="+mn-ea"/>
              </a:rPr>
              <a:t>，缺乏外部信息整合能力，从而导致在该任务上表现不佳。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+mn-ea"/>
              </a:rPr>
              <a:t>现有整合外部知识方法存在缺陷：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zh-CN" altLang="en-US" sz="2000" dirty="0">
                <a:latin typeface="+mn-ea"/>
                <a:cs typeface="+mn-ea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缺乏灵活性</a:t>
            </a:r>
            <a:r>
              <a:rPr lang="zh-CN" altLang="en-US" sz="2000" dirty="0">
                <a:latin typeface="+mn-ea"/>
                <a:cs typeface="+mn-ea"/>
              </a:rPr>
              <a:t>，无法根据推理过程中动态出现的知识缺口进行自适应检索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+mn-ea"/>
              </a:rPr>
              <a:t>检索型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zh-CN" altLang="en-US" sz="2000" dirty="0">
                <a:latin typeface="+mn-ea"/>
                <a:cs typeface="+mn-ea"/>
              </a:rPr>
              <a:t>：只能返回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检索到的浅层信息</a:t>
            </a:r>
            <a:r>
              <a:rPr lang="zh-CN" altLang="en-US" sz="2000" dirty="0">
                <a:latin typeface="+mn-ea"/>
                <a:cs typeface="+mn-ea"/>
              </a:rPr>
              <a:t>，无法进行点击链接、多层跳转等操作获取更多相关信息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115" y="3959225"/>
            <a:ext cx="8827770" cy="2227580"/>
          </a:xfrm>
          <a:prstGeom prst="rect">
            <a:avLst/>
          </a:prstGeom>
        </p:spPr>
      </p:pic>
      <p:cxnSp>
        <p:nvCxnSpPr>
          <p:cNvPr id="25" name="直接箭头连接符 24"/>
          <p:cNvCxnSpPr/>
          <p:nvPr>
            <p:custDataLst>
              <p:tags r:id="rId4"/>
            </p:custDataLst>
          </p:nvPr>
        </p:nvCxnSpPr>
        <p:spPr>
          <a:xfrm rot="16200000">
            <a:off x="5258432" y="3691255"/>
            <a:ext cx="836295" cy="0"/>
          </a:xfrm>
          <a:prstGeom prst="straightConnector1">
            <a:avLst/>
          </a:prstGeom>
          <a:ln w="50800">
            <a:solidFill>
              <a:srgbClr val="5746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1733" y="6389370"/>
            <a:ext cx="719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Benchmark</a:t>
            </a:r>
            <a:r>
              <a:rPr lang="zh-CN" altLang="en-US" dirty="0"/>
              <a:t>：</a:t>
            </a:r>
            <a:r>
              <a:rPr lang="en-US" altLang="en-US" dirty="0" err="1">
                <a:hlinkClick r:id="rId10"/>
              </a:rPr>
              <a:t>WebWalker</a:t>
            </a:r>
            <a:r>
              <a:rPr lang="en-US" dirty="0"/>
              <a:t> </a:t>
            </a:r>
            <a:r>
              <a:rPr lang="en-US" altLang="zh-CN" dirty="0"/>
              <a:t>(ACL 2025)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动机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10" y="1089660"/>
            <a:ext cx="11295380" cy="49510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论文贡献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26060" y="890905"/>
            <a:ext cx="11212195" cy="5029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提出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WebThinker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框架：首个将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深度网页探索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推理过程端到端融合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LRM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智能体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与传统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RAG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预设固定流程不同，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WebThinker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允许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LRM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在自身推理过程中</a:t>
            </a:r>
            <a:r>
              <a:rPr lang="zh-CN" alt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自主决定何时调用工具、如何搜索、是否点击链接、何时撰写报告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，实现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思考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搜索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撰写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完全交织的动态闭环</a:t>
            </a:r>
          </a:p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 Web Explorer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（深度网页探索器）模块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赋予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LRM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递归式网页导航能力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：不仅支持关键词搜索，还能点击链接或按钮，深入多层网页抓取信息，突破传统浅层搜索的局限，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解决复杂任务中的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知识缺口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引入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Think-Search-and-Draft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（自主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思考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—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搜索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—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撰写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策略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将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DeepResearch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科学报告生成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纳入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LRM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的研究工作流：在推理和搜索的同时，可调用工具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草拟章节、检查结构、编辑内容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等操作，实现了从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答题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写综述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的能力跃迁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WebThinker </a:t>
            </a:r>
            <a:r>
              <a:rPr kumimoji="1" lang="zh-CN" altLang="en-US" sz="2500" dirty="0"/>
              <a:t>框架概述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rcRect b="287"/>
          <a:stretch>
            <a:fillRect/>
          </a:stretch>
        </p:blipFill>
        <p:spPr>
          <a:xfrm>
            <a:off x="73660" y="1001395"/>
            <a:ext cx="9082405" cy="55245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9063355" y="1001395"/>
            <a:ext cx="2996565" cy="544131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WebThinker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的两种工作模式：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Mode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：通过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Web Explorer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动态搜索、点击链接、提取信息，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弥补模型内部知识不足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：采用自主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思考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搜索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撰写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策略，在推理过程中实时起草、检查与编辑报告。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Deep Web Explorer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13995" y="801370"/>
                <a:ext cx="6727190" cy="22377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Deep Web Explorer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：深度网页探索器工具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𝑒𝑥𝑝</m:t>
                        </m:r>
                      </m:sub>
                    </m:sSub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是主推理模型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可调用的子模块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，最终输出一个直接的答案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具备两种基本能力</a:t>
                </a: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搜索引擎调用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：生成查询并获取结果</a:t>
                </a: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网页导航</a:t>
                </a:r>
                <a:r>
                  <a:rPr 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点击链接或按钮深入浏览页面</a:t>
                </a: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213995" y="801370"/>
                <a:ext cx="6727190" cy="2237740"/>
              </a:xfrm>
              <a:prstGeom prst="rect">
                <a:avLst/>
              </a:prstGeom>
              <a:blipFill rotWithShape="1">
                <a:blip r:embed="rId10"/>
                <a:stretch>
                  <a:fillRect b="-30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995" y="3596640"/>
            <a:ext cx="7320915" cy="2868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934325" y="1248410"/>
                <a:ext cx="3956050" cy="22885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Deep Web Explorer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在需求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下，会生成自己的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内部推理链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𝓡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，根据页面内容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决定是否继续搜索或深入点击。用于生成一个简洁的输出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𝒪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填补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主推理链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𝓡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的知识缺口。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7934325" y="1248410"/>
                <a:ext cx="3956050" cy="2288540"/>
              </a:xfrm>
              <a:prstGeom prst="rect">
                <a:avLst/>
              </a:prstGeom>
              <a:blipFill rotWithShape="1">
                <a:blip r:embed="rId13"/>
                <a:stretch>
                  <a:fillRect b="-10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曲线连接符 9"/>
          <p:cNvCxnSpPr>
            <a:stCxn id="11" idx="0"/>
            <a:endCxn id="7" idx="1"/>
          </p:cNvCxnSpPr>
          <p:nvPr/>
        </p:nvCxnSpPr>
        <p:spPr>
          <a:xfrm rot="16200000">
            <a:off x="6037580" y="1898650"/>
            <a:ext cx="1402715" cy="2390775"/>
          </a:xfrm>
          <a:prstGeom prst="curvedConnector2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3657600" y="3795395"/>
            <a:ext cx="3771900" cy="117221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934325" y="4102100"/>
                <a:ext cx="3956050" cy="135572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Deep Web Explorer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探索到的网页会被积累到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文档知识库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𝓜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中，用于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研究报告撰写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7934325" y="4102100"/>
                <a:ext cx="3956050" cy="135572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圆角矩形 20"/>
          <p:cNvSpPr/>
          <p:nvPr/>
        </p:nvSpPr>
        <p:spPr>
          <a:xfrm>
            <a:off x="3657600" y="5005070"/>
            <a:ext cx="3771900" cy="1282065"/>
          </a:xfrm>
          <a:prstGeom prst="roundRect">
            <a:avLst/>
          </a:prstGeom>
          <a:noFill/>
          <a:ln w="1905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曲线连接符 21"/>
          <p:cNvCxnSpPr>
            <a:stCxn id="21" idx="3"/>
            <a:endCxn id="18" idx="1"/>
          </p:cNvCxnSpPr>
          <p:nvPr/>
        </p:nvCxnSpPr>
        <p:spPr>
          <a:xfrm flipV="1">
            <a:off x="7429500" y="4780280"/>
            <a:ext cx="504825" cy="866140"/>
          </a:xfrm>
          <a:prstGeom prst="curvedConnector3">
            <a:avLst>
              <a:gd name="adj1" fmla="val 50063"/>
            </a:avLst>
          </a:prstGeom>
          <a:ln w="508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Report Drafting Tools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995" y="3557270"/>
            <a:ext cx="6959269" cy="28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419975" y="3557270"/>
                <a:ext cx="4421505" cy="288000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Report Generation Mode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下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LRM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负责整体的流程编排：执行推理、决定何时使用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获取更多信息、以及何时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/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如何使用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𝑤𝑟𝑖𝑡𝑒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修改报告。</a:t>
                </a:r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辅助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：用于执行主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LRM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下达的报告修改等细节操作。</a:t>
                </a: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7419975" y="3557270"/>
                <a:ext cx="4421505" cy="2880000"/>
              </a:xfrm>
              <a:prstGeom prst="rect">
                <a:avLst/>
              </a:prstGeom>
              <a:blipFill>
                <a:blip r:embed="rId9"/>
                <a:stretch>
                  <a:fillRect l="-1102" r="-1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13995" y="801370"/>
                <a:ext cx="11537315" cy="223774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Report Drafting Tools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：报告撰写工具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𝑤𝑟𝑖𝑡𝑒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𝑑𝑟𝑎𝑓𝑡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𝑐h𝑒𝑐𝑘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𝑒𝑑𝑖𝑡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由一个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辅助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LLM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实现，将主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LRM 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的任务协调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与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报告文本的细节操作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进行解耦。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𝑑𝑟𝑎𝑓𝑡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：根据当前研究进度，撰写指定章节</a:t>
                </a: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𝑐h𝑒𝑐𝑘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：获取当前报告的结构大纲，用于整体审视</a:t>
                </a: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𝑒𝑑𝑖𝑡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：根据指令对现有报告进行修订，提升连贯性与完整性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213995" y="801370"/>
                <a:ext cx="11537315" cy="223774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/>
          <p:cNvCxnSpPr>
            <a:cxnSpLocks/>
            <a:endCxn id="9" idx="0"/>
          </p:cNvCxnSpPr>
          <p:nvPr/>
        </p:nvCxnSpPr>
        <p:spPr>
          <a:xfrm flipH="1">
            <a:off x="9630728" y="1394460"/>
            <a:ext cx="1189672" cy="216281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>
                <a:sym typeface="+mn-ea"/>
              </a:rPr>
              <a:t>WebThinker </a:t>
            </a:r>
            <a:r>
              <a:rPr kumimoji="1" lang="zh-CN" altLang="en-US" sz="2500" dirty="0">
                <a:sym typeface="+mn-ea"/>
              </a:rPr>
              <a:t>训练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13995" y="801370"/>
                <a:ext cx="11505565" cy="596900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1. 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偏好数据集构建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：</a:t>
                </a: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轨迹采样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：使用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WebThinker 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在复杂任务上自我采样多个推理轨迹（每个问题生成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n 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条不同路径）</a:t>
                </a: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偏好对构建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zh-CN" b="1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b="1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：对同一个问题的不同轨迹，按如下规则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判断优劣</a:t>
                </a:r>
                <a:endParaRPr lang="zh-CN" altLang="en-US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正确性</a:t>
                </a:r>
                <a:r>
                  <a:rPr lang="en-US" altLang="zh-CN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/</a:t>
                </a:r>
                <a:r>
                  <a:rPr lang="zh-CN" altLang="en-US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报告质量优先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：答案正确或报告质量更高者优先</a:t>
                </a: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工具使用效率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：若都正确，工具调用次数更少者更优</a:t>
                </a: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推理简洁性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：若工具使用相同，更短的推理链更优</a:t>
                </a: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2. 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迭代式在线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DPO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训练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：</a:t>
                </a: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使用标准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DPO 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损失函数优化策略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，以参考策略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为基准，</a:t>
                </a:r>
                <a:r>
                  <a:rPr lang="zh-CN" altLang="en-US" b="1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拉大优势轨迹与非优轨迹的对数似然差距</a:t>
                </a: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训练流程：</a:t>
                </a:r>
              </a:p>
              <a:p>
                <a:pPr marL="800100" lvl="1" indent="-342900" fontAlgn="auto">
                  <a:lnSpc>
                    <a:spcPct val="150000"/>
                  </a:lnSpc>
                  <a:buFont typeface="+mj-lt"/>
                  <a:buAutoNum type="alphaLcPeriod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用当前偏好数据集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训练策略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800100" lvl="1" indent="-342900" fontAlgn="auto">
                  <a:lnSpc>
                    <a:spcPct val="150000"/>
                  </a:lnSpc>
                  <a:buFont typeface="+mj-lt"/>
                  <a:buAutoNum type="alphaLcPeriod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用更新后的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重新采用新轨迹</a:t>
                </a:r>
              </a:p>
              <a:p>
                <a:pPr marL="800100" lvl="1" indent="-342900" fontAlgn="auto">
                  <a:lnSpc>
                    <a:spcPct val="150000"/>
                  </a:lnSpc>
                  <a:buFont typeface="+mj-lt"/>
                  <a:buAutoNum type="alphaLcPeriod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对新轨迹应用上述偏好规则，构建新偏好集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800100" lvl="1" indent="-342900" fontAlgn="auto">
                  <a:lnSpc>
                    <a:spcPct val="150000"/>
                  </a:lnSpc>
                  <a:buFont typeface="+mj-lt"/>
                  <a:buAutoNum type="alphaLcPeriod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更新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，重复循环</a:t>
                </a: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13995" y="801370"/>
                <a:ext cx="11505565" cy="5969000"/>
              </a:xfrm>
              <a:prstGeom prst="rect">
                <a:avLst/>
              </a:prstGeom>
              <a:blipFill>
                <a:blip r:embed="rId7"/>
                <a:stretch>
                  <a:fillRect l="-424" b="-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7473DA1D-2ABD-F278-A051-F6E089A55F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0989" y="4216761"/>
            <a:ext cx="9228571" cy="69523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实验</a:t>
            </a:r>
            <a:r>
              <a:rPr kumimoji="1" lang="en-US" altLang="zh-CN" sz="2500" dirty="0"/>
              <a:t> – </a:t>
            </a:r>
            <a:r>
              <a:rPr kumimoji="1" lang="zh-CN" altLang="en-US" sz="2500" dirty="0"/>
              <a:t>实验设置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13995" y="801370"/>
            <a:ext cx="11322685" cy="59690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任务与数据集</a:t>
            </a:r>
          </a:p>
          <a:p>
            <a:pPr marL="800100" lvl="1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复杂推理任务：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GPQA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、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GAIA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WebWalkerQA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、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HLE</a:t>
            </a:r>
          </a:p>
          <a:p>
            <a:pPr marL="1200150" lvl="2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评估指标：</a:t>
            </a:r>
            <a:r>
              <a:rPr lang="en-US" altLang="zh-CN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Pass@1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，裁判模型为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Qwen2.5-72B-Instruct</a:t>
            </a:r>
          </a:p>
          <a:p>
            <a:pPr marL="800100" lvl="1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科学报告生成任务：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Glaive 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数据集</a:t>
            </a:r>
          </a:p>
          <a:p>
            <a:pPr marL="1200150" lvl="2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评估指标：从</a:t>
            </a:r>
            <a:r>
              <a:rPr lang="zh-CN" altLang="en-US" b="1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完整性、深入性、事实性、连贯性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四个维度，由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DeepSeek-R1-671B 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与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GPT-4o 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评估</a:t>
            </a:r>
          </a:p>
          <a:p>
            <a:pPr marL="285750" lvl="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实现细节</a:t>
            </a: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主干模型：</a:t>
            </a:r>
            <a:r>
              <a:rPr lang="en-US" altLang="zh-CN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QwQ-32B</a:t>
            </a: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辅助模型：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Qwen2.5-Instruct-32B 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执行报告撰写、检查与编辑</a:t>
            </a: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搜索接口：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Bing Web Search API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，内容通过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Crawl4AI 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抓取</a:t>
            </a: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训练轨迹数据集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380" y="4628515"/>
            <a:ext cx="4852670" cy="20847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实验</a:t>
            </a:r>
            <a:r>
              <a:rPr kumimoji="1" lang="en-US" altLang="zh-CN" sz="2500" dirty="0"/>
              <a:t> – </a:t>
            </a:r>
            <a:r>
              <a:rPr kumimoji="1" lang="zh-CN" altLang="en-US" sz="2500" dirty="0"/>
              <a:t>复杂问题求解</a:t>
            </a:r>
            <a:r>
              <a:rPr kumimoji="1" lang="en-US" altLang="zh-CN" sz="2500" dirty="0"/>
              <a:t>1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826135"/>
            <a:ext cx="8016240" cy="58978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895" y="-6985"/>
            <a:ext cx="2738120" cy="511175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534275" y="6210935"/>
            <a:ext cx="419100" cy="4000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490200" y="3947160"/>
            <a:ext cx="419100" cy="5238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108315" y="5104765"/>
            <a:ext cx="408432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推理模型效果优于传统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LLM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方法有一定提升，但效果有限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自主搜索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Agent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显著优于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RAG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训练能够进一步提升性能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>
                <a:sym typeface="+mn-ea"/>
              </a:rPr>
              <a:t>WebThinker vs. WebWalker 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graphicFrame>
        <p:nvGraphicFramePr>
          <p:cNvPr id="17" name="表格 16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71265162"/>
              </p:ext>
            </p:extLst>
          </p:nvPr>
        </p:nvGraphicFramePr>
        <p:xfrm>
          <a:off x="190500" y="901700"/>
          <a:ext cx="11809730" cy="574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2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WebThinker</a:t>
                      </a:r>
                      <a:endParaRPr lang="en-US" altLang="zh-C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WebWalker</a:t>
                      </a:r>
                      <a:endParaRPr lang="en-US" altLang="zh-C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探索模块名称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Web Explorer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Explorer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探索目标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为通用深度研究任务服务（如复杂问答、科学报告生成）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专用于给定根网址下的网站内信息提取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探索起点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自然语言问题（无预设网址）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必须提供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根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是否可调用搜索引擎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是否可跨站探索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ym typeface="+mn-ea"/>
                        </a:rPr>
                        <a:t>√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×（只能在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根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 </a:t>
                      </a:r>
                      <a:r>
                        <a:rPr lang="zh-CN" altLang="en-US" sz="1800" dirty="0">
                          <a:sym typeface="+mn-ea"/>
                        </a:rPr>
                        <a:t>的子页面中点击）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输出形式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可为答案、也可为结构化科学报告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仅短答案（实体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事实）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训练方式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模型：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zero-shot prompting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模型：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DPO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训练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zero-shot prompting</a:t>
                      </a:r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2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总结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关注的是针对一个问题，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什么时候需要检索</a:t>
                      </a:r>
                      <a:r>
                        <a:rPr lang="zh-CN" altLang="en-US" dirty="0"/>
                        <a:t>相关知识，并且在获取到初始网页后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需要怎么做</a:t>
                      </a:r>
                      <a:r>
                        <a:rPr lang="zh-CN" altLang="en-US" dirty="0"/>
                        <a:t>才能得到需要的答案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关注的是由</a:t>
                      </a:r>
                      <a:r>
                        <a:rPr lang="zh-CN" altLang="en-US" b="1" dirty="0"/>
                        <a:t>根</a:t>
                      </a:r>
                      <a:r>
                        <a:rPr lang="en-US" altLang="zh-CN" b="1" dirty="0"/>
                        <a:t>URL</a:t>
                      </a:r>
                      <a:r>
                        <a:rPr lang="zh-CN" altLang="en-US" dirty="0"/>
                        <a:t>出发，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网页怎么点</a:t>
                      </a:r>
                      <a:r>
                        <a:rPr lang="zh-CN" altLang="en-US" dirty="0"/>
                        <a:t>才能得到需要的答案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FBC8C-ACE4-6CE0-3E2F-ACADF4A0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6EB6237-71B9-7E5C-1E46-AE3D0FAA4C7A}"/>
              </a:ext>
            </a:extLst>
          </p:cNvPr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A7A2198B-025B-06FF-9F00-F28E5081D675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 err="1">
                <a:sym typeface="+mn-ea"/>
              </a:rPr>
              <a:t>WebWalkerQA</a:t>
            </a:r>
            <a:r>
              <a:rPr kumimoji="1" lang="en-US" altLang="zh-CN" sz="2500" dirty="0">
                <a:sym typeface="+mn-ea"/>
              </a:rPr>
              <a:t> </a:t>
            </a:r>
            <a:r>
              <a:rPr kumimoji="1" lang="zh-CN" altLang="en-US" sz="2500" dirty="0">
                <a:sym typeface="+mn-ea"/>
              </a:rPr>
              <a:t>样例</a:t>
            </a:r>
            <a:r>
              <a:rPr kumimoji="1" lang="en-US" altLang="zh-CN" sz="2500" dirty="0">
                <a:sym typeface="+mn-ea"/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EF4BDB-7536-D9E3-853C-87B60E562E8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E301941-6ECB-E349-4ACA-059A3C5CABF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733" y="6389370"/>
            <a:ext cx="869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数据集样例链接：</a:t>
            </a:r>
            <a:r>
              <a:rPr lang="en-US" altLang="zh-CN" dirty="0" err="1">
                <a:hlinkClick r:id="rId9"/>
              </a:rPr>
              <a:t>callanwu</a:t>
            </a:r>
            <a:r>
              <a:rPr lang="en-US" altLang="zh-CN" dirty="0">
                <a:hlinkClick r:id="rId9"/>
              </a:rPr>
              <a:t>/</a:t>
            </a:r>
            <a:r>
              <a:rPr lang="en-US" altLang="zh-CN" dirty="0" err="1">
                <a:hlinkClick r:id="rId9"/>
              </a:rPr>
              <a:t>WebWalkerQA</a:t>
            </a:r>
            <a:r>
              <a:rPr lang="en-US" altLang="zh-CN" dirty="0">
                <a:hlinkClick r:id="rId9"/>
              </a:rPr>
              <a:t> · Datasets at Hugging Face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2BEAA4-0EC0-CAF4-E4B2-A951147439F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13995" y="801370"/>
            <a:ext cx="11537315" cy="262763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</a:rPr>
              <a:t>Question: </a:t>
            </a:r>
            <a:r>
              <a:rPr lang="zh-CN" altLang="en-US" dirty="0"/>
              <a:t>南京理工大学计算机学院在</a:t>
            </a:r>
            <a:r>
              <a:rPr lang="en-US" altLang="zh-CN" dirty="0"/>
              <a:t>2024</a:t>
            </a:r>
            <a:r>
              <a:rPr lang="zh-CN" altLang="en-US" dirty="0"/>
              <a:t>年夏季和</a:t>
            </a:r>
            <a:r>
              <a:rPr lang="en-US" altLang="zh-CN" dirty="0"/>
              <a:t>2021</a:t>
            </a:r>
            <a:r>
              <a:rPr lang="zh-CN" altLang="en-US" dirty="0"/>
              <a:t>年春季组织的党史学习活动，分别在什么地点进行，参与者为谁？</a:t>
            </a:r>
            <a:endParaRPr lang="en-US" altLang="zh-CN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</a:rPr>
              <a:t>Answer:  </a:t>
            </a:r>
            <a:r>
              <a:rPr lang="en-US" altLang="zh-CN" dirty="0"/>
              <a:t>2024</a:t>
            </a:r>
            <a:r>
              <a:rPr lang="zh-CN" altLang="en-US" dirty="0"/>
              <a:t>年在雨花台区烈士陵园，由计算机学院“青春筑梦党史行”实践小队参与；</a:t>
            </a:r>
            <a:r>
              <a:rPr lang="en-US" altLang="zh-CN" dirty="0"/>
              <a:t>2021</a:t>
            </a:r>
            <a:r>
              <a:rPr lang="zh-CN" altLang="en-US" dirty="0"/>
              <a:t>年在南京抗日航空烈士纪念馆，由计算机学院本科生党支部部分学生党员参与。</a:t>
            </a:r>
            <a:endParaRPr lang="en-US" altLang="zh-CN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Cambria Math" panose="02040503050406030204" pitchFamily="18" charset="0"/>
                <a:cs typeface="Cambria Math" panose="02040503050406030204" pitchFamily="18" charset="0"/>
              </a:rPr>
              <a:t>root_url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</a:rPr>
              <a:t>: </a:t>
            </a:r>
            <a:r>
              <a:rPr lang="en-US" altLang="zh-CN" dirty="0">
                <a:hlinkClick r:id="rId10"/>
              </a:rPr>
              <a:t>https://cs.njust.edu.cn/</a:t>
            </a:r>
            <a:endParaRPr lang="en-US" altLang="zh-CN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</a:rPr>
              <a:t>Info: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0925C3-484B-3937-6691-1DF56A0F3C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3261" y="2955520"/>
            <a:ext cx="8007930" cy="310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8905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实验</a:t>
            </a:r>
            <a:r>
              <a:rPr kumimoji="1" lang="en-US" altLang="zh-CN" sz="2500" dirty="0"/>
              <a:t> – </a:t>
            </a:r>
            <a:r>
              <a:rPr kumimoji="1" lang="zh-CN" altLang="en-US" sz="2500" dirty="0"/>
              <a:t>复杂问题求解</a:t>
            </a:r>
            <a:r>
              <a:rPr kumimoji="1" lang="en-US" altLang="zh-CN" sz="2500" dirty="0"/>
              <a:t>2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751205"/>
            <a:ext cx="8157210" cy="600202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108315" y="2552700"/>
            <a:ext cx="408432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HLE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总共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2500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道题，论文中排除含图像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表格等多模态内容后</a:t>
            </a:r>
            <a:r>
              <a:rPr lang="zh-CN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随机抽样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500 </a:t>
            </a:r>
            <a:r>
              <a:rPr lang="zh-CN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题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进行测试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实验</a:t>
            </a:r>
            <a:r>
              <a:rPr kumimoji="1" lang="en-US" altLang="zh-CN" sz="2500" dirty="0"/>
              <a:t> – </a:t>
            </a:r>
            <a:r>
              <a:rPr kumimoji="1" lang="zh-CN" altLang="en-US" sz="2500" dirty="0"/>
              <a:t>科学报告生成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65" y="1276985"/>
            <a:ext cx="9458325" cy="42278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1440" y="767080"/>
            <a:ext cx="1202753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评估指标：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（完整性）、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Thoroughness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（深入性）、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Factuality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事实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性）、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（连贯性）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1440" y="5629910"/>
            <a:ext cx="78346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WebThinker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在完整性和深入性上显著优于所有基线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t-SNE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可视化中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WebThinker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生成的报告更广泛、更分散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消融实验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20" y="1252220"/>
            <a:ext cx="10144760" cy="312293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780665" y="4814570"/>
            <a:ext cx="664972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训练：提升复杂推理能力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 Web Explorer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：决定信息深度与覆盖范围</a:t>
            </a:r>
            <a:endParaRPr lang="en-US" altLang="zh-CN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Think-Search-and-Draft + Check/Edit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：决定报告质量与连贯性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样例展示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683260"/>
            <a:ext cx="6120000" cy="22929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460" y="253365"/>
            <a:ext cx="5545455" cy="65354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955" y="3092450"/>
            <a:ext cx="6074410" cy="3463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问题：《海底总动员》中作为宠物被放生、进而变成入侵物种的鱼类，根据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USGS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找出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年之前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非本地物种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在美国被发现时，该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地点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邮政编码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模型回答：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首先确定这个鱼类为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小丑鱼</a:t>
            </a:r>
            <a:r>
              <a:rPr lang="en-US" altLang="zh-CN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Amphiprion ocellaris</a:t>
            </a:r>
            <a:r>
              <a:rPr lang="zh-CN" altLang="en-US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14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确定目标数据源为：</a:t>
            </a:r>
            <a:r>
              <a:rPr lang="en-US" altLang="zh-C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USGS</a:t>
            </a:r>
            <a:r>
              <a:rPr lang="zh-CN" alt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数据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分步检索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先检索该物种在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2020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年前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非本地发现记录</a:t>
            </a:r>
            <a:endParaRPr lang="zh-CN" altLang="en-US" sz="1400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分步检索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再针对返回的具体地点</a:t>
            </a:r>
            <a:r>
              <a:rPr lang="zh-CN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查找邮政编码</a:t>
            </a:r>
            <a:endParaRPr lang="zh-CN" altLang="en-US" sz="14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zh-CN" alt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多次搜索确定</a:t>
            </a:r>
            <a:r>
              <a:rPr lang="zh-CN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该物种只有一次非本地记录，避免遗漏或误判</a:t>
            </a: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将地点信息</a:t>
            </a:r>
            <a:r>
              <a:rPr lang="zh-CN" alt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转换为题目要求的输出格式</a:t>
            </a:r>
            <a:r>
              <a:rPr lang="zh-CN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（五位数邮编），并给出最终答案</a:t>
            </a:r>
          </a:p>
        </p:txBody>
      </p:sp>
      <p:sp>
        <p:nvSpPr>
          <p:cNvPr id="12" name="矩形 11"/>
          <p:cNvSpPr/>
          <p:nvPr/>
        </p:nvSpPr>
        <p:spPr>
          <a:xfrm>
            <a:off x="6555740" y="512445"/>
            <a:ext cx="5464175" cy="77343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555740" y="1287145"/>
            <a:ext cx="5464175" cy="7613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555740" y="2048510"/>
            <a:ext cx="5464175" cy="108966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555740" y="3138170"/>
            <a:ext cx="5464175" cy="136588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555740" y="4503420"/>
            <a:ext cx="5464175" cy="15265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555740" y="6029960"/>
            <a:ext cx="5464175" cy="75946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195695" y="6235655"/>
            <a:ext cx="360000" cy="359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195695" y="753110"/>
            <a:ext cx="3600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①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195695" y="1488395"/>
            <a:ext cx="360000" cy="359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195695" y="2413590"/>
            <a:ext cx="360000" cy="359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sym typeface="+mn-ea"/>
              </a:rPr>
              <a:t>③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195695" y="3641680"/>
            <a:ext cx="360000" cy="359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sym typeface="+mn-ea"/>
              </a:rPr>
              <a:t>④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195695" y="5086940"/>
            <a:ext cx="360000" cy="359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FF0000"/>
                </a:solidFill>
                <a:sym typeface="+mn-ea"/>
              </a:rPr>
              <a:t>⑤</a:t>
            </a:r>
          </a:p>
        </p:txBody>
      </p:sp>
      <p:sp>
        <p:nvSpPr>
          <p:cNvPr id="31" name="矩形 30"/>
          <p:cNvSpPr/>
          <p:nvPr/>
        </p:nvSpPr>
        <p:spPr>
          <a:xfrm>
            <a:off x="8027035" y="1874520"/>
            <a:ext cx="361315" cy="17399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83755" y="1113155"/>
            <a:ext cx="1204595" cy="17399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157720" y="2487295"/>
            <a:ext cx="1448435" cy="17399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344025" y="2487295"/>
            <a:ext cx="1177290" cy="17399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919595" y="2652395"/>
            <a:ext cx="497840" cy="17399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304020" y="4172585"/>
            <a:ext cx="2623185" cy="17399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1372215" y="5694045"/>
            <a:ext cx="554990" cy="17399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30" y="1058545"/>
            <a:ext cx="10289540" cy="358521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91733" y="6389370"/>
            <a:ext cx="719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出版物：</a:t>
            </a:r>
            <a:r>
              <a:rPr lang="en-US" altLang="zh-CN" dirty="0"/>
              <a:t>arxiv 2025.10.14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动机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09270" y="958851"/>
            <a:ext cx="10808970" cy="4283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+mn-ea"/>
                <a:cs typeface="+mn-ea"/>
              </a:rPr>
              <a:t>MLLMs </a:t>
            </a:r>
            <a:r>
              <a:rPr lang="zh-CN" altLang="en-US" sz="2000" dirty="0">
                <a:latin typeface="+mn-ea"/>
                <a:cs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知识来源于其训练数据，无法动态更新</a:t>
            </a:r>
            <a:endParaRPr lang="zh-CN" altLang="en-US" sz="2000" dirty="0">
              <a:latin typeface="+mn-ea"/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+mn-ea"/>
                <a:cs typeface="+mn-ea"/>
              </a:rPr>
              <a:t>现有外部知识引入方法存在缺陷：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  <a:cs typeface="+mn-ea"/>
              </a:rPr>
              <a:t>RAG </a:t>
            </a:r>
            <a:r>
              <a:rPr lang="zh-CN" altLang="en-US" sz="2000" dirty="0">
                <a:latin typeface="+mn-ea"/>
                <a:cs typeface="+mn-ea"/>
              </a:rPr>
              <a:t>依赖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静态知识库</a:t>
            </a:r>
            <a:r>
              <a:rPr lang="zh-CN" altLang="en-US" sz="2000" dirty="0">
                <a:latin typeface="+mn-ea"/>
                <a:cs typeface="+mn-ea"/>
              </a:rPr>
              <a:t>，无法覆盖动态网络信息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  <a:cs typeface="+mn-ea"/>
              </a:rPr>
              <a:t>Search agent </a:t>
            </a:r>
            <a:r>
              <a:rPr lang="zh-CN" altLang="en-US" sz="2000" dirty="0">
                <a:latin typeface="+mn-ea"/>
                <a:cs typeface="+mn-ea"/>
              </a:rPr>
              <a:t>仅通过</a:t>
            </a:r>
            <a:r>
              <a:rPr lang="en-US" altLang="zh-CN" sz="2000" dirty="0">
                <a:latin typeface="+mn-ea"/>
                <a:cs typeface="+mn-ea"/>
              </a:rPr>
              <a:t> prompt </a:t>
            </a:r>
            <a:r>
              <a:rPr lang="zh-CN" altLang="en-US" sz="2000" dirty="0">
                <a:latin typeface="+mn-ea"/>
                <a:cs typeface="+mn-ea"/>
              </a:rPr>
              <a:t>进行搜索，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面对真实网络搜索结果的噪声、不完整等信息时，推理能力弱</a:t>
            </a:r>
            <a:endParaRPr lang="zh-CN" altLang="en-US" sz="2000" dirty="0">
              <a:latin typeface="+mn-ea"/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+mn-ea"/>
              </a:rPr>
              <a:t>带检索的</a:t>
            </a:r>
            <a:r>
              <a:rPr lang="en-US" altLang="zh-CN" sz="2000" dirty="0">
                <a:latin typeface="+mn-ea"/>
                <a:cs typeface="+mn-ea"/>
              </a:rPr>
              <a:t> MLLM </a:t>
            </a:r>
            <a:r>
              <a:rPr lang="zh-CN" altLang="en-US" sz="2000" dirty="0">
                <a:latin typeface="+mn-ea"/>
                <a:cs typeface="+mn-ea"/>
              </a:rPr>
              <a:t>多数仅支持文本搜索，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忽略图像本身的价值</a:t>
            </a:r>
            <a:endParaRPr lang="zh-CN" altLang="en-US" sz="2000" dirty="0">
              <a:latin typeface="+mn-ea"/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+mn-ea"/>
              </a:rPr>
              <a:t>少数支持图像检索（如</a:t>
            </a:r>
            <a:r>
              <a:rPr lang="en-US" altLang="zh-CN" sz="2000" dirty="0">
                <a:latin typeface="+mn-ea"/>
                <a:cs typeface="+mn-ea"/>
              </a:rPr>
              <a:t> MMSearch-R1</a:t>
            </a:r>
            <a:r>
              <a:rPr lang="zh-CN" altLang="en-US" sz="2000" dirty="0">
                <a:latin typeface="+mn-ea"/>
                <a:cs typeface="+mn-ea"/>
              </a:rPr>
              <a:t>）存在的问题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+mn-ea"/>
              </a:rPr>
              <a:t>使用整张图像进行搜索，无法聚焦问题相关的图像区域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0EA890-ADAA-F5D3-F87D-16AEF7AB642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733" y="6389370"/>
            <a:ext cx="719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8"/>
              </a:rPr>
              <a:t>MMSearch-R1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动机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9465" y="715010"/>
            <a:ext cx="8052435" cy="61429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论文贡献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26060" y="890905"/>
            <a:ext cx="11212195" cy="4603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提出首个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支持多轮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自适应图文搜索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MLLM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DeepMMSearch-R1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支持动态多轮搜索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：模型可根据检索结果进行</a:t>
            </a:r>
            <a:r>
              <a:rPr lang="zh-CN" alt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自我反思（</a:t>
            </a:r>
            <a:r>
              <a:rPr lang="en-US" altLang="zh-C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self-reflection</a:t>
            </a:r>
            <a:r>
              <a:rPr lang="zh-CN" alt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自我修正（</a:t>
            </a:r>
            <a:r>
              <a:rPr lang="en-US" altLang="zh-C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self-correction</a:t>
            </a:r>
            <a:r>
              <a:rPr lang="zh-CN" alt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，多次迭代优化文本搜索查询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引入裁剪图像搜索机制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：当问题仅涉及图像中特定对象时，模型首先生成</a:t>
            </a:r>
            <a:r>
              <a:rPr lang="zh-CN" alt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指代表达（</a:t>
            </a:r>
            <a:r>
              <a:rPr lang="en-US" altLang="zh-C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referring expression</a:t>
            </a:r>
            <a:r>
              <a:rPr lang="zh-CN" alt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，再调用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Grounding DINO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裁剪相关区域，显著减少背景噪声干扰，提升图像搜索精度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统一工具调用框架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：整合文本搜索、图像搜索（全图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裁剪）与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grounding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工具，形成端到端可训练的多模态搜索代理</a:t>
            </a:r>
          </a:p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多轮多模态搜索数据集：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DeepMMSearchVQA</a:t>
            </a:r>
            <a:endParaRPr lang="zh-CN" altLang="en-US" sz="2000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数据集：</a:t>
            </a:r>
            <a:r>
              <a:rPr kumimoji="1" lang="en-US" altLang="zh-CN" sz="2500" dirty="0"/>
              <a:t>DeepMMSearchVQA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873760" y="683260"/>
            <a:ext cx="10648315" cy="274510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数据集构建流程：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基础数据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：以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InfoSeek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训练集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为起点，从中随机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200k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个样本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自动生成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：使用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Gemini-2.5-Pro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模拟人类推理过程，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生成结构化多轮对话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，包括：</a:t>
            </a:r>
          </a:p>
          <a:p>
            <a:pPr marL="1257300" lvl="2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&lt;reason&gt;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&lt;text_search&gt;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&lt;img_search&gt;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&lt;information&gt;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&lt;answer&gt;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质量过滤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：保留模型回答与真实答案一致的样本，得到约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47k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个多轮对话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采样策略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按知识类别均匀采样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，最终构建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个高质量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VQA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样本，用于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SFT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25" y="3369945"/>
            <a:ext cx="10843895" cy="3302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数据集：</a:t>
            </a:r>
            <a:r>
              <a:rPr kumimoji="1" lang="en-US" altLang="zh-CN" sz="2500" dirty="0"/>
              <a:t>DeepMMSearchVQA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25" y="3443206"/>
            <a:ext cx="11207750" cy="2988074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287462" y="879475"/>
            <a:ext cx="9616440" cy="207581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数据集特点：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知识分类分布广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支持多种工具调用：文本搜索、图像搜索、裁剪图像搜索</a:t>
            </a: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多轮交互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模型：</a:t>
            </a:r>
            <a:r>
              <a:rPr kumimoji="1" lang="en-US" altLang="zh-CN" sz="2500" dirty="0"/>
              <a:t>DeepMMSearch-R1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40154" y="1052830"/>
                <a:ext cx="9730105" cy="53098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marL="285750" indent="-285750" fontAlgn="auto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阶段一：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SFT</a:t>
                </a: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基座模型：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Qwen2.5-VL-7B-Instruct</a:t>
                </a: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训练策略：</a:t>
                </a:r>
              </a:p>
              <a:p>
                <a:pPr marL="1200150" lvl="2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冻结视觉编码器和视觉投影层，仅微调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LLM 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部分</a:t>
                </a:r>
              </a:p>
              <a:p>
                <a:pPr marL="1200150" lvl="2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使用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LoRA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rank=8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）降低可训练参数量，保留预训练视觉表征</a:t>
                </a: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训练数据：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DeepMMSearchVQA</a:t>
                </a: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（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10k </a:t>
                </a: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个结构化多轮对话）</a:t>
                </a:r>
              </a:p>
              <a:p>
                <a:pPr marL="285750" lvl="0" indent="-285750" fontAlgn="auto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阶段二：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RL</a:t>
                </a:r>
                <a:endParaRPr lang="zh-CN" altLang="en-US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算法：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GRPO</a:t>
                </a: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奖励函数设计：</a:t>
                </a:r>
              </a:p>
              <a:p>
                <a:pPr marL="1200150" lvl="2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事实准确性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)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：答案是否正确，使用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gpt-5-chat-latest 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作为评估模型</a:t>
                </a:r>
              </a:p>
              <a:p>
                <a:pPr marL="1200150" lvl="2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格式合规性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𝑓𝑚𝑡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)</a:t>
                </a: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：是否遵循标签规范</a:t>
                </a:r>
              </a:p>
              <a:p>
                <a:pPr marL="1200150" lvl="2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总奖励：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=(1−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𝑓𝑚𝑡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𝑓𝑚𝑡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𝑓𝑚𝑡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𝑓𝑚𝑡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格式惩罚系数设置为 </a:t>
                </a:r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0.1</a:t>
                </a: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240154" y="1052830"/>
                <a:ext cx="9730105" cy="5309870"/>
              </a:xfrm>
              <a:prstGeom prst="rect">
                <a:avLst/>
              </a:prstGeom>
              <a:blipFill>
                <a:blip r:embed="rId7"/>
                <a:stretch>
                  <a:fillRect l="-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实验设置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43877" y="801370"/>
            <a:ext cx="11104245" cy="413004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多模态搜索工具</a:t>
            </a:r>
          </a:p>
          <a:p>
            <a:pPr marL="800100" lvl="1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文本搜索：使用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web 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搜索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API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，返回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Top-5 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结果，并由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gpt-5-chat-latest </a:t>
            </a:r>
            <a:r>
              <a:rPr lang="zh-CN" altLang="en-US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生成摘要</a:t>
            </a:r>
            <a:endParaRPr lang="zh-CN" altLang="en-US" dirty="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  <a:p>
            <a:pPr marL="800100" lvl="1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图像搜索：</a:t>
            </a:r>
          </a:p>
          <a:p>
            <a:pPr marL="1257300" lvl="2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若涉及</a:t>
            </a:r>
            <a:r>
              <a:rPr lang="zh-CN" altLang="en-US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整体场景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使用整图搜索</a:t>
            </a:r>
            <a:endParaRPr lang="zh-CN" altLang="en-US" dirty="0">
              <a:solidFill>
                <a:schemeClr val="tx1"/>
              </a:solidFill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  <a:p>
            <a:pPr marL="1257300" lvl="2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若涉及</a:t>
            </a:r>
            <a:r>
              <a:rPr lang="zh-CN" altLang="en-US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特定对象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：由模型生成</a:t>
            </a:r>
            <a:r>
              <a:rPr lang="zh-CN" altLang="en-US" b="1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指代表达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US" altLang="zh-CN" b="1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Grounding DINO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定位并裁剪区域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用</a:t>
            </a:r>
            <a:r>
              <a:rPr lang="zh-CN" altLang="en-US" dirty="0">
                <a:solidFill>
                  <a:srgbClr val="FF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裁剪区域进行检索</a:t>
            </a:r>
            <a:endParaRPr lang="en-US" altLang="en-US" dirty="0">
              <a:solidFill>
                <a:schemeClr val="tx1"/>
              </a:solidFill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  <a:p>
            <a:pPr marL="285750" lvl="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评估数据集</a:t>
            </a: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知识密集型 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VQA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InfoSeek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DynVQA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SimpleVQA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Enc-VQA</a:t>
            </a: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常识型 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VQA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OKVQA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A-OKVQA</a:t>
            </a:r>
          </a:p>
          <a:p>
            <a:pPr marL="285750" lvl="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评估指标</a:t>
            </a: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LLM-as-Judge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：使用</a:t>
            </a:r>
            <a:r>
              <a:rPr lang="en-US" altLang="zh-CN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gpt-5-chat-latest </a:t>
            </a:r>
            <a:r>
              <a:rPr lang="zh-CN" altLang="en-US" dirty="0">
                <a:solidFill>
                  <a:schemeClr val="tx1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判断模型回答是否与标准答案语义一致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7840" y="4931410"/>
            <a:ext cx="5889625" cy="19265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实验结果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80" y="683260"/>
            <a:ext cx="9762490" cy="47809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24280" y="5507990"/>
            <a:ext cx="78346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在知识密集型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VQA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任务上，引入外部知识后能够提升性能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在简单是数据集上，效果反而下降了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消融实验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20" y="1830705"/>
            <a:ext cx="11916410" cy="30219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24280" y="5507990"/>
            <a:ext cx="7834630" cy="879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图像裁剪搜索、多轮文本搜索、自我修正能够最大化增益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SFT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数据集中</a:t>
            </a:r>
            <a:r>
              <a:rPr lang="zh-CN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搜索与非搜索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1:1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平衡最优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工具调用行为分析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" y="683260"/>
            <a:ext cx="11684635" cy="33401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805" y="4363720"/>
            <a:ext cx="5617210" cy="2092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SFT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RL </a:t>
            </a: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后的变化</a:t>
            </a:r>
          </a:p>
          <a:p>
            <a:pPr marL="575945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多轮文本搜索增加，体现更强的自我修正能力</a:t>
            </a:r>
          </a:p>
          <a:p>
            <a:pPr marL="575945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裁剪图像搜索大幅减少，但性能反升，体现模型更精准判断何时需裁剪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8015" y="4145280"/>
            <a:ext cx="6459220" cy="25292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B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91490" y="2236470"/>
            <a:ext cx="11209655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  <a:uFillTx/>
                <a:ea typeface="张海山草泥马体" panose="02000000000000000000" pitchFamily="2" charset="-122"/>
                <a:cs typeface="Sitka Heading" charset="0"/>
              </a:rPr>
              <a:t>Thanks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451350" y="5294630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报告人：陈斌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4451350" y="5802630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2025.12.29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jksImhkaWQiOiIyNTQyNjRmNDkxNzUzZDI3YzNmMGIxOTljNzliMTU2NCIsInVzZXJDb3VudCI6Njl9"/>
  <p:tag name="RESOURCE_RECORD_KEY" val="{&quot;29&quot;:[20740297,20740292,2075089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9*452"/>
  <p:tag name="TABLE_ENDDRAG_RECT" val="15*71*929*45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2164</Words>
  <Application>Microsoft Office PowerPoint</Application>
  <PresentationFormat>宽屏</PresentationFormat>
  <Paragraphs>200</Paragraphs>
  <Slides>29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等线</vt:lpstr>
      <vt:lpstr>等线 Light</vt:lpstr>
      <vt:lpstr>黑体</vt:lpstr>
      <vt:lpstr>印品黑体</vt:lpstr>
      <vt:lpstr>张海山草泥马体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Trent</dc:creator>
  <cp:lastModifiedBy>C C</cp:lastModifiedBy>
  <cp:revision>1209</cp:revision>
  <dcterms:created xsi:type="dcterms:W3CDTF">2019-08-05T08:55:00Z</dcterms:created>
  <dcterms:modified xsi:type="dcterms:W3CDTF">2025-12-29T10:20:21Z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KSOTemplateUUID">
    <vt:lpwstr>v1.0_mb_309qU2p8cyERvITLY45YNg==</vt:lpwstr>
  </property>
  <property fmtid="{D5CDD505-2E9C-101B-9397-08002B2CF9AE}" pid="4" name="ICV">
    <vt:lpwstr>59DA9CC6CA01423BB75A36AD0868D7C3_12</vt:lpwstr>
  </property>
</Properties>
</file>