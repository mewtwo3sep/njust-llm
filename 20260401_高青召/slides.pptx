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5.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6.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7.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8.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9.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0.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notesSlides/notesSlide11.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12.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13.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14.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15.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16.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notesSlides/notesSlide17.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notesSlides/notesSlide18.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notesSlides/notesSlide19.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notesSlides/notesSlide20.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notesSlides/notesSlide21.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22.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notesSlides/notesSlide23.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notesSlides/notesSlide24.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25.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notesSlides/notesSlide26.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27.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notesSlides/notesSlide28.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notesSlides/notesSlide29.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notesSlides/notesSlide30.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notesSlides/notesSlide31.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notesSlides/notesSlide32.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notesSlides/notesSlide33.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notesSlides/notesSlide34.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notesSlides/notesSlide35.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notesSlides/notesSlide36.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notesSlides/notesSlide37.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notesSlides/notesSlide38.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notesSlides/notesSlide39.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220.xml" ContentType="application/vnd.openxmlformats-officedocument.presentationml.tags+xml"/>
  <Override PartName="/ppt/tags/tag24.xml" ContentType="application/vnd.openxmlformats-officedocument.presentationml.tags+xml"/>
  <Override PartName="/ppt/tags/tag30.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2"/>
  </p:notesMasterIdLst>
  <p:sldIdLst>
    <p:sldId id="558" r:id="rId2"/>
    <p:sldId id="560" r:id="rId3"/>
    <p:sldId id="525" r:id="rId4"/>
    <p:sldId id="553" r:id="rId5"/>
    <p:sldId id="527" r:id="rId6"/>
    <p:sldId id="528" r:id="rId7"/>
    <p:sldId id="529" r:id="rId8"/>
    <p:sldId id="530" r:id="rId9"/>
    <p:sldId id="531" r:id="rId10"/>
    <p:sldId id="532" r:id="rId11"/>
    <p:sldId id="549" r:id="rId12"/>
    <p:sldId id="533" r:id="rId13"/>
    <p:sldId id="544" r:id="rId14"/>
    <p:sldId id="534" r:id="rId15"/>
    <p:sldId id="535" r:id="rId16"/>
    <p:sldId id="546" r:id="rId17"/>
    <p:sldId id="536" r:id="rId18"/>
    <p:sldId id="537" r:id="rId19"/>
    <p:sldId id="538" r:id="rId20"/>
    <p:sldId id="539" r:id="rId21"/>
    <p:sldId id="540" r:id="rId22"/>
    <p:sldId id="541" r:id="rId23"/>
    <p:sldId id="542" r:id="rId24"/>
    <p:sldId id="442" r:id="rId25"/>
    <p:sldId id="445" r:id="rId26"/>
    <p:sldId id="446" r:id="rId27"/>
    <p:sldId id="550" r:id="rId28"/>
    <p:sldId id="509" r:id="rId29"/>
    <p:sldId id="510" r:id="rId30"/>
    <p:sldId id="511" r:id="rId31"/>
    <p:sldId id="551" r:id="rId32"/>
    <p:sldId id="512" r:id="rId33"/>
    <p:sldId id="514" r:id="rId34"/>
    <p:sldId id="515" r:id="rId35"/>
    <p:sldId id="518" r:id="rId36"/>
    <p:sldId id="520" r:id="rId37"/>
    <p:sldId id="521" r:id="rId38"/>
    <p:sldId id="522" r:id="rId39"/>
    <p:sldId id="523" r:id="rId40"/>
    <p:sldId id="441" r:id="rId41"/>
  </p:sldIdLst>
  <p:sldSz cx="12192000" cy="6858000"/>
  <p:notesSz cx="6858000" cy="9144000"/>
  <p:custDataLst>
    <p:tags r:id="rId4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2" userDrawn="1">
          <p15:clr>
            <a:srgbClr val="A4A3A4"/>
          </p15:clr>
        </p15:guide>
        <p15:guide id="2" pos="384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D2B85"/>
    <a:srgbClr val="57467B"/>
    <a:srgbClr val="92278F"/>
    <a:srgbClr val="3B18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02" autoAdjust="0"/>
    <p:restoredTop sz="79725" autoAdjust="0"/>
  </p:normalViewPr>
  <p:slideViewPr>
    <p:cSldViewPr snapToGrid="0" showGuides="1">
      <p:cViewPr varScale="1">
        <p:scale>
          <a:sx n="84" d="100"/>
          <a:sy n="84" d="100"/>
        </p:scale>
        <p:origin x="384" y="56"/>
      </p:cViewPr>
      <p:guideLst>
        <p:guide orient="horz" pos="2152"/>
        <p:guide pos="384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2026/4/1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大语言模型在知识图谱推理里，已经不只是直接去搜路径、出答案了，而是开始强调两个能力：第一是先把复杂问题做结构化拆解，也就是规划；第二是让推理过程和知识图谱中的真实路径尽量对齐。</a:t>
            </a:r>
            <a:r>
              <a:rPr lang="en-US" altLang="zh-CN" dirty="0"/>
              <a:t>”</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大语言模型（</a:t>
            </a:r>
            <a:r>
              <a:rPr lang="en-US" altLang="zh-CN" dirty="0"/>
              <a:t>LLM</a:t>
            </a:r>
            <a:r>
              <a:rPr lang="zh-CN" altLang="en-US" dirty="0"/>
              <a:t>）具有强推理能力，但容易产生</a:t>
            </a:r>
            <a:r>
              <a:rPr lang="zh-CN" altLang="en-US" b="1" dirty="0"/>
              <a:t>幻觉和错误</a:t>
            </a:r>
            <a:endParaRPr lang="zh-CN" altLang="en-US" dirty="0"/>
          </a:p>
          <a:p>
            <a:r>
              <a:rPr lang="zh-CN" altLang="en-US" dirty="0"/>
              <a:t>知识图谱（</a:t>
            </a:r>
            <a:r>
              <a:rPr lang="en-US" altLang="zh-CN" dirty="0"/>
              <a:t>KG</a:t>
            </a:r>
            <a:r>
              <a:rPr lang="zh-CN" altLang="en-US" dirty="0"/>
              <a:t>）提供</a:t>
            </a:r>
            <a:r>
              <a:rPr lang="zh-CN" altLang="en-US" b="1" dirty="0"/>
              <a:t>结构化事实知识</a:t>
            </a:r>
            <a:r>
              <a:rPr lang="zh-CN" altLang="en-US" dirty="0"/>
              <a:t>，但缺乏推理能力</a:t>
            </a:r>
          </a:p>
          <a:p>
            <a:r>
              <a:rPr lang="zh-CN" altLang="en-US" b="1" dirty="0"/>
              <a:t>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这两篇论文均聚焦于</a:t>
            </a:r>
            <a:r>
              <a:rPr lang="en-US" altLang="zh-CN" dirty="0">
                <a:sym typeface="+mn-ea"/>
              </a:rPr>
              <a:t> </a:t>
            </a:r>
            <a:r>
              <a:rPr lang="zh-CN" altLang="en-US" dirty="0">
                <a:sym typeface="+mn-ea"/>
              </a:rPr>
              <a:t>知识图谱问答（</a:t>
            </a:r>
            <a:r>
              <a:rPr lang="en-US" altLang="zh-CN" dirty="0">
                <a:sym typeface="+mn-ea"/>
              </a:rPr>
              <a:t>KGQA</a:t>
            </a:r>
            <a:r>
              <a:rPr lang="zh-CN" altLang="en-US" dirty="0">
                <a:sym typeface="+mn-ea"/>
              </a:rPr>
              <a:t>）</a:t>
            </a:r>
            <a:r>
              <a:rPr lang="en-US" altLang="zh-CN" dirty="0">
                <a:sym typeface="+mn-ea"/>
              </a:rPr>
              <a:t> </a:t>
            </a:r>
            <a:r>
              <a:rPr lang="zh-CN" altLang="en-US" dirty="0">
                <a:sym typeface="+mn-ea"/>
              </a:rPr>
              <a:t>领域，核心目标是解决「大语言模型（</a:t>
            </a:r>
            <a:r>
              <a:rPr lang="en-US" altLang="zh-CN" dirty="0">
                <a:sym typeface="+mn-ea"/>
              </a:rPr>
              <a:t>LLM</a:t>
            </a:r>
            <a:r>
              <a:rPr lang="zh-CN" altLang="en-US" dirty="0">
                <a:sym typeface="+mn-ea"/>
              </a:rPr>
              <a:t>）推理与知识图谱（</a:t>
            </a:r>
            <a:r>
              <a:rPr lang="en-US" altLang="zh-CN" dirty="0">
                <a:sym typeface="+mn-ea"/>
              </a:rPr>
              <a:t>KG</a:t>
            </a:r>
            <a:r>
              <a:rPr lang="zh-CN" altLang="en-US" dirty="0">
                <a:sym typeface="+mn-ea"/>
              </a:rPr>
              <a:t>）结构化知识融合」的关键问题</a:t>
            </a:r>
            <a:r>
              <a:rPr lang="en-US" altLang="zh-CN" dirty="0">
                <a:sym typeface="+mn-ea"/>
              </a:rPr>
              <a:t> —— </a:t>
            </a:r>
            <a:r>
              <a:rPr lang="zh-CN" altLang="en-US" dirty="0">
                <a:sym typeface="+mn-ea"/>
              </a:rPr>
              <a:t>既缓解</a:t>
            </a:r>
            <a:r>
              <a:rPr lang="en-US" altLang="zh-CN" dirty="0">
                <a:sym typeface="+mn-ea"/>
              </a:rPr>
              <a:t> LLM </a:t>
            </a:r>
            <a:r>
              <a:rPr lang="zh-CN" altLang="en-US" dirty="0">
                <a:sym typeface="+mn-ea"/>
              </a:rPr>
              <a:t>的幻觉与事实错误，又弥补</a:t>
            </a:r>
            <a:r>
              <a:rPr lang="en-US" altLang="zh-CN" dirty="0">
                <a:sym typeface="+mn-ea"/>
              </a:rPr>
              <a:t> KG </a:t>
            </a:r>
            <a:r>
              <a:rPr lang="zh-CN" altLang="en-US" dirty="0">
                <a:sym typeface="+mn-ea"/>
              </a:rPr>
              <a:t>缺乏灵活推理能力的短板，最终提升复杂问题回答的准确性、可解释性与可靠性。</a:t>
            </a:r>
            <a:endParaRPr lang="zh-CN" altLang="en-US" dirty="0"/>
          </a:p>
          <a:p>
            <a:r>
              <a:rPr lang="en-US" altLang="zh-CN" dirty="0"/>
              <a:t>IEEE TPAMI 2026 </a:t>
            </a:r>
            <a:r>
              <a:rPr lang="zh-CN" altLang="en-US" dirty="0"/>
              <a:t>提帕米</a:t>
            </a:r>
            <a:r>
              <a:rPr lang="en-US" altLang="zh-CN" dirty="0"/>
              <a:t> </a:t>
            </a:r>
          </a:p>
          <a:p>
            <a:r>
              <a:rPr lang="zh-CN" altLang="en-US" b="1" dirty="0"/>
              <a:t>通过 推理</a:t>
            </a:r>
            <a:r>
              <a:rPr lang="en-US" altLang="zh-CN" b="1" dirty="0"/>
              <a:t>-</a:t>
            </a:r>
            <a:r>
              <a:rPr lang="zh-CN" altLang="en-US" b="1" dirty="0"/>
              <a:t>对齐</a:t>
            </a:r>
            <a:r>
              <a:rPr lang="en-US" altLang="zh-CN" b="1" dirty="0"/>
              <a:t>-</a:t>
            </a:r>
            <a:r>
              <a:rPr lang="zh-CN" altLang="en-US" b="1" dirty="0"/>
              <a:t>响应</a:t>
            </a:r>
            <a:r>
              <a:rPr lang="en-US" altLang="zh-CN" b="1" dirty="0"/>
              <a:t>    </a:t>
            </a:r>
            <a:r>
              <a:rPr lang="en-US" altLang="zh-CN" dirty="0"/>
              <a:t>《</a:t>
            </a:r>
            <a:r>
              <a:rPr lang="zh-CN" altLang="en-US" dirty="0"/>
              <a:t>推理 </a:t>
            </a:r>
            <a:r>
              <a:rPr lang="en-US" altLang="zh-CN" dirty="0"/>
              <a:t>- </a:t>
            </a:r>
            <a:r>
              <a:rPr lang="zh-CN" altLang="en-US" dirty="0"/>
              <a:t>对齐 </a:t>
            </a:r>
            <a:r>
              <a:rPr lang="en-US" altLang="zh-CN" dirty="0"/>
              <a:t>- </a:t>
            </a:r>
            <a:r>
              <a:rPr lang="zh-CN" altLang="en-US" dirty="0"/>
              <a:t>响应：让大模型推理贴合知识图谱，实现精准知识问答</a:t>
            </a:r>
            <a:endParaRPr lang="en-US" altLang="zh-CN" b="1" dirty="0"/>
          </a:p>
          <a:p>
            <a:r>
              <a:rPr lang="zh-CN" altLang="en-US" dirty="0"/>
              <a:t>对齐大语言模型推理与知识图谱的知识图谱问答方法</a:t>
            </a:r>
          </a:p>
          <a:p>
            <a:r>
              <a:rPr lang="zh-CN" altLang="en-US" dirty="0"/>
              <a:t>它的核心思路是：先让</a:t>
            </a:r>
            <a:r>
              <a:rPr lang="en-US" altLang="zh-CN" dirty="0"/>
              <a:t>LLM</a:t>
            </a:r>
            <a:r>
              <a:rPr lang="zh-CN" altLang="en-US" dirty="0"/>
              <a:t>想一条推理链，再把这条推理对齐到知识图谱上，最后再生成答案</a:t>
            </a:r>
          </a:p>
          <a:p>
            <a:endParaRPr lang="zh-CN" altLang="en-US" dirty="0"/>
          </a:p>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LLM</a:t>
            </a:r>
            <a:r>
              <a:rPr lang="zh-CN" altLang="en-US"/>
              <a:t>：具备强大的自然语言理解与多步推理能力，能够进行全局规划，模拟人类思考过程；</a:t>
            </a:r>
            <a:endParaRPr lang="en-US" altLang="zh-CN"/>
          </a:p>
          <a:p>
            <a:r>
              <a:rPr lang="en-US" altLang="zh-CN"/>
              <a:t>KG</a:t>
            </a:r>
            <a:r>
              <a:rPr lang="zh-CN" altLang="en-US"/>
              <a:t>：提供结构化的高质量事实知识，具有强约束性和良好的可解释性。</a:t>
            </a:r>
          </a:p>
          <a:p>
            <a:r>
              <a:rPr lang="zh-CN" altLang="en-US"/>
              <a:t>无训练的智能体探索</a:t>
            </a:r>
            <a:r>
              <a:rPr lang="en-US" altLang="zh-CN"/>
              <a:t> </a:t>
            </a:r>
            <a:r>
              <a:rPr lang="zh-CN" altLang="en-US"/>
              <a:t>：不专门训练模型，直接用</a:t>
            </a:r>
            <a:r>
              <a:rPr lang="en-US" altLang="zh-CN"/>
              <a:t> prompt </a:t>
            </a:r>
            <a:r>
              <a:rPr lang="zh-CN" altLang="en-US"/>
              <a:t>让</a:t>
            </a:r>
            <a:r>
              <a:rPr lang="en-US" altLang="zh-CN"/>
              <a:t> LLM </a:t>
            </a:r>
            <a:r>
              <a:rPr lang="zh-CN" altLang="en-US"/>
              <a:t>去一步步探索</a:t>
            </a:r>
            <a:r>
              <a:rPr lang="en-US" altLang="zh-CN"/>
              <a:t> KG</a:t>
            </a:r>
          </a:p>
          <a:p>
            <a:r>
              <a:rPr lang="zh-CN" altLang="en-US" dirty="0">
                <a:latin typeface="+mn-ea"/>
                <a:cs typeface="+mn-ea"/>
                <a:sym typeface="+mn-ea"/>
              </a:rPr>
              <a:t>有训练的路径生成：</a:t>
            </a:r>
            <a:r>
              <a:rPr lang="zh-CN" altLang="en-US"/>
              <a:t>缺乏类人逻辑（不是</a:t>
            </a:r>
            <a:r>
              <a:rPr lang="en-US" altLang="zh-CN"/>
              <a:t>“</a:t>
            </a:r>
            <a:r>
              <a:rPr lang="zh-CN" altLang="en-US"/>
              <a:t>拆问题</a:t>
            </a:r>
            <a:r>
              <a:rPr lang="en-US" altLang="zh-CN"/>
              <a:t>”</a:t>
            </a:r>
            <a:r>
              <a:rPr lang="zh-CN" altLang="en-US"/>
              <a:t>，而是直接拼路径），易受噪声路径干扰（</a:t>
            </a:r>
            <a:r>
              <a:rPr lang="en-US" altLang="zh-CN"/>
              <a:t>KG</a:t>
            </a:r>
            <a:r>
              <a:rPr lang="zh-CN" altLang="en-US"/>
              <a:t>里有很多无关边，容易错）</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i="1" dirty="0"/>
              <a:t>这张图对比了两类现有方法的不足，并引出了我们提出的</a:t>
            </a:r>
            <a:r>
              <a:rPr lang="en-US" altLang="zh-CN" b="1" i="1" dirty="0"/>
              <a:t> Reason-Align-Respond </a:t>
            </a:r>
            <a:r>
              <a:rPr lang="zh-CN" altLang="en-US" b="1" i="1" dirty="0"/>
              <a:t>框架。</a:t>
            </a:r>
          </a:p>
          <a:p>
            <a:r>
              <a:rPr lang="zh-CN" altLang="en-US" b="1" i="0" dirty="0"/>
              <a:t>第一类方法是基于</a:t>
            </a:r>
            <a:r>
              <a:rPr lang="en-US" altLang="zh-CN" b="1" i="0" dirty="0"/>
              <a:t>prompt</a:t>
            </a:r>
            <a:r>
              <a:rPr lang="zh-CN" altLang="en-US" b="1" i="0" dirty="0"/>
              <a:t>的智能体探索方法，不需要额外训练，而是让</a:t>
            </a:r>
            <a:r>
              <a:rPr lang="en-US" altLang="zh-CN" b="1" i="0" dirty="0"/>
              <a:t>LLM</a:t>
            </a:r>
            <a:r>
              <a:rPr lang="zh-CN" altLang="en-US" b="1" i="0" dirty="0"/>
              <a:t>一步步在知识图谱中搜索。</a:t>
            </a:r>
          </a:p>
          <a:p>
            <a:r>
              <a:rPr lang="zh-CN" altLang="en-US" b="1" i="0" dirty="0"/>
              <a:t>只是</a:t>
            </a:r>
            <a:r>
              <a:rPr lang="en-US" altLang="zh-CN" b="1" i="0" dirty="0"/>
              <a:t>“</a:t>
            </a:r>
            <a:r>
              <a:rPr lang="zh-CN" altLang="en-US" b="1" i="0" dirty="0"/>
              <a:t>走图</a:t>
            </a:r>
            <a:r>
              <a:rPr lang="en-US" altLang="zh-CN" b="1" i="0" dirty="0"/>
              <a:t>”</a:t>
            </a:r>
            <a:r>
              <a:rPr lang="zh-CN" altLang="en-US" b="1" i="0" dirty="0"/>
              <a:t>，不是</a:t>
            </a:r>
            <a:r>
              <a:rPr lang="en-US" altLang="zh-CN" b="1" i="0" dirty="0"/>
              <a:t>“</a:t>
            </a:r>
            <a:r>
              <a:rPr lang="zh-CN" altLang="en-US" b="1" i="0" dirty="0"/>
              <a:t>理解问题</a:t>
            </a:r>
            <a:r>
              <a:rPr lang="en-US" altLang="zh-CN" b="1" i="0" dirty="0"/>
              <a:t>”</a:t>
            </a:r>
            <a:r>
              <a:rPr lang="zh-CN" altLang="en-US" b="1" i="0" dirty="0"/>
              <a:t>，</a:t>
            </a:r>
            <a:r>
              <a:rPr lang="en-US" altLang="zh-CN" b="1" i="0" dirty="0"/>
              <a:t>prompt</a:t>
            </a:r>
            <a:r>
              <a:rPr lang="zh-CN" altLang="en-US" b="1" i="0" dirty="0"/>
              <a:t>写得好坏影响很大，像</a:t>
            </a:r>
            <a:r>
              <a:rPr lang="en-US" altLang="zh-CN" b="1" i="0" dirty="0"/>
              <a:t>“</a:t>
            </a:r>
            <a:r>
              <a:rPr lang="zh-CN" altLang="en-US" b="1" i="0" dirty="0"/>
              <a:t>边走边猜</a:t>
            </a:r>
            <a:r>
              <a:rPr lang="en-US" altLang="zh-CN" b="1" i="0" dirty="0"/>
              <a:t>”</a:t>
            </a:r>
            <a:r>
              <a:rPr lang="zh-CN" altLang="en-US" b="1" i="0" dirty="0"/>
              <a:t>，没有整体思路</a:t>
            </a:r>
            <a:br>
              <a:rPr lang="zh-CN" altLang="en-US" b="1" i="1" dirty="0"/>
            </a:br>
            <a:r>
              <a:rPr lang="zh-CN" altLang="en-US" b="1" i="1" dirty="0"/>
              <a:t>第二类方法是训练模型直接生成</a:t>
            </a:r>
            <a:r>
              <a:rPr lang="en-US" altLang="zh-CN" b="1" i="1" dirty="0"/>
              <a:t>KG</a:t>
            </a:r>
            <a:r>
              <a:rPr lang="zh-CN" altLang="en-US" b="1" i="1" dirty="0"/>
              <a:t>推理路径。不是</a:t>
            </a:r>
            <a:r>
              <a:rPr lang="en-US" altLang="zh-CN" b="1" i="1" dirty="0"/>
              <a:t>“</a:t>
            </a:r>
            <a:r>
              <a:rPr lang="zh-CN" altLang="en-US" b="1" i="1" dirty="0"/>
              <a:t>拆问题</a:t>
            </a:r>
            <a:r>
              <a:rPr lang="en-US" altLang="zh-CN" b="1" i="1" dirty="0"/>
              <a:t>”</a:t>
            </a:r>
            <a:r>
              <a:rPr lang="zh-CN" altLang="en-US" b="1" i="1" dirty="0"/>
              <a:t>，而是</a:t>
            </a:r>
            <a:r>
              <a:rPr lang="en-US" altLang="zh-CN" b="1" i="1" dirty="0"/>
              <a:t>“</a:t>
            </a:r>
            <a:r>
              <a:rPr lang="zh-CN" altLang="en-US" b="1" i="1" dirty="0"/>
              <a:t>直接拼路径</a:t>
            </a:r>
            <a:r>
              <a:rPr lang="en-US" altLang="zh-CN" b="1" i="1" dirty="0"/>
              <a:t>”</a:t>
            </a:r>
            <a:r>
              <a:rPr lang="zh-CN" altLang="en-US" b="1" i="1" dirty="0"/>
              <a:t>，</a:t>
            </a:r>
            <a:r>
              <a:rPr lang="en-US" altLang="zh-CN" b="1" i="1" dirty="0"/>
              <a:t>KG</a:t>
            </a:r>
            <a:r>
              <a:rPr lang="zh-CN" altLang="en-US" b="1" i="1" dirty="0"/>
              <a:t>路径</a:t>
            </a:r>
            <a:r>
              <a:rPr lang="en-US" altLang="zh-CN" b="1" i="1" dirty="0"/>
              <a:t> ≠ </a:t>
            </a:r>
            <a:r>
              <a:rPr lang="zh-CN" altLang="en-US" b="1" i="1" dirty="0"/>
              <a:t>合理推理，一旦选错路径</a:t>
            </a:r>
            <a:r>
              <a:rPr lang="en-US" altLang="zh-CN" b="1" i="1" dirty="0"/>
              <a:t> </a:t>
            </a:r>
            <a:r>
              <a:rPr lang="en-US" altLang="en-US" b="1" i="1" dirty="0"/>
              <a:t>→</a:t>
            </a:r>
            <a:r>
              <a:rPr lang="en-US" altLang="zh-CN" b="1" i="1" dirty="0"/>
              <a:t> </a:t>
            </a:r>
            <a:r>
              <a:rPr lang="zh-CN" altLang="en-US" b="1" i="1" dirty="0"/>
              <a:t>全错</a:t>
            </a:r>
          </a:p>
          <a:p>
            <a:r>
              <a:rPr lang="zh-CN" altLang="en-US" b="1" i="1" dirty="0"/>
              <a:t>核心原因是该方法没有显式的推理过程，导致生成的知识路径缺乏约束，从而选择了错误的关系，比如将</a:t>
            </a:r>
            <a:r>
              <a:rPr lang="en-US" altLang="zh-CN" b="1" i="1" dirty="0"/>
              <a:t> genre </a:t>
            </a:r>
            <a:r>
              <a:rPr lang="zh-CN" altLang="en-US" b="1" i="1" dirty="0"/>
              <a:t>错误地替换成</a:t>
            </a:r>
            <a:r>
              <a:rPr lang="en-US" altLang="zh-CN" b="1" i="1" dirty="0"/>
              <a:t> style</a:t>
            </a:r>
            <a:r>
              <a:rPr lang="zh-CN" altLang="en-US" b="1" i="1" dirty="0"/>
              <a:t>。</a:t>
            </a:r>
          </a:p>
          <a:p>
            <a:r>
              <a:rPr lang="en-US" altLang="zh-CN" b="1" i="1" dirty="0"/>
              <a:t>genre</a:t>
            </a:r>
            <a:r>
              <a:rPr lang="zh-CN" altLang="en-US" b="1" i="1" dirty="0"/>
              <a:t>（流派</a:t>
            </a:r>
            <a:r>
              <a:rPr lang="en-US" altLang="zh-CN" b="1" i="1" dirty="0"/>
              <a:t> / </a:t>
            </a:r>
            <a:r>
              <a:rPr lang="zh-CN" altLang="en-US" b="1" i="1" dirty="0"/>
              <a:t>类型）</a:t>
            </a:r>
            <a:r>
              <a:rPr lang="en-US" altLang="zh-CN" b="1" i="1" dirty="0"/>
              <a:t> style</a:t>
            </a:r>
            <a:r>
              <a:rPr lang="zh-CN" altLang="en-US" b="1" i="1" dirty="0"/>
              <a:t>（风格）</a:t>
            </a:r>
          </a:p>
          <a:p>
            <a:r>
              <a:rPr lang="zh-CN" altLang="en-US" b="1" dirty="0"/>
              <a:t>在这个例子中，左边方法，只是在知识图谱中逐步探索，</a:t>
            </a:r>
            <a:r>
              <a:rPr lang="zh-CN" altLang="en-US" dirty="0">
                <a:sym typeface="+mn-ea"/>
              </a:rPr>
              <a:t>没有全局规划</a:t>
            </a:r>
            <a:r>
              <a:rPr lang="en-US" altLang="zh-CN" dirty="0">
                <a:sym typeface="+mn-ea"/>
              </a:rPr>
              <a:t> </a:t>
            </a:r>
            <a:r>
              <a:rPr lang="zh-CN" altLang="en-US" dirty="0">
                <a:sym typeface="+mn-ea"/>
              </a:rPr>
              <a:t>推理</a:t>
            </a:r>
            <a:r>
              <a:rPr lang="en-US" altLang="zh-CN" dirty="0">
                <a:sym typeface="+mn-ea"/>
              </a:rPr>
              <a:t> </a:t>
            </a:r>
            <a:r>
              <a:rPr lang="zh-CN" altLang="en-US" b="1" dirty="0"/>
              <a:t>导致在中间步骤走偏，最终得到错误的</a:t>
            </a:r>
            <a:r>
              <a:rPr lang="en-US" altLang="zh-CN" b="1" dirty="0"/>
              <a:t>“pop”</a:t>
            </a:r>
            <a:r>
              <a:rPr lang="zh-CN" altLang="en-US" b="1" dirty="0"/>
              <a:t>；</a:t>
            </a:r>
          </a:p>
          <a:p>
            <a:r>
              <a:rPr lang="zh-CN" altLang="en-US" b="1" dirty="0"/>
              <a:t>而右边方法虽然直接生成路径，但没有显式的推理和语义对齐过程，将问题中的</a:t>
            </a:r>
            <a:r>
              <a:rPr lang="en-US" altLang="zh-CN" b="1" dirty="0"/>
              <a:t>“style”</a:t>
            </a:r>
            <a:r>
              <a:rPr lang="zh-CN" altLang="en-US" b="1" dirty="0"/>
              <a:t>直接映射为关系，其实用的是</a:t>
            </a:r>
            <a:r>
              <a:rPr lang="en-US" altLang="zh-CN" b="1" dirty="0"/>
              <a:t>genre</a:t>
            </a:r>
            <a:r>
              <a:rPr lang="zh-CN" altLang="en-US" b="1" dirty="0"/>
              <a:t>。</a:t>
            </a:r>
          </a:p>
          <a:p>
            <a:endParaRPr lang="zh-CN" altLang="en-US" b="1" dirty="0"/>
          </a:p>
          <a:p>
            <a:r>
              <a:rPr lang="en-US" altLang="zh-CN" b="1" dirty="0"/>
              <a:t>1.</a:t>
            </a:r>
            <a:r>
              <a:rPr lang="zh-CN" altLang="en-US" b="1" dirty="0"/>
              <a:t>找</a:t>
            </a:r>
            <a:r>
              <a:rPr lang="en-US" altLang="zh-CN" b="1" dirty="0"/>
              <a:t>Scott Swift</a:t>
            </a:r>
            <a:r>
              <a:rPr lang="zh-CN" altLang="en-US" b="1" dirty="0"/>
              <a:t>的女儿</a:t>
            </a:r>
            <a:r>
              <a:rPr lang="en-US" altLang="zh-CN" b="1" dirty="0"/>
              <a:t>-</a:t>
            </a:r>
            <a:r>
              <a:rPr lang="zh-CN" altLang="en-US" b="1" dirty="0"/>
              <a:t>用中间实体</a:t>
            </a:r>
            <a:r>
              <a:rPr lang="en-US" altLang="zh-CN" b="1" dirty="0"/>
              <a:t> c </a:t>
            </a:r>
            <a:r>
              <a:rPr lang="zh-CN" altLang="en-US" b="1" dirty="0"/>
              <a:t>指代</a:t>
            </a:r>
            <a:r>
              <a:rPr lang="en-US" altLang="zh-CN" b="1" dirty="0"/>
              <a:t>2.</a:t>
            </a:r>
            <a:r>
              <a:rPr lang="zh-CN" altLang="en-US" b="1" dirty="0"/>
              <a:t>中间实体</a:t>
            </a:r>
            <a:r>
              <a:rPr lang="en-US" altLang="zh-CN" b="1" dirty="0"/>
              <a:t> c </a:t>
            </a:r>
            <a:r>
              <a:rPr lang="zh-CN" altLang="en-US" b="1" dirty="0"/>
              <a:t>有没有专辑</a:t>
            </a:r>
            <a:r>
              <a:rPr lang="en-US" altLang="zh-CN" b="1" dirty="0"/>
              <a:t> folklore3.</a:t>
            </a:r>
            <a:r>
              <a:rPr lang="zh-CN" altLang="en-US" b="1" dirty="0"/>
              <a:t>查这个专辑的音乐风格</a:t>
            </a:r>
          </a:p>
          <a:p>
            <a:r>
              <a:rPr lang="zh-CN" altLang="en-US" b="1" dirty="0"/>
              <a:t>对齐器以第一步的推理链为指引，在知识图谱里一步步匹配对应的实体和关系，</a:t>
            </a:r>
          </a:p>
          <a:p>
            <a:r>
              <a:rPr lang="en-US" altLang="zh-CN" b="1" dirty="0"/>
              <a:t>Reasoner</a:t>
            </a:r>
            <a:r>
              <a:rPr lang="zh-CN" altLang="en-US" dirty="0"/>
              <a:t>生成类人推理链，提供全局推理规划；</a:t>
            </a:r>
          </a:p>
          <a:p>
            <a:r>
              <a:rPr lang="en-US" altLang="zh-CN" b="1" dirty="0"/>
              <a:t>Aligner</a:t>
            </a:r>
            <a:r>
              <a:rPr lang="zh-CN" altLang="en-US" dirty="0"/>
              <a:t>将推理链映射为知识图谱中的有效路径，实现事实约束；</a:t>
            </a:r>
            <a:endParaRPr lang="en-US" altLang="zh-CN" dirty="0"/>
          </a:p>
          <a:p>
            <a:r>
              <a:rPr lang="en-US" altLang="zh-CN" b="1" dirty="0" err="1"/>
              <a:t>Responser</a:t>
            </a:r>
            <a:r>
              <a:rPr lang="zh-CN" altLang="en-US" b="1" dirty="0"/>
              <a:t>（响应器）融合推理链与知识路径生成最终答案。</a:t>
            </a:r>
          </a:p>
          <a:p>
            <a:endParaRPr lang="zh-CN" altLang="en-US" b="1"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该框架有效弥合了自然语言推理与结构化知识之间的语义鸿沟。</a:t>
            </a:r>
          </a:p>
          <a:p>
            <a:r>
              <a:rPr lang="zh-CN" altLang="en-US"/>
              <a:t>核心要解决两个关键问题：一是</a:t>
            </a:r>
            <a:r>
              <a:rPr lang="en-US" altLang="zh-CN"/>
              <a:t> LLM </a:t>
            </a:r>
            <a:r>
              <a:rPr lang="zh-CN" altLang="en-US"/>
              <a:t>生成</a:t>
            </a:r>
            <a:r>
              <a:rPr lang="en-US" altLang="zh-CN"/>
              <a:t> KG </a:t>
            </a:r>
            <a:r>
              <a:rPr lang="zh-CN" altLang="en-US"/>
              <a:t>路径时的幻觉问题</a:t>
            </a:r>
            <a:r>
              <a:rPr lang="zh-CN" altLang="en-US">
                <a:sym typeface="+mn-ea"/>
              </a:rPr>
              <a:t>，</a:t>
            </a:r>
            <a:r>
              <a:rPr lang="zh-CN" altLang="en-US"/>
              <a:t>二是初始生成的知识路径不完整导致答案缺失的问题；</a:t>
            </a:r>
          </a:p>
          <a:p>
            <a:r>
              <a:rPr lang="en-US" altLang="zh-CN"/>
              <a:t>kg</a:t>
            </a:r>
            <a:r>
              <a:rPr lang="zh-CN" altLang="en-US"/>
              <a:t>解码：在</a:t>
            </a:r>
            <a:r>
              <a:rPr lang="en-US" altLang="zh-CN"/>
              <a:t> Aligner </a:t>
            </a:r>
            <a:r>
              <a:rPr lang="zh-CN" altLang="en-US"/>
              <a:t>生成知识路径的解码阶段，给模型加</a:t>
            </a:r>
            <a:r>
              <a:rPr lang="en-US" altLang="zh-CN"/>
              <a:t>token </a:t>
            </a:r>
            <a:r>
              <a:rPr lang="zh-CN" altLang="en-US"/>
              <a:t>级别的硬约束</a:t>
            </a:r>
            <a:r>
              <a:rPr lang="en-US" altLang="zh-CN"/>
              <a:t>—— </a:t>
            </a:r>
            <a:r>
              <a:rPr lang="zh-CN" altLang="en-US"/>
              <a:t>仅允许模型输出</a:t>
            </a:r>
            <a:r>
              <a:rPr lang="en-US" altLang="zh-CN"/>
              <a:t> KG </a:t>
            </a:r>
            <a:r>
              <a:rPr lang="zh-CN" altLang="en-US"/>
              <a:t>中实际存在的实体、关系</a:t>
            </a:r>
            <a:r>
              <a:rPr lang="en-US" altLang="zh-CN"/>
              <a:t> token</a:t>
            </a:r>
            <a:r>
              <a:rPr lang="zh-CN" altLang="en-US"/>
              <a:t>，禁止生成任何</a:t>
            </a:r>
            <a:r>
              <a:rPr lang="en-US" altLang="zh-CN"/>
              <a:t> KG </a:t>
            </a:r>
            <a:r>
              <a:rPr lang="zh-CN" altLang="en-US"/>
              <a:t>中没有的内容。</a:t>
            </a:r>
          </a:p>
          <a:p>
            <a:r>
              <a:rPr lang="zh-CN" altLang="en-US">
                <a:sym typeface="+mn-ea"/>
              </a:rPr>
              <a:t>知识路径扩展（</a:t>
            </a:r>
            <a:r>
              <a:rPr lang="en-US" altLang="zh-CN">
                <a:sym typeface="+mn-ea"/>
              </a:rPr>
              <a:t>Knowledge Path Expansion</a:t>
            </a:r>
            <a:r>
              <a:rPr lang="zh-CN" altLang="en-US">
                <a:sym typeface="+mn-ea"/>
              </a:rPr>
              <a:t>）：提升路径覆盖范围，使答案更加全面；</a:t>
            </a:r>
          </a:p>
          <a:p>
            <a:r>
              <a:rPr lang="zh-CN" altLang="en-US"/>
              <a:t>它就是把</a:t>
            </a:r>
            <a:r>
              <a:rPr lang="en-US" altLang="zh-CN"/>
              <a:t> Aligner </a:t>
            </a:r>
            <a:r>
              <a:rPr lang="zh-CN" altLang="en-US"/>
              <a:t>生成的</a:t>
            </a:r>
            <a:r>
              <a:rPr lang="en-US" altLang="zh-CN"/>
              <a:t> **</a:t>
            </a:r>
            <a:r>
              <a:rPr lang="zh-CN" altLang="en-US"/>
              <a:t>「单个具体的</a:t>
            </a:r>
            <a:r>
              <a:rPr lang="en-US" altLang="zh-CN"/>
              <a:t> KG </a:t>
            </a:r>
            <a:r>
              <a:rPr lang="zh-CN" altLang="en-US"/>
              <a:t>路径」，变成「带变量的查询模板」</a:t>
            </a:r>
            <a:r>
              <a:rPr lang="en-US" altLang="zh-CN"/>
              <a:t>**</a:t>
            </a:r>
            <a:r>
              <a:rPr lang="zh-CN" altLang="en-US"/>
              <a:t>，再用这个模板去</a:t>
            </a:r>
            <a:r>
              <a:rPr lang="en-US" altLang="zh-CN"/>
              <a:t> KG </a:t>
            </a:r>
            <a:r>
              <a:rPr lang="zh-CN" altLang="en-US"/>
              <a:t>里</a:t>
            </a:r>
            <a:r>
              <a:rPr lang="en-US" altLang="zh-CN"/>
              <a:t> “</a:t>
            </a:r>
            <a:r>
              <a:rPr lang="zh-CN" altLang="en-US"/>
              <a:t>搜同款</a:t>
            </a:r>
            <a:r>
              <a:rPr lang="en-US" altLang="zh-CN"/>
              <a:t>”</a:t>
            </a:r>
            <a:r>
              <a:rPr lang="zh-CN" altLang="en-US"/>
              <a:t>，把所有符合条件的路径都找出来，从</a:t>
            </a:r>
            <a:r>
              <a:rPr lang="en-US" altLang="zh-CN"/>
              <a:t> “</a:t>
            </a:r>
            <a:r>
              <a:rPr lang="zh-CN" altLang="en-US"/>
              <a:t>找一个答案</a:t>
            </a:r>
            <a:r>
              <a:rPr lang="en-US" altLang="zh-CN"/>
              <a:t>” </a:t>
            </a:r>
            <a:r>
              <a:rPr lang="zh-CN" altLang="en-US"/>
              <a:t>变成</a:t>
            </a:r>
            <a:r>
              <a:rPr lang="en-US" altLang="zh-CN"/>
              <a:t> “</a:t>
            </a:r>
            <a:r>
              <a:rPr lang="zh-CN" altLang="en-US"/>
              <a:t>找全所有答案</a:t>
            </a:r>
            <a:r>
              <a:rPr lang="en-US" altLang="zh-CN"/>
              <a:t>”</a:t>
            </a:r>
            <a:r>
              <a:rPr lang="zh-CN" altLang="en-US"/>
              <a:t>，</a:t>
            </a:r>
          </a:p>
          <a:p>
            <a:r>
              <a:rPr lang="en-US" altLang="zh-CN"/>
              <a:t>Aligner </a:t>
            </a:r>
            <a:r>
              <a:rPr lang="zh-CN" altLang="en-US"/>
              <a:t>大概率只生成单一路径：</a:t>
            </a:r>
            <a:r>
              <a:rPr lang="en-US" altLang="zh-CN"/>
              <a:t>&lt;US</a:t>
            </a:r>
            <a:r>
              <a:rPr lang="zh-CN" altLang="en-US"/>
              <a:t>（美国）</a:t>
            </a:r>
            <a:r>
              <a:rPr lang="en-US" altLang="zh-CN"/>
              <a:t>, borders</a:t>
            </a:r>
            <a:r>
              <a:rPr lang="zh-CN" altLang="en-US"/>
              <a:t>（接壤）</a:t>
            </a:r>
            <a:r>
              <a:rPr lang="en-US" altLang="zh-CN"/>
              <a:t>, Mexico</a:t>
            </a:r>
            <a:r>
              <a:rPr lang="zh-CN" altLang="en-US"/>
              <a:t>（墨西哥）</a:t>
            </a:r>
            <a:r>
              <a:rPr lang="en-US" altLang="zh-CN"/>
              <a:t>&gt; </a:t>
            </a:r>
          </a:p>
          <a:p>
            <a:r>
              <a:rPr lang="zh-CN" altLang="en-US"/>
              <a:t>先把单一路径抽象成带变量的模板：</a:t>
            </a:r>
            <a:r>
              <a:rPr lang="en-US" altLang="zh-CN"/>
              <a:t>&lt;US, borders,?country&gt;</a:t>
            </a:r>
            <a:r>
              <a:rPr lang="zh-CN" altLang="en-US"/>
              <a:t>（</a:t>
            </a:r>
            <a:r>
              <a:rPr lang="en-US" altLang="zh-CN"/>
              <a:t>?country</a:t>
            </a:r>
            <a:r>
              <a:rPr lang="zh-CN" altLang="en-US"/>
              <a:t>是变量，代表</a:t>
            </a:r>
            <a:r>
              <a:rPr lang="en-US" altLang="zh-CN"/>
              <a:t> “</a:t>
            </a:r>
            <a:r>
              <a:rPr lang="zh-CN" altLang="en-US"/>
              <a:t>任意国家</a:t>
            </a:r>
            <a:r>
              <a:rPr lang="en-US" altLang="zh-CN"/>
              <a:t>”</a:t>
            </a:r>
            <a:r>
              <a:rPr lang="zh-CN" altLang="en-US"/>
              <a:t>）；</a:t>
            </a:r>
          </a:p>
          <a:p>
            <a:r>
              <a:rPr lang="en-US" altLang="zh-CN">
                <a:sym typeface="+mn-ea"/>
              </a:rPr>
              <a:t>LLM</a:t>
            </a:r>
            <a:r>
              <a:rPr lang="zh-CN" altLang="en-US">
                <a:sym typeface="+mn-ea"/>
              </a:rPr>
              <a:t>驱动整合（</a:t>
            </a:r>
            <a:r>
              <a:rPr lang="en-US" altLang="zh-CN">
                <a:sym typeface="+mn-ea"/>
              </a:rPr>
              <a:t>Consolidation</a:t>
            </a:r>
            <a:r>
              <a:rPr lang="zh-CN" altLang="en-US">
                <a:sym typeface="+mn-ea"/>
              </a:rPr>
              <a:t>）：</a:t>
            </a:r>
            <a:r>
              <a:rPr lang="zh-CN" altLang="en-US"/>
              <a:t>引入一个高性能</a:t>
            </a:r>
            <a:r>
              <a:rPr lang="en-US" altLang="zh-CN"/>
              <a:t> LLM</a:t>
            </a:r>
            <a:r>
              <a:rPr lang="zh-CN" altLang="en-US"/>
              <a:t>（论文中用</a:t>
            </a:r>
            <a:r>
              <a:rPr lang="en-US" altLang="zh-CN"/>
              <a:t> GPT-4o-mini</a:t>
            </a:r>
            <a:r>
              <a:rPr lang="zh-CN" altLang="en-US"/>
              <a:t>）作为整合器，将多采样得到的所有候选知识路径和对应的假设答案输入给整合器，由其分析、过滤噪声、整合一致信息，最终输出统一的最终答案。</a:t>
            </a:r>
          </a:p>
          <a:p>
            <a:r>
              <a:rPr lang="en-US" altLang="zh-CN" b="1"/>
              <a:t>EM </a:t>
            </a:r>
            <a:r>
              <a:rPr lang="zh-CN" altLang="en-US" b="1"/>
              <a:t>算法就是：当模型里有</a:t>
            </a:r>
            <a:r>
              <a:rPr lang="en-US" altLang="zh-CN" b="1"/>
              <a:t>“</a:t>
            </a:r>
            <a:r>
              <a:rPr lang="zh-CN" altLang="en-US" b="1"/>
              <a:t>看不见但很重要的中间变量</a:t>
            </a:r>
            <a:r>
              <a:rPr lang="en-US" altLang="zh-CN" b="1"/>
              <a:t>”</a:t>
            </a:r>
            <a:r>
              <a:rPr lang="zh-CN" altLang="en-US" b="1"/>
              <a:t>时，用</a:t>
            </a:r>
            <a:r>
              <a:rPr lang="en-US" altLang="zh-CN" b="1"/>
              <a:t>“</a:t>
            </a:r>
            <a:r>
              <a:rPr lang="zh-CN" altLang="en-US" b="1"/>
              <a:t>先猜中间变量、再更新模型</a:t>
            </a:r>
            <a:r>
              <a:rPr lang="en-US" altLang="zh-CN" b="1"/>
              <a:t>”</a:t>
            </a:r>
            <a:r>
              <a:rPr lang="zh-CN" altLang="en-US" b="1"/>
              <a:t>的方式迭代优化。</a:t>
            </a:r>
          </a:p>
          <a:p>
            <a:r>
              <a:rPr lang="zh-CN" altLang="en-US" b="1"/>
              <a:t>因为训练数据里通常只有</a:t>
            </a:r>
            <a:r>
              <a:rPr lang="en-US" altLang="zh-CN" b="1"/>
              <a:t> </a:t>
            </a:r>
            <a:r>
              <a:rPr lang="zh-CN" altLang="en-US" b="1"/>
              <a:t>问题</a:t>
            </a:r>
            <a:r>
              <a:rPr lang="en-US" altLang="zh-CN" b="1"/>
              <a:t> q</a:t>
            </a:r>
            <a:r>
              <a:rPr lang="zh-CN" altLang="en-US" b="1"/>
              <a:t>知识图谱</a:t>
            </a:r>
            <a:r>
              <a:rPr lang="en-US" altLang="zh-CN" b="1"/>
              <a:t> G</a:t>
            </a:r>
            <a:r>
              <a:rPr lang="zh-CN" altLang="en-US" b="1"/>
              <a:t>最终答案</a:t>
            </a:r>
            <a:r>
              <a:rPr lang="en-US" altLang="zh-CN" b="1"/>
              <a:t>a</a:t>
            </a:r>
            <a:r>
              <a:rPr lang="zh-CN" altLang="en-US" b="1"/>
              <a:t>，没有标注好的中间推理过程</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RAR </a:t>
            </a:r>
            <a:r>
              <a:rPr lang="zh-CN" altLang="en-US" dirty="0"/>
              <a:t>框架的训练</a:t>
            </a:r>
            <a:r>
              <a:rPr lang="en-US" altLang="zh-CN" dirty="0"/>
              <a:t> + </a:t>
            </a:r>
            <a:r>
              <a:rPr lang="zh-CN" altLang="en-US" dirty="0"/>
              <a:t>推理全流程示意图，</a:t>
            </a:r>
          </a:p>
          <a:p>
            <a:r>
              <a:rPr lang="en-US" altLang="zh-CN" b="1" dirty="0"/>
              <a:t>Reasoner </a:t>
            </a:r>
            <a:r>
              <a:rPr lang="zh-CN" altLang="en-US" b="1" dirty="0"/>
              <a:t>模块</a:t>
            </a:r>
            <a:r>
              <a:rPr lang="zh-CN" altLang="en-US" dirty="0"/>
              <a:t>：</a:t>
            </a:r>
            <a:r>
              <a:rPr lang="en-US" altLang="zh-CN" dirty="0"/>
              <a:t> </a:t>
            </a:r>
            <a:r>
              <a:rPr lang="zh-CN" altLang="en-US" dirty="0"/>
              <a:t>为问题生成分步推理链</a:t>
            </a:r>
            <a:r>
              <a:rPr lang="en-US" altLang="zh-CN" dirty="0"/>
              <a:t> </a:t>
            </a:r>
          </a:p>
          <a:p>
            <a:r>
              <a:rPr lang="en-US" altLang="zh-CN" dirty="0"/>
              <a:t>1.</a:t>
            </a:r>
            <a:r>
              <a:rPr lang="zh-CN" altLang="en-US" dirty="0"/>
              <a:t>首先识别查询实体</a:t>
            </a:r>
            <a:r>
              <a:rPr lang="en-US" altLang="zh-CN" dirty="0"/>
              <a:t> “Scott Swift” </a:t>
            </a:r>
            <a:r>
              <a:rPr lang="zh-CN" altLang="en-US" dirty="0"/>
              <a:t>的女儿，用中间实体</a:t>
            </a:r>
            <a:r>
              <a:rPr lang="en-US" altLang="zh-CN" dirty="0"/>
              <a:t> “c” </a:t>
            </a:r>
            <a:r>
              <a:rPr lang="zh-CN" altLang="en-US" dirty="0"/>
              <a:t>表示。这一步建立了</a:t>
            </a:r>
            <a:r>
              <a:rPr lang="en-US" altLang="zh-CN" dirty="0"/>
              <a:t>...</a:t>
            </a:r>
          </a:p>
          <a:p>
            <a:r>
              <a:rPr lang="en-US" altLang="zh-CN" dirty="0"/>
              <a:t>2.</a:t>
            </a:r>
            <a:r>
              <a:rPr lang="zh-CN" altLang="en-US" dirty="0"/>
              <a:t>接下来，验证中间实体</a:t>
            </a:r>
            <a:r>
              <a:rPr lang="en-US" altLang="zh-CN" dirty="0"/>
              <a:t> “c” </a:t>
            </a:r>
            <a:r>
              <a:rPr lang="zh-CN" altLang="en-US" dirty="0"/>
              <a:t>发行了一张专辑</a:t>
            </a:r>
            <a:r>
              <a:rPr lang="en-US" altLang="zh-CN" dirty="0"/>
              <a:t>... </a:t>
            </a:r>
            <a:r>
              <a:rPr lang="zh-CN" altLang="en-US" dirty="0"/>
              <a:t>这确保了</a:t>
            </a:r>
            <a:r>
              <a:rPr lang="en-US" altLang="zh-CN" dirty="0"/>
              <a:t>...</a:t>
            </a:r>
          </a:p>
          <a:p>
            <a:r>
              <a:rPr lang="en-US" altLang="zh-CN" dirty="0"/>
              <a:t>3.</a:t>
            </a:r>
            <a:r>
              <a:rPr lang="zh-CN" altLang="en-US" dirty="0"/>
              <a:t>最后，确定专辑《</a:t>
            </a:r>
            <a:r>
              <a:rPr lang="en-US" altLang="zh-CN" dirty="0"/>
              <a:t>folklore</a:t>
            </a:r>
            <a:r>
              <a:rPr lang="zh-CN" altLang="en-US" dirty="0"/>
              <a:t>》的音乐流派。该流派提供了</a:t>
            </a:r>
            <a:r>
              <a:rPr lang="en-US" altLang="zh-CN" dirty="0"/>
              <a:t>...</a:t>
            </a:r>
          </a:p>
          <a:p>
            <a:r>
              <a:rPr lang="en-US" altLang="zh-CN" dirty="0"/>
              <a:t>EM </a:t>
            </a:r>
            <a:r>
              <a:rPr lang="zh-CN" altLang="en-US" dirty="0"/>
              <a:t>算法</a:t>
            </a:r>
            <a:r>
              <a:rPr lang="zh-CN" altLang="en-US" b="1" i="1" u="sng" dirty="0"/>
              <a:t>（这个</a:t>
            </a:r>
            <a:r>
              <a:rPr lang="en-US" altLang="zh-CN" b="1" i="1" u="sng" dirty="0"/>
              <a:t>EM</a:t>
            </a:r>
            <a:r>
              <a:rPr lang="zh-CN" altLang="en-US" b="1" i="1" u="sng" dirty="0"/>
              <a:t>过程本质是在</a:t>
            </a:r>
            <a:r>
              <a:rPr lang="en-US" altLang="zh-CN" b="1" i="1" u="sng" dirty="0"/>
              <a:t>“</a:t>
            </a:r>
            <a:r>
              <a:rPr lang="zh-CN" altLang="en-US" b="1" i="1" u="sng" dirty="0"/>
              <a:t>没有标注推理路径</a:t>
            </a:r>
            <a:r>
              <a:rPr lang="en-US" altLang="zh-CN" b="1" i="1" u="sng" dirty="0"/>
              <a:t>”</a:t>
            </a:r>
            <a:r>
              <a:rPr lang="zh-CN" altLang="en-US" b="1" i="1" u="sng" dirty="0"/>
              <a:t>的情况下，联合学习推理链和</a:t>
            </a:r>
            <a:r>
              <a:rPr lang="en-US" altLang="zh-CN" b="1" i="1" u="sng" dirty="0"/>
              <a:t>KG</a:t>
            </a:r>
            <a:r>
              <a:rPr lang="zh-CN" altLang="en-US" b="1" i="1" u="sng" dirty="0"/>
              <a:t>路径。）</a:t>
            </a:r>
            <a:endParaRPr lang="zh-CN" altLang="en-US" dirty="0"/>
          </a:p>
          <a:p>
            <a:r>
              <a:rPr lang="zh-CN" altLang="en-US" b="1" dirty="0"/>
              <a:t>把推理链</a:t>
            </a:r>
            <a:r>
              <a:rPr lang="en-US" altLang="zh-CN" b="1" dirty="0"/>
              <a:t> </a:t>
            </a:r>
            <a:r>
              <a:rPr lang="zh-CN" altLang="en-US" b="1" dirty="0"/>
              <a:t>和知识路径</a:t>
            </a:r>
            <a:r>
              <a:rPr lang="en-US" altLang="zh-CN" b="1" dirty="0"/>
              <a:t> </a:t>
            </a:r>
            <a:r>
              <a:rPr lang="zh-CN" altLang="en-US" b="1" dirty="0"/>
              <a:t>都看成隐变量。</a:t>
            </a:r>
            <a:r>
              <a:rPr lang="en-US" altLang="zh-CN" b="1" dirty="0"/>
              <a:t>E-step </a:t>
            </a:r>
            <a:r>
              <a:rPr lang="zh-CN" altLang="en-US" b="1" dirty="0"/>
              <a:t>会从当前模型里采样出高质量的推理链和知识路径；</a:t>
            </a:r>
          </a:p>
          <a:p>
            <a:r>
              <a:rPr lang="en-US" altLang="zh-CN" b="1" dirty="0"/>
              <a:t>M-step </a:t>
            </a:r>
            <a:r>
              <a:rPr lang="zh-CN" altLang="en-US" b="1" dirty="0"/>
              <a:t>再用这些高质量样本</a:t>
            </a:r>
            <a:r>
              <a:rPr lang="en-US" altLang="zh-CN" b="1" dirty="0"/>
              <a:t> </a:t>
            </a:r>
            <a:r>
              <a:rPr lang="zh-CN" altLang="en-US" b="1" dirty="0"/>
              <a:t>为监督信号去更新三个模块。使模型最大化生成正确答案的似然。通过这样的迭代过程，模型逐步学习到结构合理的推理逻辑以及与知识图谱对齐的路径表示。</a:t>
            </a:r>
          </a:p>
          <a:p>
            <a:r>
              <a:rPr lang="en-US" altLang="zh-CN" b="1" dirty="0"/>
              <a:t>”</a:t>
            </a:r>
          </a:p>
          <a:p>
            <a:r>
              <a:rPr lang="en-US" altLang="zh-CN" b="1" dirty="0">
                <a:sym typeface="+mn-ea"/>
              </a:rPr>
              <a:t>Prior</a:t>
            </a:r>
            <a:r>
              <a:rPr lang="zh-CN" altLang="en-US" b="1" dirty="0">
                <a:sym typeface="+mn-ea"/>
              </a:rPr>
              <a:t>（先验）：管</a:t>
            </a:r>
            <a:r>
              <a:rPr lang="en-US" altLang="zh-CN" b="1" dirty="0">
                <a:sym typeface="+mn-ea"/>
              </a:rPr>
              <a:t> “</a:t>
            </a:r>
            <a:r>
              <a:rPr lang="zh-CN" altLang="en-US" b="1" dirty="0">
                <a:sym typeface="+mn-ea"/>
              </a:rPr>
              <a:t>过程靠谱不靠谱</a:t>
            </a:r>
            <a:r>
              <a:rPr lang="en-US" altLang="zh-CN" b="1" dirty="0">
                <a:sym typeface="+mn-ea"/>
              </a:rPr>
              <a:t> </a:t>
            </a:r>
            <a:r>
              <a:rPr lang="zh-CN" altLang="en-US" b="1" dirty="0">
                <a:sym typeface="+mn-ea"/>
              </a:rPr>
              <a:t>，</a:t>
            </a:r>
            <a:r>
              <a:rPr lang="en-US" altLang="zh-CN" b="1" dirty="0">
                <a:sym typeface="+mn-ea"/>
              </a:rPr>
              <a:t>Likelihood</a:t>
            </a:r>
            <a:r>
              <a:rPr lang="zh-CN" altLang="en-US" b="1" dirty="0">
                <a:sym typeface="+mn-ea"/>
              </a:rPr>
              <a:t>（似然）：管</a:t>
            </a:r>
            <a:r>
              <a:rPr lang="en-US" altLang="zh-CN" b="1" dirty="0">
                <a:sym typeface="+mn-ea"/>
              </a:rPr>
              <a:t> “</a:t>
            </a:r>
            <a:r>
              <a:rPr lang="zh-CN" altLang="en-US" b="1" dirty="0">
                <a:sym typeface="+mn-ea"/>
              </a:rPr>
              <a:t>结果靠谱不靠谱</a:t>
            </a:r>
            <a:r>
              <a:rPr lang="en-US" altLang="zh-CN" b="1" dirty="0">
                <a:sym typeface="+mn-ea"/>
              </a:rPr>
              <a:t> </a:t>
            </a:r>
            <a:endParaRPr lang="en-US" altLang="zh-CN" b="1" dirty="0"/>
          </a:p>
          <a:p>
            <a:r>
              <a:rPr lang="en-US" altLang="zh-CN" b="1" dirty="0">
                <a:sym typeface="+mn-ea"/>
              </a:rPr>
              <a:t>E </a:t>
            </a:r>
            <a:r>
              <a:rPr lang="zh-CN" altLang="en-US" b="1" dirty="0">
                <a:sym typeface="+mn-ea"/>
              </a:rPr>
              <a:t>步就是用「</a:t>
            </a:r>
            <a:r>
              <a:rPr lang="en-US" altLang="zh-CN" b="1" dirty="0" err="1">
                <a:sym typeface="+mn-ea"/>
              </a:rPr>
              <a:t>Prior</a:t>
            </a:r>
            <a:r>
              <a:rPr lang="en-US" altLang="en-US" b="1" dirty="0" err="1">
                <a:sym typeface="+mn-ea"/>
              </a:rPr>
              <a:t>×</a:t>
            </a:r>
            <a:r>
              <a:rPr lang="en-US" altLang="zh-CN" b="1" dirty="0" err="1">
                <a:sym typeface="+mn-ea"/>
              </a:rPr>
              <a:t>Likelihood</a:t>
            </a:r>
            <a:r>
              <a:rPr lang="zh-CN" altLang="en-US" b="1" dirty="0">
                <a:sym typeface="+mn-ea"/>
              </a:rPr>
              <a:t>」的综合分，从当前模型里筛选样本：只有</a:t>
            </a:r>
            <a:r>
              <a:rPr lang="en-US" altLang="zh-CN" b="1" dirty="0">
                <a:sym typeface="+mn-ea"/>
              </a:rPr>
              <a:t> “</a:t>
            </a:r>
            <a:r>
              <a:rPr lang="zh-CN" altLang="en-US" b="1" dirty="0">
                <a:sym typeface="+mn-ea"/>
              </a:rPr>
              <a:t>过程靠谱（</a:t>
            </a:r>
            <a:r>
              <a:rPr lang="en-US" altLang="zh-CN" b="1" dirty="0">
                <a:sym typeface="+mn-ea"/>
              </a:rPr>
              <a:t>Prior </a:t>
            </a:r>
            <a:r>
              <a:rPr lang="zh-CN" altLang="en-US" b="1" dirty="0">
                <a:sym typeface="+mn-ea"/>
              </a:rPr>
              <a:t>高）</a:t>
            </a:r>
            <a:r>
              <a:rPr lang="en-US" altLang="zh-CN" b="1" dirty="0">
                <a:sym typeface="+mn-ea"/>
              </a:rPr>
              <a:t>+ </a:t>
            </a:r>
            <a:r>
              <a:rPr lang="zh-CN" altLang="en-US" b="1" dirty="0">
                <a:sym typeface="+mn-ea"/>
              </a:rPr>
              <a:t>结果靠谱（</a:t>
            </a:r>
            <a:r>
              <a:rPr lang="en-US" altLang="zh-CN" b="1" dirty="0">
                <a:sym typeface="+mn-ea"/>
              </a:rPr>
              <a:t>Likelihood </a:t>
            </a:r>
            <a:r>
              <a:rPr lang="zh-CN" altLang="en-US" b="1" dirty="0">
                <a:sym typeface="+mn-ea"/>
              </a:rPr>
              <a:t>高）</a:t>
            </a:r>
            <a:r>
              <a:rPr lang="en-US" altLang="zh-CN" b="1" dirty="0">
                <a:sym typeface="+mn-ea"/>
              </a:rPr>
              <a:t>” </a:t>
            </a:r>
            <a:r>
              <a:rPr lang="zh-CN" altLang="en-US" b="1" dirty="0">
                <a:sym typeface="+mn-ea"/>
              </a:rPr>
              <a:t>的组合，才是高质量样本</a:t>
            </a:r>
            <a:endParaRPr lang="zh-CN" altLang="en-US" b="1" dirty="0"/>
          </a:p>
          <a:p>
            <a:endParaRPr lang="zh-CN" altLang="en-US" b="1"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b="1"/>
              <a:t>E= </a:t>
            </a:r>
            <a:r>
              <a:rPr lang="zh-CN" altLang="en-US" b="1"/>
              <a:t>实体集合，</a:t>
            </a:r>
            <a:r>
              <a:rPr lang="en-US" altLang="zh-CN" b="1"/>
              <a:t>R= </a:t>
            </a:r>
            <a:r>
              <a:rPr lang="zh-CN" altLang="en-US" b="1"/>
              <a:t>关系集合</a:t>
            </a:r>
          </a:p>
          <a:p>
            <a:r>
              <a:rPr lang="zh-CN" altLang="en-US" b="1"/>
              <a:t>主体</a:t>
            </a:r>
            <a:r>
              <a:rPr lang="en-US" altLang="zh-CN" b="1"/>
              <a:t> - </a:t>
            </a:r>
            <a:r>
              <a:rPr lang="zh-CN" altLang="en-US" b="1"/>
              <a:t>关系</a:t>
            </a:r>
            <a:r>
              <a:rPr lang="en-US" altLang="zh-CN" b="1"/>
              <a:t> - </a:t>
            </a:r>
            <a:r>
              <a:rPr lang="zh-CN" altLang="en-US" b="1"/>
              <a:t>客体</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b="1" dirty="0" err="1"/>
              <a:t>zr</a:t>
            </a:r>
            <a:r>
              <a:rPr lang="zh-CN" altLang="en-US" b="1" dirty="0"/>
              <a:t>推理链（</a:t>
            </a:r>
            <a:r>
              <a:rPr lang="en-US" altLang="zh-CN" b="1" dirty="0"/>
              <a:t>Reasoning Chain</a:t>
            </a:r>
            <a:r>
              <a:rPr lang="zh-CN" altLang="en-US" b="1" dirty="0"/>
              <a:t>）：自然语言的思考步骤（类似</a:t>
            </a:r>
            <a:r>
              <a:rPr lang="en-US" altLang="zh-CN" b="1" dirty="0"/>
              <a:t> </a:t>
            </a:r>
            <a:r>
              <a:rPr lang="en-US" altLang="zh-CN" b="1" dirty="0" err="1"/>
              <a:t>CoT</a:t>
            </a:r>
            <a:r>
              <a:rPr lang="zh-CN" altLang="en-US" b="1" dirty="0"/>
              <a:t>）</a:t>
            </a:r>
          </a:p>
          <a:p>
            <a:r>
              <a:rPr lang="en-US" altLang="zh-CN" b="1" dirty="0" err="1"/>
              <a:t>zp</a:t>
            </a:r>
            <a:r>
              <a:rPr lang="zh-CN" altLang="en-US" b="1" dirty="0"/>
              <a:t>知识路径（</a:t>
            </a:r>
            <a:r>
              <a:rPr lang="en-US" altLang="zh-CN" b="1" dirty="0"/>
              <a:t>Knowledge Path</a:t>
            </a:r>
            <a:r>
              <a:rPr lang="zh-CN" altLang="en-US" b="1" dirty="0"/>
              <a:t>）：</a:t>
            </a:r>
            <a:r>
              <a:rPr lang="en-US" altLang="zh-CN" b="1" dirty="0"/>
              <a:t>KG</a:t>
            </a:r>
            <a:r>
              <a:rPr lang="zh-CN" altLang="en-US" b="1" dirty="0"/>
              <a:t>中的三元组路径</a:t>
            </a:r>
          </a:p>
          <a:p>
            <a:endParaRPr lang="zh-CN" altLang="en-US" b="1" dirty="0"/>
          </a:p>
          <a:p>
            <a:r>
              <a:rPr lang="zh-CN" altLang="en-US" b="1" dirty="0"/>
              <a:t>输入问题</a:t>
            </a:r>
            <a:r>
              <a:rPr lang="en-US" altLang="zh-CN" b="1" dirty="0"/>
              <a:t> q </a:t>
            </a:r>
            <a:r>
              <a:rPr lang="en-US" altLang="en-US" b="1" dirty="0"/>
              <a:t>→</a:t>
            </a:r>
            <a:r>
              <a:rPr lang="en-US" altLang="zh-CN" b="1" dirty="0"/>
              <a:t> </a:t>
            </a:r>
            <a:r>
              <a:rPr lang="zh-CN" altLang="en-US" b="1" dirty="0"/>
              <a:t>经过</a:t>
            </a:r>
            <a:r>
              <a:rPr lang="en-US" altLang="zh-CN" b="1" dirty="0"/>
              <a:t> Reasoner </a:t>
            </a:r>
            <a:r>
              <a:rPr lang="zh-CN" altLang="en-US" b="1" dirty="0"/>
              <a:t>生成推理链</a:t>
            </a:r>
            <a:r>
              <a:rPr lang="en-US" altLang="zh-CN" b="1" dirty="0"/>
              <a:t> </a:t>
            </a:r>
            <a:r>
              <a:rPr lang="en-US" altLang="zh-CN" b="1" dirty="0" err="1"/>
              <a:t>zr</a:t>
            </a:r>
            <a:r>
              <a:rPr lang="en-US" altLang="zh-CN" b="1" dirty="0"/>
              <a:t>​ </a:t>
            </a:r>
            <a:r>
              <a:rPr lang="en-US" altLang="en-US" b="1" dirty="0"/>
              <a:t>→</a:t>
            </a:r>
            <a:r>
              <a:rPr lang="en-US" altLang="zh-CN" b="1" dirty="0"/>
              <a:t> </a:t>
            </a:r>
            <a:r>
              <a:rPr lang="zh-CN" altLang="en-US" b="1" dirty="0"/>
              <a:t>再由</a:t>
            </a:r>
            <a:r>
              <a:rPr lang="en-US" altLang="zh-CN" b="1" dirty="0"/>
              <a:t> Aligner </a:t>
            </a:r>
            <a:r>
              <a:rPr lang="zh-CN" altLang="en-US" b="1" dirty="0"/>
              <a:t>映射为知识图谱里的合法路径</a:t>
            </a:r>
            <a:r>
              <a:rPr lang="en-US" altLang="zh-CN" b="1" dirty="0"/>
              <a:t> </a:t>
            </a:r>
            <a:r>
              <a:rPr lang="en-US" altLang="zh-CN" b="1" dirty="0" err="1"/>
              <a:t>zp</a:t>
            </a:r>
            <a:r>
              <a:rPr lang="en-US" altLang="zh-CN" b="1" dirty="0"/>
              <a:t>​ </a:t>
            </a:r>
            <a:r>
              <a:rPr lang="en-US" altLang="en-US" b="1" dirty="0"/>
              <a:t>→</a:t>
            </a:r>
            <a:r>
              <a:rPr lang="en-US" altLang="zh-CN" b="1" dirty="0"/>
              <a:t> </a:t>
            </a:r>
            <a:r>
              <a:rPr lang="zh-CN" altLang="en-US" b="1" dirty="0"/>
              <a:t>最后</a:t>
            </a:r>
            <a:r>
              <a:rPr lang="en-US" altLang="zh-CN" b="1" dirty="0"/>
              <a:t> </a:t>
            </a:r>
            <a:r>
              <a:rPr lang="en-US" altLang="zh-CN" b="1" dirty="0" err="1"/>
              <a:t>Responser</a:t>
            </a:r>
            <a:r>
              <a:rPr lang="en-US" altLang="zh-CN" b="1" dirty="0"/>
              <a:t> </a:t>
            </a:r>
            <a:r>
              <a:rPr lang="zh-CN" altLang="en-US" b="1" dirty="0"/>
              <a:t>融合两类信息，输出最终答案</a:t>
            </a:r>
            <a:r>
              <a:rPr lang="en-US" altLang="zh-CN" b="1" dirty="0"/>
              <a:t> a</a:t>
            </a:r>
            <a:r>
              <a:rPr lang="zh-CN" altLang="en-US" b="1" dirty="0"/>
              <a:t>。</a:t>
            </a:r>
            <a:r>
              <a:rPr lang="en-US" altLang="zh-CN" b="1" dirty="0"/>
              <a:t>	​</a:t>
            </a:r>
          </a:p>
          <a:p>
            <a:r>
              <a:rPr lang="en-US" altLang="zh-CN" b="1" dirty="0">
                <a:sym typeface="+mn-ea"/>
              </a:rPr>
              <a:t> </a:t>
            </a:r>
            <a:endParaRPr lang="en-US" altLang="zh-CN" b="1" dirty="0"/>
          </a:p>
          <a:p>
            <a:r>
              <a:rPr lang="zh-CN" altLang="en-US" b="1" dirty="0">
                <a:sym typeface="+mn-ea"/>
              </a:rPr>
              <a:t>给定问题</a:t>
            </a:r>
            <a:endParaRPr lang="en-US" altLang="zh-CN" b="1" dirty="0"/>
          </a:p>
          <a:p>
            <a:r>
              <a:rPr lang="zh-CN" altLang="en-US" b="1" dirty="0"/>
              <a:t>左边：在给定知识图谱</a:t>
            </a:r>
            <a:r>
              <a:rPr lang="en-US" altLang="zh-CN" b="1" dirty="0"/>
              <a:t> G </a:t>
            </a:r>
            <a:r>
              <a:rPr lang="zh-CN" altLang="en-US" b="1" dirty="0"/>
              <a:t>和问题</a:t>
            </a:r>
            <a:r>
              <a:rPr lang="en-US" altLang="zh-CN" b="1" dirty="0"/>
              <a:t> q </a:t>
            </a:r>
            <a:r>
              <a:rPr lang="zh-CN" altLang="en-US" b="1" dirty="0"/>
              <a:t>的前提下，模型输出正确答案</a:t>
            </a:r>
            <a:r>
              <a:rPr lang="en-US" altLang="zh-CN" b="1" dirty="0"/>
              <a:t> a </a:t>
            </a:r>
            <a:r>
              <a:rPr lang="zh-CN" altLang="en-US" b="1" dirty="0"/>
              <a:t>的概率。</a:t>
            </a:r>
          </a:p>
          <a:p>
            <a:r>
              <a:rPr lang="zh-CN" altLang="en-US" b="1" dirty="0"/>
              <a:t>右边：由于推理链和知识路径都没有标注，所以作者把它们当作隐变量。</a:t>
            </a:r>
          </a:p>
          <a:p>
            <a:r>
              <a:rPr lang="zh-CN" altLang="en-US" b="1" dirty="0"/>
              <a:t>最终答案的概率不是由某一条固定路径决定，而是由所有可能的推理链和知识路径共同决定，因此需要做求和</a:t>
            </a:r>
          </a:p>
          <a:p>
            <a:endParaRPr lang="zh-CN" altLang="en-US" b="1" dirty="0"/>
          </a:p>
          <a:p>
            <a:r>
              <a:rPr lang="zh-CN" altLang="en-US" b="1" dirty="0"/>
              <a:t>先有推理链，再有知识路径，最后才有答案。所以最终答案概率，就是</a:t>
            </a:r>
            <a:r>
              <a:rPr lang="en-US" altLang="zh-CN" b="1" dirty="0"/>
              <a:t>‘</a:t>
            </a:r>
            <a:r>
              <a:rPr lang="zh-CN" altLang="en-US" b="1" dirty="0"/>
              <a:t>所有可能推理过程</a:t>
            </a:r>
            <a:r>
              <a:rPr lang="en-US" altLang="zh-CN" b="1" dirty="0"/>
              <a:t>’</a:t>
            </a:r>
            <a:r>
              <a:rPr lang="zh-CN" altLang="en-US" b="1" dirty="0"/>
              <a:t>共同贡献的总和。</a:t>
            </a:r>
            <a:r>
              <a:rPr lang="en-US" altLang="zh-CN" b="1" dirty="0"/>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a:t>推理器（</a:t>
            </a:r>
            <a:r>
              <a:rPr lang="en-US" altLang="zh-CN" b="1"/>
              <a:t> </a:t>
            </a:r>
            <a:r>
              <a:rPr lang="zh-CN" altLang="en-US" b="1"/>
              <a:t>生成类人推理链）</a:t>
            </a:r>
            <a:r>
              <a:rPr lang="en-US" altLang="zh-CN" b="1"/>
              <a:t> -</a:t>
            </a:r>
            <a:r>
              <a:rPr lang="zh-CN" altLang="en-US" b="1"/>
              <a:t>对齐器</a:t>
            </a:r>
            <a:r>
              <a:rPr lang="en-US" altLang="zh-CN" b="1"/>
              <a:t> </a:t>
            </a:r>
            <a:r>
              <a:rPr lang="zh-CN" altLang="en-US" b="1"/>
              <a:t>（映射为合法</a:t>
            </a:r>
            <a:r>
              <a:rPr lang="en-US" altLang="zh-CN" b="1"/>
              <a:t> KG </a:t>
            </a:r>
            <a:r>
              <a:rPr lang="zh-CN" altLang="en-US" b="1"/>
              <a:t>路径）</a:t>
            </a:r>
          </a:p>
          <a:p>
            <a:r>
              <a:rPr lang="zh-CN" altLang="en-US" b="1"/>
              <a:t>标注：</a:t>
            </a:r>
            <a:r>
              <a:rPr lang="en-US" altLang="zh-CN" b="1"/>
              <a:t>s1​−st​ </a:t>
            </a:r>
            <a:r>
              <a:rPr lang="zh-CN" altLang="en-US" b="1"/>
              <a:t>为离散推理步骤，</a:t>
            </a:r>
            <a:r>
              <a:rPr lang="en-US" altLang="zh-CN" b="1"/>
              <a:t>&lt;THINK&gt;</a:t>
            </a:r>
            <a:r>
              <a:rPr lang="zh-CN" altLang="en-US" b="1"/>
              <a:t>标记推理起止</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a:t>数据集：</a:t>
            </a:r>
            <a:r>
              <a:rPr lang="en-US" altLang="zh-CN" b="1"/>
              <a:t>WebQSP</a:t>
            </a:r>
            <a:r>
              <a:rPr lang="zh-CN" altLang="en-US" b="1"/>
              <a:t>、</a:t>
            </a:r>
            <a:r>
              <a:rPr lang="en-US" altLang="zh-CN" b="1"/>
              <a:t>CWQ</a:t>
            </a:r>
            <a:r>
              <a:rPr lang="zh-CN" altLang="en-US" b="1"/>
              <a:t>（均基于</a:t>
            </a:r>
            <a:r>
              <a:rPr lang="en-US" altLang="zh-CN" b="1"/>
              <a:t> Freebase </a:t>
            </a:r>
            <a:r>
              <a:rPr lang="zh-CN" altLang="en-US" b="1"/>
              <a:t>知识图谱）</a:t>
            </a:r>
          </a:p>
          <a:p>
            <a:r>
              <a:rPr lang="zh-CN" altLang="en-US" b="1"/>
              <a:t>数据内容：自然语言问题</a:t>
            </a:r>
            <a:r>
              <a:rPr lang="en-US" altLang="zh-CN" b="1"/>
              <a:t> q + </a:t>
            </a:r>
            <a:r>
              <a:rPr lang="zh-CN" altLang="en-US" b="1"/>
              <a:t>对应</a:t>
            </a:r>
            <a:r>
              <a:rPr lang="en-US" altLang="zh-CN" b="1"/>
              <a:t> SPARQL </a:t>
            </a:r>
            <a:r>
              <a:rPr lang="zh-CN" altLang="en-US" b="1"/>
              <a:t>查询语句（人类专家的黄金推理逻辑）</a:t>
            </a:r>
          </a:p>
          <a:p>
            <a:r>
              <a:rPr lang="zh-CN" altLang="en-US" b="1"/>
              <a:t>（</a:t>
            </a:r>
            <a:r>
              <a:rPr lang="en-US" altLang="zh-CN" b="1"/>
              <a:t>Responser </a:t>
            </a:r>
            <a:r>
              <a:rPr lang="zh-CN" altLang="en-US" b="1"/>
              <a:t>可直接用</a:t>
            </a:r>
            <a:r>
              <a:rPr lang="en-US" altLang="zh-CN" b="1"/>
              <a:t> LLM </a:t>
            </a:r>
            <a:r>
              <a:rPr lang="zh-CN" altLang="en-US" b="1"/>
              <a:t>零样本能力，无需额外预训练）</a:t>
            </a:r>
          </a:p>
          <a:p>
            <a:r>
              <a:rPr lang="zh-CN" altLang="en-US" b="1"/>
              <a:t>对预训练</a:t>
            </a:r>
            <a:r>
              <a:rPr lang="en-US" altLang="zh-CN" b="1"/>
              <a:t> LLM</a:t>
            </a:r>
            <a:r>
              <a:rPr lang="zh-CN" altLang="en-US" b="1"/>
              <a:t>（</a:t>
            </a:r>
            <a:r>
              <a:rPr lang="en-US" altLang="zh-CN" b="1"/>
              <a:t>Llama-3.1-8B</a:t>
            </a:r>
            <a:r>
              <a:rPr lang="zh-CN" altLang="en-US" b="1"/>
              <a:t>）做有监督微调，让模型学会输入问题</a:t>
            </a:r>
            <a:r>
              <a:rPr lang="en-US" altLang="zh-CN" b="1"/>
              <a:t> </a:t>
            </a:r>
            <a:r>
              <a:rPr lang="en-US" altLang="en-US" b="1"/>
              <a:t>→</a:t>
            </a:r>
            <a:r>
              <a:rPr lang="en-US" altLang="zh-CN" b="1"/>
              <a:t> </a:t>
            </a:r>
            <a:r>
              <a:rPr lang="zh-CN" altLang="en-US" b="1"/>
              <a:t>输出规范的推理链</a:t>
            </a:r>
            <a:r>
              <a:rPr lang="en-US" altLang="zh-CN" b="1"/>
              <a:t> + </a:t>
            </a:r>
            <a:r>
              <a:rPr lang="zh-CN" altLang="en-US" b="1"/>
              <a:t>知识路径</a:t>
            </a:r>
          </a:p>
          <a:p>
            <a:r>
              <a:rPr lang="en-US" altLang="zh-CN" b="1"/>
              <a:t>2000</a:t>
            </a:r>
            <a:r>
              <a:rPr lang="zh-CN" altLang="en-US" b="1"/>
              <a:t>条数据：</a:t>
            </a:r>
            <a:r>
              <a:rPr lang="en-US" altLang="zh-CN" b="1"/>
              <a:t>KGQA </a:t>
            </a:r>
            <a:r>
              <a:rPr lang="zh-CN" altLang="en-US" b="1"/>
              <a:t>数据集对应</a:t>
            </a:r>
            <a:r>
              <a:rPr lang="en-US" altLang="zh-CN" b="1"/>
              <a:t> SPARQL </a:t>
            </a:r>
            <a:r>
              <a:rPr lang="en-US" altLang="en-US" b="1"/>
              <a:t>→</a:t>
            </a:r>
            <a:r>
              <a:rPr lang="en-US" altLang="zh-CN" b="1"/>
              <a:t> z</a:t>
            </a:r>
            <a:r>
              <a:rPr lang="en-US" altLang="en-US" b="1"/>
              <a:t>ᵣ</a:t>
            </a:r>
            <a:r>
              <a:rPr lang="en-US" altLang="zh-CN" b="1"/>
              <a:t> </a:t>
            </a:r>
            <a:r>
              <a:rPr lang="en-US" altLang="en-US" b="1"/>
              <a:t>→</a:t>
            </a:r>
            <a:r>
              <a:rPr lang="en-US" altLang="zh-CN" b="1"/>
              <a:t> z</a:t>
            </a:r>
            <a:r>
              <a:rPr lang="en-US" altLang="en-US" b="1"/>
              <a:t>ₚ</a:t>
            </a:r>
            <a:r>
              <a:rPr lang="zh-CN" altLang="en-US" b="1"/>
              <a:t>（去</a:t>
            </a:r>
            <a:r>
              <a:rPr lang="en-US" altLang="zh-CN" b="1"/>
              <a:t> Freebase </a:t>
            </a:r>
            <a:r>
              <a:rPr lang="zh-CN" altLang="en-US" b="1"/>
              <a:t>查对应的</a:t>
            </a:r>
            <a:r>
              <a:rPr lang="en-US" altLang="zh-CN" b="1"/>
              <a:t> triple</a:t>
            </a:r>
            <a:r>
              <a:rPr lang="zh-CN" altLang="en-US" b="1"/>
              <a:t>）</a:t>
            </a:r>
            <a:r>
              <a:rPr lang="en-US" altLang="zh-CN" b="1"/>
              <a:t> </a:t>
            </a:r>
            <a:r>
              <a:rPr lang="en-US" altLang="en-US" b="1"/>
              <a:t>→</a:t>
            </a:r>
            <a:r>
              <a:rPr lang="en-US" altLang="zh-CN" b="1"/>
              <a:t> SFT”</a:t>
            </a:r>
            <a:r>
              <a:rPr lang="zh-CN" altLang="en-US" b="1"/>
              <a:t>流程图</a:t>
            </a:r>
          </a:p>
          <a:p>
            <a:r>
              <a:rPr lang="en-US" altLang="zh-CN" b="1"/>
              <a:t>EM </a:t>
            </a:r>
            <a:r>
              <a:rPr lang="zh-CN" altLang="en-US" b="1"/>
              <a:t>算法就是：当模型里有</a:t>
            </a:r>
            <a:r>
              <a:rPr lang="en-US" altLang="zh-CN" b="1"/>
              <a:t>“</a:t>
            </a:r>
            <a:r>
              <a:rPr lang="zh-CN" altLang="en-US" b="1"/>
              <a:t>看不见但很重要的中间变量</a:t>
            </a:r>
            <a:r>
              <a:rPr lang="en-US" altLang="zh-CN" b="1"/>
              <a:t>”</a:t>
            </a:r>
            <a:r>
              <a:rPr lang="zh-CN" altLang="en-US" b="1"/>
              <a:t>时，用</a:t>
            </a:r>
            <a:r>
              <a:rPr lang="en-US" altLang="zh-CN" b="1"/>
              <a:t>“</a:t>
            </a:r>
            <a:r>
              <a:rPr lang="zh-CN" altLang="en-US" b="1"/>
              <a:t>先猜中间变量、再更新模型</a:t>
            </a:r>
            <a:r>
              <a:rPr lang="en-US" altLang="zh-CN" b="1"/>
              <a:t>”</a:t>
            </a:r>
            <a:r>
              <a:rPr lang="zh-CN" altLang="en-US" b="1"/>
              <a:t>的方式迭代优化。</a:t>
            </a:r>
          </a:p>
          <a:p>
            <a:r>
              <a:rPr lang="zh-CN" altLang="en-US" b="1"/>
              <a:t>训练数据 没有标注好的中间推理过程</a:t>
            </a:r>
          </a:p>
          <a:p>
            <a:r>
              <a:rPr lang="en-US" altLang="zh-CN" b="1"/>
              <a:t>E-step</a:t>
            </a:r>
            <a:r>
              <a:rPr lang="zh-CN" altLang="en-US" b="1"/>
              <a:t>：先估计哪些隐变量是</a:t>
            </a:r>
            <a:r>
              <a:rPr lang="en-US" altLang="zh-CN" b="1"/>
              <a:t>“</a:t>
            </a:r>
            <a:r>
              <a:rPr lang="zh-CN" altLang="en-US" b="1"/>
              <a:t>靠谱的</a:t>
            </a:r>
            <a:r>
              <a:rPr lang="en-US" altLang="zh-CN" b="1"/>
              <a:t>”</a:t>
            </a:r>
          </a:p>
          <a:p>
            <a:endParaRPr lang="en-US" altLang="zh-CN" b="1"/>
          </a:p>
          <a:p>
            <a:r>
              <a:rPr lang="en-US" altLang="zh-CN" b="1"/>
              <a:t>M-step</a:t>
            </a:r>
            <a:r>
              <a:rPr lang="zh-CN" altLang="en-US" b="1"/>
              <a:t>：再拿这些靠谱隐变量去更新模型</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a:t>不用分开算两个模块，直接算</a:t>
            </a:r>
            <a:r>
              <a:rPr lang="en-US" altLang="zh-CN" b="1"/>
              <a:t> “</a:t>
            </a:r>
            <a:r>
              <a:rPr lang="zh-CN" altLang="en-US" b="1"/>
              <a:t>推理</a:t>
            </a:r>
            <a:r>
              <a:rPr lang="en-US" altLang="zh-CN" b="1"/>
              <a:t> + </a:t>
            </a:r>
            <a:r>
              <a:rPr lang="zh-CN" altLang="en-US" b="1"/>
              <a:t>对齐</a:t>
            </a:r>
            <a:r>
              <a:rPr lang="en-US" altLang="zh-CN" b="1"/>
              <a:t>” </a:t>
            </a:r>
            <a:r>
              <a:rPr lang="zh-CN" altLang="en-US" b="1"/>
              <a:t>一起的概率</a:t>
            </a:r>
            <a:r>
              <a:rPr lang="en-US" altLang="zh-CN" b="1"/>
              <a:t> </a:t>
            </a:r>
          </a:p>
          <a:p>
            <a:r>
              <a:rPr lang="zh-CN" altLang="en-US" b="1"/>
              <a:t>现在变成一个生成器：一次把</a:t>
            </a:r>
            <a:r>
              <a:rPr lang="en-US" altLang="zh-CN" b="1"/>
              <a:t> reasoning + path </a:t>
            </a:r>
            <a:r>
              <a:rPr lang="zh-CN" altLang="en-US" b="1"/>
              <a:t>都生出来，训练更方便</a:t>
            </a:r>
          </a:p>
          <a:p>
            <a:r>
              <a:rPr lang="zh-CN" altLang="en-US" b="1"/>
              <a:t>离散随机变量期望定义</a:t>
            </a:r>
            <a:r>
              <a:rPr lang="en-US" altLang="zh-CN" b="1"/>
              <a:t>:</a:t>
            </a:r>
            <a:r>
              <a:rPr lang="zh-CN" altLang="en-US" b="1">
                <a:sym typeface="+mn-ea"/>
              </a:rPr>
              <a:t>𝑓</a:t>
            </a:r>
            <a:r>
              <a:rPr lang="en-US" altLang="zh-CN" b="1">
                <a:sym typeface="+mn-ea"/>
              </a:rPr>
              <a:t>(</a:t>
            </a:r>
            <a:r>
              <a:rPr lang="zh-CN" altLang="en-US" b="1">
                <a:sym typeface="+mn-ea"/>
              </a:rPr>
              <a:t>𝑧</a:t>
            </a:r>
            <a:r>
              <a:rPr lang="en-US" altLang="zh-CN" b="1">
                <a:sym typeface="+mn-ea"/>
              </a:rPr>
              <a:t>) </a:t>
            </a:r>
            <a:r>
              <a:rPr lang="zh-CN" altLang="en-US" b="1">
                <a:sym typeface="+mn-ea"/>
              </a:rPr>
              <a:t>关于随机变量</a:t>
            </a:r>
            <a:r>
              <a:rPr lang="en-US" altLang="zh-CN" b="1">
                <a:sym typeface="+mn-ea"/>
              </a:rPr>
              <a:t> </a:t>
            </a:r>
            <a:r>
              <a:rPr lang="zh-CN" altLang="en-US" b="1">
                <a:sym typeface="+mn-ea"/>
              </a:rPr>
              <a:t>𝑧的期望，其中</a:t>
            </a:r>
            <a:r>
              <a:rPr lang="en-US" altLang="zh-CN" b="1">
                <a:sym typeface="+mn-ea"/>
              </a:rPr>
              <a:t> </a:t>
            </a:r>
            <a:r>
              <a:rPr lang="zh-CN" altLang="en-US" b="1">
                <a:sym typeface="+mn-ea"/>
              </a:rPr>
              <a:t>𝑧</a:t>
            </a:r>
            <a:r>
              <a:rPr lang="en-US" altLang="zh-CN" b="1">
                <a:sym typeface="+mn-ea"/>
              </a:rPr>
              <a:t> </a:t>
            </a:r>
            <a:r>
              <a:rPr lang="zh-CN" altLang="en-US" b="1">
                <a:sym typeface="+mn-ea"/>
              </a:rPr>
              <a:t>服从条件分布</a:t>
            </a:r>
            <a:r>
              <a:rPr lang="en-US" altLang="zh-CN" b="1">
                <a:sym typeface="+mn-ea"/>
              </a:rPr>
              <a:t> </a:t>
            </a:r>
            <a:r>
              <a:rPr lang="zh-CN" altLang="en-US" b="1">
                <a:sym typeface="+mn-ea"/>
              </a:rPr>
              <a:t>𝑝𝜓</a:t>
            </a:r>
            <a:r>
              <a:rPr lang="en-US" altLang="zh-CN" b="1">
                <a:sym typeface="+mn-ea"/>
              </a:rPr>
              <a:t>(z∣G,q)</a:t>
            </a:r>
            <a:r>
              <a:rPr lang="zh-CN" altLang="en-US" b="1">
                <a:sym typeface="+mn-ea"/>
              </a:rPr>
              <a:t>；它等价于对所有可能的𝑧用𝑝𝜓</a:t>
            </a:r>
            <a:r>
              <a:rPr lang="en-US" altLang="zh-CN" b="1">
                <a:sym typeface="+mn-ea"/>
              </a:rPr>
              <a:t>(z∣G,q)</a:t>
            </a:r>
            <a:r>
              <a:rPr lang="zh-CN" altLang="en-US" b="1">
                <a:sym typeface="+mn-ea"/>
              </a:rPr>
              <a:t>对𝑓</a:t>
            </a:r>
            <a:r>
              <a:rPr lang="en-US" altLang="zh-CN" b="1">
                <a:sym typeface="+mn-ea"/>
              </a:rPr>
              <a:t>(</a:t>
            </a:r>
            <a:r>
              <a:rPr lang="zh-CN" altLang="en-US" b="1">
                <a:sym typeface="+mn-ea"/>
              </a:rPr>
              <a:t>𝑧</a:t>
            </a:r>
            <a:r>
              <a:rPr lang="en-US" altLang="zh-CN" b="1">
                <a:sym typeface="+mn-ea"/>
              </a:rPr>
              <a:t>) </a:t>
            </a:r>
            <a:r>
              <a:rPr lang="zh-CN" altLang="en-US" b="1">
                <a:sym typeface="+mn-ea"/>
              </a:rPr>
              <a:t>做加权求和</a:t>
            </a:r>
          </a:p>
          <a:p>
            <a:endParaRPr lang="zh-CN" altLang="en-US" b="1"/>
          </a:p>
          <a:p>
            <a:r>
              <a:rPr lang="zh-CN" altLang="en-US" b="1"/>
              <a:t>最大化训练数据的对数似然</a:t>
            </a:r>
            <a:r>
              <a:rPr lang="en-US" altLang="zh-CN" b="1"/>
              <a:t> </a:t>
            </a:r>
          </a:p>
          <a:p>
            <a:r>
              <a:rPr lang="en-US" altLang="zh-CN" b="1">
                <a:sym typeface="+mn-ea"/>
              </a:rPr>
              <a:t>p=</a:t>
            </a:r>
            <a:r>
              <a:rPr lang="zh-CN" altLang="en-US" b="1">
                <a:sym typeface="+mn-ea"/>
              </a:rPr>
              <a:t>在参数</a:t>
            </a:r>
            <a:r>
              <a:rPr lang="en-US" altLang="zh-CN" b="1">
                <a:sym typeface="+mn-ea"/>
              </a:rPr>
              <a:t> </a:t>
            </a:r>
            <a:r>
              <a:rPr lang="zh-CN" altLang="en-US" b="1">
                <a:sym typeface="+mn-ea"/>
              </a:rPr>
              <a:t>𝑤𝜓下，给定知识图谱</a:t>
            </a:r>
            <a:r>
              <a:rPr lang="en-US" altLang="zh-CN" b="1">
                <a:sym typeface="+mn-ea"/>
              </a:rPr>
              <a:t> </a:t>
            </a:r>
            <a:r>
              <a:rPr lang="zh-CN" altLang="en-US" b="1">
                <a:sym typeface="+mn-ea"/>
              </a:rPr>
              <a:t>𝐺和问题</a:t>
            </a:r>
            <a:r>
              <a:rPr lang="en-US" altLang="zh-CN" b="1">
                <a:sym typeface="+mn-ea"/>
              </a:rPr>
              <a:t> </a:t>
            </a:r>
            <a:r>
              <a:rPr lang="zh-CN" altLang="en-US" b="1">
                <a:sym typeface="+mn-ea"/>
              </a:rPr>
              <a:t>𝑞，答案</a:t>
            </a:r>
            <a:r>
              <a:rPr lang="en-US" altLang="zh-CN" b="1">
                <a:sym typeface="+mn-ea"/>
              </a:rPr>
              <a:t> </a:t>
            </a:r>
            <a:r>
              <a:rPr lang="zh-CN" altLang="en-US" b="1">
                <a:sym typeface="+mn-ea"/>
              </a:rPr>
              <a:t>𝑎</a:t>
            </a:r>
            <a:r>
              <a:rPr lang="en-US" altLang="zh-CN" b="1">
                <a:sym typeface="+mn-ea"/>
              </a:rPr>
              <a:t> </a:t>
            </a:r>
            <a:r>
              <a:rPr lang="zh-CN" altLang="en-US" b="1">
                <a:sym typeface="+mn-ea"/>
              </a:rPr>
              <a:t>的条件概率</a:t>
            </a:r>
          </a:p>
          <a:p>
            <a:r>
              <a:rPr lang="zh-CN" altLang="en-US" b="1">
                <a:sym typeface="+mn-ea"/>
              </a:rPr>
              <a:t>公式</a:t>
            </a:r>
            <a:r>
              <a:rPr lang="en-US" altLang="zh-CN" b="1">
                <a:sym typeface="+mn-ea"/>
              </a:rPr>
              <a:t>2 </a:t>
            </a:r>
            <a:r>
              <a:rPr lang="zh-CN" altLang="en-US" b="1">
                <a:sym typeface="+mn-ea"/>
              </a:rPr>
              <a:t>对隐变量</a:t>
            </a:r>
            <a:r>
              <a:rPr lang="en-US" altLang="zh-CN" b="1">
                <a:sym typeface="+mn-ea"/>
              </a:rPr>
              <a:t> z</a:t>
            </a:r>
            <a:r>
              <a:rPr lang="zh-CN" altLang="en-US" b="1">
                <a:sym typeface="+mn-ea"/>
              </a:rPr>
              <a:t>边缘化后的答案概率</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t>由于模型中包含隐变量，、该形式包含</a:t>
            </a:r>
            <a:r>
              <a:rPr lang="en-US" altLang="zh-CN" b="1" dirty="0"/>
              <a:t> log-</a:t>
            </a:r>
            <a:r>
              <a:rPr lang="zh-CN" altLang="en-US" b="1" dirty="0"/>
              <a:t>期望结构，难以直接优化，因此需要对其进行变换。</a:t>
            </a:r>
          </a:p>
          <a:p>
            <a:r>
              <a:rPr lang="zh-CN" altLang="en-US" b="1" dirty="0"/>
              <a:t>为了得到一个可优化的目标，我们引入变分分布</a:t>
            </a:r>
            <a:r>
              <a:rPr lang="en-US" altLang="zh-CN" b="1" dirty="0"/>
              <a:t> q(z)</a:t>
            </a:r>
            <a:r>
              <a:rPr lang="zh-CN" altLang="en-US" b="1" dirty="0"/>
              <a:t>，并利用</a:t>
            </a:r>
            <a:r>
              <a:rPr lang="en-US" altLang="zh-CN" b="1" dirty="0"/>
              <a:t> Jensen </a:t>
            </a:r>
            <a:r>
              <a:rPr lang="zh-CN" altLang="en-US" b="1" dirty="0"/>
              <a:t>不等式，将原目标转化为其下界（</a:t>
            </a:r>
            <a:r>
              <a:rPr lang="en-US" altLang="zh-CN" b="1" dirty="0"/>
              <a:t>ELBO</a:t>
            </a:r>
            <a:r>
              <a:rPr lang="zh-CN" altLang="en-US" b="1" dirty="0"/>
              <a:t>）：</a:t>
            </a:r>
          </a:p>
          <a:p>
            <a:r>
              <a:rPr lang="en-US" altLang="zh-CN" b="1" dirty="0" err="1"/>
              <a:t>jensen</a:t>
            </a:r>
            <a:r>
              <a:rPr lang="zh-CN" altLang="en-US" b="1" dirty="0"/>
              <a:t>不等式</a:t>
            </a:r>
            <a:r>
              <a:rPr lang="en-US" altLang="zh-CN" b="1" dirty="0"/>
              <a:t>; </a:t>
            </a:r>
            <a:r>
              <a:rPr lang="zh-CN" altLang="en-US" b="1" dirty="0"/>
              <a:t>凹函数</a:t>
            </a:r>
            <a:r>
              <a:rPr lang="en-US" altLang="zh-CN" b="1" dirty="0"/>
              <a:t> log </a:t>
            </a:r>
            <a:r>
              <a:rPr lang="zh-CN" altLang="en-US" b="1" dirty="0"/>
              <a:t>的期望</a:t>
            </a:r>
            <a:r>
              <a:rPr lang="en-US" altLang="zh-CN" b="1" dirty="0"/>
              <a:t> ≤ </a:t>
            </a:r>
            <a:r>
              <a:rPr lang="zh-CN" altLang="en-US" b="1" dirty="0"/>
              <a:t>期望的</a:t>
            </a:r>
            <a:r>
              <a:rPr lang="en-US" altLang="zh-CN" b="1" dirty="0"/>
              <a:t> log</a:t>
            </a:r>
            <a:endParaRPr lang="zh-CN" altLang="en-US" b="1" dirty="0"/>
          </a:p>
          <a:p>
            <a:r>
              <a:rPr lang="zh-CN" altLang="en-US" b="1" dirty="0"/>
              <a:t>为什么要引入</a:t>
            </a:r>
            <a:r>
              <a:rPr lang="en-US" altLang="zh-CN" b="1" dirty="0"/>
              <a:t> q(z)</a:t>
            </a:r>
            <a:r>
              <a:rPr lang="zh-CN" altLang="en-US" b="1" dirty="0"/>
              <a:t>？</a:t>
            </a:r>
          </a:p>
          <a:p>
            <a:r>
              <a:rPr lang="zh-CN" altLang="en-US" b="1" dirty="0"/>
              <a:t>我们需要把</a:t>
            </a:r>
            <a:r>
              <a:rPr lang="en-US" altLang="zh-CN" b="1" dirty="0"/>
              <a:t> log </a:t>
            </a:r>
            <a:r>
              <a:rPr lang="zh-CN" altLang="en-US" b="1" dirty="0"/>
              <a:t>移到期望里面，才能用梯度下降等方法优化。</a:t>
            </a:r>
          </a:p>
          <a:p>
            <a:r>
              <a:rPr lang="zh-CN" altLang="en-US" b="1" dirty="0"/>
              <a:t>然后引入一个任意的变分分布</a:t>
            </a:r>
            <a:r>
              <a:rPr lang="en-US" altLang="zh-CN" b="1" dirty="0"/>
              <a:t> q(z)</a:t>
            </a:r>
            <a:r>
              <a:rPr lang="zh-CN" altLang="en-US" b="1" dirty="0"/>
              <a:t>。将目标函数转化为了关于</a:t>
            </a:r>
            <a:r>
              <a:rPr lang="en-US" altLang="zh-CN" b="1" dirty="0"/>
              <a:t> q(z) </a:t>
            </a:r>
            <a:r>
              <a:rPr lang="zh-CN" altLang="en-US" b="1" dirty="0"/>
              <a:t>的期望形式。</a:t>
            </a:r>
          </a:p>
          <a:p>
            <a:endParaRPr lang="zh-CN" altLang="en-US" b="1" dirty="0"/>
          </a:p>
          <a:p>
            <a:r>
              <a:rPr lang="zh-CN" altLang="en-US" b="1" dirty="0"/>
              <a:t>我们先对原始对数似然做一个等价变形，引入</a:t>
            </a:r>
            <a:r>
              <a:rPr lang="en-US" altLang="zh-CN" b="1" dirty="0"/>
              <a:t> q(z) </a:t>
            </a:r>
            <a:r>
              <a:rPr lang="zh-CN" altLang="en-US" b="1" dirty="0"/>
              <a:t>后可以写成关于</a:t>
            </a:r>
            <a:r>
              <a:rPr lang="en-US" altLang="zh-CN" b="1" dirty="0"/>
              <a:t> q(z) </a:t>
            </a:r>
            <a:r>
              <a:rPr lang="zh-CN" altLang="en-US" b="1" dirty="0"/>
              <a:t>的期望形式，然后利用</a:t>
            </a:r>
            <a:r>
              <a:rPr lang="en-US" altLang="zh-CN" b="1" dirty="0"/>
              <a:t> Jensen </a:t>
            </a:r>
            <a:r>
              <a:rPr lang="zh-CN" altLang="en-US" b="1" dirty="0"/>
              <a:t>不等式，把</a:t>
            </a:r>
            <a:r>
              <a:rPr lang="en-US" altLang="zh-CN" b="1" dirty="0"/>
              <a:t> log </a:t>
            </a:r>
            <a:r>
              <a:rPr lang="zh-CN" altLang="en-US" b="1" dirty="0"/>
              <a:t>移到期望内部，从而得到</a:t>
            </a:r>
            <a:r>
              <a:rPr lang="en-US" altLang="zh-CN" b="1" dirty="0"/>
              <a:t> ELBO </a:t>
            </a:r>
            <a:r>
              <a:rPr lang="zh-CN" altLang="en-US" b="1" dirty="0"/>
              <a:t>下界。</a:t>
            </a:r>
          </a:p>
          <a:p>
            <a:r>
              <a:rPr lang="zh-CN" altLang="en-US" b="1" dirty="0">
                <a:sym typeface="+mn-ea"/>
              </a:rPr>
              <a:t>对数似然</a:t>
            </a:r>
            <a:r>
              <a:rPr lang="en-US" altLang="zh-CN" b="1" dirty="0">
                <a:sym typeface="+mn-ea"/>
              </a:rPr>
              <a:t> (</a:t>
            </a:r>
            <a:r>
              <a:rPr lang="zh-CN" altLang="en-US" dirty="0"/>
              <a:t>真实后验</a:t>
            </a:r>
            <a:r>
              <a:rPr lang="en-US" altLang="zh-CN" b="1" dirty="0">
                <a:sym typeface="+mn-ea"/>
              </a:rPr>
              <a:t>)= ELBO + KL </a:t>
            </a:r>
            <a:r>
              <a:rPr lang="zh-CN" altLang="en-US" b="1" dirty="0">
                <a:sym typeface="+mn-ea"/>
              </a:rPr>
              <a:t>散度</a:t>
            </a:r>
            <a:endParaRPr lang="zh-CN" altLang="en-US" b="1" dirty="0"/>
          </a:p>
          <a:p>
            <a:endParaRPr lang="zh-CN" altLang="en-US" b="1" dirty="0"/>
          </a:p>
          <a:p>
            <a:r>
              <a:rPr lang="en-US" altLang="zh-CN" b="1" dirty="0"/>
              <a:t>q(z) </a:t>
            </a:r>
            <a:r>
              <a:rPr lang="zh-CN" altLang="en-US" b="1" dirty="0"/>
              <a:t>是我们人为引入的任意分布，它的作用是：</a:t>
            </a:r>
          </a:p>
          <a:p>
            <a:r>
              <a:rPr lang="zh-CN" altLang="en-US" dirty="0"/>
              <a:t>作为「近似分布」，去逼近真实的后验</a:t>
            </a:r>
            <a:r>
              <a:rPr lang="en-US" altLang="zh-CN" dirty="0"/>
              <a:t> </a:t>
            </a:r>
            <a:r>
              <a:rPr lang="en-US" altLang="zh-CN" dirty="0" err="1"/>
              <a:t>pψ</a:t>
            </a:r>
            <a:r>
              <a:rPr lang="en-US" altLang="zh-CN" dirty="0"/>
              <a:t>​(</a:t>
            </a:r>
            <a:r>
              <a:rPr lang="en-US" altLang="zh-CN" dirty="0" err="1"/>
              <a:t>z∣G,q,a</a:t>
            </a:r>
            <a:r>
              <a:rPr lang="en-US" altLang="zh-CN" dirty="0"/>
              <a:t>)</a:t>
            </a:r>
            <a:r>
              <a:rPr lang="zh-CN" altLang="en-US" dirty="0"/>
              <a:t>；</a:t>
            </a:r>
          </a:p>
          <a:p>
            <a:r>
              <a:rPr lang="zh-CN" altLang="en-US" b="1" dirty="0"/>
              <a:t>是我们引入的一个可参数化分布，用来近似真实后验分布</a:t>
            </a:r>
          </a:p>
          <a:p>
            <a:r>
              <a:rPr lang="zh-CN" altLang="en-US" b="1" dirty="0"/>
              <a:t>在</a:t>
            </a:r>
            <a:r>
              <a:rPr lang="en-US" altLang="zh-CN" b="1" dirty="0"/>
              <a:t> EM </a:t>
            </a:r>
            <a:r>
              <a:rPr lang="zh-CN" altLang="en-US" b="1" dirty="0"/>
              <a:t>算法里，</a:t>
            </a:r>
            <a:r>
              <a:rPr lang="en-US" altLang="zh-CN" b="1" dirty="0"/>
              <a:t>q(z) </a:t>
            </a:r>
            <a:r>
              <a:rPr lang="zh-CN" altLang="en-US" b="1" dirty="0"/>
              <a:t>就是</a:t>
            </a:r>
            <a:r>
              <a:rPr lang="en-US" altLang="zh-CN" b="1" dirty="0"/>
              <a:t> E </a:t>
            </a:r>
            <a:r>
              <a:rPr lang="zh-CN" altLang="en-US" b="1" dirty="0"/>
              <a:t>步</a:t>
            </a:r>
            <a:r>
              <a:rPr lang="en-US" altLang="zh-CN" b="1" dirty="0"/>
              <a:t> </a:t>
            </a:r>
            <a:r>
              <a:rPr lang="zh-CN" altLang="en-US" b="1" dirty="0"/>
              <a:t>要近似的后验分布（即采样高质量的</a:t>
            </a:r>
            <a:r>
              <a:rPr lang="en-US" altLang="zh-CN" b="1" dirty="0"/>
              <a:t> z</a:t>
            </a:r>
            <a:r>
              <a:rPr lang="zh-CN" altLang="en-US" b="1" dirty="0"/>
              <a:t>）</a:t>
            </a:r>
          </a:p>
          <a:p>
            <a:endParaRPr lang="en-US" altLang="zh-CN" b="1"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a:t>我们的目标是最大化</a:t>
            </a:r>
            <a:r>
              <a:rPr lang="en-US" altLang="zh-CN" b="1"/>
              <a:t> ELBO </a:t>
            </a:r>
          </a:p>
          <a:p>
            <a:r>
              <a:rPr lang="zh-CN" altLang="en-US" b="1"/>
              <a:t>但</a:t>
            </a:r>
            <a:r>
              <a:rPr lang="en-US" altLang="zh-CN" b="1"/>
              <a:t> q(z)</a:t>
            </a:r>
            <a:r>
              <a:rPr lang="zh-CN" altLang="en-US" b="1"/>
              <a:t>、</a:t>
            </a:r>
            <a:r>
              <a:rPr lang="en-US" altLang="zh-CN" b="1"/>
              <a:t>ω</a:t>
            </a:r>
            <a:r>
              <a:rPr lang="zh-CN" altLang="en-US" b="1"/>
              <a:t>、</a:t>
            </a:r>
            <a:r>
              <a:rPr lang="en-US" altLang="zh-CN" b="1"/>
              <a:t>ψ </a:t>
            </a:r>
            <a:r>
              <a:rPr lang="zh-CN" altLang="en-US" b="1"/>
              <a:t>三个变量同时优化太复杂，所以</a:t>
            </a:r>
            <a:r>
              <a:rPr lang="en-US" altLang="zh-CN" b="1"/>
              <a:t> EM </a:t>
            </a:r>
            <a:r>
              <a:rPr lang="zh-CN" altLang="en-US" b="1"/>
              <a:t>算法用两步交替的方式，把问题拆成：</a:t>
            </a:r>
            <a:endParaRPr lang="en-US" altLang="zh-CN" b="1"/>
          </a:p>
          <a:p>
            <a:r>
              <a:rPr lang="en-US" altLang="zh-CN" b="1"/>
              <a:t>E </a:t>
            </a:r>
            <a:r>
              <a:rPr lang="zh-CN" altLang="en-US" b="1"/>
              <a:t>步（</a:t>
            </a:r>
            <a:r>
              <a:rPr lang="en-US" altLang="zh-CN" b="1"/>
              <a:t>Expectation</a:t>
            </a:r>
            <a:r>
              <a:rPr lang="zh-CN" altLang="en-US" b="1"/>
              <a:t>）：固定模型参数</a:t>
            </a:r>
            <a:r>
              <a:rPr lang="en-US" altLang="zh-CN" b="1"/>
              <a:t> ω,ψ</a:t>
            </a:r>
            <a:r>
              <a:rPr lang="zh-CN" altLang="en-US" b="1"/>
              <a:t>，找到最优的</a:t>
            </a:r>
            <a:r>
              <a:rPr lang="en-US" altLang="zh-CN" b="1"/>
              <a:t> q(z)</a:t>
            </a:r>
            <a:r>
              <a:rPr lang="zh-CN" altLang="en-US" b="1"/>
              <a:t>，让</a:t>
            </a:r>
            <a:r>
              <a:rPr lang="en-US" altLang="zh-CN" b="1"/>
              <a:t> ELBO </a:t>
            </a:r>
            <a:r>
              <a:rPr lang="zh-CN" altLang="en-US" b="1"/>
              <a:t>尽可能接近原目标</a:t>
            </a:r>
          </a:p>
          <a:p>
            <a:endParaRPr lang="zh-CN" altLang="en-US" b="1"/>
          </a:p>
          <a:p>
            <a:r>
              <a:rPr lang="zh-CN" altLang="en-US" b="1"/>
              <a:t>具体做法是先从</a:t>
            </a:r>
            <a:r>
              <a:rPr lang="en-US" altLang="zh-CN" b="1"/>
              <a:t> ReAligner </a:t>
            </a:r>
            <a:r>
              <a:rPr lang="zh-CN" altLang="en-US" b="1"/>
              <a:t>采样多个候选推理链和知识路径，再结合两个因素对候选打分：一是它能否帮助生成正确答案，二是它是否是当前模型偏好的合理路径。</a:t>
            </a:r>
          </a:p>
          <a:p>
            <a:r>
              <a:rPr lang="zh-CN" altLang="en-US" b="1"/>
              <a:t>最后筛出</a:t>
            </a:r>
            <a:r>
              <a:rPr lang="en-US" altLang="zh-CN" b="1"/>
              <a:t> Top-K </a:t>
            </a:r>
            <a:r>
              <a:rPr lang="zh-CN" altLang="en-US" b="1"/>
              <a:t>高质量样本，作为下一步</a:t>
            </a:r>
            <a:r>
              <a:rPr lang="en-US" altLang="zh-CN" b="1"/>
              <a:t> M </a:t>
            </a:r>
            <a:r>
              <a:rPr lang="zh-CN" altLang="en-US" b="1"/>
              <a:t>步训练的伪监督信号。</a:t>
            </a:r>
          </a:p>
          <a:p>
            <a:endParaRPr lang="zh-CN" altLang="en-US" b="1"/>
          </a:p>
          <a:p>
            <a:r>
              <a:rPr lang="zh-CN" altLang="en-US" b="1"/>
              <a:t>我们的打分函数</a:t>
            </a:r>
            <a:r>
              <a:rPr lang="en-US" altLang="zh-CN" b="1"/>
              <a:t> S(z) </a:t>
            </a:r>
            <a:r>
              <a:rPr lang="zh-CN" altLang="en-US" b="1"/>
              <a:t>其实就是后验概率的对数形式。因为分母</a:t>
            </a:r>
            <a:r>
              <a:rPr lang="en-US" altLang="zh-CN" b="1"/>
              <a:t> logp(a∣G,q) </a:t>
            </a:r>
            <a:r>
              <a:rPr lang="zh-CN" altLang="en-US" b="1"/>
              <a:t>对所有</a:t>
            </a:r>
            <a:r>
              <a:rPr lang="en-US" altLang="zh-CN" b="1"/>
              <a:t> z </a:t>
            </a:r>
            <a:r>
              <a:rPr lang="zh-CN" altLang="en-US" b="1"/>
              <a:t>都一样，不影响排序，所以可以直接丢掉，只保留分子里和</a:t>
            </a:r>
            <a:r>
              <a:rPr lang="en-US" altLang="zh-CN" b="1"/>
              <a:t> z </a:t>
            </a:r>
            <a:r>
              <a:rPr lang="zh-CN" altLang="en-US" b="1"/>
              <a:t>相关的两项。</a:t>
            </a:r>
          </a:p>
          <a:p>
            <a:r>
              <a:rPr lang="zh-CN" altLang="en-US" b="1"/>
              <a:t>因为分母：对当前样本来说是一个与</a:t>
            </a:r>
            <a:r>
              <a:rPr lang="en-US" altLang="zh-CN" b="1"/>
              <a:t> z </a:t>
            </a:r>
            <a:r>
              <a:rPr lang="zh-CN" altLang="en-US" b="1"/>
              <a:t>无关的常数。</a:t>
            </a:r>
          </a:p>
          <a:p>
            <a:r>
              <a:rPr lang="en-US" altLang="zh-CN" b="1"/>
              <a:t>“E </a:t>
            </a:r>
            <a:r>
              <a:rPr lang="zh-CN" altLang="en-US" b="1"/>
              <a:t>步的核心就是让辅助分布</a:t>
            </a:r>
            <a:r>
              <a:rPr lang="en-US" altLang="zh-CN" b="1"/>
              <a:t> q(z) </a:t>
            </a:r>
            <a:r>
              <a:rPr lang="zh-CN" altLang="en-US" b="1"/>
              <a:t>逼近真实后验。我们没法直接算这个后验，所以用工程方法近似：先采样</a:t>
            </a:r>
            <a:r>
              <a:rPr lang="en-US" altLang="zh-CN" b="1"/>
              <a:t> 10 </a:t>
            </a:r>
            <a:r>
              <a:rPr lang="zh-CN" altLang="en-US" b="1"/>
              <a:t>个候选路径，再按后验概率打分，挑出</a:t>
            </a:r>
            <a:r>
              <a:rPr lang="en-US" altLang="zh-CN" b="1"/>
              <a:t> 3 </a:t>
            </a:r>
            <a:r>
              <a:rPr lang="zh-CN" altLang="en-US" b="1"/>
              <a:t>个最好的，当作下一步训练的</a:t>
            </a:r>
            <a:r>
              <a:rPr lang="en-US" altLang="zh-CN" b="1"/>
              <a:t>‘</a:t>
            </a:r>
            <a:r>
              <a:rPr lang="zh-CN" altLang="en-US" b="1"/>
              <a:t>标准答案</a:t>
            </a:r>
            <a:r>
              <a:rPr lang="en-US" altLang="zh-CN" b="1"/>
              <a:t>’</a:t>
            </a:r>
            <a:r>
              <a:rPr lang="zh-CN" altLang="en-US" b="1"/>
              <a:t>。同时我们还加了</a:t>
            </a:r>
            <a:r>
              <a:rPr lang="en-US" altLang="zh-CN" b="1"/>
              <a:t> KG </a:t>
            </a:r>
            <a:r>
              <a:rPr lang="zh-CN" altLang="en-US" b="1"/>
              <a:t>约束，保证这些路径都是真实存在的，不会瞎编。</a:t>
            </a:r>
            <a:r>
              <a:rPr lang="en-US" altLang="zh-CN" b="1"/>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a:t>论文细节：</a:t>
            </a:r>
            <a:r>
              <a:rPr lang="en-US" altLang="zh-CN" b="1"/>
              <a:t>N=10</a:t>
            </a:r>
          </a:p>
          <a:p>
            <a:r>
              <a:rPr lang="zh-CN" altLang="en-US" b="1"/>
              <a:t>前面</a:t>
            </a:r>
            <a:r>
              <a:rPr lang="en-US" altLang="zh-CN" b="1"/>
              <a:t> E-step </a:t>
            </a:r>
            <a:r>
              <a:rPr lang="zh-CN" altLang="en-US" b="1"/>
              <a:t>已经帮我们从大量候选</a:t>
            </a:r>
            <a:r>
              <a:rPr lang="en-US" altLang="zh-CN" b="1"/>
              <a:t> reasoning chain </a:t>
            </a:r>
            <a:r>
              <a:rPr lang="zh-CN" altLang="en-US" b="1"/>
              <a:t>和</a:t>
            </a:r>
            <a:r>
              <a:rPr lang="en-US" altLang="zh-CN" b="1"/>
              <a:t> knowledge path </a:t>
            </a:r>
            <a:r>
              <a:rPr lang="zh-CN" altLang="en-US" b="1"/>
              <a:t>里面，筛出了高质量的样本。</a:t>
            </a:r>
          </a:p>
          <a:p>
            <a:r>
              <a:rPr lang="zh-CN" altLang="en-US" b="1"/>
              <a:t>那么</a:t>
            </a:r>
            <a:r>
              <a:rPr lang="en-US" altLang="zh-CN" b="1"/>
              <a:t> M-step </a:t>
            </a:r>
            <a:r>
              <a:rPr lang="zh-CN" altLang="en-US" b="1"/>
              <a:t>要做的事情，就是把这些高质量样本当成</a:t>
            </a:r>
            <a:r>
              <a:rPr lang="en-US" altLang="zh-CN" b="1"/>
              <a:t>“</a:t>
            </a:r>
            <a:r>
              <a:rPr lang="zh-CN" altLang="en-US" b="1"/>
              <a:t>伪监督信号</a:t>
            </a:r>
            <a:r>
              <a:rPr lang="en-US" altLang="zh-CN" b="1"/>
              <a:t>”</a:t>
            </a:r>
            <a:r>
              <a:rPr lang="zh-CN" altLang="en-US" b="1"/>
              <a:t>，去反过来更新模型参数。</a:t>
            </a:r>
          </a:p>
          <a:p>
            <a:r>
              <a:rPr lang="zh-CN" altLang="en-US" b="1"/>
              <a:t>本质上，就是一次基于筛选结果的监督微调。</a:t>
            </a:r>
            <a:r>
              <a:rPr lang="en-US" altLang="zh-CN" b="1"/>
              <a:t> </a:t>
            </a:r>
          </a:p>
          <a:p>
            <a:r>
              <a:rPr lang="en-US" altLang="zh-CN" b="1"/>
              <a:t>M-step </a:t>
            </a:r>
            <a:r>
              <a:rPr lang="zh-CN" altLang="en-US" b="1"/>
              <a:t>本质上就是：拿</a:t>
            </a:r>
            <a:r>
              <a:rPr lang="en-US" altLang="zh-CN" b="1"/>
              <a:t> E-step </a:t>
            </a:r>
            <a:r>
              <a:rPr lang="zh-CN" altLang="en-US" b="1"/>
              <a:t>筛出来的优质样本，当作伪标签去做监督训练。</a:t>
            </a:r>
          </a:p>
          <a:p>
            <a:endParaRPr lang="zh-CN" altLang="en-US" b="1"/>
          </a:p>
          <a:p>
            <a:r>
              <a:rPr lang="zh-CN" altLang="en-US" b="1"/>
              <a:t>在</a:t>
            </a:r>
            <a:r>
              <a:rPr lang="en-US" altLang="zh-CN" b="1"/>
              <a:t> M-step </a:t>
            </a:r>
            <a:r>
              <a:rPr lang="zh-CN" altLang="en-US" b="1"/>
              <a:t>中，我们固定</a:t>
            </a:r>
            <a:r>
              <a:rPr lang="en-US" altLang="zh-CN" b="1"/>
              <a:t> E-step </a:t>
            </a:r>
            <a:r>
              <a:rPr lang="zh-CN" altLang="en-US" b="1"/>
              <a:t>得到的高质量推理路径分布，然后通过</a:t>
            </a:r>
            <a:r>
              <a:rPr lang="zh-CN" altLang="en-US" b="1" u="sng"/>
              <a:t>最大化</a:t>
            </a:r>
            <a:r>
              <a:rPr lang="en-US" altLang="zh-CN" b="1" i="1" u="sng"/>
              <a:t> ELBO </a:t>
            </a:r>
            <a:r>
              <a:rPr lang="zh-CN" altLang="en-US" b="1" i="1"/>
              <a:t>来</a:t>
            </a:r>
            <a:r>
              <a:rPr lang="zh-CN" altLang="en-US" b="1"/>
              <a:t>更新模型参数。</a:t>
            </a:r>
          </a:p>
          <a:p>
            <a:endParaRPr lang="zh-CN" altLang="en-US" b="1"/>
          </a:p>
          <a:p>
            <a:r>
              <a:rPr lang="zh-CN" altLang="en-US" b="1"/>
              <a:t>这个目标函数本质是对所有候选推理路径做加权最大似然，其中权重来自</a:t>
            </a:r>
            <a:r>
              <a:rPr lang="en-US" altLang="zh-CN" b="1"/>
              <a:t> E-step </a:t>
            </a:r>
            <a:r>
              <a:rPr lang="zh-CN" altLang="en-US" b="1"/>
              <a:t>得到的</a:t>
            </a:r>
            <a:r>
              <a:rPr lang="en-US" altLang="zh-CN" b="1"/>
              <a:t> q(z)</a:t>
            </a:r>
            <a:r>
              <a:rPr lang="zh-CN" altLang="en-US" b="1"/>
              <a:t>。</a:t>
            </a:r>
          </a:p>
          <a:p>
            <a:r>
              <a:rPr lang="zh-CN" altLang="en-US" b="1"/>
              <a:t>第一项是</a:t>
            </a:r>
            <a:r>
              <a:rPr lang="en-US" altLang="zh-CN" b="1"/>
              <a:t> QResponse </a:t>
            </a:r>
            <a:r>
              <a:rPr lang="zh-CN" altLang="en-US" b="1"/>
              <a:t>表示在给定推理路径</a:t>
            </a:r>
            <a:r>
              <a:rPr lang="en-US" altLang="zh-CN" b="1"/>
              <a:t>z </a:t>
            </a:r>
            <a:r>
              <a:rPr lang="zh-CN" altLang="en-US" b="1"/>
              <a:t>的情况下，让模型更容易生成正确答案</a:t>
            </a:r>
            <a:r>
              <a:rPr lang="en-US" altLang="zh-CN" b="1"/>
              <a:t>a</a:t>
            </a:r>
            <a:r>
              <a:rPr lang="zh-CN" altLang="en-US" b="1"/>
              <a:t>。也就是学习</a:t>
            </a:r>
            <a:r>
              <a:rPr lang="en-US" altLang="zh-CN" b="1"/>
              <a:t>“</a:t>
            </a:r>
            <a:r>
              <a:rPr lang="zh-CN" altLang="en-US" b="1"/>
              <a:t>从推理到答案</a:t>
            </a:r>
            <a:r>
              <a:rPr lang="en-US" altLang="zh-CN" b="1"/>
              <a:t>”</a:t>
            </a:r>
            <a:r>
              <a:rPr lang="zh-CN" altLang="en-US" b="1"/>
              <a:t>的映射。</a:t>
            </a:r>
          </a:p>
          <a:p>
            <a:r>
              <a:rPr lang="zh-CN" altLang="en-US" b="1"/>
              <a:t>第二项是</a:t>
            </a:r>
            <a:r>
              <a:rPr lang="en-US" altLang="zh-CN" b="1"/>
              <a:t> Qreliginr </a:t>
            </a:r>
            <a:r>
              <a:rPr lang="zh-CN" altLang="en-US" b="1"/>
              <a:t>表示让模型更倾向生成高质量、符合知识图谱的推理链和路径。也就是学习</a:t>
            </a:r>
            <a:r>
              <a:rPr lang="en-US" altLang="zh-CN" b="1"/>
              <a:t>“</a:t>
            </a:r>
            <a:r>
              <a:rPr lang="zh-CN" altLang="en-US" b="1"/>
              <a:t>怎么产生正确的推理过程</a:t>
            </a:r>
            <a:r>
              <a:rPr lang="en-US" altLang="zh-CN" b="1"/>
              <a:t>”</a:t>
            </a:r>
            <a:r>
              <a:rPr lang="zh-CN" altLang="en-US" b="1"/>
              <a:t>。</a:t>
            </a:r>
          </a:p>
          <a:p>
            <a:r>
              <a:rPr lang="en-US" altLang="zh-CN" b="1" i="1"/>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a:t>论文细节：</a:t>
            </a:r>
            <a:r>
              <a:rPr lang="en-US" altLang="zh-CN" b="1"/>
              <a:t>N=10</a:t>
            </a:r>
          </a:p>
          <a:p>
            <a:r>
              <a:rPr lang="zh-CN" altLang="en-US" b="1"/>
              <a:t>固定</a:t>
            </a:r>
            <a:r>
              <a:rPr lang="en-US" altLang="zh-CN" b="1"/>
              <a:t> E </a:t>
            </a:r>
            <a:r>
              <a:rPr lang="zh-CN" altLang="en-US" b="1"/>
              <a:t>步找到的最优</a:t>
            </a:r>
            <a:r>
              <a:rPr lang="en-US" altLang="zh-CN" b="1"/>
              <a:t>q(z)</a:t>
            </a:r>
            <a:r>
              <a:rPr lang="zh-CN" altLang="en-US" b="1"/>
              <a:t>，优化模型参数，把这个已经贴紧的</a:t>
            </a:r>
            <a:r>
              <a:rPr lang="en-US" altLang="zh-CN" b="1"/>
              <a:t> ELBO </a:t>
            </a:r>
            <a:r>
              <a:rPr lang="zh-CN" altLang="en-US" b="1"/>
              <a:t>下界</a:t>
            </a:r>
            <a:r>
              <a:rPr lang="en-US" altLang="zh-CN" b="1"/>
              <a:t> “</a:t>
            </a:r>
            <a:r>
              <a:rPr lang="zh-CN" altLang="en-US" b="1"/>
              <a:t>往上抬</a:t>
            </a:r>
            <a:r>
              <a:rPr lang="en-US" altLang="zh-CN" b="1"/>
              <a:t>”</a:t>
            </a:r>
            <a:r>
              <a:rPr lang="zh-CN" altLang="en-US" b="1"/>
              <a:t>，间接拉高我们的终极目标对数似然。</a:t>
            </a:r>
          </a:p>
          <a:p>
            <a:r>
              <a:rPr lang="zh-CN" altLang="en-US" b="1"/>
              <a:t>所以</a:t>
            </a:r>
            <a:r>
              <a:rPr lang="en-US" altLang="zh-CN" b="1"/>
              <a:t> M-step </a:t>
            </a:r>
            <a:r>
              <a:rPr lang="zh-CN" altLang="en-US" b="1"/>
              <a:t>的本质是，把原本没有标注的推理过程，通过</a:t>
            </a:r>
            <a:r>
              <a:rPr lang="en-US" altLang="zh-CN" b="1"/>
              <a:t> EM </a:t>
            </a:r>
            <a:r>
              <a:rPr lang="zh-CN" altLang="en-US" b="1"/>
              <a:t>转化为一个自训练的监督学习过程。</a:t>
            </a:r>
          </a:p>
          <a:p>
            <a:r>
              <a:rPr lang="en-US" altLang="zh-CN" b="1"/>
              <a:t> </a:t>
            </a:r>
            <a:r>
              <a:rPr lang="zh-CN" altLang="en-US" b="1"/>
              <a:t>子目标</a:t>
            </a:r>
            <a:r>
              <a:rPr lang="en-US" altLang="zh-CN" b="1"/>
              <a:t> 1</a:t>
            </a:r>
            <a:r>
              <a:rPr lang="zh-CN" altLang="en-US" b="1"/>
              <a:t>：更新</a:t>
            </a:r>
            <a:r>
              <a:rPr lang="en-US" altLang="zh-CN" b="1"/>
              <a:t> Responser</a:t>
            </a:r>
            <a:r>
              <a:rPr lang="zh-CN" altLang="en-US" b="1"/>
              <a:t>（答案生成器）</a:t>
            </a:r>
            <a:r>
              <a:rPr lang="en-US" altLang="zh-CN" b="1"/>
              <a:t> </a:t>
            </a:r>
          </a:p>
          <a:p>
            <a:r>
              <a:rPr lang="zh-CN" altLang="en-US" b="1"/>
              <a:t>核心输入：问题</a:t>
            </a:r>
            <a:r>
              <a:rPr lang="en-US" altLang="zh-CN" b="1"/>
              <a:t> q + </a:t>
            </a:r>
            <a:r>
              <a:rPr lang="zh-CN" altLang="en-US" b="1"/>
              <a:t>推理路径</a:t>
            </a:r>
            <a:r>
              <a:rPr lang="en-US" altLang="zh-CN" b="1"/>
              <a:t> z </a:t>
            </a:r>
          </a:p>
          <a:p>
            <a:r>
              <a:rPr lang="zh-CN" altLang="en-US" b="1"/>
              <a:t>监督信号：金标答案</a:t>
            </a:r>
            <a:r>
              <a:rPr lang="en-US" altLang="zh-CN" b="1"/>
              <a:t> a</a:t>
            </a:r>
          </a:p>
          <a:p>
            <a:r>
              <a:rPr lang="zh-CN" altLang="en-US" b="1"/>
              <a:t>优化目标：让模型学会「从正确的推理步骤里，精准提取</a:t>
            </a:r>
            <a:r>
              <a:rPr lang="en-US" altLang="zh-CN" b="1"/>
              <a:t> / </a:t>
            </a:r>
            <a:r>
              <a:rPr lang="zh-CN" altLang="en-US" b="1"/>
              <a:t>生成答案」</a:t>
            </a:r>
          </a:p>
          <a:p>
            <a:endParaRPr lang="zh-CN" altLang="en-US" b="1"/>
          </a:p>
          <a:p>
            <a:r>
              <a:rPr lang="zh-CN" altLang="en-US" b="1"/>
              <a:t>子目标</a:t>
            </a:r>
            <a:r>
              <a:rPr lang="en-US" altLang="zh-CN" b="1"/>
              <a:t> 2</a:t>
            </a:r>
            <a:r>
              <a:rPr lang="zh-CN" altLang="en-US" b="1"/>
              <a:t>：更新</a:t>
            </a:r>
            <a:r>
              <a:rPr lang="en-US" altLang="zh-CN" b="1"/>
              <a:t> ReAligner</a:t>
            </a:r>
            <a:r>
              <a:rPr lang="zh-CN" altLang="en-US" b="1"/>
              <a:t>（重对齐器</a:t>
            </a:r>
            <a:r>
              <a:rPr lang="en-US" altLang="zh-CN" b="1"/>
              <a:t> / </a:t>
            </a:r>
            <a:r>
              <a:rPr lang="zh-CN" altLang="en-US" b="1"/>
              <a:t>规划器）</a:t>
            </a:r>
          </a:p>
          <a:p>
            <a:r>
              <a:rPr lang="zh-CN" altLang="en-US" b="1"/>
              <a:t>核心输入：知识图谱</a:t>
            </a:r>
            <a:r>
              <a:rPr lang="en-US" altLang="zh-CN" b="1"/>
              <a:t> G + </a:t>
            </a:r>
            <a:r>
              <a:rPr lang="zh-CN" altLang="en-US" b="1"/>
              <a:t>问题</a:t>
            </a:r>
            <a:r>
              <a:rPr lang="en-US" altLang="zh-CN" b="1"/>
              <a:t> q</a:t>
            </a:r>
          </a:p>
          <a:p>
            <a:r>
              <a:rPr lang="zh-CN" altLang="en-US" b="1"/>
              <a:t>监督信号：</a:t>
            </a:r>
            <a:r>
              <a:rPr lang="en-US" altLang="zh-CN" b="1"/>
              <a:t>E </a:t>
            </a:r>
            <a:r>
              <a:rPr lang="zh-CN" altLang="en-US" b="1"/>
              <a:t>步筛选的</a:t>
            </a:r>
            <a:r>
              <a:rPr lang="en-US" altLang="zh-CN" b="1"/>
              <a:t> Top-K </a:t>
            </a:r>
            <a:r>
              <a:rPr lang="zh-CN" altLang="en-US" b="1"/>
              <a:t>高质量</a:t>
            </a:r>
            <a:r>
              <a:rPr lang="en-US" altLang="zh-CN" b="1"/>
              <a:t> z </a:t>
            </a:r>
            <a:r>
              <a:rPr lang="zh-CN" altLang="en-US" b="1"/>
              <a:t>本身</a:t>
            </a:r>
          </a:p>
          <a:p>
            <a:r>
              <a:rPr lang="zh-CN" altLang="en-US" b="1"/>
              <a:t>优化目标：让模型学会「针对问题，生成高对齐度、逻辑严谨的推理步骤</a:t>
            </a:r>
          </a:p>
          <a:p>
            <a:endParaRPr lang="zh-CN" altLang="en-US" b="1"/>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a:t>基于当前参数</a:t>
            </a:r>
            <a:r>
              <a:rPr lang="en-US" altLang="zh-CN" b="1"/>
              <a:t>(ω(t),ψ(t))</a:t>
            </a:r>
            <a:r>
              <a:rPr lang="zh-CN" altLang="en-US" b="1"/>
              <a:t>，最小化</a:t>
            </a:r>
            <a:r>
              <a:rPr lang="en-US" altLang="zh-CN" b="1"/>
              <a:t> KL </a:t>
            </a:r>
            <a:r>
              <a:rPr lang="zh-CN" altLang="en-US" b="1"/>
              <a:t>散度；</a:t>
            </a:r>
          </a:p>
          <a:p>
            <a:r>
              <a:rPr lang="zh-CN" altLang="en-US" b="1"/>
              <a:t>采样多个</a:t>
            </a:r>
            <a:r>
              <a:rPr lang="en-US" altLang="zh-CN" b="1"/>
              <a:t>z</a:t>
            </a:r>
            <a:r>
              <a:rPr lang="zh-CN" altLang="en-US" b="1"/>
              <a:t>，筛选出能正确推导出</a:t>
            </a:r>
            <a:r>
              <a:rPr lang="en-US" altLang="zh-CN" b="1"/>
              <a:t>a</a:t>
            </a:r>
            <a:r>
              <a:rPr lang="zh-CN" altLang="en-US" b="1"/>
              <a:t>的</a:t>
            </a:r>
            <a:r>
              <a:rPr lang="en-US" altLang="zh-CN" b="1"/>
              <a:t> Top-K </a:t>
            </a:r>
            <a:r>
              <a:rPr lang="zh-CN" altLang="en-US" b="1"/>
              <a:t>高质量样本</a:t>
            </a:r>
            <a:r>
              <a:rPr lang="en-US" altLang="zh-CN" b="1"/>
              <a:t>zIh​</a:t>
            </a:r>
            <a:r>
              <a:rPr lang="zh-CN" altLang="en-US" b="1"/>
              <a:t>。</a:t>
            </a:r>
          </a:p>
          <a:p>
            <a:r>
              <a:rPr lang="en-US" altLang="zh-CN" b="1">
                <a:sym typeface="+mn-ea"/>
              </a:rPr>
              <a:t>kg</a:t>
            </a:r>
            <a:r>
              <a:rPr lang="zh-CN" altLang="en-US" b="1">
                <a:sym typeface="+mn-ea"/>
              </a:rPr>
              <a:t>解码</a:t>
            </a:r>
            <a:r>
              <a:rPr lang="zh-CN" altLang="en-US">
                <a:sym typeface="+mn-ea"/>
              </a:rPr>
              <a:t>：在</a:t>
            </a:r>
            <a:r>
              <a:rPr lang="en-US" altLang="zh-CN">
                <a:sym typeface="+mn-ea"/>
              </a:rPr>
              <a:t> Aligner </a:t>
            </a:r>
            <a:r>
              <a:rPr lang="zh-CN" altLang="en-US">
                <a:sym typeface="+mn-ea"/>
              </a:rPr>
              <a:t>生成知识路径的解码阶段，给模型加</a:t>
            </a:r>
            <a:r>
              <a:rPr lang="en-US" altLang="zh-CN">
                <a:sym typeface="+mn-ea"/>
              </a:rPr>
              <a:t>token </a:t>
            </a:r>
            <a:r>
              <a:rPr lang="zh-CN" altLang="en-US">
                <a:sym typeface="+mn-ea"/>
              </a:rPr>
              <a:t>级别的硬约束</a:t>
            </a:r>
            <a:r>
              <a:rPr lang="en-US" altLang="zh-CN">
                <a:sym typeface="+mn-ea"/>
              </a:rPr>
              <a:t>—— </a:t>
            </a:r>
            <a:r>
              <a:rPr lang="zh-CN" altLang="en-US">
                <a:sym typeface="+mn-ea"/>
              </a:rPr>
              <a:t>仅允许模型输出</a:t>
            </a:r>
            <a:r>
              <a:rPr lang="en-US" altLang="zh-CN">
                <a:sym typeface="+mn-ea"/>
              </a:rPr>
              <a:t> KG </a:t>
            </a:r>
            <a:r>
              <a:rPr lang="zh-CN" altLang="en-US">
                <a:sym typeface="+mn-ea"/>
              </a:rPr>
              <a:t>中实际存在的实体、关系</a:t>
            </a:r>
            <a:r>
              <a:rPr lang="en-US" altLang="zh-CN">
                <a:sym typeface="+mn-ea"/>
              </a:rPr>
              <a:t> token</a:t>
            </a:r>
            <a:r>
              <a:rPr lang="zh-CN" altLang="en-US">
                <a:sym typeface="+mn-ea"/>
              </a:rPr>
              <a:t>，禁止生成任何</a:t>
            </a:r>
            <a:r>
              <a:rPr lang="en-US" altLang="zh-CN">
                <a:sym typeface="+mn-ea"/>
              </a:rPr>
              <a:t> KG </a:t>
            </a:r>
            <a:r>
              <a:rPr lang="zh-CN" altLang="en-US">
                <a:sym typeface="+mn-ea"/>
              </a:rPr>
              <a:t>中没有的内容。</a:t>
            </a:r>
            <a:endParaRPr lang="zh-CN" altLang="en-US"/>
          </a:p>
          <a:p>
            <a:r>
              <a:rPr lang="zh-CN" altLang="en-US">
                <a:sym typeface="+mn-ea"/>
              </a:rPr>
              <a:t>知识路径扩展（</a:t>
            </a:r>
            <a:r>
              <a:rPr lang="en-US" altLang="zh-CN">
                <a:sym typeface="+mn-ea"/>
              </a:rPr>
              <a:t>Knowledge Path Expansion</a:t>
            </a:r>
            <a:r>
              <a:rPr lang="zh-CN" altLang="en-US">
                <a:sym typeface="+mn-ea"/>
              </a:rPr>
              <a:t>）：提升路径覆盖范围，使答案更加全面；</a:t>
            </a:r>
          </a:p>
          <a:p>
            <a:r>
              <a:rPr lang="zh-CN" altLang="en-US">
                <a:sym typeface="+mn-ea"/>
              </a:rPr>
              <a:t>它就是把</a:t>
            </a:r>
            <a:r>
              <a:rPr lang="en-US" altLang="zh-CN">
                <a:sym typeface="+mn-ea"/>
              </a:rPr>
              <a:t> Aligner </a:t>
            </a:r>
            <a:r>
              <a:rPr lang="zh-CN" altLang="en-US">
                <a:sym typeface="+mn-ea"/>
              </a:rPr>
              <a:t>生成的</a:t>
            </a:r>
            <a:r>
              <a:rPr lang="en-US" altLang="zh-CN">
                <a:sym typeface="+mn-ea"/>
              </a:rPr>
              <a:t> **</a:t>
            </a:r>
            <a:r>
              <a:rPr lang="zh-CN" altLang="en-US">
                <a:sym typeface="+mn-ea"/>
              </a:rPr>
              <a:t>「单个具体的</a:t>
            </a:r>
            <a:r>
              <a:rPr lang="en-US" altLang="zh-CN">
                <a:sym typeface="+mn-ea"/>
              </a:rPr>
              <a:t> KG </a:t>
            </a:r>
            <a:r>
              <a:rPr lang="zh-CN" altLang="en-US">
                <a:sym typeface="+mn-ea"/>
              </a:rPr>
              <a:t>路径」，变成「带变量的查询模板」</a:t>
            </a:r>
            <a:r>
              <a:rPr lang="en-US" altLang="zh-CN">
                <a:sym typeface="+mn-ea"/>
              </a:rPr>
              <a:t>**</a:t>
            </a:r>
            <a:r>
              <a:rPr lang="zh-CN" altLang="en-US">
                <a:sym typeface="+mn-ea"/>
              </a:rPr>
              <a:t>，再用这个模板去</a:t>
            </a:r>
            <a:r>
              <a:rPr lang="en-US" altLang="zh-CN">
                <a:sym typeface="+mn-ea"/>
              </a:rPr>
              <a:t> KG </a:t>
            </a:r>
            <a:r>
              <a:rPr lang="zh-CN" altLang="en-US">
                <a:sym typeface="+mn-ea"/>
              </a:rPr>
              <a:t>里</a:t>
            </a:r>
            <a:r>
              <a:rPr lang="en-US" altLang="zh-CN">
                <a:sym typeface="+mn-ea"/>
              </a:rPr>
              <a:t> “</a:t>
            </a:r>
            <a:r>
              <a:rPr lang="zh-CN" altLang="en-US">
                <a:sym typeface="+mn-ea"/>
              </a:rPr>
              <a:t>搜同款</a:t>
            </a:r>
            <a:r>
              <a:rPr lang="en-US" altLang="zh-CN">
                <a:sym typeface="+mn-ea"/>
              </a:rPr>
              <a:t>”</a:t>
            </a:r>
            <a:r>
              <a:rPr lang="zh-CN" altLang="en-US">
                <a:sym typeface="+mn-ea"/>
              </a:rPr>
              <a:t>，把所有符合条件的路径都找出来，从</a:t>
            </a:r>
            <a:r>
              <a:rPr lang="en-US" altLang="zh-CN">
                <a:sym typeface="+mn-ea"/>
              </a:rPr>
              <a:t> “</a:t>
            </a:r>
            <a:r>
              <a:rPr lang="zh-CN" altLang="en-US">
                <a:sym typeface="+mn-ea"/>
              </a:rPr>
              <a:t>找一个答案</a:t>
            </a:r>
            <a:r>
              <a:rPr lang="en-US" altLang="zh-CN">
                <a:sym typeface="+mn-ea"/>
              </a:rPr>
              <a:t>” </a:t>
            </a:r>
            <a:r>
              <a:rPr lang="zh-CN" altLang="en-US">
                <a:sym typeface="+mn-ea"/>
              </a:rPr>
              <a:t>变成</a:t>
            </a:r>
            <a:r>
              <a:rPr lang="en-US" altLang="zh-CN">
                <a:sym typeface="+mn-ea"/>
              </a:rPr>
              <a:t> “</a:t>
            </a:r>
            <a:r>
              <a:rPr lang="zh-CN" altLang="en-US">
                <a:sym typeface="+mn-ea"/>
              </a:rPr>
              <a:t>找全所有答案</a:t>
            </a:r>
            <a:r>
              <a:rPr lang="en-US" altLang="zh-CN">
                <a:sym typeface="+mn-ea"/>
              </a:rPr>
              <a:t>”</a:t>
            </a:r>
            <a:r>
              <a:rPr lang="zh-CN" altLang="en-US">
                <a:sym typeface="+mn-ea"/>
              </a:rPr>
              <a:t>，</a:t>
            </a:r>
            <a:endParaRPr lang="zh-CN" altLang="en-US"/>
          </a:p>
          <a:p>
            <a:r>
              <a:rPr lang="en-US" altLang="zh-CN">
                <a:sym typeface="+mn-ea"/>
              </a:rPr>
              <a:t>Aligner </a:t>
            </a:r>
            <a:r>
              <a:rPr lang="zh-CN" altLang="en-US">
                <a:sym typeface="+mn-ea"/>
              </a:rPr>
              <a:t>大概率只生成单一路径：</a:t>
            </a:r>
            <a:r>
              <a:rPr lang="en-US" altLang="zh-CN">
                <a:sym typeface="+mn-ea"/>
              </a:rPr>
              <a:t>&lt;US</a:t>
            </a:r>
            <a:r>
              <a:rPr lang="zh-CN" altLang="en-US">
                <a:sym typeface="+mn-ea"/>
              </a:rPr>
              <a:t>（美国）</a:t>
            </a:r>
            <a:r>
              <a:rPr lang="en-US" altLang="zh-CN">
                <a:sym typeface="+mn-ea"/>
              </a:rPr>
              <a:t>, borders</a:t>
            </a:r>
            <a:r>
              <a:rPr lang="zh-CN" altLang="en-US">
                <a:sym typeface="+mn-ea"/>
              </a:rPr>
              <a:t>（接壤）</a:t>
            </a:r>
            <a:r>
              <a:rPr lang="en-US" altLang="zh-CN">
                <a:sym typeface="+mn-ea"/>
              </a:rPr>
              <a:t>, Mexico</a:t>
            </a:r>
            <a:r>
              <a:rPr lang="zh-CN" altLang="en-US">
                <a:sym typeface="+mn-ea"/>
              </a:rPr>
              <a:t>（墨西哥）</a:t>
            </a:r>
            <a:r>
              <a:rPr lang="en-US" altLang="zh-CN">
                <a:sym typeface="+mn-ea"/>
              </a:rPr>
              <a:t>&gt; </a:t>
            </a:r>
            <a:endParaRPr lang="en-US" altLang="zh-CN"/>
          </a:p>
          <a:p>
            <a:r>
              <a:rPr lang="zh-CN" altLang="en-US">
                <a:sym typeface="+mn-ea"/>
              </a:rPr>
              <a:t>先把单一路径抽象成带变量的模板：</a:t>
            </a:r>
            <a:r>
              <a:rPr lang="en-US" altLang="zh-CN">
                <a:sym typeface="+mn-ea"/>
              </a:rPr>
              <a:t>&lt;US, borders,?country&gt;</a:t>
            </a:r>
            <a:r>
              <a:rPr lang="zh-CN" altLang="en-US">
                <a:sym typeface="+mn-ea"/>
              </a:rPr>
              <a:t>（</a:t>
            </a:r>
            <a:r>
              <a:rPr lang="en-US" altLang="zh-CN">
                <a:sym typeface="+mn-ea"/>
              </a:rPr>
              <a:t>?country</a:t>
            </a:r>
            <a:r>
              <a:rPr lang="zh-CN" altLang="en-US">
                <a:sym typeface="+mn-ea"/>
              </a:rPr>
              <a:t>是变量，代表</a:t>
            </a:r>
            <a:r>
              <a:rPr lang="en-US" altLang="zh-CN">
                <a:sym typeface="+mn-ea"/>
              </a:rPr>
              <a:t> “</a:t>
            </a:r>
            <a:r>
              <a:rPr lang="zh-CN" altLang="en-US">
                <a:sym typeface="+mn-ea"/>
              </a:rPr>
              <a:t>任意国家</a:t>
            </a:r>
            <a:r>
              <a:rPr lang="en-US" altLang="zh-CN">
                <a:sym typeface="+mn-ea"/>
              </a:rPr>
              <a:t>”</a:t>
            </a:r>
            <a:r>
              <a:rPr lang="zh-CN" altLang="en-US">
                <a:sym typeface="+mn-ea"/>
              </a:rPr>
              <a:t>）；</a:t>
            </a:r>
            <a:endParaRPr lang="zh-CN" altLang="en-US"/>
          </a:p>
          <a:p>
            <a:r>
              <a:rPr lang="en-US" altLang="zh-CN">
                <a:sym typeface="+mn-ea"/>
              </a:rPr>
              <a:t>LLM</a:t>
            </a:r>
            <a:r>
              <a:rPr lang="zh-CN" altLang="en-US">
                <a:sym typeface="+mn-ea"/>
              </a:rPr>
              <a:t>驱动整合（</a:t>
            </a:r>
            <a:r>
              <a:rPr lang="en-US" altLang="zh-CN">
                <a:sym typeface="+mn-ea"/>
              </a:rPr>
              <a:t>Consolidation</a:t>
            </a:r>
            <a:r>
              <a:rPr lang="zh-CN" altLang="en-US">
                <a:sym typeface="+mn-ea"/>
              </a:rPr>
              <a:t>）：引入一个高性能</a:t>
            </a:r>
            <a:r>
              <a:rPr lang="en-US" altLang="zh-CN">
                <a:sym typeface="+mn-ea"/>
              </a:rPr>
              <a:t> LLM</a:t>
            </a:r>
            <a:r>
              <a:rPr lang="zh-CN" altLang="en-US">
                <a:sym typeface="+mn-ea"/>
              </a:rPr>
              <a:t>（论文中用</a:t>
            </a:r>
            <a:r>
              <a:rPr lang="en-US" altLang="zh-CN">
                <a:sym typeface="+mn-ea"/>
              </a:rPr>
              <a:t> GPT-4o-mini</a:t>
            </a:r>
            <a:r>
              <a:rPr lang="zh-CN" altLang="en-US">
                <a:sym typeface="+mn-ea"/>
              </a:rPr>
              <a:t>）作为整合器，将多采样得到的所有候选知识路径和对应的假设答案输入给整合器，由其分析、过滤噪声、整合一致信息，最终输出统一的最终答案。</a:t>
            </a:r>
            <a:endParaRPr lang="zh-CN" altLang="en-US"/>
          </a:p>
          <a:p>
            <a:endParaRPr lang="zh-CN" altLang="en-US" b="1"/>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a:t>基于当前参数</a:t>
            </a:r>
            <a:r>
              <a:rPr lang="en-US" altLang="zh-CN" b="1"/>
              <a:t>(ω(t),ψ(t))</a:t>
            </a:r>
            <a:r>
              <a:rPr lang="zh-CN" altLang="en-US" b="1"/>
              <a:t>，最小化</a:t>
            </a:r>
            <a:r>
              <a:rPr lang="en-US" altLang="zh-CN" b="1"/>
              <a:t> KL </a:t>
            </a:r>
            <a:r>
              <a:rPr lang="zh-CN" altLang="en-US" b="1"/>
              <a:t>散度；</a:t>
            </a:r>
          </a:p>
          <a:p>
            <a:r>
              <a:rPr lang="zh-CN" altLang="en-US" b="1"/>
              <a:t>采样多个</a:t>
            </a:r>
            <a:r>
              <a:rPr lang="en-US" altLang="zh-CN" b="1"/>
              <a:t>z</a:t>
            </a:r>
            <a:r>
              <a:rPr lang="zh-CN" altLang="en-US" b="1"/>
              <a:t>，筛选出能正确推导出</a:t>
            </a:r>
            <a:r>
              <a:rPr lang="en-US" altLang="zh-CN" b="1"/>
              <a:t>a</a:t>
            </a:r>
            <a:r>
              <a:rPr lang="zh-CN" altLang="en-US" b="1"/>
              <a:t>的</a:t>
            </a:r>
            <a:r>
              <a:rPr lang="en-US" altLang="zh-CN" b="1"/>
              <a:t> Top-K </a:t>
            </a:r>
            <a:r>
              <a:rPr lang="zh-CN" altLang="en-US" b="1"/>
              <a:t>高质量样本</a:t>
            </a:r>
            <a:r>
              <a:rPr lang="en-US" altLang="zh-CN" b="1"/>
              <a:t>zIh​</a:t>
            </a:r>
            <a:r>
              <a:rPr lang="zh-CN" altLang="en-US" b="1"/>
              <a:t>。</a:t>
            </a:r>
          </a:p>
          <a:p>
            <a:r>
              <a:rPr lang="en-US" altLang="zh-CN"/>
              <a:t>WebQSP </a:t>
            </a:r>
            <a:r>
              <a:rPr lang="zh-CN" altLang="en-US"/>
              <a:t>是基于</a:t>
            </a:r>
            <a:r>
              <a:rPr lang="en-US" altLang="zh-CN"/>
              <a:t> Freebase </a:t>
            </a:r>
            <a:r>
              <a:rPr lang="zh-CN" altLang="en-US"/>
              <a:t>的知识图谱问答数据集，问题相对简单，主要用于基础性能评估。</a:t>
            </a:r>
          </a:p>
          <a:p>
            <a:r>
              <a:rPr lang="en-US" altLang="zh-CN"/>
              <a:t>CWQ</a:t>
            </a:r>
            <a:r>
              <a:rPr lang="zh-CN" altLang="en-US"/>
              <a:t>（</a:t>
            </a:r>
            <a:r>
              <a:rPr lang="en-US" altLang="zh-CN"/>
              <a:t>Complex WebQuestions</a:t>
            </a:r>
            <a:r>
              <a:rPr lang="zh-CN" altLang="en-US"/>
              <a:t>）也是基于</a:t>
            </a:r>
            <a:r>
              <a:rPr lang="en-US" altLang="zh-CN"/>
              <a:t> Freebase</a:t>
            </a:r>
            <a:r>
              <a:rPr lang="zh-CN" altLang="en-US"/>
              <a:t>，但问题更加复杂，通常需要多跳推理。</a:t>
            </a:r>
          </a:p>
          <a:p>
            <a:r>
              <a:rPr lang="en-US" altLang="zh-CN"/>
              <a:t>WebQSP </a:t>
            </a:r>
            <a:r>
              <a:rPr lang="zh-CN" altLang="en-US"/>
              <a:t>和</a:t>
            </a:r>
            <a:r>
              <a:rPr lang="en-US" altLang="zh-CN"/>
              <a:t> CWQ </a:t>
            </a:r>
            <a:r>
              <a:rPr lang="zh-CN" altLang="en-US"/>
              <a:t>都使用</a:t>
            </a:r>
            <a:r>
              <a:rPr lang="en-US" altLang="zh-CN"/>
              <a:t> Freebase</a:t>
            </a:r>
            <a:r>
              <a:rPr lang="zh-CN" altLang="en-US"/>
              <a:t>，因此可以用于模型的训练和测试。</a:t>
            </a:r>
          </a:p>
          <a:p>
            <a:r>
              <a:rPr lang="en-US" altLang="zh-CN"/>
              <a:t>CSQA </a:t>
            </a:r>
            <a:r>
              <a:rPr lang="zh-CN" altLang="en-US"/>
              <a:t>使用的是</a:t>
            </a:r>
            <a:r>
              <a:rPr lang="en-US" altLang="zh-CN"/>
              <a:t> ConceptNet </a:t>
            </a:r>
            <a:r>
              <a:rPr lang="zh-CN" altLang="en-US"/>
              <a:t>知识图谱，并且在训练中没有使用这个图谱，因此属于零样本测试。</a:t>
            </a:r>
          </a:p>
          <a:p>
            <a:r>
              <a:rPr lang="en-US" altLang="zh-CN"/>
              <a:t>MedQA </a:t>
            </a:r>
            <a:r>
              <a:rPr lang="zh-CN" altLang="en-US"/>
              <a:t>是医疗领域的问答数据集，对应的是专业医疗知识图谱，同样用于零样本测试。</a:t>
            </a:r>
          </a:p>
          <a:p>
            <a:r>
              <a:rPr lang="en-US" altLang="zh-CN"/>
              <a:t>LLM-driven Consolidation</a:t>
            </a:r>
            <a:r>
              <a:rPr lang="zh-CN" altLang="en-US"/>
              <a:t>（</a:t>
            </a:r>
            <a:r>
              <a:rPr lang="en-US" altLang="zh-CN"/>
              <a:t>LLM </a:t>
            </a:r>
            <a:r>
              <a:rPr lang="zh-CN" altLang="en-US"/>
              <a:t>驱动融合）</a:t>
            </a:r>
          </a:p>
          <a:p>
            <a:r>
              <a:rPr lang="zh-CN" altLang="en-US"/>
              <a:t>配套知识图谱：</a:t>
            </a:r>
            <a:r>
              <a:rPr lang="en-US" altLang="zh-CN"/>
              <a:t>Freebase</a:t>
            </a:r>
          </a:p>
          <a:p>
            <a:r>
              <a:rPr lang="en-US" altLang="zh-CN">
                <a:sym typeface="+mn-ea"/>
              </a:rPr>
              <a:t>F1</a:t>
            </a:r>
            <a:r>
              <a:rPr lang="zh-CN" altLang="en-US">
                <a:sym typeface="+mn-ea"/>
              </a:rPr>
              <a:t>（精度</a:t>
            </a:r>
            <a:r>
              <a:rPr lang="en-US" altLang="zh-CN">
                <a:sym typeface="+mn-ea"/>
              </a:rPr>
              <a:t>-</a:t>
            </a:r>
            <a:r>
              <a:rPr lang="zh-CN" altLang="en-US">
                <a:sym typeface="+mn-ea"/>
              </a:rPr>
              <a:t>召回平衡）</a:t>
            </a:r>
            <a:endParaRPr lang="en-US" altLang="zh-CN"/>
          </a:p>
          <a:p>
            <a:r>
              <a:rPr lang="en-US" altLang="zh-CN" b="1"/>
              <a:t> </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t>主要对比了</a:t>
            </a:r>
            <a:r>
              <a:rPr lang="en-US" altLang="zh-CN" b="1" dirty="0"/>
              <a:t>RAR</a:t>
            </a:r>
            <a:r>
              <a:rPr lang="zh-CN" altLang="en-US" b="1" dirty="0"/>
              <a:t>与不同类型方法在</a:t>
            </a:r>
            <a:r>
              <a:rPr lang="en-US" altLang="zh-CN" b="1" dirty="0" err="1"/>
              <a:t>WebQSP</a:t>
            </a:r>
            <a:r>
              <a:rPr lang="zh-CN" altLang="en-US" b="1" dirty="0"/>
              <a:t>和</a:t>
            </a:r>
            <a:r>
              <a:rPr lang="en-US" altLang="zh-CN" b="1" dirty="0"/>
              <a:t>CWQ</a:t>
            </a:r>
            <a:r>
              <a:rPr lang="zh-CN" altLang="en-US" b="1" dirty="0"/>
              <a:t>两个数据集上的性能对比。</a:t>
            </a:r>
          </a:p>
          <a:p>
            <a:r>
              <a:rPr lang="en-US" altLang="zh-CN" b="1" dirty="0"/>
              <a:t> </a:t>
            </a:r>
            <a:r>
              <a:rPr lang="zh-CN" altLang="en-US" b="1" dirty="0"/>
              <a:t>三种</a:t>
            </a:r>
            <a:r>
              <a:rPr lang="en-US" altLang="zh-CN" b="1" dirty="0"/>
              <a:t> LLM Reasoning</a:t>
            </a:r>
            <a:r>
              <a:rPr lang="zh-CN" altLang="en-US" b="1" dirty="0"/>
              <a:t>（纯大模型推理）</a:t>
            </a:r>
            <a:r>
              <a:rPr lang="en-US" altLang="zh-CN" b="1" dirty="0"/>
              <a:t> Graph Reasoning</a:t>
            </a:r>
            <a:r>
              <a:rPr lang="zh-CN" altLang="en-US" b="1" dirty="0"/>
              <a:t>（传统图方法）</a:t>
            </a:r>
            <a:r>
              <a:rPr lang="en-US" altLang="zh-CN" b="1" dirty="0"/>
              <a:t> KG + LLM</a:t>
            </a:r>
            <a:r>
              <a:rPr lang="zh-CN" altLang="en-US" b="1" dirty="0"/>
              <a:t>（结合知识图谱的方法）</a:t>
            </a:r>
          </a:p>
          <a:p>
            <a:r>
              <a:rPr lang="en-US" altLang="zh-CN" dirty="0" err="1">
                <a:sym typeface="+mn-ea"/>
              </a:rPr>
              <a:t>WebQSP</a:t>
            </a:r>
            <a:r>
              <a:rPr lang="en-US" altLang="zh-CN" dirty="0">
                <a:sym typeface="+mn-ea"/>
              </a:rPr>
              <a:t> </a:t>
            </a:r>
            <a:r>
              <a:rPr lang="zh-CN" altLang="en-US" dirty="0">
                <a:sym typeface="+mn-ea"/>
              </a:rPr>
              <a:t>是基于</a:t>
            </a:r>
            <a:r>
              <a:rPr lang="en-US" altLang="zh-CN" dirty="0">
                <a:sym typeface="+mn-ea"/>
              </a:rPr>
              <a:t> Freebase </a:t>
            </a:r>
            <a:r>
              <a:rPr lang="zh-CN" altLang="en-US" dirty="0">
                <a:sym typeface="+mn-ea"/>
              </a:rPr>
              <a:t>的知识图谱问答数据集，问题相对简单，主要用于基础性能评估。</a:t>
            </a:r>
            <a:endParaRPr lang="zh-CN" altLang="en-US" dirty="0"/>
          </a:p>
          <a:p>
            <a:r>
              <a:rPr lang="en-US" altLang="zh-CN" dirty="0">
                <a:sym typeface="+mn-ea"/>
              </a:rPr>
              <a:t>CWQ</a:t>
            </a:r>
            <a:r>
              <a:rPr lang="zh-CN" altLang="en-US" dirty="0">
                <a:sym typeface="+mn-ea"/>
              </a:rPr>
              <a:t>（</a:t>
            </a:r>
            <a:r>
              <a:rPr lang="en-US" altLang="zh-CN" dirty="0">
                <a:sym typeface="+mn-ea"/>
              </a:rPr>
              <a:t>Complex </a:t>
            </a:r>
            <a:r>
              <a:rPr lang="en-US" altLang="zh-CN" dirty="0" err="1">
                <a:sym typeface="+mn-ea"/>
              </a:rPr>
              <a:t>WebQuestions</a:t>
            </a:r>
            <a:r>
              <a:rPr lang="zh-CN" altLang="en-US" dirty="0">
                <a:sym typeface="+mn-ea"/>
              </a:rPr>
              <a:t>）也是基于</a:t>
            </a:r>
            <a:r>
              <a:rPr lang="en-US" altLang="zh-CN" dirty="0">
                <a:sym typeface="+mn-ea"/>
              </a:rPr>
              <a:t> Freebase</a:t>
            </a:r>
            <a:r>
              <a:rPr lang="zh-CN" altLang="en-US" dirty="0">
                <a:sym typeface="+mn-ea"/>
              </a:rPr>
              <a:t>，但问题更加复杂，通常需要多跳推理。</a:t>
            </a:r>
            <a:endParaRPr lang="zh-CN" altLang="en-US" b="1" dirty="0"/>
          </a:p>
          <a:p>
            <a:r>
              <a:rPr lang="en-US" altLang="zh-CN" b="1" dirty="0"/>
              <a:t>Hit</a:t>
            </a:r>
            <a:r>
              <a:rPr lang="zh-CN" altLang="en-US" b="1" dirty="0"/>
              <a:t>：是否命中正确答案，</a:t>
            </a:r>
            <a:r>
              <a:rPr lang="en-US" altLang="zh-CN" b="1" dirty="0"/>
              <a:t>Hit </a:t>
            </a:r>
            <a:r>
              <a:rPr lang="zh-CN" altLang="en-US" b="1" dirty="0"/>
              <a:t>衡量的是模型是否预测到了至少一个正确答案。</a:t>
            </a:r>
          </a:p>
          <a:p>
            <a:r>
              <a:rPr lang="en-US" altLang="zh-CN" b="1" dirty="0"/>
              <a:t>F1</a:t>
            </a:r>
            <a:r>
              <a:rPr lang="zh-CN" altLang="en-US" b="1" dirty="0"/>
              <a:t>：正确答案中，你找到了多少</a:t>
            </a:r>
          </a:p>
          <a:p>
            <a:r>
              <a:rPr lang="zh-CN" altLang="en-US" b="1" dirty="0"/>
              <a:t>这是因为</a:t>
            </a:r>
            <a:r>
              <a:rPr lang="en-US" altLang="zh-CN" b="1" dirty="0"/>
              <a:t> CWQ </a:t>
            </a:r>
            <a:r>
              <a:rPr lang="zh-CN" altLang="en-US" b="1" dirty="0"/>
              <a:t>涉及更多多跳推理，而</a:t>
            </a:r>
            <a:r>
              <a:rPr lang="en-US" altLang="zh-CN" b="1" dirty="0"/>
              <a:t> RAR </a:t>
            </a:r>
            <a:r>
              <a:rPr lang="zh-CN" altLang="en-US" b="1" dirty="0"/>
              <a:t>的</a:t>
            </a:r>
            <a:r>
              <a:rPr lang="en-US" altLang="zh-CN" b="1" dirty="0"/>
              <a:t>“</a:t>
            </a:r>
            <a:r>
              <a:rPr lang="zh-CN" altLang="en-US" b="1" dirty="0"/>
              <a:t>推理链</a:t>
            </a:r>
            <a:r>
              <a:rPr lang="en-US" altLang="zh-CN" b="1" dirty="0"/>
              <a:t> + KG</a:t>
            </a:r>
            <a:r>
              <a:rPr lang="zh-CN" altLang="en-US" b="1" dirty="0"/>
              <a:t>对齐</a:t>
            </a:r>
            <a:r>
              <a:rPr lang="en-US" altLang="zh-CN" b="1" dirty="0"/>
              <a:t>”</a:t>
            </a:r>
            <a:r>
              <a:rPr lang="zh-CN" altLang="en-US" b="1" dirty="0"/>
              <a:t>机制更适合复杂推理任务。</a:t>
            </a:r>
          </a:p>
          <a:p>
            <a:endParaRPr lang="zh-CN" altLang="en-US" b="1" dirty="0"/>
          </a:p>
          <a:p>
            <a:r>
              <a:rPr lang="en-US" altLang="zh-CN" b="1" dirty="0" err="1"/>
              <a:t>RoG</a:t>
            </a:r>
            <a:r>
              <a:rPr lang="en-US" altLang="zh-CN" b="1" dirty="0"/>
              <a:t> </a:t>
            </a:r>
            <a:r>
              <a:rPr lang="zh-CN" altLang="en-US" b="1" dirty="0"/>
              <a:t>是一种典型的</a:t>
            </a:r>
            <a:r>
              <a:rPr lang="en-US" altLang="zh-CN" b="1" dirty="0"/>
              <a:t>“</a:t>
            </a:r>
            <a:r>
              <a:rPr lang="zh-CN" altLang="en-US" b="1" dirty="0"/>
              <a:t>先规划再检索再推理</a:t>
            </a:r>
            <a:r>
              <a:rPr lang="en-US" altLang="zh-CN" b="1" dirty="0"/>
              <a:t>”</a:t>
            </a:r>
            <a:r>
              <a:rPr lang="zh-CN" altLang="en-US" b="1" dirty="0"/>
              <a:t>的方法，利用</a:t>
            </a:r>
            <a:r>
              <a:rPr lang="en-US" altLang="zh-CN" b="1" dirty="0"/>
              <a:t> LLM </a:t>
            </a:r>
            <a:r>
              <a:rPr lang="zh-CN" altLang="en-US" b="1" dirty="0"/>
              <a:t>生成关系路径，再在知识图谱中检索对应路径。</a:t>
            </a:r>
            <a:r>
              <a:rPr lang="en-US" altLang="zh-CN" b="1" dirty="0"/>
              <a:t>-</a:t>
            </a:r>
            <a:r>
              <a:rPr lang="zh-CN" altLang="en-US" b="1" dirty="0"/>
              <a:t>只生成关系路径，缺乏自然语言推理结构，表达能力有限。</a:t>
            </a:r>
          </a:p>
          <a:p>
            <a:r>
              <a:rPr lang="en-US" altLang="zh-CN" b="1" dirty="0"/>
              <a:t>GCR </a:t>
            </a:r>
            <a:r>
              <a:rPr lang="zh-CN" altLang="en-US" b="1" dirty="0"/>
              <a:t>是当前较强的方法，通过在生成过程中加入图约束，确保推理路径一定存在于知识图谱中。</a:t>
            </a:r>
            <a:r>
              <a:rPr lang="en-US" altLang="zh-CN" b="1" dirty="0"/>
              <a:t>-</a:t>
            </a:r>
            <a:r>
              <a:rPr lang="zh-CN" altLang="en-US" b="1" dirty="0"/>
              <a:t>虽然保证了路径正确，但缺乏显式的推理链建模，推理过程不够可解释。</a:t>
            </a:r>
          </a:p>
          <a:p>
            <a:r>
              <a:rPr lang="en-US" altLang="zh-CN" b="1" dirty="0"/>
              <a:t>GNN-RAG+RA</a:t>
            </a:r>
            <a:r>
              <a:rPr lang="zh-CN" altLang="en-US" b="1" dirty="0"/>
              <a:t>先通过</a:t>
            </a:r>
            <a:r>
              <a:rPr lang="en-US" altLang="zh-CN" b="1" dirty="0"/>
              <a:t> GNN </a:t>
            </a:r>
            <a:r>
              <a:rPr lang="zh-CN" altLang="en-US" b="1" dirty="0"/>
              <a:t>从知识图谱中检索相关子图，然后将这些结构化信息输入到语言模型中，通过</a:t>
            </a:r>
            <a:r>
              <a:rPr lang="en-US" altLang="zh-CN" b="1" dirty="0"/>
              <a:t> RAG </a:t>
            </a:r>
            <a:r>
              <a:rPr lang="zh-CN" altLang="en-US" b="1" dirty="0"/>
              <a:t>方式进行推理并生成答案。但是该方法主要依赖</a:t>
            </a:r>
            <a:r>
              <a:rPr lang="en-US" altLang="zh-CN" b="1" dirty="0"/>
              <a:t>“</a:t>
            </a:r>
            <a:r>
              <a:rPr lang="zh-CN" altLang="en-US" b="1" dirty="0"/>
              <a:t>检索</a:t>
            </a:r>
            <a:r>
              <a:rPr lang="en-US" altLang="zh-CN" b="1" dirty="0"/>
              <a:t> + </a:t>
            </a:r>
            <a:r>
              <a:rPr lang="zh-CN" altLang="en-US" b="1" dirty="0"/>
              <a:t>生成</a:t>
            </a:r>
            <a:r>
              <a:rPr lang="en-US" altLang="zh-CN" b="1" dirty="0"/>
              <a:t>”</a:t>
            </a:r>
            <a:r>
              <a:rPr lang="zh-CN" altLang="en-US" b="1" dirty="0"/>
              <a:t>的方式，没有显式建模推理过程，也没有保证推理路径与知识图谱严格对齐。</a:t>
            </a:r>
          </a:p>
          <a:p>
            <a:r>
              <a:rPr lang="en-US" altLang="zh-CN" b="1" dirty="0"/>
              <a:t>ChatGPT + </a:t>
            </a:r>
            <a:r>
              <a:rPr lang="en-US" altLang="zh-CN" b="1" dirty="0" err="1"/>
              <a:t>CoT</a:t>
            </a:r>
            <a:r>
              <a:rPr lang="en-US" altLang="zh-CN" b="1" dirty="0"/>
              <a:t> </a:t>
            </a:r>
            <a:r>
              <a:rPr lang="zh-CN" altLang="en-US" b="1" dirty="0"/>
              <a:t>是一种典型的基于</a:t>
            </a:r>
            <a:r>
              <a:rPr lang="en-US" altLang="zh-CN" b="1" dirty="0"/>
              <a:t> Chain-of-Thought </a:t>
            </a:r>
            <a:r>
              <a:rPr lang="zh-CN" altLang="en-US" b="1" dirty="0"/>
              <a:t>的方法，通过生成中间推理步骤来提升推理能力。</a:t>
            </a:r>
            <a:r>
              <a:rPr lang="en-US" altLang="zh-CN" b="1" dirty="0"/>
              <a:t>-</a:t>
            </a:r>
            <a:r>
              <a:rPr lang="zh-CN" altLang="en-US" b="1" dirty="0"/>
              <a:t>但</a:t>
            </a:r>
            <a:r>
              <a:rPr lang="en-US" altLang="zh-CN" b="1" dirty="0"/>
              <a:t> </a:t>
            </a:r>
            <a:r>
              <a:rPr lang="en-US" altLang="en-US" b="1" dirty="0"/>
              <a:t>❌</a:t>
            </a:r>
            <a:r>
              <a:rPr lang="en-US" altLang="zh-CN" b="1" dirty="0"/>
              <a:t> </a:t>
            </a:r>
            <a:r>
              <a:rPr lang="zh-CN" altLang="en-US" b="1" dirty="0"/>
              <a:t>不接入</a:t>
            </a:r>
            <a:r>
              <a:rPr lang="en-US" altLang="zh-CN" b="1" dirty="0"/>
              <a:t> KG</a:t>
            </a:r>
          </a:p>
          <a:p>
            <a:r>
              <a:rPr lang="en-US" altLang="zh-CN" b="1" dirty="0"/>
              <a:t>Self-Consistency </a:t>
            </a:r>
            <a:r>
              <a:rPr lang="zh-CN" altLang="en-US" b="1" dirty="0"/>
              <a:t>通过采样多个推理路径，并选择最一致的答案来提升稳定性。</a:t>
            </a:r>
            <a:r>
              <a:rPr lang="en-US" altLang="zh-CN" b="1" dirty="0"/>
              <a:t> -</a:t>
            </a:r>
            <a:r>
              <a:rPr lang="zh-CN" altLang="en-US" b="1" dirty="0"/>
              <a:t>多次推理</a:t>
            </a:r>
            <a:r>
              <a:rPr lang="en-US" altLang="zh-CN" b="1" dirty="0"/>
              <a:t> + </a:t>
            </a:r>
            <a:r>
              <a:rPr lang="zh-CN" altLang="en-US" b="1" dirty="0"/>
              <a:t>投票</a:t>
            </a:r>
            <a:r>
              <a:rPr lang="en-US" altLang="zh-CN" b="1" dirty="0"/>
              <a:t>-</a:t>
            </a:r>
            <a:r>
              <a:rPr lang="zh-CN" altLang="en-US" b="1" dirty="0"/>
              <a:t>虽然减少随机性，但仍然没有利用知识图谱。</a:t>
            </a:r>
          </a:p>
          <a:p>
            <a:r>
              <a:rPr lang="en-US" altLang="zh-CN" b="1" dirty="0"/>
              <a:t>NSM </a:t>
            </a:r>
            <a:r>
              <a:rPr lang="zh-CN" altLang="en-US" b="1" dirty="0"/>
              <a:t>和</a:t>
            </a:r>
            <a:r>
              <a:rPr lang="en-US" altLang="zh-CN" b="1" dirty="0"/>
              <a:t> </a:t>
            </a:r>
            <a:r>
              <a:rPr lang="en-US" altLang="zh-CN" b="1" dirty="0" err="1"/>
              <a:t>ReaRev</a:t>
            </a:r>
            <a:r>
              <a:rPr lang="en-US" altLang="zh-CN" b="1" dirty="0"/>
              <a:t> </a:t>
            </a:r>
            <a:r>
              <a:rPr lang="zh-CN" altLang="en-US" b="1" dirty="0"/>
              <a:t>是基于知识图谱的传统图推理方法，通过在图中进行路径搜索来找到答案。</a:t>
            </a:r>
            <a:r>
              <a:rPr lang="en-US" altLang="zh-CN" b="1" dirty="0"/>
              <a:t> </a:t>
            </a:r>
            <a:r>
              <a:rPr lang="zh-CN" altLang="en-US" b="1" dirty="0"/>
              <a:t>推理能力受限，缺乏自然语言理解能力。</a:t>
            </a:r>
          </a:p>
          <a:p>
            <a:endParaRPr lang="zh-CN" altLang="en-US" b="1"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a:t>去掉</a:t>
            </a:r>
            <a:r>
              <a:rPr lang="en-US" altLang="zh-CN" b="1"/>
              <a:t> KD</a:t>
            </a:r>
            <a:r>
              <a:rPr lang="zh-CN" altLang="en-US" b="1"/>
              <a:t>（知识图谱约束解码），模型会生成假的</a:t>
            </a:r>
            <a:r>
              <a:rPr lang="en-US" altLang="zh-CN" b="1"/>
              <a:t> KG </a:t>
            </a:r>
            <a:r>
              <a:rPr lang="zh-CN" altLang="en-US" b="1"/>
              <a:t>三元组，直接导致推理崩掉</a:t>
            </a:r>
          </a:p>
          <a:p>
            <a:r>
              <a:rPr lang="zh-CN" altLang="en-US" b="1">
                <a:sym typeface="+mn-ea"/>
              </a:rPr>
              <a:t>去掉</a:t>
            </a:r>
            <a:r>
              <a:rPr lang="en-US" altLang="zh-CN" b="1">
                <a:sym typeface="+mn-ea"/>
              </a:rPr>
              <a:t> Reasoner </a:t>
            </a:r>
            <a:r>
              <a:rPr lang="zh-CN" altLang="en-US" b="1">
                <a:sym typeface="+mn-ea"/>
              </a:rPr>
              <a:t>推理器，控制方向的</a:t>
            </a:r>
            <a:r>
              <a:rPr lang="en-US" altLang="zh-CN" b="1">
                <a:sym typeface="+mn-ea"/>
              </a:rPr>
              <a:t>“</a:t>
            </a:r>
            <a:r>
              <a:rPr lang="zh-CN" altLang="en-US" b="1">
                <a:sym typeface="+mn-ea"/>
              </a:rPr>
              <a:t>思考过程</a:t>
            </a:r>
            <a:r>
              <a:rPr lang="en-US" altLang="zh-CN" b="1">
                <a:sym typeface="+mn-ea"/>
              </a:rPr>
              <a:t>” </a:t>
            </a:r>
            <a:r>
              <a:rPr lang="zh-CN" altLang="en-US" b="1">
                <a:sym typeface="+mn-ea"/>
              </a:rPr>
              <a:t>，没有它</a:t>
            </a:r>
            <a:r>
              <a:rPr lang="en-US" altLang="zh-CN" b="1">
                <a:sym typeface="+mn-ea"/>
              </a:rPr>
              <a:t> </a:t>
            </a:r>
            <a:r>
              <a:rPr lang="zh-CN" altLang="en-US" b="1">
                <a:sym typeface="+mn-ea"/>
              </a:rPr>
              <a:t>模型会乱搜路径（</a:t>
            </a:r>
            <a:r>
              <a:rPr lang="en-US" altLang="zh-CN" b="1">
                <a:sym typeface="+mn-ea"/>
              </a:rPr>
              <a:t>Recall</a:t>
            </a:r>
            <a:r>
              <a:rPr lang="zh-CN" altLang="en-US" b="1">
                <a:sym typeface="+mn-ea"/>
              </a:rPr>
              <a:t>高）。</a:t>
            </a:r>
            <a:r>
              <a:rPr lang="en-US" altLang="zh-CN" b="1">
                <a:sym typeface="+mn-ea"/>
              </a:rPr>
              <a:t>,</a:t>
            </a:r>
            <a:r>
              <a:rPr lang="zh-CN" altLang="en-US" b="1">
                <a:sym typeface="+mn-ea"/>
              </a:rPr>
              <a:t>但不精准（</a:t>
            </a:r>
            <a:r>
              <a:rPr lang="en-US" altLang="zh-CN" b="1">
                <a:sym typeface="+mn-ea"/>
              </a:rPr>
              <a:t>Precision</a:t>
            </a:r>
            <a:r>
              <a:rPr lang="zh-CN" altLang="en-US" b="1">
                <a:sym typeface="+mn-ea"/>
              </a:rPr>
              <a:t>低）</a:t>
            </a:r>
            <a:endParaRPr lang="zh-CN" altLang="en-US" b="1"/>
          </a:p>
          <a:p>
            <a:r>
              <a:rPr lang="zh-CN" altLang="en-US" b="1">
                <a:sym typeface="+mn-ea"/>
              </a:rPr>
              <a:t>去掉</a:t>
            </a:r>
            <a:r>
              <a:rPr lang="en-US" altLang="zh-CN" b="1">
                <a:sym typeface="+mn-ea"/>
              </a:rPr>
              <a:t> LC</a:t>
            </a:r>
            <a:r>
              <a:rPr lang="zh-CN" altLang="en-US" b="1">
                <a:sym typeface="+mn-ea"/>
              </a:rPr>
              <a:t>（用大语言模型来做</a:t>
            </a:r>
            <a:r>
              <a:rPr lang="en-US" altLang="zh-CN" b="1">
                <a:sym typeface="+mn-ea"/>
              </a:rPr>
              <a:t>“</a:t>
            </a:r>
            <a:r>
              <a:rPr lang="zh-CN" altLang="en-US" b="1">
                <a:sym typeface="+mn-ea"/>
              </a:rPr>
              <a:t>结果整合</a:t>
            </a:r>
            <a:r>
              <a:rPr lang="en-US" altLang="zh-CN" b="1">
                <a:sym typeface="+mn-ea"/>
              </a:rPr>
              <a:t>/</a:t>
            </a:r>
            <a:r>
              <a:rPr lang="zh-CN" altLang="en-US" b="1">
                <a:sym typeface="+mn-ea"/>
              </a:rPr>
              <a:t>汇总），</a:t>
            </a:r>
            <a:r>
              <a:rPr lang="en-US" altLang="zh-CN" b="1">
                <a:sym typeface="+mn-ea"/>
              </a:rPr>
              <a:t>LC </a:t>
            </a:r>
            <a:r>
              <a:rPr lang="zh-CN" altLang="en-US" b="1">
                <a:sym typeface="+mn-ea"/>
              </a:rPr>
              <a:t>的作用是</a:t>
            </a:r>
            <a:r>
              <a:rPr lang="en-US" altLang="zh-CN" b="1">
                <a:sym typeface="+mn-ea"/>
              </a:rPr>
              <a:t> </a:t>
            </a:r>
            <a:r>
              <a:rPr lang="zh-CN" altLang="en-US" b="1">
                <a:sym typeface="+mn-ea"/>
              </a:rPr>
              <a:t>去噪</a:t>
            </a:r>
            <a:r>
              <a:rPr lang="en-US" altLang="zh-CN" b="1">
                <a:sym typeface="+mn-ea"/>
              </a:rPr>
              <a:t> + </a:t>
            </a:r>
            <a:r>
              <a:rPr lang="zh-CN" altLang="en-US" b="1">
                <a:sym typeface="+mn-ea"/>
              </a:rPr>
              <a:t>提高精度，没它</a:t>
            </a:r>
            <a:r>
              <a:rPr lang="en-US" altLang="zh-CN" b="1">
                <a:sym typeface="+mn-ea"/>
              </a:rPr>
              <a:t> </a:t>
            </a:r>
            <a:r>
              <a:rPr lang="en-US" altLang="en-US" b="1">
                <a:sym typeface="+mn-ea"/>
              </a:rPr>
              <a:t>→</a:t>
            </a:r>
            <a:r>
              <a:rPr lang="en-US" altLang="zh-CN" b="1">
                <a:sym typeface="+mn-ea"/>
              </a:rPr>
              <a:t> </a:t>
            </a:r>
            <a:r>
              <a:rPr lang="zh-CN" altLang="en-US" b="1">
                <a:sym typeface="+mn-ea"/>
              </a:rPr>
              <a:t>答案更多（</a:t>
            </a:r>
            <a:r>
              <a:rPr lang="en-US" altLang="zh-CN" b="1">
                <a:sym typeface="+mn-ea"/>
              </a:rPr>
              <a:t>Recall</a:t>
            </a:r>
            <a:r>
              <a:rPr lang="zh-CN" altLang="en-US" b="1">
                <a:sym typeface="+mn-ea"/>
              </a:rPr>
              <a:t>高），但更乱（</a:t>
            </a:r>
            <a:r>
              <a:rPr lang="en-US" altLang="zh-CN" b="1">
                <a:sym typeface="+mn-ea"/>
              </a:rPr>
              <a:t>Precision</a:t>
            </a:r>
            <a:r>
              <a:rPr lang="zh-CN" altLang="en-US" b="1">
                <a:sym typeface="+mn-ea"/>
              </a:rPr>
              <a:t>低）</a:t>
            </a:r>
            <a:endParaRPr lang="zh-CN" altLang="en-US" b="1"/>
          </a:p>
          <a:p>
            <a:r>
              <a:rPr lang="zh-CN" altLang="en-US" b="1"/>
              <a:t>去掉</a:t>
            </a:r>
            <a:r>
              <a:rPr lang="en-US" altLang="zh-CN" b="1"/>
              <a:t> KPE</a:t>
            </a:r>
            <a:r>
              <a:rPr lang="zh-CN" altLang="en-US" b="1"/>
              <a:t>（</a:t>
            </a:r>
            <a:r>
              <a:rPr lang="en-US" altLang="zh-CN" b="1"/>
              <a:t>Knowledge Path Expansion</a:t>
            </a:r>
            <a:r>
              <a:rPr lang="zh-CN" altLang="en-US" b="1"/>
              <a:t>知识路径扩展），</a:t>
            </a:r>
            <a:r>
              <a:rPr lang="en-US" altLang="zh-CN" b="1"/>
              <a:t>KPE </a:t>
            </a:r>
            <a:r>
              <a:rPr lang="zh-CN" altLang="en-US" b="1"/>
              <a:t>负责补全答案空间，路径不完整，覆盖不够</a:t>
            </a:r>
          </a:p>
          <a:p>
            <a:r>
              <a:rPr lang="en-US" altLang="zh-CN" b="1">
                <a:sym typeface="+mn-ea"/>
              </a:rPr>
              <a:t>KD </a:t>
            </a:r>
            <a:r>
              <a:rPr lang="zh-CN" altLang="en-US" b="1">
                <a:sym typeface="+mn-ea"/>
              </a:rPr>
              <a:t>最关键（防</a:t>
            </a:r>
            <a:r>
              <a:rPr lang="en-US" altLang="zh-CN" b="1">
                <a:sym typeface="+mn-ea"/>
              </a:rPr>
              <a:t> hallucination</a:t>
            </a:r>
            <a:r>
              <a:rPr lang="zh-CN" altLang="en-US" b="1">
                <a:sym typeface="+mn-ea"/>
              </a:rPr>
              <a:t>），</a:t>
            </a:r>
            <a:endParaRPr lang="zh-CN" altLang="en-US" b="1"/>
          </a:p>
          <a:p>
            <a:r>
              <a:rPr lang="en-US" altLang="zh-CN" b="1">
                <a:sym typeface="+mn-ea"/>
              </a:rPr>
              <a:t>Reasoner </a:t>
            </a:r>
            <a:r>
              <a:rPr lang="zh-CN" altLang="en-US" b="1">
                <a:sym typeface="+mn-ea"/>
              </a:rPr>
              <a:t>控方向，</a:t>
            </a:r>
            <a:endParaRPr lang="zh-CN" altLang="en-US" b="1"/>
          </a:p>
          <a:p>
            <a:r>
              <a:rPr lang="en-US" altLang="zh-CN" b="1">
                <a:sym typeface="+mn-ea"/>
              </a:rPr>
              <a:t>KPE </a:t>
            </a:r>
            <a:r>
              <a:rPr lang="zh-CN" altLang="en-US" b="1">
                <a:sym typeface="+mn-ea"/>
              </a:rPr>
              <a:t>补覆盖，</a:t>
            </a:r>
            <a:endParaRPr lang="zh-CN" altLang="en-US" b="1"/>
          </a:p>
          <a:p>
            <a:r>
              <a:rPr lang="en-US" altLang="zh-CN" b="1">
                <a:sym typeface="+mn-ea"/>
              </a:rPr>
              <a:t>LC </a:t>
            </a:r>
            <a:r>
              <a:rPr lang="zh-CN" altLang="en-US" b="1">
                <a:sym typeface="+mn-ea"/>
              </a:rPr>
              <a:t>提精度</a:t>
            </a:r>
            <a:endParaRPr lang="zh-CN" altLang="en-US" b="1"/>
          </a:p>
          <a:p>
            <a:r>
              <a:rPr lang="zh-CN" altLang="en-US" b="1"/>
              <a:t>图三：</a:t>
            </a:r>
            <a:r>
              <a:rPr lang="en-US" altLang="zh-CN" b="1"/>
              <a:t>EM</a:t>
            </a:r>
            <a:r>
              <a:rPr lang="zh-CN" altLang="en-US" b="1"/>
              <a:t>训练有没有用？</a:t>
            </a:r>
          </a:p>
          <a:p>
            <a:r>
              <a:rPr lang="en-US" altLang="zh-CN" b="1">
                <a:sym typeface="+mn-ea"/>
              </a:rPr>
              <a:t>EM</a:t>
            </a:r>
            <a:r>
              <a:rPr lang="zh-CN" altLang="en-US" b="1">
                <a:sym typeface="+mn-ea"/>
              </a:rPr>
              <a:t>确实在不断优化模型</a:t>
            </a:r>
            <a:r>
              <a:rPr lang="en-US" altLang="zh-CN" b="1">
                <a:sym typeface="+mn-ea"/>
              </a:rPr>
              <a:t>,</a:t>
            </a:r>
          </a:p>
          <a:p>
            <a:r>
              <a:rPr lang="zh-CN" altLang="en-US" b="1">
                <a:sym typeface="+mn-ea"/>
              </a:rPr>
              <a:t>到</a:t>
            </a:r>
            <a:r>
              <a:rPr lang="en-US" altLang="zh-CN" b="1">
                <a:sym typeface="+mn-ea"/>
              </a:rPr>
              <a:t> 200 steps </a:t>
            </a:r>
            <a:r>
              <a:rPr lang="zh-CN" altLang="en-US" b="1">
                <a:sym typeface="+mn-ea"/>
              </a:rPr>
              <a:t>后基本稳定</a:t>
            </a:r>
            <a:endParaRPr lang="zh-CN" altLang="en-US" b="1"/>
          </a:p>
          <a:p>
            <a:endParaRPr lang="zh-CN" altLang="en-US" b="1"/>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Hit</a:t>
            </a:r>
            <a:r>
              <a:rPr lang="zh-CN" altLang="en-US" dirty="0"/>
              <a:t>（准确率）</a:t>
            </a:r>
          </a:p>
          <a:p>
            <a:r>
              <a:rPr lang="zh-CN" altLang="en-US" dirty="0"/>
              <a:t>蓝色柱表示</a:t>
            </a:r>
            <a:r>
              <a:rPr lang="en-US" altLang="zh-CN" dirty="0"/>
              <a:t> Correctness</a:t>
            </a:r>
            <a:r>
              <a:rPr lang="zh-CN" altLang="en-US" dirty="0"/>
              <a:t>，也就是推理是否正确；红色曲线表示</a:t>
            </a:r>
            <a:r>
              <a:rPr lang="en-US" altLang="zh-CN" dirty="0"/>
              <a:t> Alignment Ratio</a:t>
            </a:r>
            <a:r>
              <a:rPr lang="zh-CN" altLang="en-US" dirty="0"/>
              <a:t>，表示推理步骤是否与知识图谱对齐。</a:t>
            </a:r>
          </a:p>
          <a:p>
            <a:r>
              <a:rPr lang="zh-CN" altLang="en-US" dirty="0"/>
              <a:t>主要想验证</a:t>
            </a:r>
            <a:r>
              <a:rPr lang="en-US" altLang="zh-CN" dirty="0"/>
              <a:t> </a:t>
            </a:r>
            <a:r>
              <a:rPr lang="zh-CN" altLang="en-US" dirty="0"/>
              <a:t>推理过程的质量和可解释性。</a:t>
            </a:r>
          </a:p>
          <a:p>
            <a:r>
              <a:rPr lang="zh-CN" altLang="en-US" dirty="0"/>
              <a:t>可以看到，相比于</a:t>
            </a:r>
            <a:r>
              <a:rPr lang="en-US" altLang="zh-CN" dirty="0"/>
              <a:t> Llama </a:t>
            </a:r>
            <a:r>
              <a:rPr lang="zh-CN" altLang="en-US" dirty="0"/>
              <a:t>和</a:t>
            </a:r>
            <a:r>
              <a:rPr lang="en-US" altLang="zh-CN" dirty="0"/>
              <a:t> GPT-4o</a:t>
            </a:r>
            <a:r>
              <a:rPr lang="zh-CN" altLang="en-US" dirty="0"/>
              <a:t>，</a:t>
            </a:r>
            <a:r>
              <a:rPr lang="en-US" altLang="zh-CN" dirty="0"/>
              <a:t>RAR </a:t>
            </a:r>
            <a:r>
              <a:rPr lang="zh-CN" altLang="en-US" dirty="0"/>
              <a:t>在两个指标上都有明显提升。特别是在</a:t>
            </a:r>
            <a:r>
              <a:rPr lang="en-US" altLang="zh-CN" dirty="0"/>
              <a:t> Alignment </a:t>
            </a:r>
            <a:r>
              <a:rPr lang="zh-CN" altLang="en-US" dirty="0"/>
              <a:t>上，</a:t>
            </a:r>
            <a:r>
              <a:rPr lang="en-US" altLang="zh-CN" dirty="0"/>
              <a:t>RAR </a:t>
            </a:r>
            <a:r>
              <a:rPr lang="zh-CN" altLang="en-US" dirty="0"/>
              <a:t>提升非常明显，说明生成的推理链更符合知识图谱中的真实路径。</a:t>
            </a:r>
          </a:p>
          <a:p>
            <a:r>
              <a:rPr lang="zh-CN" altLang="en-US" dirty="0"/>
              <a:t>同时，</a:t>
            </a:r>
            <a:r>
              <a:rPr lang="en-US" altLang="zh-CN" dirty="0"/>
              <a:t>Correctness </a:t>
            </a:r>
            <a:r>
              <a:rPr lang="zh-CN" altLang="en-US" dirty="0"/>
              <a:t>也更高，说明推理本身更加准确</a:t>
            </a:r>
          </a:p>
          <a:p>
            <a:r>
              <a:rPr lang="en-US" altLang="zh-CN" dirty="0"/>
              <a:t>Avg Runtime</a:t>
            </a:r>
            <a:r>
              <a:rPr lang="zh-CN" altLang="en-US" dirty="0"/>
              <a:t>（推理时间）</a:t>
            </a:r>
          </a:p>
          <a:p>
            <a:r>
              <a:rPr lang="zh-CN" altLang="en-US" dirty="0"/>
              <a:t>🔹</a:t>
            </a:r>
            <a:r>
              <a:rPr lang="en-US" altLang="zh-CN" dirty="0"/>
              <a:t>1. Path Generation</a:t>
            </a:r>
            <a:r>
              <a:rPr lang="zh-CN" altLang="en-US" dirty="0"/>
              <a:t>（路径生成先生成一条推理路径，再根据路径去知识图谱中找到答案。</a:t>
            </a:r>
          </a:p>
          <a:p>
            <a:r>
              <a:rPr lang="zh-CN" altLang="en-US" dirty="0"/>
              <a:t>）</a:t>
            </a:r>
            <a:r>
              <a:rPr lang="en-US" altLang="zh-CN" dirty="0"/>
              <a:t>-. Agent Exploration</a:t>
            </a:r>
            <a:r>
              <a:rPr lang="zh-CN" altLang="en-US" dirty="0"/>
              <a:t>（</a:t>
            </a:r>
            <a:r>
              <a:rPr lang="en-US" altLang="zh-CN" dirty="0"/>
              <a:t>Agent</a:t>
            </a:r>
            <a:r>
              <a:rPr lang="zh-CN" altLang="en-US" dirty="0"/>
              <a:t>探索，这一类方法把语言模型当作一个</a:t>
            </a:r>
            <a:r>
              <a:rPr lang="en-US" altLang="zh-CN" dirty="0"/>
              <a:t>Agent</a:t>
            </a:r>
            <a:r>
              <a:rPr lang="zh-CN" altLang="en-US" dirty="0"/>
              <a:t>，在知识图谱中一步一步探索节点来完成推理。）</a:t>
            </a:r>
          </a:p>
          <a:p>
            <a:r>
              <a:rPr lang="en-US" altLang="zh-CN" dirty="0"/>
              <a:t>GNN-RAG </a:t>
            </a:r>
            <a:r>
              <a:rPr lang="zh-CN" altLang="en-US" dirty="0"/>
              <a:t>通过图神经网络在知识图谱中检索相关子图，然后结合语言模型生成答案。</a:t>
            </a:r>
            <a:r>
              <a:rPr lang="en-US" altLang="zh-CN" dirty="0"/>
              <a:t> </a:t>
            </a:r>
            <a:r>
              <a:rPr lang="zh-CN" altLang="en-US" dirty="0"/>
              <a:t>缺乏显式推理过程建模</a:t>
            </a:r>
          </a:p>
          <a:p>
            <a:r>
              <a:rPr lang="en-US" altLang="zh-CN" dirty="0" err="1"/>
              <a:t>RoG</a:t>
            </a:r>
            <a:r>
              <a:rPr lang="en-US" altLang="zh-CN" dirty="0"/>
              <a:t> </a:t>
            </a:r>
            <a:r>
              <a:rPr lang="zh-CN" altLang="en-US" dirty="0"/>
              <a:t>采用</a:t>
            </a:r>
            <a:r>
              <a:rPr lang="en-US" altLang="zh-CN" dirty="0"/>
              <a:t>“</a:t>
            </a:r>
            <a:r>
              <a:rPr lang="zh-CN" altLang="en-US" dirty="0"/>
              <a:t>规划</a:t>
            </a:r>
            <a:r>
              <a:rPr lang="en-US" altLang="zh-CN" dirty="0"/>
              <a:t>-</a:t>
            </a:r>
            <a:r>
              <a:rPr lang="zh-CN" altLang="en-US" dirty="0"/>
              <a:t>检索</a:t>
            </a:r>
            <a:r>
              <a:rPr lang="en-US" altLang="zh-CN" dirty="0"/>
              <a:t>-</a:t>
            </a:r>
            <a:r>
              <a:rPr lang="zh-CN" altLang="en-US" dirty="0"/>
              <a:t>推理</a:t>
            </a:r>
            <a:r>
              <a:rPr lang="en-US" altLang="zh-CN" dirty="0"/>
              <a:t>”</a:t>
            </a:r>
            <a:r>
              <a:rPr lang="zh-CN" altLang="en-US" dirty="0"/>
              <a:t>的框架，先由</a:t>
            </a:r>
            <a:r>
              <a:rPr lang="en-US" altLang="zh-CN" dirty="0"/>
              <a:t>LLM</a:t>
            </a:r>
            <a:r>
              <a:rPr lang="zh-CN" altLang="en-US" dirty="0"/>
              <a:t>生成关系路径，再在</a:t>
            </a:r>
            <a:r>
              <a:rPr lang="en-US" altLang="zh-CN" dirty="0"/>
              <a:t>KG</a:t>
            </a:r>
            <a:r>
              <a:rPr lang="zh-CN" altLang="en-US" dirty="0"/>
              <a:t>中检索对应路径。</a:t>
            </a:r>
            <a:r>
              <a:rPr lang="en-US" altLang="zh-CN" dirty="0"/>
              <a:t> </a:t>
            </a:r>
            <a:r>
              <a:rPr lang="zh-CN" altLang="en-US" dirty="0"/>
              <a:t>只建模关系路径，没有自然语言推理链，表达能力有限。</a:t>
            </a:r>
          </a:p>
          <a:p>
            <a:r>
              <a:rPr lang="en-US" altLang="zh-CN" dirty="0"/>
              <a:t>GCR </a:t>
            </a:r>
            <a:r>
              <a:rPr lang="zh-CN" altLang="en-US" dirty="0"/>
              <a:t>通过图约束生成，确保推理路径在知识图谱中真实存在，从而减少幻觉。</a:t>
            </a:r>
            <a:r>
              <a:rPr lang="en-US" altLang="zh-CN" dirty="0"/>
              <a:t>-</a:t>
            </a:r>
            <a:r>
              <a:rPr lang="zh-CN" altLang="en-US" dirty="0"/>
              <a:t>没有显式建模推理链，推理过程不够可解释。</a:t>
            </a:r>
          </a:p>
          <a:p>
            <a:r>
              <a:rPr lang="en-US" altLang="zh-CN" dirty="0" err="1"/>
              <a:t>ToG</a:t>
            </a:r>
            <a:r>
              <a:rPr lang="en-US" altLang="zh-CN" dirty="0"/>
              <a:t> </a:t>
            </a:r>
            <a:r>
              <a:rPr lang="zh-CN" altLang="en-US" dirty="0"/>
              <a:t>将</a:t>
            </a:r>
            <a:r>
              <a:rPr lang="en-US" altLang="zh-CN" dirty="0"/>
              <a:t>LLM</a:t>
            </a:r>
            <a:r>
              <a:rPr lang="zh-CN" altLang="en-US" dirty="0"/>
              <a:t>作为</a:t>
            </a:r>
            <a:r>
              <a:rPr lang="en-US" altLang="zh-CN" dirty="0"/>
              <a:t>Agent</a:t>
            </a:r>
            <a:r>
              <a:rPr lang="zh-CN" altLang="en-US" dirty="0"/>
              <a:t>，在知识图谱中逐步探索节点来完成推理。计算开销大，推理效率较低（</a:t>
            </a:r>
            <a:r>
              <a:rPr lang="en-US" altLang="zh-CN" dirty="0"/>
              <a:t>runtime</a:t>
            </a:r>
            <a:r>
              <a:rPr lang="zh-CN" altLang="en-US" dirty="0"/>
              <a:t>很高）</a:t>
            </a:r>
          </a:p>
          <a:p>
            <a:r>
              <a:rPr lang="en-US" altLang="zh-CN" dirty="0" err="1"/>
              <a:t>EffiQA</a:t>
            </a:r>
            <a:r>
              <a:rPr lang="en-US" altLang="zh-CN" dirty="0"/>
              <a:t> </a:t>
            </a:r>
            <a:r>
              <a:rPr lang="zh-CN" altLang="en-US" dirty="0"/>
              <a:t>通过多模型协作优化推理过程，提高效率</a:t>
            </a:r>
            <a:r>
              <a:rPr lang="en-US" altLang="zh-CN" dirty="0"/>
              <a:t>-</a:t>
            </a:r>
            <a:r>
              <a:rPr lang="zh-CN" altLang="en-US" dirty="0"/>
              <a:t>仍然缺乏结构化推理对齐机制</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Reasoner and Aligner</a:t>
            </a:r>
            <a:r>
              <a:rPr lang="zh-CN" altLang="en-US"/>
              <a:t>：推理器</a:t>
            </a:r>
            <a:r>
              <a:rPr lang="en-US" altLang="zh-CN"/>
              <a:t> + </a:t>
            </a:r>
            <a:r>
              <a:rPr lang="zh-CN" altLang="en-US"/>
              <a:t>对齐器（负责生成推理链和知识路径）</a:t>
            </a:r>
          </a:p>
          <a:p>
            <a:r>
              <a:rPr lang="en-US" altLang="zh-CN"/>
              <a:t>LLM-driven Consolidation</a:t>
            </a:r>
            <a:r>
              <a:rPr lang="zh-CN" altLang="en-US"/>
              <a:t>：</a:t>
            </a:r>
            <a:r>
              <a:rPr lang="en-US" altLang="zh-CN"/>
              <a:t>LLM </a:t>
            </a:r>
            <a:r>
              <a:rPr lang="zh-CN" altLang="en-US"/>
              <a:t>驱动融合器（负责整合多采样路径，输出最终答案）</a:t>
            </a:r>
          </a:p>
          <a:p>
            <a:endParaRPr lang="zh-CN" altLang="en-US"/>
          </a:p>
          <a:p>
            <a:r>
              <a:rPr lang="en-US" altLang="zh-CN"/>
              <a:t>Hit</a:t>
            </a:r>
            <a:r>
              <a:rPr lang="zh-CN" altLang="en-US"/>
              <a:t>：</a:t>
            </a:r>
            <a:r>
              <a:rPr lang="en-US" altLang="zh-CN"/>
              <a:t>Hit@1 </a:t>
            </a:r>
            <a:r>
              <a:rPr lang="zh-CN" altLang="en-US"/>
              <a:t>指标（</a:t>
            </a:r>
            <a:r>
              <a:rPr lang="en-US" altLang="zh-CN"/>
              <a:t>Top-1 </a:t>
            </a:r>
            <a:r>
              <a:rPr lang="zh-CN" altLang="en-US"/>
              <a:t>答案命中率，越高越好）</a:t>
            </a:r>
          </a:p>
          <a:p>
            <a:r>
              <a:rPr lang="en-US" altLang="zh-CN"/>
              <a:t>F1</a:t>
            </a:r>
            <a:r>
              <a:rPr lang="zh-CN" altLang="en-US"/>
              <a:t>：</a:t>
            </a:r>
            <a:r>
              <a:rPr lang="en-US" altLang="zh-CN"/>
              <a:t>F1 </a:t>
            </a:r>
            <a:r>
              <a:rPr lang="zh-CN" altLang="en-US"/>
              <a:t>分数（综合精确率和召回率，越高越好）</a:t>
            </a:r>
          </a:p>
          <a:p>
            <a:r>
              <a:rPr lang="en-US" altLang="zh-CN"/>
              <a:t>Reasoner/Aligner</a:t>
            </a:r>
            <a:r>
              <a:rPr lang="zh-CN" altLang="en-US"/>
              <a:t>：优先选择</a:t>
            </a:r>
            <a:r>
              <a:rPr lang="en-US" altLang="zh-CN"/>
              <a:t>Llama-3.1-8B</a:t>
            </a:r>
            <a:r>
              <a:rPr lang="zh-CN" altLang="en-US"/>
              <a:t>，它在开源模型中表现最优，能高效生成高质量推理链和</a:t>
            </a:r>
            <a:r>
              <a:rPr lang="en-US" altLang="zh-CN"/>
              <a:t> KG </a:t>
            </a:r>
            <a:r>
              <a:rPr lang="zh-CN" altLang="en-US"/>
              <a:t>对齐路径。</a:t>
            </a:r>
          </a:p>
          <a:p>
            <a:r>
              <a:rPr lang="en-US" altLang="zh-CN"/>
              <a:t>LLM-driven Consolidation</a:t>
            </a:r>
            <a:r>
              <a:rPr lang="zh-CN" altLang="en-US"/>
              <a:t>：优先选择</a:t>
            </a:r>
            <a:r>
              <a:rPr lang="en-US" altLang="zh-CN"/>
              <a:t>GPT-4o</a:t>
            </a:r>
            <a:r>
              <a:rPr lang="zh-CN" altLang="en-US"/>
              <a:t>，它在整合多路径、消除噪声方面能力最强，能显著提升最终答案的命中率。</a:t>
            </a:r>
          </a:p>
          <a:p>
            <a:r>
              <a:rPr lang="zh-CN" altLang="en-US"/>
              <a:t>表五是</a:t>
            </a:r>
            <a:r>
              <a:rPr lang="en-US" altLang="zh-CN"/>
              <a:t>Accuracy</a:t>
            </a:r>
            <a:r>
              <a:rPr lang="zh-CN" altLang="en-US"/>
              <a:t>准确率</a:t>
            </a:r>
            <a:endParaRPr lang="en-US" altLang="zh-CN" b="1"/>
          </a:p>
          <a:p>
            <a:r>
              <a:rPr lang="en-US" altLang="zh-CN" b="1"/>
              <a:t>CSQA</a:t>
            </a:r>
            <a:r>
              <a:rPr lang="zh-CN" altLang="en-US" b="1"/>
              <a:t>：常识问答数据集（基于常识知识图谱）</a:t>
            </a:r>
          </a:p>
          <a:p>
            <a:r>
              <a:rPr lang="en-US" altLang="zh-CN" b="1"/>
              <a:t>MedQA</a:t>
            </a:r>
            <a:r>
              <a:rPr lang="zh-CN" altLang="en-US" b="1"/>
              <a:t>：医疗问答数据集（基于医疗知识图谱）</a:t>
            </a:r>
          </a:p>
          <a:p>
            <a:r>
              <a:rPr lang="zh-CN" altLang="en-US" b="1"/>
              <a:t>在从未见过的常识和医疗知识图谱上，</a:t>
            </a:r>
            <a:r>
              <a:rPr lang="en-US" altLang="zh-CN" b="1"/>
              <a:t>RAR </a:t>
            </a:r>
            <a:r>
              <a:rPr lang="zh-CN" altLang="en-US" b="1"/>
              <a:t>不仅显著优于通用大模型</a:t>
            </a:r>
            <a:r>
              <a:rPr lang="en-US" altLang="zh-CN" b="1"/>
              <a:t> GPT-4o-mini</a:t>
            </a:r>
            <a:r>
              <a:rPr lang="zh-CN" altLang="en-US" b="1"/>
              <a:t>，还在医疗领域超过了强基线模型</a:t>
            </a:r>
            <a:r>
              <a:rPr lang="en-US" altLang="zh-CN" b="1"/>
              <a:t> GCR</a:t>
            </a:r>
            <a:r>
              <a:rPr lang="zh-CN" altLang="en-US" b="1"/>
              <a:t>，取得了最优性能。这说明我们的</a:t>
            </a:r>
            <a:r>
              <a:rPr lang="en-US" altLang="zh-CN" b="1"/>
              <a:t> “</a:t>
            </a:r>
            <a:r>
              <a:rPr lang="zh-CN" altLang="en-US" b="1"/>
              <a:t>推理链</a:t>
            </a:r>
            <a:r>
              <a:rPr lang="en-US" altLang="zh-CN" b="1"/>
              <a:t> + </a:t>
            </a:r>
            <a:r>
              <a:rPr lang="zh-CN" altLang="en-US" b="1"/>
              <a:t>知识路径对齐</a:t>
            </a:r>
            <a:r>
              <a:rPr lang="en-US" altLang="zh-CN" b="1"/>
              <a:t>” </a:t>
            </a:r>
            <a:r>
              <a:rPr lang="zh-CN" altLang="en-US" b="1"/>
              <a:t>框架，能有效适配不同领域的</a:t>
            </a:r>
            <a:r>
              <a:rPr lang="en-US" altLang="zh-CN" b="1"/>
              <a:t> KG</a:t>
            </a:r>
            <a:r>
              <a:rPr lang="zh-CN" altLang="en-US" b="1"/>
              <a:t>，具备很强的泛化性和实用价值。</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a:t>方法</a:t>
            </a:r>
            <a:r>
              <a:rPr lang="en-US" altLang="zh-CN" b="1"/>
              <a:t>1</a:t>
            </a:r>
            <a:r>
              <a:rPr lang="zh-CN" altLang="en-US" b="1"/>
              <a:t>：推理链压缩</a:t>
            </a:r>
            <a:r>
              <a:rPr lang="en-US" altLang="zh-CN" b="1"/>
              <a:t> / Step-level pruning</a:t>
            </a:r>
          </a:p>
          <a:p>
            <a:r>
              <a:rPr lang="zh-CN" altLang="en-US" b="1"/>
              <a:t>小模型</a:t>
            </a:r>
            <a:r>
              <a:rPr lang="en-US" altLang="zh-CN" b="1"/>
              <a:t> Reasoner + </a:t>
            </a:r>
            <a:r>
              <a:rPr lang="zh-CN" altLang="en-US" b="1"/>
              <a:t>大模型</a:t>
            </a:r>
            <a:r>
              <a:rPr lang="en-US" altLang="zh-CN" b="1"/>
              <a:t> Responser</a:t>
            </a:r>
            <a:r>
              <a:rPr lang="zh-CN" altLang="en-US" b="1"/>
              <a:t>（蒸馏）</a:t>
            </a:r>
          </a:p>
          <a:p>
            <a:endParaRPr lang="zh-CN" altLang="en-US" b="1"/>
          </a:p>
          <a:p>
            <a:r>
              <a:rPr lang="zh-CN" altLang="en-US" b="1"/>
              <a:t>未来可以考虑引入图神经网络（</a:t>
            </a:r>
            <a:r>
              <a:rPr lang="en-US" altLang="zh-CN" b="1"/>
              <a:t>GNN</a:t>
            </a:r>
            <a:r>
              <a:rPr lang="zh-CN" altLang="en-US" b="1"/>
              <a:t>）对知识图谱进行结构建模，通过学习节点和关系的表示来增强</a:t>
            </a:r>
            <a:r>
              <a:rPr lang="en-US" altLang="zh-CN" b="1"/>
              <a:t> Aligner </a:t>
            </a:r>
            <a:r>
              <a:rPr lang="zh-CN" altLang="en-US" b="1"/>
              <a:t>的路径检索能力。具体而言，可以利用</a:t>
            </a:r>
            <a:r>
              <a:rPr lang="en-US" altLang="zh-CN" b="1"/>
              <a:t> GNN </a:t>
            </a:r>
            <a:r>
              <a:rPr lang="zh-CN" altLang="en-US" b="1"/>
              <a:t>对局部子图进行编码，从而在推理过程中更高效地筛选候选路径，减少搜索空间。同时，</a:t>
            </a:r>
            <a:r>
              <a:rPr lang="en-US" altLang="zh-CN" b="1"/>
              <a:t>GNN </a:t>
            </a:r>
            <a:r>
              <a:rPr lang="zh-CN" altLang="en-US" b="1"/>
              <a:t>的表示学习能力有助于缓解知识图谱中的噪声问题，提高路径对齐的鲁棒性。进一步地，这种方法可以提升模型在大规模知识图谱上的扩展能力，使其能够处理更复杂和更大规模的推理任务。</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2025.09-&gt;</a:t>
            </a:r>
            <a:r>
              <a:rPr lang="en-US" altLang="zh-CN" dirty="0" err="1"/>
              <a:t>arxiv</a:t>
            </a:r>
            <a:endParaRPr lang="en-US" altLang="zh-CN" dirty="0"/>
          </a:p>
          <a:p>
            <a:r>
              <a:rPr lang="zh-CN" altLang="en-US" dirty="0"/>
              <a:t>浙江大学</a:t>
            </a:r>
          </a:p>
          <a:p>
            <a:r>
              <a:rPr lang="zh-CN" altLang="en-US" sz="1200" b="1" kern="1200" dirty="0">
                <a:solidFill>
                  <a:schemeClr val="tx1"/>
                </a:solidFill>
                <a:effectLst/>
                <a:latin typeface="+mn-lt"/>
                <a:ea typeface="+mn-ea"/>
                <a:cs typeface="+mn-cs"/>
              </a:rPr>
              <a:t>针对知识图谱上的大语言模型推理任务，提出了一个「规划 </a:t>
            </a:r>
            <a:r>
              <a:rPr lang="en-US" altLang="zh-CN" sz="1200" b="1" kern="1200" dirty="0">
                <a:solidFill>
                  <a:schemeClr val="tx1"/>
                </a:solidFill>
                <a:effectLst/>
                <a:latin typeface="+mn-lt"/>
                <a:ea typeface="+mn-ea"/>
                <a:cs typeface="+mn-cs"/>
              </a:rPr>
              <a:t>- </a:t>
            </a:r>
            <a:r>
              <a:rPr lang="zh-CN" altLang="en-US" sz="1200" b="1" kern="1200" dirty="0">
                <a:solidFill>
                  <a:schemeClr val="tx1"/>
                </a:solidFill>
                <a:effectLst/>
                <a:latin typeface="+mn-lt"/>
                <a:ea typeface="+mn-ea"/>
                <a:cs typeface="+mn-cs"/>
              </a:rPr>
              <a:t>回答 </a:t>
            </a:r>
            <a:r>
              <a:rPr lang="en-US" altLang="zh-CN" sz="1200" b="1" kern="1200" dirty="0">
                <a:solidFill>
                  <a:schemeClr val="tx1"/>
                </a:solidFill>
                <a:effectLst/>
                <a:latin typeface="+mn-lt"/>
                <a:ea typeface="+mn-ea"/>
                <a:cs typeface="+mn-cs"/>
              </a:rPr>
              <a:t>- </a:t>
            </a:r>
            <a:r>
              <a:rPr lang="zh-CN" altLang="en-US" sz="1200" b="1" kern="1200" dirty="0">
                <a:solidFill>
                  <a:schemeClr val="tx1"/>
                </a:solidFill>
                <a:effectLst/>
                <a:latin typeface="+mn-lt"/>
                <a:ea typeface="+mn-ea"/>
                <a:cs typeface="+mn-cs"/>
              </a:rPr>
              <a:t>自优化」的结构化框架</a:t>
            </a:r>
            <a:r>
              <a:rPr lang="zh-CN" altLang="en-US" dirty="0"/>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KG-augmented LLM </a:t>
            </a:r>
            <a:r>
              <a:rPr lang="zh-CN" altLang="en-US"/>
              <a:t>由知识图谱增强的大语言模型</a:t>
            </a:r>
          </a:p>
          <a:p>
            <a:endParaRPr lang="zh-CN" altLang="en-US"/>
          </a:p>
          <a:p>
            <a:r>
              <a:rPr lang="zh-CN" altLang="en-US" b="1" dirty="0">
                <a:latin typeface="+mn-ea"/>
                <a:cs typeface="+mn-ea"/>
                <a:sym typeface="+mn-ea"/>
              </a:rPr>
              <a:t>实体错误放大问题：</a:t>
            </a:r>
            <a:r>
              <a:rPr lang="zh-CN" altLang="en-US"/>
              <a:t>在知识图谱推理过程中，只要前面某一步找错了实体，后面推理就会围着这个错误实体继续展开，结果把错误越带越远，最后得到完全错误的答案。</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t>问题一：既与法国接壤，又有服务，奈梅亨的机场的国家</a:t>
            </a:r>
          </a:p>
          <a:p>
            <a:r>
              <a:rPr lang="zh-CN" altLang="en-US" dirty="0"/>
              <a:t>先找出与法国接壤的国家（</a:t>
            </a:r>
            <a:r>
              <a:rPr lang="en-US" altLang="zh-CN" dirty="0"/>
              <a:t>Spain</a:t>
            </a:r>
            <a:r>
              <a:rPr lang="zh-CN" altLang="en-US" dirty="0"/>
              <a:t>、</a:t>
            </a:r>
            <a:r>
              <a:rPr lang="en-US" altLang="zh-CN" dirty="0"/>
              <a:t>England</a:t>
            </a:r>
            <a:r>
              <a:rPr lang="zh-CN" altLang="en-US" dirty="0"/>
              <a:t>、</a:t>
            </a:r>
            <a:r>
              <a:rPr lang="en-US" altLang="zh-CN" dirty="0"/>
              <a:t>Germany </a:t>
            </a:r>
            <a:r>
              <a:rPr lang="zh-CN" altLang="en-US" dirty="0"/>
              <a:t>等）</a:t>
            </a:r>
          </a:p>
          <a:p>
            <a:r>
              <a:rPr lang="zh-CN" altLang="en-US" dirty="0"/>
              <a:t>在这些国家中搜索机场</a:t>
            </a:r>
          </a:p>
          <a:p>
            <a:r>
              <a:rPr lang="zh-CN" altLang="en-US" dirty="0"/>
              <a:t>检查哪个机场服务</a:t>
            </a:r>
            <a:r>
              <a:rPr lang="en-US" altLang="zh-CN" dirty="0"/>
              <a:t> Nijmegen</a:t>
            </a:r>
          </a:p>
          <a:p>
            <a:r>
              <a:rPr lang="zh-CN" altLang="en-US" dirty="0"/>
              <a:t>依赖</a:t>
            </a:r>
            <a:r>
              <a:rPr lang="en-US" altLang="zh-CN" dirty="0"/>
              <a:t>Top-K </a:t>
            </a:r>
            <a:r>
              <a:rPr lang="zh-CN" altLang="en-US" dirty="0"/>
              <a:t>剪枝策略，若</a:t>
            </a:r>
            <a:r>
              <a:rPr lang="en-US" altLang="zh-CN" dirty="0"/>
              <a:t> Germany </a:t>
            </a:r>
            <a:r>
              <a:rPr lang="zh-CN" altLang="en-US" dirty="0"/>
              <a:t>在第一步候选中排名靠后，可能被过早剔除，导致无法找到</a:t>
            </a:r>
            <a:r>
              <a:rPr lang="en-US" altLang="zh-CN" dirty="0"/>
              <a:t> </a:t>
            </a:r>
            <a:r>
              <a:rPr lang="en-US" altLang="zh-CN" dirty="0" err="1"/>
              <a:t>Weeze</a:t>
            </a:r>
            <a:r>
              <a:rPr lang="en-US" altLang="zh-CN" dirty="0"/>
              <a:t> Airport</a:t>
            </a:r>
            <a:r>
              <a:rPr lang="zh-CN" altLang="en-US" dirty="0"/>
              <a:t>（服务</a:t>
            </a:r>
            <a:r>
              <a:rPr lang="en-US" altLang="zh-CN" dirty="0"/>
              <a:t> Nijmegen </a:t>
            </a:r>
            <a:r>
              <a:rPr lang="zh-CN" altLang="en-US" dirty="0"/>
              <a:t>的德国机场），最终推理失败。</a:t>
            </a:r>
            <a:r>
              <a:rPr lang="en-US" altLang="zh-CN" dirty="0"/>
              <a:t>-</a:t>
            </a:r>
            <a:r>
              <a:rPr lang="zh-CN" altLang="en-US" dirty="0"/>
              <a:t>线性路径一旦在早期步骤出错，后续无法修正。</a:t>
            </a:r>
          </a:p>
          <a:p>
            <a:r>
              <a:rPr lang="zh-CN" altLang="en-US" b="1" dirty="0"/>
              <a:t>问题二：哪个地区任命丹尼斯</a:t>
            </a:r>
            <a:r>
              <a:rPr lang="en-US" altLang="zh-CN" b="1" dirty="0"/>
              <a:t>·</a:t>
            </a:r>
            <a:r>
              <a:rPr lang="zh-CN" altLang="en-US" b="1" dirty="0"/>
              <a:t>多高德担任政府职务，且被密苏里河一分为二？</a:t>
            </a:r>
          </a:p>
          <a:p>
            <a:r>
              <a:rPr lang="zh-CN" altLang="en-US" b="1" dirty="0"/>
              <a:t>推理流程：检索</a:t>
            </a:r>
            <a:r>
              <a:rPr lang="en-US" altLang="zh-CN" b="1" dirty="0"/>
              <a:t> - </a:t>
            </a:r>
            <a:r>
              <a:rPr lang="zh-CN" altLang="en-US" b="1" dirty="0"/>
              <a:t>回答单阶段</a:t>
            </a:r>
          </a:p>
          <a:p>
            <a:r>
              <a:rPr lang="zh-CN" altLang="en-US" b="1" dirty="0"/>
              <a:t>从</a:t>
            </a:r>
            <a:r>
              <a:rPr lang="en-US" altLang="zh-CN" b="1" dirty="0"/>
              <a:t> KG </a:t>
            </a:r>
            <a:r>
              <a:rPr lang="zh-CN" altLang="en-US" b="1" dirty="0"/>
              <a:t>中检索到：</a:t>
            </a:r>
            <a:r>
              <a:rPr lang="en-US" altLang="zh-CN" b="1" dirty="0"/>
              <a:t>Dennis Daugaard </a:t>
            </a:r>
            <a:r>
              <a:rPr lang="zh-CN" altLang="en-US" b="1" dirty="0"/>
              <a:t>由</a:t>
            </a:r>
            <a:r>
              <a:rPr lang="en-US" altLang="zh-CN" b="1" dirty="0"/>
              <a:t> David Anderson </a:t>
            </a:r>
            <a:r>
              <a:rPr lang="zh-CN" altLang="en-US" b="1" dirty="0"/>
              <a:t>任命，管辖</a:t>
            </a:r>
            <a:r>
              <a:rPr lang="en-US" altLang="zh-CN" b="1" dirty="0"/>
              <a:t> South Dakota</a:t>
            </a:r>
            <a:r>
              <a:rPr lang="zh-CN" altLang="en-US" b="1" dirty="0"/>
              <a:t>；</a:t>
            </a:r>
            <a:r>
              <a:rPr lang="en-US" altLang="zh-CN" b="1" dirty="0"/>
              <a:t>Missouri River </a:t>
            </a:r>
            <a:r>
              <a:rPr lang="zh-CN" altLang="en-US" b="1" dirty="0"/>
              <a:t>流经</a:t>
            </a:r>
            <a:r>
              <a:rPr lang="en-US" altLang="zh-CN" b="1" dirty="0"/>
              <a:t> South Dakota </a:t>
            </a:r>
            <a:r>
              <a:rPr lang="zh-CN" altLang="en-US" b="1" dirty="0"/>
              <a:t>和美国</a:t>
            </a:r>
          </a:p>
          <a:p>
            <a:r>
              <a:rPr lang="en-US" altLang="zh-CN" b="1" dirty="0"/>
              <a:t>LLM </a:t>
            </a:r>
            <a:r>
              <a:rPr lang="zh-CN" altLang="en-US" b="1" dirty="0"/>
              <a:t>直接基于检索信息推理，但这些信息是零散的、弱相关的</a:t>
            </a:r>
            <a:r>
              <a:rPr lang="en-US" altLang="zh-CN" b="1" dirty="0"/>
              <a:t> </a:t>
            </a:r>
            <a:r>
              <a:rPr lang="zh-CN" altLang="en-US" b="1" dirty="0"/>
              <a:t>，无法明确判断</a:t>
            </a:r>
            <a:r>
              <a:rPr lang="en-US" altLang="zh-CN" b="1" dirty="0"/>
              <a:t> “</a:t>
            </a:r>
            <a:r>
              <a:rPr lang="zh-CN" altLang="en-US" b="1" dirty="0"/>
              <a:t>同时满足两个条件的地点</a:t>
            </a:r>
            <a:r>
              <a:rPr lang="en-US" altLang="zh-CN" b="1" dirty="0"/>
              <a:t>”</a:t>
            </a:r>
            <a:r>
              <a:rPr lang="zh-CN" altLang="en-US" b="1" dirty="0"/>
              <a:t>，只能输出</a:t>
            </a:r>
            <a:r>
              <a:rPr lang="en-US" altLang="zh-CN" b="1" dirty="0"/>
              <a:t> “</a:t>
            </a:r>
            <a:r>
              <a:rPr lang="zh-CN" altLang="en-US" b="1" dirty="0"/>
              <a:t>需要继续搜索</a:t>
            </a:r>
            <a:r>
              <a:rPr lang="en-US" altLang="zh-CN" b="1" dirty="0"/>
              <a:t>”</a:t>
            </a:r>
            <a:r>
              <a:rPr lang="zh-CN" altLang="en-US" b="1" dirty="0"/>
              <a:t>，推理陷入停滞</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SPARQL</a:t>
            </a:r>
            <a:r>
              <a:rPr lang="zh-CN" altLang="en-US"/>
              <a:t>其实就是知识图谱里的</a:t>
            </a:r>
            <a:r>
              <a:rPr lang="en-US" altLang="zh-CN"/>
              <a:t>SQL</a:t>
            </a:r>
            <a:r>
              <a:rPr lang="zh-CN" altLang="en-US"/>
              <a:t>，它可以用结构化方式表达复杂查询，比如多个条件的组合。</a:t>
            </a:r>
          </a:p>
          <a:p>
            <a:r>
              <a:rPr lang="zh-CN" altLang="en-US"/>
              <a:t>这篇论文的关键点是：把</a:t>
            </a:r>
            <a:r>
              <a:rPr lang="en-US" altLang="zh-CN"/>
              <a:t>SPARQL</a:t>
            </a:r>
            <a:r>
              <a:rPr lang="zh-CN" altLang="en-US"/>
              <a:t>当作</a:t>
            </a:r>
            <a:r>
              <a:rPr lang="en-US" altLang="zh-CN"/>
              <a:t>“</a:t>
            </a:r>
            <a:r>
              <a:rPr lang="zh-CN" altLang="en-US"/>
              <a:t>推理模板</a:t>
            </a:r>
            <a:r>
              <a:rPr lang="en-US" altLang="zh-CN"/>
              <a:t>”</a:t>
            </a:r>
            <a:r>
              <a:rPr lang="zh-CN" altLang="en-US"/>
              <a:t>，让模型学会按结构化步骤去思考，而不是简单地线性搜索。</a:t>
            </a:r>
          </a:p>
          <a:p>
            <a:r>
              <a:rPr lang="zh-CN" altLang="en-US">
                <a:sym typeface="+mn-ea"/>
              </a:rPr>
              <a:t>规划</a:t>
            </a:r>
            <a:r>
              <a:rPr lang="en-US" altLang="zh-CN">
                <a:sym typeface="+mn-ea"/>
              </a:rPr>
              <a:t>-</a:t>
            </a:r>
            <a:r>
              <a:rPr lang="zh-CN" altLang="en-US">
                <a:sym typeface="+mn-ea"/>
              </a:rPr>
              <a:t>回答</a:t>
            </a:r>
            <a:r>
              <a:rPr lang="en-US" altLang="zh-CN">
                <a:sym typeface="+mn-ea"/>
              </a:rPr>
              <a:t>-</a:t>
            </a:r>
            <a:r>
              <a:rPr lang="zh-CN" altLang="en-US">
                <a:sym typeface="+mn-ea"/>
              </a:rPr>
              <a:t>优化</a:t>
            </a:r>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t>问题一：哪个与法国接壤的国家拥有为奈梅亨提供服务的机场？</a:t>
            </a:r>
            <a:r>
              <a:rPr lang="en-US" altLang="zh-CN" b="1" dirty="0"/>
              <a:t> </a:t>
            </a:r>
          </a:p>
          <a:p>
            <a:r>
              <a:rPr lang="en-US" altLang="zh-CN" dirty="0" err="1"/>
              <a:t>PARoG</a:t>
            </a:r>
            <a:r>
              <a:rPr lang="zh-CN" altLang="en-US" dirty="0"/>
              <a:t>：推理流程：结构化规划</a:t>
            </a:r>
            <a:r>
              <a:rPr lang="en-US" altLang="zh-CN" dirty="0"/>
              <a:t> + </a:t>
            </a:r>
            <a:r>
              <a:rPr lang="zh-CN" altLang="en-US" dirty="0"/>
              <a:t>逻辑合取</a:t>
            </a:r>
          </a:p>
          <a:p>
            <a:r>
              <a:rPr lang="zh-CN" altLang="en-US" dirty="0"/>
              <a:t>作者先不让模型沿着一条线一直往下搜，而是先把复杂问题拆成几个更清晰的子问题。</a:t>
            </a:r>
          </a:p>
          <a:p>
            <a:r>
              <a:rPr lang="zh-CN" altLang="en-US" dirty="0"/>
              <a:t>先分别规划两个子查询：</a:t>
            </a:r>
            <a:r>
              <a:rPr lang="en-US" altLang="en-US" dirty="0"/>
              <a:t>①</a:t>
            </a:r>
            <a:r>
              <a:rPr lang="en-US" altLang="zh-CN" dirty="0"/>
              <a:t> </a:t>
            </a:r>
            <a:r>
              <a:rPr lang="zh-CN" altLang="en-US" dirty="0"/>
              <a:t>与法国接壤的国家；</a:t>
            </a:r>
            <a:r>
              <a:rPr lang="en-US" altLang="en-US" dirty="0"/>
              <a:t>②</a:t>
            </a:r>
            <a:r>
              <a:rPr lang="en-US" altLang="zh-CN" dirty="0"/>
              <a:t> </a:t>
            </a:r>
            <a:r>
              <a:rPr lang="zh-CN" altLang="en-US" dirty="0"/>
              <a:t>包含服务</a:t>
            </a:r>
            <a:r>
              <a:rPr lang="en-US" altLang="zh-CN" dirty="0"/>
              <a:t> Nijmegen </a:t>
            </a:r>
            <a:r>
              <a:rPr lang="zh-CN" altLang="en-US" dirty="0"/>
              <a:t>机场的国家</a:t>
            </a:r>
          </a:p>
          <a:p>
            <a:r>
              <a:rPr lang="en-US" altLang="zh-CN" dirty="0"/>
              <a:t>3.</a:t>
            </a:r>
            <a:r>
              <a:rPr lang="zh-CN" altLang="en-US" dirty="0"/>
              <a:t>对两个子查询的结果取交集（</a:t>
            </a:r>
            <a:r>
              <a:rPr lang="en-US" altLang="zh-CN" dirty="0"/>
              <a:t>Conjunction</a:t>
            </a:r>
            <a:r>
              <a:rPr lang="zh-CN" altLang="en-US" dirty="0"/>
              <a:t>）</a:t>
            </a:r>
          </a:p>
          <a:p>
            <a:r>
              <a:rPr lang="zh-CN" altLang="en-US" dirty="0"/>
              <a:t>避免线性路径的过早剪枝，通过并行子查询保留更多候选实体</a:t>
            </a:r>
          </a:p>
          <a:p>
            <a:r>
              <a:rPr lang="zh-CN" altLang="en-US" dirty="0"/>
              <a:t>逻辑合取操作直接定位交集（</a:t>
            </a:r>
            <a:r>
              <a:rPr lang="en-US" altLang="zh-CN" dirty="0"/>
              <a:t>Germany</a:t>
            </a:r>
            <a:r>
              <a:rPr lang="zh-CN" altLang="en-US" dirty="0"/>
              <a:t>），推理更严谨，不会遗漏正确答案</a:t>
            </a:r>
          </a:p>
          <a:p>
            <a:r>
              <a:rPr lang="zh-CN" altLang="en-US" b="1" dirty="0"/>
              <a:t>问题二：哪个地区任命丹尼斯</a:t>
            </a:r>
            <a:r>
              <a:rPr lang="en-US" altLang="zh-CN" b="1" dirty="0"/>
              <a:t>·</a:t>
            </a:r>
            <a:r>
              <a:rPr lang="zh-CN" altLang="en-US" b="1" dirty="0"/>
              <a:t>多高德担任政府职务，且被密苏里河一分为二？</a:t>
            </a:r>
          </a:p>
          <a:p>
            <a:r>
              <a:rPr lang="en-US" altLang="zh-CN" b="1" dirty="0" err="1"/>
              <a:t>PARoG</a:t>
            </a:r>
            <a:r>
              <a:rPr lang="zh-CN" altLang="en-US" b="1" dirty="0"/>
              <a:t>（我们的方法）</a:t>
            </a:r>
          </a:p>
          <a:p>
            <a:r>
              <a:rPr lang="zh-CN" altLang="en-US" b="1" dirty="0"/>
              <a:t>推理流程：先独立回答</a:t>
            </a:r>
            <a:r>
              <a:rPr lang="en-US" altLang="zh-CN" b="1" dirty="0"/>
              <a:t> </a:t>
            </a:r>
            <a:r>
              <a:rPr lang="en-US" altLang="en-US" b="1" dirty="0"/>
              <a:t>→</a:t>
            </a:r>
            <a:r>
              <a:rPr lang="en-US" altLang="zh-CN" b="1" dirty="0"/>
              <a:t> </a:t>
            </a:r>
            <a:r>
              <a:rPr lang="zh-CN" altLang="en-US" b="1" dirty="0"/>
              <a:t>再结合</a:t>
            </a:r>
            <a:r>
              <a:rPr lang="en-US" altLang="zh-CN" b="1" dirty="0"/>
              <a:t> KG </a:t>
            </a:r>
            <a:r>
              <a:rPr lang="zh-CN" altLang="en-US" b="1" dirty="0"/>
              <a:t>证据精修</a:t>
            </a:r>
          </a:p>
          <a:p>
            <a:r>
              <a:rPr lang="en-US" altLang="zh-CN" b="1" dirty="0"/>
              <a:t>Initial Answer</a:t>
            </a:r>
            <a:r>
              <a:rPr lang="zh-CN" altLang="en-US" b="1" dirty="0"/>
              <a:t>（初始回答）：</a:t>
            </a:r>
            <a:r>
              <a:rPr lang="en-US" altLang="zh-CN" b="1" dirty="0"/>
              <a:t>LLM </a:t>
            </a:r>
            <a:r>
              <a:rPr lang="zh-CN" altLang="en-US" b="1" dirty="0"/>
              <a:t>先基于自身知识，给出</a:t>
            </a:r>
            <a:r>
              <a:rPr lang="en-US" altLang="zh-CN" b="1" dirty="0"/>
              <a:t> “Missouri River </a:t>
            </a:r>
            <a:r>
              <a:rPr lang="zh-CN" altLang="en-US" b="1" dirty="0"/>
              <a:t>流经</a:t>
            </a:r>
            <a:r>
              <a:rPr lang="en-US" altLang="zh-CN" b="1" dirty="0"/>
              <a:t> Missouri</a:t>
            </a:r>
            <a:r>
              <a:rPr lang="zh-CN" altLang="en-US" b="1" dirty="0"/>
              <a:t>、</a:t>
            </a:r>
            <a:r>
              <a:rPr lang="en-US" altLang="zh-CN" b="1" dirty="0"/>
              <a:t>South Dakota</a:t>
            </a:r>
            <a:r>
              <a:rPr lang="zh-CN" altLang="en-US" b="1" dirty="0"/>
              <a:t>、</a:t>
            </a:r>
            <a:r>
              <a:rPr lang="en-US" altLang="zh-CN" b="1" dirty="0"/>
              <a:t>Kansas” </a:t>
            </a:r>
            <a:r>
              <a:rPr lang="zh-CN" altLang="en-US" b="1" dirty="0"/>
              <a:t>的初步结论</a:t>
            </a:r>
          </a:p>
          <a:p>
            <a:r>
              <a:rPr lang="en-US" altLang="zh-CN" b="1" dirty="0"/>
              <a:t>Self-Refinement</a:t>
            </a:r>
            <a:r>
              <a:rPr lang="zh-CN" altLang="en-US" b="1" dirty="0"/>
              <a:t>（自我精修）：结合</a:t>
            </a:r>
            <a:r>
              <a:rPr lang="en-US" altLang="zh-CN" b="1" dirty="0"/>
              <a:t> KG </a:t>
            </a:r>
            <a:r>
              <a:rPr lang="zh-CN" altLang="en-US" b="1" dirty="0"/>
              <a:t>检索到的</a:t>
            </a:r>
            <a:r>
              <a:rPr lang="en-US" altLang="zh-CN" b="1" dirty="0"/>
              <a:t> “South Dakota </a:t>
            </a:r>
            <a:r>
              <a:rPr lang="zh-CN" altLang="en-US" b="1" dirty="0"/>
              <a:t>是任命</a:t>
            </a:r>
            <a:r>
              <a:rPr lang="en-US" altLang="zh-CN" b="1" dirty="0"/>
              <a:t> Dennis Daugaard </a:t>
            </a:r>
            <a:r>
              <a:rPr lang="zh-CN" altLang="en-US" b="1" dirty="0"/>
              <a:t>的地点，且被</a:t>
            </a:r>
            <a:r>
              <a:rPr lang="en-US" altLang="zh-CN" b="1" dirty="0"/>
              <a:t> Missouri River </a:t>
            </a:r>
            <a:r>
              <a:rPr lang="zh-CN" altLang="en-US" b="1" dirty="0"/>
              <a:t>流经</a:t>
            </a:r>
            <a:r>
              <a:rPr lang="en-US" altLang="zh-CN" b="1" dirty="0"/>
              <a:t>” </a:t>
            </a:r>
            <a:r>
              <a:rPr lang="zh-CN" altLang="en-US" b="1" dirty="0"/>
              <a:t>这一证据，修正初始答案，最终锁定</a:t>
            </a:r>
            <a:r>
              <a:rPr lang="en-US" altLang="zh-CN" b="1" dirty="0"/>
              <a:t>South Dakota</a:t>
            </a:r>
            <a:r>
              <a:rPr lang="zh-CN" altLang="en-US" b="1" dirty="0"/>
              <a:t>为正确结果</a:t>
            </a:r>
          </a:p>
          <a:p>
            <a:r>
              <a:rPr lang="zh-CN" altLang="en-US" b="1" dirty="0"/>
              <a:t>优势</a:t>
            </a:r>
          </a:p>
          <a:p>
            <a:r>
              <a:rPr lang="zh-CN" altLang="en-US" b="1" dirty="0"/>
              <a:t>先独立回答避免过度依赖检索证据，减少错误传播</a:t>
            </a:r>
          </a:p>
          <a:p>
            <a:r>
              <a:rPr lang="zh-CN" altLang="en-US" b="1" dirty="0"/>
              <a:t>精修阶段用</a:t>
            </a:r>
            <a:r>
              <a:rPr lang="en-US" altLang="zh-CN" b="1" dirty="0"/>
              <a:t> KG </a:t>
            </a:r>
            <a:r>
              <a:rPr lang="zh-CN" altLang="en-US" b="1" dirty="0"/>
              <a:t>证据校准</a:t>
            </a:r>
            <a:r>
              <a:rPr lang="en-US" altLang="zh-CN" b="1" dirty="0"/>
              <a:t> LLM </a:t>
            </a:r>
            <a:r>
              <a:rPr lang="zh-CN" altLang="en-US" b="1" dirty="0"/>
              <a:t>知识，缓解知识冲突，显著降低幻觉，最终得到准确结论</a:t>
            </a:r>
          </a:p>
          <a:p>
            <a:endParaRPr lang="zh-CN" altLang="en-US" b="1" dirty="0"/>
          </a:p>
          <a:p>
            <a:endParaRPr lang="zh-CN" altLang="en-US" b="1" dirty="0"/>
          </a:p>
          <a:p>
            <a:endParaRPr lang="zh-CN" altLang="en-US" b="1" dirty="0"/>
          </a:p>
          <a:p>
            <a:endParaRPr lang="zh-CN" altLang="en-US" b="1"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第一个是结构化规划模块。</a:t>
            </a:r>
            <a:endParaRPr lang="en-US" altLang="zh-CN"/>
          </a:p>
          <a:p>
            <a:r>
              <a:rPr lang="zh-CN" altLang="en-US"/>
              <a:t>作者利用</a:t>
            </a:r>
            <a:r>
              <a:rPr lang="en-US" altLang="zh-CN"/>
              <a:t> SPARQL </a:t>
            </a:r>
            <a:r>
              <a:rPr lang="zh-CN" altLang="en-US"/>
              <a:t>这种结构化查询语言，将原始问题分解为多个子问题。</a:t>
            </a:r>
            <a:endParaRPr lang="en-US" altLang="zh-CN"/>
          </a:p>
          <a:p>
            <a:r>
              <a:rPr lang="zh-CN" altLang="en-US"/>
              <a:t>这样做的好处是，可以让模型不再沿着单一的线性路径进行搜索，而是基于多个子目标进行组合式推理，从而更好地处理复杂逻辑查询。</a:t>
            </a:r>
          </a:p>
          <a:p>
            <a:r>
              <a:rPr lang="zh-CN" altLang="en-US"/>
              <a:t>第二个是</a:t>
            </a:r>
            <a:r>
              <a:rPr lang="en-US" altLang="zh-CN"/>
              <a:t> Plan-Answer-Refine </a:t>
            </a:r>
            <a:r>
              <a:rPr lang="zh-CN" altLang="en-US"/>
              <a:t>推理机制。</a:t>
            </a:r>
            <a:endParaRPr lang="en-US" altLang="zh-CN"/>
          </a:p>
          <a:p>
            <a:r>
              <a:rPr lang="zh-CN" altLang="en-US"/>
              <a:t>对于每一个子问题，模型首先基于自身知识生成一个初始答案，然后再从知识图谱中检索相关信息，对这个答案进行修正。</a:t>
            </a:r>
            <a:endParaRPr lang="en-US" altLang="zh-CN"/>
          </a:p>
          <a:p>
            <a:r>
              <a:rPr lang="zh-CN" altLang="en-US"/>
              <a:t>通过这种</a:t>
            </a:r>
            <a:r>
              <a:rPr lang="en-US" altLang="zh-CN"/>
              <a:t>“</a:t>
            </a:r>
            <a:r>
              <a:rPr lang="zh-CN" altLang="en-US"/>
              <a:t>先预测、再修正</a:t>
            </a:r>
            <a:r>
              <a:rPr lang="en-US" altLang="zh-CN"/>
              <a:t>”</a:t>
            </a:r>
            <a:r>
              <a:rPr lang="zh-CN" altLang="en-US"/>
              <a:t>的方式，可以有效减少错误信息的传播。</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左图展示的是</a:t>
            </a:r>
            <a:r>
              <a:rPr lang="en-US" altLang="zh-CN"/>
              <a:t> SPARQL-</a:t>
            </a:r>
            <a:r>
              <a:rPr lang="zh-CN" altLang="en-US"/>
              <a:t>引导的</a:t>
            </a:r>
            <a:r>
              <a:rPr lang="en-US" altLang="zh-CN"/>
              <a:t> </a:t>
            </a:r>
            <a:r>
              <a:rPr lang="zh-CN" altLang="en-US"/>
              <a:t>归化模块</a:t>
            </a:r>
            <a:r>
              <a:rPr lang="en-US" altLang="zh-CN"/>
              <a:t> </a:t>
            </a:r>
            <a:r>
              <a:rPr lang="zh-CN" altLang="en-US"/>
              <a:t>的训练流程</a:t>
            </a:r>
          </a:p>
          <a:p>
            <a:r>
              <a:rPr lang="zh-CN" altLang="en-US"/>
              <a:t>我们从</a:t>
            </a:r>
            <a:r>
              <a:rPr lang="en-US" altLang="zh-CN"/>
              <a:t> KGQA </a:t>
            </a:r>
            <a:r>
              <a:rPr lang="zh-CN" altLang="en-US"/>
              <a:t>数据集中获取</a:t>
            </a:r>
            <a:r>
              <a:rPr lang="en-US" altLang="zh-CN"/>
              <a:t> Question </a:t>
            </a:r>
            <a:r>
              <a:rPr lang="zh-CN" altLang="en-US"/>
              <a:t>和对应的</a:t>
            </a:r>
            <a:r>
              <a:rPr lang="en-US" altLang="zh-CN"/>
              <a:t> SPARQL </a:t>
            </a:r>
            <a:r>
              <a:rPr lang="zh-CN" altLang="en-US"/>
              <a:t>查询，</a:t>
            </a:r>
            <a:r>
              <a:rPr lang="zh-CN" altLang="en-US" b="1">
                <a:sym typeface="+mn-ea"/>
              </a:rPr>
              <a:t>该宗教组织（阿尔巴尼亚东正教）所在的地理区域的首都是什么</a:t>
            </a:r>
            <a:endParaRPr lang="zh-CN" altLang="en-US"/>
          </a:p>
          <a:p>
            <a:r>
              <a:rPr lang="zh-CN" altLang="en-US"/>
              <a:t>并利用</a:t>
            </a:r>
            <a:r>
              <a:rPr lang="en-US" altLang="zh-CN"/>
              <a:t> GPT-4o </a:t>
            </a:r>
            <a:r>
              <a:rPr lang="zh-CN" altLang="en-US"/>
              <a:t>将</a:t>
            </a:r>
            <a:r>
              <a:rPr lang="en-US" altLang="zh-CN"/>
              <a:t> SPARQL </a:t>
            </a:r>
            <a:r>
              <a:rPr lang="zh-CN" altLang="en-US"/>
              <a:t>转换为结构化的推理计划（子目标序列）。</a:t>
            </a:r>
          </a:p>
          <a:p>
            <a:r>
              <a:rPr lang="zh-CN" altLang="en-US"/>
              <a:t>随后，使用</a:t>
            </a:r>
            <a:r>
              <a:rPr lang="en-US" altLang="zh-CN"/>
              <a:t>“</a:t>
            </a:r>
            <a:r>
              <a:rPr lang="zh-CN" altLang="en-US"/>
              <a:t>问题</a:t>
            </a:r>
            <a:r>
              <a:rPr lang="en-US" altLang="zh-CN"/>
              <a:t> </a:t>
            </a:r>
            <a:r>
              <a:rPr lang="en-US" altLang="en-US"/>
              <a:t>→</a:t>
            </a:r>
            <a:r>
              <a:rPr lang="en-US" altLang="zh-CN"/>
              <a:t> </a:t>
            </a:r>
            <a:r>
              <a:rPr lang="zh-CN" altLang="en-US"/>
              <a:t>推理计划（</a:t>
            </a:r>
            <a:r>
              <a:rPr lang="en-US" altLang="zh-CN"/>
              <a:t>plan</a:t>
            </a:r>
            <a:r>
              <a:rPr lang="zh-CN" altLang="en-US"/>
              <a:t>）</a:t>
            </a:r>
            <a:r>
              <a:rPr lang="en-US" altLang="zh-CN"/>
              <a:t>”</a:t>
            </a:r>
            <a:r>
              <a:rPr lang="zh-CN" altLang="en-US"/>
              <a:t>的配对数据，</a:t>
            </a:r>
          </a:p>
          <a:p>
            <a:r>
              <a:rPr lang="zh-CN" altLang="en-US"/>
              <a:t>对模型进行监督微调，使其学会从自然语言问题生成结构化推理计划。</a:t>
            </a:r>
          </a:p>
          <a:p>
            <a:r>
              <a:rPr lang="en-US" altLang="zh-CN"/>
              <a:t>Step-1</a:t>
            </a:r>
            <a:r>
              <a:rPr lang="zh-CN" altLang="en-US"/>
              <a:t>：👉</a:t>
            </a:r>
            <a:r>
              <a:rPr lang="en-US" altLang="zh-CN"/>
              <a:t> </a:t>
            </a:r>
            <a:r>
              <a:rPr lang="zh-CN" altLang="en-US"/>
              <a:t>找到该宗教组织</a:t>
            </a:r>
            <a:endParaRPr lang="en-US" altLang="zh-CN"/>
          </a:p>
          <a:p>
            <a:r>
              <a:rPr lang="en-US" altLang="zh-CN"/>
              <a:t>Step-2</a:t>
            </a:r>
            <a:r>
              <a:rPr lang="zh-CN" altLang="en-US"/>
              <a:t>：👉</a:t>
            </a:r>
            <a:r>
              <a:rPr lang="en-US" altLang="zh-CN"/>
              <a:t> </a:t>
            </a:r>
            <a:r>
              <a:rPr lang="zh-CN" altLang="en-US"/>
              <a:t>找到该组织所在地区</a:t>
            </a:r>
          </a:p>
          <a:p>
            <a:r>
              <a:rPr lang="en-US" altLang="zh-CN"/>
              <a:t>Step-3</a:t>
            </a:r>
            <a:r>
              <a:rPr lang="zh-CN" altLang="en-US"/>
              <a:t>：👉</a:t>
            </a:r>
            <a:r>
              <a:rPr lang="en-US" altLang="zh-CN"/>
              <a:t> </a:t>
            </a:r>
            <a:r>
              <a:rPr lang="zh-CN" altLang="en-US"/>
              <a:t>找该地区首都宗教组织（阿尔巴尼亚东正教）所在的地理区域的首都是什么</a:t>
            </a:r>
          </a:p>
          <a:p>
            <a:r>
              <a:rPr lang="zh-CN" altLang="en-US" b="1">
                <a:sym typeface="+mn-ea"/>
              </a:rPr>
              <a:t>右侧展示的是我们的推理过程，即</a:t>
            </a:r>
            <a:r>
              <a:rPr lang="en-US" altLang="zh-CN" b="1">
                <a:sym typeface="+mn-ea"/>
              </a:rPr>
              <a:t> Plan-Answer-Refine </a:t>
            </a:r>
            <a:r>
              <a:rPr lang="zh-CN" altLang="en-US" b="1">
                <a:sym typeface="+mn-ea"/>
              </a:rPr>
              <a:t>机制</a:t>
            </a:r>
            <a:endParaRPr lang="zh-CN" altLang="en-US" b="1"/>
          </a:p>
          <a:p>
            <a:r>
              <a:rPr lang="zh-CN" altLang="en-US" b="1">
                <a:sym typeface="+mn-ea"/>
              </a:rPr>
              <a:t>首先，模型根据输入问题生成一个结构化的推理计划，将问题分解为多个子目标</a:t>
            </a:r>
            <a:endParaRPr lang="zh-CN" altLang="en-US"/>
          </a:p>
          <a:p>
            <a:r>
              <a:rPr lang="zh-CN" altLang="en-US"/>
              <a:t>对于每一个子目标，我们采用两阶段推理：</a:t>
            </a:r>
            <a:endParaRPr lang="en-US" altLang="zh-CN"/>
          </a:p>
          <a:p>
            <a:r>
              <a:rPr lang="zh-CN" altLang="en-US"/>
              <a:t>首先，模型基于自身参数知识生成一个初始答案（</a:t>
            </a:r>
            <a:r>
              <a:rPr lang="en-US" altLang="zh-CN"/>
              <a:t>Answer</a:t>
            </a:r>
            <a:r>
              <a:rPr lang="zh-CN" altLang="en-US"/>
              <a:t>）；</a:t>
            </a:r>
            <a:endParaRPr lang="en-US" altLang="zh-CN"/>
          </a:p>
          <a:p>
            <a:r>
              <a:rPr lang="zh-CN" altLang="en-US"/>
              <a:t>然后，结合检索到的知识图谱证据，对该答案进行修正（</a:t>
            </a:r>
            <a:r>
              <a:rPr lang="en-US" altLang="zh-CN"/>
              <a:t>Refine</a:t>
            </a:r>
            <a:r>
              <a:rPr lang="zh-CN" altLang="en-US"/>
              <a:t>）</a:t>
            </a:r>
          </a:p>
          <a:p>
            <a:r>
              <a:rPr lang="zh-CN" altLang="en-US" b="1" i="1"/>
              <a:t>哪个与法国接壤的国家，包含一个服务</a:t>
            </a:r>
            <a:r>
              <a:rPr lang="en-US" altLang="zh-CN" b="1" i="1"/>
              <a:t> Nijmegen </a:t>
            </a:r>
            <a:r>
              <a:rPr lang="zh-CN" altLang="en-US" b="1" i="1"/>
              <a:t>奈梅亨的机场：</a:t>
            </a:r>
          </a:p>
          <a:p>
            <a:r>
              <a:rPr lang="en-US" altLang="zh-CN"/>
              <a:t>1.</a:t>
            </a:r>
            <a:r>
              <a:rPr lang="zh-CN" altLang="en-US"/>
              <a:t>找与法国接壤国家</a:t>
            </a:r>
            <a:r>
              <a:rPr lang="en-US" altLang="zh-CN"/>
              <a:t>-2.</a:t>
            </a:r>
            <a:r>
              <a:rPr lang="zh-CN" altLang="en-US"/>
              <a:t>找有</a:t>
            </a:r>
            <a:r>
              <a:rPr lang="zh-CN" altLang="en-US" b="1" i="1">
                <a:sym typeface="+mn-ea"/>
              </a:rPr>
              <a:t>服务奈梅亨的</a:t>
            </a:r>
            <a:r>
              <a:rPr lang="zh-CN" altLang="en-US"/>
              <a:t>机场的国家</a:t>
            </a:r>
            <a:r>
              <a:rPr lang="en-US" altLang="zh-CN"/>
              <a:t>-3.</a:t>
            </a:r>
            <a:r>
              <a:rPr lang="zh-CN" altLang="en-US"/>
              <a:t>取交集</a:t>
            </a:r>
          </a:p>
          <a:p>
            <a:r>
              <a:rPr lang="zh-CN" altLang="en-US"/>
              <a:t>可以看到，初始答案有时是错误的，</a:t>
            </a:r>
          </a:p>
          <a:p>
            <a:r>
              <a:rPr lang="zh-CN" altLang="en-US"/>
              <a:t>但通过后续的</a:t>
            </a:r>
            <a:r>
              <a:rPr lang="en-US" altLang="zh-CN"/>
              <a:t> refinement</a:t>
            </a:r>
            <a:r>
              <a:rPr lang="zh-CN" altLang="en-US"/>
              <a:t>，可以逐步被修正</a:t>
            </a:r>
          </a:p>
          <a:p>
            <a:endParaRPr lang="zh-CN" altLang="en-US"/>
          </a:p>
          <a:p>
            <a:r>
              <a:rPr lang="zh-CN" altLang="en-US"/>
              <a:t>模型利用：</a:t>
            </a:r>
            <a:r>
              <a:rPr lang="en-US" altLang="zh-CN"/>
              <a:t>KG </a:t>
            </a:r>
            <a:r>
              <a:rPr lang="zh-CN" altLang="en-US"/>
              <a:t>检索到的路径，前面步骤的结果，当前子任务（</a:t>
            </a:r>
            <a:r>
              <a:rPr lang="en-US" altLang="zh-CN"/>
              <a:t>conjunction</a:t>
            </a:r>
            <a:r>
              <a:rPr lang="zh-CN" altLang="en-US"/>
              <a:t>），重新推理一遍并修正答案</a:t>
            </a:r>
          </a:p>
          <a:p>
            <a:r>
              <a:rPr lang="zh-CN" altLang="en-US"/>
              <a:t>。</a:t>
            </a:r>
          </a:p>
          <a:p>
            <a:r>
              <a:rPr lang="en-US" altLang="zh-CN"/>
              <a:t>Step 3 </a:t>
            </a:r>
            <a:r>
              <a:rPr lang="zh-CN" altLang="en-US"/>
              <a:t>的回答应当是基于前两步已经完成后的中间结果，而这个中间结果更接近</a:t>
            </a:r>
            <a:r>
              <a:rPr lang="en-US" altLang="zh-CN"/>
              <a:t>“</a:t>
            </a:r>
            <a:r>
              <a:rPr lang="zh-CN" altLang="en-US"/>
              <a:t>经过修正</a:t>
            </a:r>
            <a:r>
              <a:rPr lang="en-US" altLang="zh-CN"/>
              <a:t>/</a:t>
            </a:r>
            <a:r>
              <a:rPr lang="zh-CN" altLang="en-US"/>
              <a:t>更新后的结果</a:t>
            </a:r>
            <a:r>
              <a:rPr lang="en-US" altLang="zh-CN"/>
              <a:t>”</a:t>
            </a:r>
            <a:r>
              <a:rPr lang="zh-CN" altLang="en-US"/>
              <a:t>，不是单纯拿最初未修正的回答直接算</a:t>
            </a:r>
          </a:p>
          <a:p>
            <a:r>
              <a:rPr lang="zh-CN" altLang="en-US"/>
              <a:t>精炼</a:t>
            </a:r>
            <a:r>
              <a:rPr lang="en-US" altLang="zh-CN"/>
              <a:t> </a:t>
            </a:r>
            <a:r>
              <a:rPr lang="zh-CN" altLang="en-US"/>
              <a:t>是前两步已经搜出来并保留下来的结果，而不一定是像</a:t>
            </a:r>
            <a:r>
              <a:rPr lang="en-US" altLang="zh-CN"/>
              <a:t> Step 1</a:t>
            </a:r>
            <a:r>
              <a:rPr lang="zh-CN" altLang="en-US"/>
              <a:t>、</a:t>
            </a:r>
            <a:r>
              <a:rPr lang="en-US" altLang="zh-CN"/>
              <a:t>Step 2 </a:t>
            </a:r>
            <a:r>
              <a:rPr lang="zh-CN" altLang="en-US"/>
              <a:t>那样再从头做一轮大范围图搜索。</a:t>
            </a:r>
          </a:p>
          <a:p>
            <a:r>
              <a:rPr lang="en-US" altLang="zh-CN"/>
              <a:t>Conjunction</a:t>
            </a:r>
            <a:r>
              <a:rPr lang="zh-CN" altLang="en-US"/>
              <a:t>（合取式）</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以上是模型的训练过程，也就是模型如何学会生成结构化的推理步骤。</a:t>
            </a:r>
          </a:p>
          <a:p>
            <a:r>
              <a:rPr lang="zh-CN" altLang="en-US"/>
              <a:t>提示模板就是给模型的指令格式（</a:t>
            </a:r>
            <a:r>
              <a:rPr lang="en-US" altLang="zh-CN"/>
              <a:t>prompt</a:t>
            </a:r>
            <a:r>
              <a:rPr lang="zh-CN" altLang="en-US"/>
              <a:t>）</a:t>
            </a:r>
          </a:p>
          <a:p>
            <a:r>
              <a:rPr lang="zh-CN" altLang="en-US"/>
              <a:t>生成答案（凭记忆）</a:t>
            </a:r>
            <a:r>
              <a:rPr lang="en-US" altLang="zh-CN"/>
              <a:t> </a:t>
            </a:r>
            <a:r>
              <a:rPr lang="zh-CN" altLang="en-US"/>
              <a:t>修正答案（看证据）</a:t>
            </a:r>
          </a:p>
          <a:p>
            <a:r>
              <a:rPr lang="en-US"/>
              <a:t>IA IR</a:t>
            </a:r>
            <a:r>
              <a:rPr lang="zh-CN" altLang="en-US"/>
              <a:t>表示不同阶段的提示模板，用于指导模型在</a:t>
            </a:r>
            <a:r>
              <a:rPr lang="en-US" altLang="zh-CN"/>
              <a:t> Answer </a:t>
            </a:r>
            <a:r>
              <a:rPr lang="zh-CN" altLang="en-US"/>
              <a:t>阶段生成初始答案，在</a:t>
            </a:r>
            <a:r>
              <a:rPr lang="en-US" altLang="zh-CN"/>
              <a:t> Refine </a:t>
            </a:r>
            <a:r>
              <a:rPr lang="zh-CN" altLang="en-US"/>
              <a:t>阶段结合知识图谱进行修正。</a:t>
            </a:r>
          </a:p>
          <a:p>
            <a:r>
              <a:rPr lang="en-US" altLang="zh-CN"/>
              <a:t>IA</a:t>
            </a:r>
            <a:r>
              <a:rPr lang="zh-CN" altLang="en-US"/>
              <a:t>：请基于你自身的知识，针对给定问题和子目标，输出为完成这些子目标所需的当前已知信息。请直接以结构化格式（如</a:t>
            </a:r>
            <a:r>
              <a:rPr lang="en-US" altLang="zh-CN"/>
              <a:t> JSON</a:t>
            </a:r>
            <a:r>
              <a:rPr lang="zh-CN" altLang="en-US"/>
              <a:t>）输出结果，不添加额外解释。</a:t>
            </a:r>
          </a:p>
          <a:p>
            <a:r>
              <a:rPr lang="en-US" altLang="zh-CN"/>
              <a:t>IR</a:t>
            </a:r>
            <a:r>
              <a:rPr lang="zh-CN" altLang="en-US"/>
              <a:t>：给定问题、知识图谱三元组以及初始答案，请基于这些信息对答案进行修正。如果发现冲突，请修正答案；如果证据不足，则保持原答案不变。</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在训练阶段，作者首先从已有数据集中获取问题和对应的</a:t>
            </a:r>
            <a:r>
              <a:rPr lang="en-US" altLang="zh-CN"/>
              <a:t> SPARQL </a:t>
            </a:r>
            <a:r>
              <a:rPr lang="zh-CN" altLang="en-US"/>
              <a:t>查询。</a:t>
            </a:r>
          </a:p>
          <a:p>
            <a:r>
              <a:rPr lang="zh-CN" altLang="en-US"/>
              <a:t>然后利用</a:t>
            </a:r>
            <a:r>
              <a:rPr lang="en-US" altLang="zh-CN"/>
              <a:t> GPT-4 </a:t>
            </a:r>
            <a:r>
              <a:rPr lang="zh-CN" altLang="en-US"/>
              <a:t>将</a:t>
            </a:r>
            <a:r>
              <a:rPr lang="en-US" altLang="zh-CN"/>
              <a:t> SPARQL </a:t>
            </a:r>
            <a:r>
              <a:rPr lang="zh-CN" altLang="en-US"/>
              <a:t>转换为自然语言的分步推理过程，从而构建</a:t>
            </a:r>
            <a:r>
              <a:rPr lang="en-US" altLang="zh-CN"/>
              <a:t>“</a:t>
            </a:r>
            <a:r>
              <a:rPr lang="zh-CN" altLang="en-US"/>
              <a:t>问题到推理步骤</a:t>
            </a:r>
            <a:r>
              <a:rPr lang="en-US" altLang="zh-CN"/>
              <a:t>”</a:t>
            </a:r>
            <a:r>
              <a:rPr lang="zh-CN" altLang="en-US"/>
              <a:t>的训练数据。</a:t>
            </a:r>
          </a:p>
          <a:p>
            <a:r>
              <a:rPr lang="zh-CN" altLang="en-US"/>
              <a:t>接着使用大语言模型进行监督微调，使模型能够根据输入问题自动生成结构化的推理计划。</a:t>
            </a:r>
          </a:p>
          <a:p>
            <a:r>
              <a:rPr lang="zh-CN" altLang="en-US" b="1" i="1"/>
              <a:t>复杂结构化查询占比较高，尤其是合取和组合查询，因此规划模块重点学习的是复杂问题拆解能力，而不只是简单线性路径搜索。</a:t>
            </a:r>
          </a:p>
          <a:p>
            <a:r>
              <a:rPr lang="zh-CN" altLang="en-US"/>
              <a:t>本质上，是把</a:t>
            </a:r>
            <a:r>
              <a:rPr lang="en-US" altLang="zh-CN"/>
              <a:t>“</a:t>
            </a:r>
            <a:r>
              <a:rPr lang="zh-CN" altLang="en-US"/>
              <a:t>拆解问题</a:t>
            </a:r>
            <a:r>
              <a:rPr lang="en-US" altLang="zh-CN"/>
              <a:t>”</a:t>
            </a:r>
            <a:r>
              <a:rPr lang="zh-CN" altLang="en-US"/>
              <a:t>当作一个生成任务来学习。</a:t>
            </a:r>
          </a:p>
          <a:p>
            <a:r>
              <a:rPr lang="zh-CN" altLang="en-US"/>
              <a:t>图是：</a:t>
            </a:r>
            <a:r>
              <a:rPr lang="en-US" altLang="zh-CN"/>
              <a:t>“</a:t>
            </a:r>
            <a:r>
              <a:rPr lang="zh-CN" altLang="en-US"/>
              <a:t>模型训练用的</a:t>
            </a:r>
            <a:r>
              <a:rPr lang="en-US" altLang="zh-CN"/>
              <a:t> Plan </a:t>
            </a:r>
            <a:r>
              <a:rPr lang="zh-CN" altLang="en-US"/>
              <a:t>数据中，各种推理类型的占比</a:t>
            </a:r>
            <a:r>
              <a:rPr lang="en-US" altLang="zh-CN"/>
              <a:t>”</a:t>
            </a:r>
          </a:p>
          <a:p>
            <a:r>
              <a:rPr lang="en-US" altLang="zh-CN"/>
              <a:t>conjunction</a:t>
            </a:r>
            <a:r>
              <a:rPr lang="zh-CN" altLang="en-US"/>
              <a:t>（多条件）很多</a:t>
            </a:r>
            <a:r>
              <a:rPr lang="en-US" altLang="zh-CN"/>
              <a:t> </a:t>
            </a:r>
            <a:r>
              <a:rPr lang="en-US" altLang="en-US"/>
              <a:t>✔</a:t>
            </a:r>
            <a:r>
              <a:rPr lang="en-US" altLang="zh-CN"/>
              <a:t>Linear Queries</a:t>
            </a:r>
            <a:r>
              <a:rPr lang="zh-CN" altLang="en-US"/>
              <a:t>（线性查询）简单</a:t>
            </a:r>
            <a:r>
              <a:rPr lang="en-US" altLang="zh-CN"/>
              <a:t> </a:t>
            </a:r>
            <a:endParaRPr lang="zh-CN" altLang="en-US"/>
          </a:p>
          <a:p>
            <a:r>
              <a:rPr lang="en-US" altLang="zh-CN"/>
              <a:t>composition</a:t>
            </a:r>
            <a:r>
              <a:rPr lang="zh-CN" altLang="en-US"/>
              <a:t>（多跳）很多</a:t>
            </a:r>
            <a:r>
              <a:rPr lang="en-US" altLang="zh-CN"/>
              <a:t> </a:t>
            </a:r>
            <a:r>
              <a:rPr lang="en-US" altLang="en-US"/>
              <a:t>✔</a:t>
            </a:r>
            <a:r>
              <a:rPr lang="en-US" altLang="zh-CN"/>
              <a:t>. Superlatives</a:t>
            </a:r>
            <a:r>
              <a:rPr lang="zh-CN" altLang="en-US"/>
              <a:t>（最值）</a:t>
            </a:r>
            <a:r>
              <a:rPr lang="en-US" altLang="zh-CN"/>
              <a:t>Comparatives</a:t>
            </a:r>
            <a:r>
              <a:rPr lang="zh-CN" altLang="en-US"/>
              <a:t>（比较）</a:t>
            </a:r>
          </a:p>
          <a:p>
            <a:r>
              <a:rPr lang="zh-CN" altLang="en-US"/>
              <a:t>学习</a:t>
            </a:r>
            <a:r>
              <a:rPr lang="en-US" altLang="zh-CN"/>
              <a:t>“</a:t>
            </a:r>
            <a:r>
              <a:rPr lang="zh-CN" altLang="en-US"/>
              <a:t>问题</a:t>
            </a:r>
            <a:r>
              <a:rPr lang="en-US" altLang="en-US"/>
              <a:t>→</a:t>
            </a:r>
            <a:r>
              <a:rPr lang="zh-CN" altLang="en-US"/>
              <a:t>分步计划</a:t>
            </a:r>
            <a:r>
              <a:rPr lang="en-US" altLang="zh-CN"/>
              <a:t>”</a:t>
            </a:r>
            <a:r>
              <a:rPr lang="zh-CN" altLang="en-US"/>
              <a:t>的映射</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以上是模型的训练过程，也就是模型如何学会生成结构化的推理步骤。</a:t>
            </a:r>
          </a:p>
          <a:p>
            <a:r>
              <a:rPr lang="zh-CN" altLang="en-US"/>
              <a:t>提示模板就是给模型的指令格式（</a:t>
            </a:r>
            <a:r>
              <a:rPr lang="en-US" altLang="zh-CN"/>
              <a:t>prompt</a:t>
            </a:r>
            <a:r>
              <a:rPr lang="zh-CN" altLang="en-US"/>
              <a:t>）</a:t>
            </a:r>
          </a:p>
          <a:p>
            <a:r>
              <a:rPr lang="zh-CN" altLang="en-US"/>
              <a:t>生成答案（凭记忆）</a:t>
            </a:r>
            <a:r>
              <a:rPr lang="en-US" altLang="zh-CN"/>
              <a:t> </a:t>
            </a:r>
            <a:r>
              <a:rPr lang="zh-CN" altLang="en-US"/>
              <a:t>修正答案（看证据）</a:t>
            </a:r>
          </a:p>
          <a:p>
            <a:r>
              <a:rPr lang="en-US"/>
              <a:t>IA IR</a:t>
            </a:r>
            <a:r>
              <a:rPr lang="zh-CN" altLang="en-US"/>
              <a:t>表示不同阶段的提示模板，用于指导模型在</a:t>
            </a:r>
            <a:r>
              <a:rPr lang="en-US" altLang="zh-CN"/>
              <a:t> Answer </a:t>
            </a:r>
            <a:r>
              <a:rPr lang="zh-CN" altLang="en-US"/>
              <a:t>阶段生成初始答案，在</a:t>
            </a:r>
            <a:r>
              <a:rPr lang="en-US" altLang="zh-CN"/>
              <a:t> Refine </a:t>
            </a:r>
            <a:r>
              <a:rPr lang="zh-CN" altLang="en-US"/>
              <a:t>阶段结合知识图谱进行修正。</a:t>
            </a:r>
          </a:p>
          <a:p>
            <a:r>
              <a:rPr lang="en-US" altLang="zh-CN"/>
              <a:t>GrailQA </a:t>
            </a:r>
            <a:r>
              <a:rPr lang="zh-CN" altLang="en-US"/>
              <a:t>则包含</a:t>
            </a:r>
            <a:r>
              <a:rPr lang="en-US" altLang="zh-CN"/>
              <a:t> 64,331 </a:t>
            </a:r>
            <a:r>
              <a:rPr lang="zh-CN" altLang="en-US"/>
              <a:t>个问题，测试集有</a:t>
            </a:r>
            <a:r>
              <a:rPr lang="en-US" altLang="zh-CN"/>
              <a:t> 13,231 </a:t>
            </a:r>
            <a:r>
              <a:rPr lang="zh-CN" altLang="en-US"/>
              <a:t>个，它除了关注多跳推理之外，更强调模型的组合泛化能力，</a:t>
            </a:r>
            <a:r>
              <a:rPr lang="zh-CN" altLang="en-US">
                <a:sym typeface="+mn-ea"/>
              </a:rPr>
              <a:t>测试集分成三类</a:t>
            </a:r>
            <a:endParaRPr lang="zh-CN" altLang="en-US"/>
          </a:p>
          <a:p>
            <a:endParaRPr lang="zh-CN" altLang="en-US"/>
          </a:p>
          <a:p>
            <a:r>
              <a:rPr lang="zh-CN" altLang="en-US"/>
              <a:t>采用</a:t>
            </a:r>
            <a:r>
              <a:rPr lang="en-US" altLang="zh-CN"/>
              <a:t> Llama-3.1-8B </a:t>
            </a:r>
            <a:r>
              <a:rPr lang="zh-CN" altLang="en-US"/>
              <a:t>作为</a:t>
            </a:r>
            <a:r>
              <a:rPr lang="en-US" altLang="zh-CN"/>
              <a:t> planning module </a:t>
            </a:r>
            <a:r>
              <a:rPr lang="zh-CN" altLang="en-US"/>
              <a:t>的基础模型</a:t>
            </a:r>
          </a:p>
          <a:p>
            <a:r>
              <a:rPr lang="zh-CN" altLang="en-US"/>
              <a:t>在推理阶段，采用</a:t>
            </a:r>
            <a:r>
              <a:rPr lang="en-US" altLang="zh-CN"/>
              <a:t> GPT-3.5 </a:t>
            </a:r>
            <a:r>
              <a:rPr lang="zh-CN" altLang="en-US"/>
              <a:t>或</a:t>
            </a:r>
            <a:r>
              <a:rPr lang="en-US" altLang="zh-CN"/>
              <a:t> GPT-4 </a:t>
            </a:r>
            <a:r>
              <a:rPr lang="zh-CN" altLang="en-US"/>
              <a:t>作为底层大语言模型</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传统</a:t>
            </a:r>
            <a:r>
              <a:rPr lang="en-US" altLang="zh-CN">
                <a:sym typeface="+mn-ea"/>
              </a:rPr>
              <a:t> KGQA </a:t>
            </a:r>
            <a:r>
              <a:rPr lang="zh-CN" altLang="en-US">
                <a:sym typeface="+mn-ea"/>
              </a:rPr>
              <a:t>方法：局限：依赖人工设计的推理规则，难以处理复杂语义与开放域问题</a:t>
            </a:r>
          </a:p>
          <a:p>
            <a:r>
              <a:rPr lang="en-US" altLang="zh-CN" b="1">
                <a:sym typeface="+mn-ea"/>
              </a:rPr>
              <a:t>KG-augmented LLM </a:t>
            </a:r>
            <a:r>
              <a:rPr lang="zh-CN" altLang="en-US" b="1">
                <a:sym typeface="+mn-ea"/>
              </a:rPr>
              <a:t>方法</a:t>
            </a:r>
            <a:r>
              <a:rPr lang="en-US" altLang="zh-CN" b="1">
                <a:sym typeface="+mn-ea"/>
              </a:rPr>
              <a:t>(PoG</a:t>
            </a:r>
            <a:r>
              <a:rPr lang="zh-CN" altLang="en-US" b="1">
                <a:sym typeface="+mn-ea"/>
              </a:rPr>
              <a:t>正确候选过早被剔除，</a:t>
            </a:r>
            <a:r>
              <a:rPr lang="en-US" altLang="zh-CN" b="1">
                <a:sym typeface="+mn-ea"/>
              </a:rPr>
              <a:t>Retrieval-augmented LLMs</a:t>
            </a:r>
            <a:r>
              <a:rPr lang="zh-CN" altLang="en-US" b="1">
                <a:sym typeface="+mn-ea"/>
              </a:rPr>
              <a:t>容易产生错误传播（检索噪声直接导致回答错误，误差放大））</a:t>
            </a:r>
          </a:p>
          <a:p>
            <a:r>
              <a:rPr lang="zh-CN" altLang="en-US" b="1"/>
              <a:t>、</a:t>
            </a:r>
            <a:r>
              <a:rPr lang="en-US" altLang="zh-CN" b="1"/>
              <a:t>LLM Prompting </a:t>
            </a:r>
            <a:r>
              <a:rPr lang="zh-CN" altLang="en-US" b="1"/>
              <a:t>方法（纯大模型提示，无</a:t>
            </a:r>
            <a:r>
              <a:rPr lang="en-US" altLang="zh-CN" b="1"/>
              <a:t> KG </a:t>
            </a:r>
            <a:r>
              <a:rPr lang="zh-CN" altLang="en-US" b="1"/>
              <a:t>增强）</a:t>
            </a:r>
          </a:p>
          <a:p>
            <a:r>
              <a:rPr lang="en-US" altLang="zh-CN"/>
              <a:t>IO</a:t>
            </a:r>
            <a:r>
              <a:rPr lang="zh-CN" altLang="en-US"/>
              <a:t>（</a:t>
            </a:r>
            <a:r>
              <a:rPr lang="en-US" altLang="zh-CN"/>
              <a:t>Input-Output Prompting</a:t>
            </a:r>
            <a:r>
              <a:rPr lang="zh-CN" altLang="en-US"/>
              <a:t>）</a:t>
            </a:r>
          </a:p>
          <a:p>
            <a:r>
              <a:rPr lang="en-US" altLang="zh-CN"/>
              <a:t>CoT</a:t>
            </a:r>
          </a:p>
          <a:p>
            <a:r>
              <a:rPr lang="en-US" altLang="zh-CN" b="1" i="1"/>
              <a:t>LLM + KG </a:t>
            </a:r>
            <a:r>
              <a:rPr lang="zh-CN" altLang="en-US" b="1" i="1"/>
              <a:t>推理方法</a:t>
            </a:r>
          </a:p>
          <a:p>
            <a:r>
              <a:rPr lang="en-US" altLang="zh-CN"/>
              <a:t>PoG</a:t>
            </a:r>
            <a:r>
              <a:rPr lang="zh-CN" altLang="en-US"/>
              <a:t>（</a:t>
            </a:r>
            <a:r>
              <a:rPr lang="en-US" altLang="zh-CN"/>
              <a:t>Plan-on-Graph</a:t>
            </a:r>
            <a:r>
              <a:rPr lang="zh-CN" altLang="en-US"/>
              <a:t>）</a:t>
            </a:r>
          </a:p>
          <a:p>
            <a:r>
              <a:rPr lang="zh-CN" altLang="en-US"/>
              <a:t>该论文的主要对比基线（同期</a:t>
            </a:r>
            <a:r>
              <a:rPr lang="en-US" altLang="zh-CN"/>
              <a:t> SOTA</a:t>
            </a:r>
            <a:r>
              <a:rPr lang="zh-CN" altLang="en-US"/>
              <a:t>），核心是自适应规划：先将复杂问题分解为结构化子目标，再沿子目标规划的路径探索</a:t>
            </a:r>
            <a:r>
              <a:rPr lang="en-US" altLang="zh-CN"/>
              <a:t> KG</a:t>
            </a:r>
            <a:r>
              <a:rPr lang="zh-CN" altLang="en-US"/>
              <a:t>，同时引入路径反思与精修机制，优化推理路径的正确性。</a:t>
            </a:r>
          </a:p>
          <a:p>
            <a:r>
              <a:rPr lang="en-US" altLang="zh-CN"/>
              <a:t>RoG</a:t>
            </a:r>
            <a:r>
              <a:rPr lang="zh-CN" altLang="en-US"/>
              <a:t>（</a:t>
            </a:r>
            <a:r>
              <a:rPr lang="en-US" altLang="zh-CN"/>
              <a:t>Reasoning-on-Graph</a:t>
            </a:r>
            <a:r>
              <a:rPr lang="zh-CN" altLang="en-US"/>
              <a:t>）</a:t>
            </a:r>
          </a:p>
          <a:p>
            <a:r>
              <a:rPr lang="zh-CN" altLang="en-US"/>
              <a:t>核心是约束</a:t>
            </a:r>
            <a:r>
              <a:rPr lang="en-US" altLang="zh-CN"/>
              <a:t> LLM </a:t>
            </a:r>
            <a:r>
              <a:rPr lang="zh-CN" altLang="en-US"/>
              <a:t>的推理输出与</a:t>
            </a:r>
            <a:r>
              <a:rPr lang="en-US" altLang="zh-CN"/>
              <a:t> KG </a:t>
            </a:r>
            <a:r>
              <a:rPr lang="zh-CN" altLang="en-US"/>
              <a:t>严格对齐，让</a:t>
            </a:r>
            <a:r>
              <a:rPr lang="en-US" altLang="zh-CN"/>
              <a:t> LLM </a:t>
            </a:r>
            <a:r>
              <a:rPr lang="zh-CN" altLang="en-US"/>
              <a:t>生成的推理路径必须是</a:t>
            </a:r>
            <a:r>
              <a:rPr lang="en-US" altLang="zh-CN"/>
              <a:t> KG </a:t>
            </a:r>
            <a:r>
              <a:rPr lang="zh-CN" altLang="en-US"/>
              <a:t>中真实存在的实体</a:t>
            </a:r>
            <a:r>
              <a:rPr lang="en-US" altLang="zh-CN"/>
              <a:t> - </a:t>
            </a:r>
            <a:r>
              <a:rPr lang="zh-CN" altLang="en-US"/>
              <a:t>关系链，避免生成</a:t>
            </a:r>
            <a:r>
              <a:rPr lang="en-US" altLang="zh-CN"/>
              <a:t> KG </a:t>
            </a:r>
            <a:r>
              <a:rPr lang="zh-CN" altLang="en-US"/>
              <a:t>中无依据的虚假路径，提升推理的忠实性和可解释性。</a:t>
            </a:r>
          </a:p>
          <a:p>
            <a:r>
              <a:rPr lang="en-US" altLang="zh-CN"/>
              <a:t>ToG</a:t>
            </a:r>
            <a:r>
              <a:rPr lang="zh-CN" altLang="en-US"/>
              <a:t>（</a:t>
            </a:r>
            <a:r>
              <a:rPr lang="en-US" altLang="zh-CN"/>
              <a:t>Think-on-Graph</a:t>
            </a:r>
            <a:r>
              <a:rPr lang="zh-CN" altLang="en-US"/>
              <a:t>）</a:t>
            </a:r>
          </a:p>
          <a:p>
            <a:r>
              <a:rPr lang="zh-CN" altLang="en-US"/>
              <a:t>将</a:t>
            </a:r>
            <a:r>
              <a:rPr lang="en-US" altLang="zh-CN"/>
              <a:t> KG </a:t>
            </a:r>
            <a:r>
              <a:rPr lang="zh-CN" altLang="en-US"/>
              <a:t>推理建模为智能体式的迭代探索过程，让</a:t>
            </a:r>
            <a:r>
              <a:rPr lang="en-US" altLang="zh-CN"/>
              <a:t> LLM </a:t>
            </a:r>
            <a:r>
              <a:rPr lang="zh-CN" altLang="en-US"/>
              <a:t>从初始实体出发，逐步遍历</a:t>
            </a:r>
            <a:r>
              <a:rPr lang="en-US" altLang="zh-CN"/>
              <a:t> KG </a:t>
            </a:r>
            <a:r>
              <a:rPr lang="zh-CN" altLang="en-US"/>
              <a:t>的邻居实体和关系，构建可追溯的推理路径，同时引入路径修正机制，减少探索中的错误。</a:t>
            </a:r>
          </a:p>
          <a:p>
            <a:r>
              <a:rPr lang="zh-CN" altLang="en-US" b="1" i="1"/>
              <a:t>端到端微调的</a:t>
            </a:r>
            <a:r>
              <a:rPr lang="en-US" altLang="zh-CN" b="1" i="1"/>
              <a:t> KG-augmented LLM </a:t>
            </a:r>
            <a:r>
              <a:rPr lang="zh-CN" altLang="en-US" b="1" i="1"/>
              <a:t>方法（微调范式，融合</a:t>
            </a:r>
            <a:r>
              <a:rPr lang="en-US" altLang="zh-CN" b="1" i="1"/>
              <a:t> KG </a:t>
            </a:r>
            <a:r>
              <a:rPr lang="zh-CN" altLang="en-US" b="1" i="1"/>
              <a:t>与</a:t>
            </a:r>
            <a:r>
              <a:rPr lang="en-US" altLang="zh-CN" b="1" i="1"/>
              <a:t> LLM</a:t>
            </a:r>
            <a:r>
              <a:rPr lang="zh-CN" altLang="en-US" b="1" i="1"/>
              <a:t>）</a:t>
            </a:r>
          </a:p>
          <a:p>
            <a:r>
              <a:rPr lang="zh-CN" altLang="en-US"/>
              <a:t>这类方法以端到端微调为核心范式，将</a:t>
            </a:r>
            <a:r>
              <a:rPr lang="en-US" altLang="zh-CN"/>
              <a:t> KG </a:t>
            </a:r>
            <a:r>
              <a:rPr lang="zh-CN" altLang="en-US"/>
              <a:t>的实体、关系知识融入</a:t>
            </a:r>
            <a:r>
              <a:rPr lang="en-US" altLang="zh-CN"/>
              <a:t> LLM </a:t>
            </a:r>
            <a:r>
              <a:rPr lang="zh-CN" altLang="en-US"/>
              <a:t>的参数中（或设计专用的</a:t>
            </a:r>
            <a:r>
              <a:rPr lang="en-US" altLang="zh-CN"/>
              <a:t> KG </a:t>
            </a:r>
            <a:r>
              <a:rPr lang="zh-CN" altLang="en-US"/>
              <a:t>编码模块），让模型在训练阶段完成「自然语言理解</a:t>
            </a:r>
            <a:r>
              <a:rPr lang="en-US" altLang="zh-CN"/>
              <a:t> + KG </a:t>
            </a:r>
            <a:r>
              <a:rPr lang="zh-CN" altLang="en-US"/>
              <a:t>知识融合」，推理阶段直接输出答案，无显式的</a:t>
            </a:r>
            <a:r>
              <a:rPr lang="en-US" altLang="zh-CN"/>
              <a:t> KG </a:t>
            </a:r>
            <a:r>
              <a:rPr lang="zh-CN" altLang="en-US"/>
              <a:t>探索过程，属于参数化的</a:t>
            </a:r>
            <a:r>
              <a:rPr lang="en-US" altLang="zh-CN"/>
              <a:t> KG </a:t>
            </a:r>
            <a:r>
              <a:rPr lang="zh-CN" altLang="en-US"/>
              <a:t>增强。</a:t>
            </a:r>
            <a:endParaRPr lang="zh-CN" altLang="en-US" b="1" i="1"/>
          </a:p>
          <a:p>
            <a:r>
              <a:rPr lang="zh-CN" altLang="en-US" b="1" i="1"/>
              <a:t>四、图检索方法（</a:t>
            </a:r>
            <a:r>
              <a:rPr lang="en-US" altLang="zh-CN" b="1" i="1"/>
              <a:t>KG </a:t>
            </a:r>
            <a:r>
              <a:rPr lang="zh-CN" altLang="en-US" b="1" i="1"/>
              <a:t>检索为核心，为</a:t>
            </a:r>
            <a:r>
              <a:rPr lang="en-US" altLang="zh-CN" b="1" i="1"/>
              <a:t> LLM </a:t>
            </a:r>
            <a:r>
              <a:rPr lang="zh-CN" altLang="en-US" b="1" i="1"/>
              <a:t>提供上下文）</a:t>
            </a:r>
            <a:endParaRPr lang="zh-CN" altLang="en-US"/>
          </a:p>
          <a:p>
            <a:r>
              <a:rPr lang="zh-CN" altLang="en-US"/>
              <a:t>这类方法将</a:t>
            </a:r>
            <a:r>
              <a:rPr lang="en-US" altLang="zh-CN"/>
              <a:t>KG </a:t>
            </a:r>
            <a:r>
              <a:rPr lang="zh-CN" altLang="en-US"/>
              <a:t>检索作为核心环节，先通过图检索技术（如图神经网络、子图挖掘）从大规模</a:t>
            </a:r>
            <a:r>
              <a:rPr lang="en-US" altLang="zh-CN"/>
              <a:t> KG </a:t>
            </a:r>
            <a:r>
              <a:rPr lang="zh-CN" altLang="en-US"/>
              <a:t>中提取与问题相关的子图</a:t>
            </a:r>
            <a:r>
              <a:rPr lang="en-US" altLang="zh-CN"/>
              <a:t> / </a:t>
            </a:r>
            <a:r>
              <a:rPr lang="zh-CN" altLang="en-US"/>
              <a:t>实体</a:t>
            </a:r>
            <a:r>
              <a:rPr lang="en-US" altLang="zh-CN"/>
              <a:t> - </a:t>
            </a:r>
            <a:r>
              <a:rPr lang="zh-CN" altLang="en-US"/>
              <a:t>关系子集，再将该结构化子图作为上下文输入给</a:t>
            </a:r>
            <a:r>
              <a:rPr lang="en-US" altLang="zh-CN"/>
              <a:t> LLM</a:t>
            </a:r>
            <a:r>
              <a:rPr lang="zh-CN" altLang="en-US"/>
              <a:t>，让</a:t>
            </a:r>
            <a:r>
              <a:rPr lang="en-US" altLang="zh-CN"/>
              <a:t> LLM </a:t>
            </a:r>
            <a:r>
              <a:rPr lang="zh-CN" altLang="en-US"/>
              <a:t>基于检索到的结构化事实生成答案，</a:t>
            </a:r>
            <a:r>
              <a:rPr lang="en-US" altLang="zh-CN"/>
              <a:t>LLM </a:t>
            </a:r>
            <a:r>
              <a:rPr lang="zh-CN" altLang="en-US"/>
              <a:t>仅作为「答案生成器」，不主动探索</a:t>
            </a:r>
            <a:r>
              <a:rPr lang="en-US" altLang="zh-CN"/>
              <a:t> KG</a:t>
            </a:r>
            <a:r>
              <a:rPr lang="zh-CN" altLang="en-US"/>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t>这张表主要是在比较不同方法在两个知识图谱问答数据集上的表现，分别是</a:t>
            </a:r>
            <a:r>
              <a:rPr lang="en-US" altLang="zh-CN" b="1" dirty="0"/>
              <a:t> </a:t>
            </a:r>
            <a:r>
              <a:rPr lang="en-US" altLang="zh-CN" b="1" dirty="0" err="1"/>
              <a:t>WebQSP</a:t>
            </a:r>
            <a:r>
              <a:rPr lang="en-US" altLang="zh-CN" b="1" dirty="0"/>
              <a:t> </a:t>
            </a:r>
            <a:r>
              <a:rPr lang="zh-CN" altLang="en-US" b="1" dirty="0"/>
              <a:t>和</a:t>
            </a:r>
            <a:r>
              <a:rPr lang="en-US" altLang="zh-CN" b="1" dirty="0"/>
              <a:t> CWQ</a:t>
            </a:r>
            <a:r>
              <a:rPr lang="zh-CN" altLang="en-US" b="1" dirty="0"/>
              <a:t>。评价指标是</a:t>
            </a:r>
            <a:r>
              <a:rPr lang="en-US" altLang="zh-CN" b="1" dirty="0"/>
              <a:t> Hits@1</a:t>
            </a:r>
            <a:r>
              <a:rPr lang="zh-CN" altLang="en-US" b="1" dirty="0"/>
              <a:t>，</a:t>
            </a:r>
            <a:r>
              <a:rPr lang="en-US" altLang="zh-CN" b="1" dirty="0"/>
              <a:t>LLM Prompting</a:t>
            </a:r>
            <a:r>
              <a:rPr lang="zh-CN" altLang="en-US" b="1" dirty="0"/>
              <a:t>（最弱）</a:t>
            </a:r>
            <a:r>
              <a:rPr lang="en-US" altLang="zh-CN" b="1" dirty="0"/>
              <a:t>Graph / KG </a:t>
            </a:r>
            <a:r>
              <a:rPr lang="zh-CN" altLang="en-US" b="1" dirty="0"/>
              <a:t>方法（中等）</a:t>
            </a:r>
            <a:r>
              <a:rPr lang="en-US" altLang="zh-CN" b="1" dirty="0"/>
              <a:t>LLM + KG </a:t>
            </a:r>
            <a:r>
              <a:rPr lang="zh-CN" altLang="en-US" b="1" dirty="0"/>
              <a:t>方法（主流）</a:t>
            </a:r>
          </a:p>
          <a:p>
            <a:r>
              <a:rPr lang="zh-CN" altLang="en-US" b="1" dirty="0"/>
              <a:t>第一，</a:t>
            </a:r>
            <a:r>
              <a:rPr lang="en-US" altLang="zh-CN" b="1" dirty="0" err="1"/>
              <a:t>PARoG</a:t>
            </a:r>
            <a:r>
              <a:rPr lang="en-US" altLang="zh-CN" b="1" dirty="0"/>
              <a:t> </a:t>
            </a:r>
            <a:r>
              <a:rPr lang="zh-CN" altLang="en-US" b="1" dirty="0"/>
              <a:t>在所有数据集和模型设置下均取得最优性能；</a:t>
            </a:r>
          </a:p>
          <a:p>
            <a:r>
              <a:rPr lang="zh-CN" altLang="en-US" b="1" dirty="0"/>
              <a:t>第二，相比当前最接近的方法</a:t>
            </a:r>
            <a:r>
              <a:rPr lang="en-US" altLang="zh-CN" b="1" dirty="0"/>
              <a:t> </a:t>
            </a:r>
            <a:r>
              <a:rPr lang="en-US" altLang="zh-CN" b="1" dirty="0" err="1"/>
              <a:t>PoG</a:t>
            </a:r>
            <a:r>
              <a:rPr lang="zh-CN" altLang="en-US" b="1" dirty="0"/>
              <a:t>，本文方法在复杂推理任务上有明显提升；</a:t>
            </a:r>
          </a:p>
          <a:p>
            <a:r>
              <a:rPr lang="zh-CN" altLang="en-US" b="1" dirty="0"/>
              <a:t>第三，从整体趋势来看，引入知识图谱可以提升性能，而本文方法在此基础上进一步优化。</a:t>
            </a:r>
          </a:p>
          <a:p>
            <a:r>
              <a:rPr lang="zh-CN" altLang="en-US" b="1" dirty="0"/>
              <a:t>第四，</a:t>
            </a:r>
            <a:r>
              <a:rPr lang="en-US" altLang="zh-CN" b="1" dirty="0"/>
              <a:t>Graph-retrieval methods </a:t>
            </a:r>
            <a:r>
              <a:rPr lang="zh-CN" altLang="en-US" b="1" dirty="0"/>
              <a:t>（用图检索增强）在简单任务上表现较好，因为只需要定位相关子图即可。但在复杂任务中，它们缺乏结构化推理能力，无法处理多约束或组合逻辑，因此性能显著下降。而</a:t>
            </a:r>
            <a:r>
              <a:rPr lang="en-US" altLang="zh-CN" b="1" dirty="0"/>
              <a:t> </a:t>
            </a:r>
            <a:r>
              <a:rPr lang="en-US" altLang="zh-CN" b="1" dirty="0" err="1"/>
              <a:t>PARoG</a:t>
            </a:r>
            <a:r>
              <a:rPr lang="en-US" altLang="zh-CN" b="1" dirty="0"/>
              <a:t> </a:t>
            </a:r>
            <a:r>
              <a:rPr lang="zh-CN" altLang="en-US" b="1" dirty="0"/>
              <a:t>通过引入</a:t>
            </a:r>
            <a:r>
              <a:rPr lang="en-US" altLang="zh-CN" b="1" dirty="0"/>
              <a:t> planning </a:t>
            </a:r>
            <a:r>
              <a:rPr lang="zh-CN" altLang="en-US" b="1" dirty="0"/>
              <a:t>和</a:t>
            </a:r>
            <a:r>
              <a:rPr lang="en-US" altLang="zh-CN" b="1" dirty="0"/>
              <a:t> refinement</a:t>
            </a:r>
            <a:r>
              <a:rPr lang="zh-CN" altLang="en-US" b="1" dirty="0"/>
              <a:t>，有效弥补了这一点。</a:t>
            </a:r>
          </a:p>
          <a:p>
            <a:r>
              <a:rPr lang="zh-CN" altLang="en-US" b="1" dirty="0"/>
              <a:t>组合查询（</a:t>
            </a:r>
            <a:r>
              <a:rPr lang="en-US" altLang="zh-CN" b="1" dirty="0"/>
              <a:t>Compositions</a:t>
            </a:r>
            <a:r>
              <a:rPr lang="zh-CN" altLang="en-US" b="1" dirty="0"/>
              <a:t>）</a:t>
            </a:r>
            <a:r>
              <a:rPr lang="en-US" altLang="zh-CN" b="1" dirty="0"/>
              <a:t> </a:t>
            </a:r>
            <a:r>
              <a:rPr lang="zh-CN" altLang="en-US" b="1" dirty="0"/>
              <a:t>线性查询（</a:t>
            </a:r>
            <a:r>
              <a:rPr lang="en-US" altLang="zh-CN" b="1" dirty="0"/>
              <a:t>Linear Queries</a:t>
            </a:r>
            <a:r>
              <a:rPr lang="zh-CN" altLang="en-US" b="1" dirty="0"/>
              <a:t>）多条件查询（</a:t>
            </a:r>
            <a:r>
              <a:rPr lang="en-US" altLang="zh-CN" b="1" dirty="0"/>
              <a:t>Conjunctions</a:t>
            </a:r>
            <a:r>
              <a:rPr lang="zh-CN" altLang="en-US" b="1" dirty="0"/>
              <a:t>需同时满足多个约束条件）</a:t>
            </a:r>
            <a:r>
              <a:rPr lang="en-US" altLang="zh-CN" b="1" dirty="0"/>
              <a:t> </a:t>
            </a:r>
            <a:r>
              <a:rPr lang="zh-CN" altLang="en-US" b="1" dirty="0"/>
              <a:t>比较查询（</a:t>
            </a:r>
            <a:r>
              <a:rPr lang="en-US" altLang="zh-CN" b="1" dirty="0"/>
              <a:t>Comparatives</a:t>
            </a:r>
            <a:r>
              <a:rPr lang="zh-CN" altLang="en-US" b="1" dirty="0"/>
              <a:t>）最高级查询（</a:t>
            </a:r>
            <a:r>
              <a:rPr lang="en-US" altLang="zh-CN" b="1" dirty="0"/>
              <a:t>Superlatives</a:t>
            </a:r>
            <a:r>
              <a:rPr lang="zh-CN" altLang="en-US" b="1" dirty="0"/>
              <a:t>）</a:t>
            </a:r>
          </a:p>
          <a:p>
            <a:endParaRPr lang="zh-CN" altLang="en-US" b="1" dirty="0"/>
          </a:p>
          <a:p>
            <a:r>
              <a:rPr lang="en-US" altLang="zh-CN" b="1" dirty="0" err="1"/>
              <a:t>PARoG</a:t>
            </a:r>
            <a:r>
              <a:rPr lang="en-US" altLang="zh-CN" b="1" dirty="0"/>
              <a:t> </a:t>
            </a:r>
            <a:r>
              <a:rPr lang="zh-CN" altLang="en-US" b="1" dirty="0"/>
              <a:t>相对</a:t>
            </a:r>
            <a:r>
              <a:rPr lang="en-US" altLang="zh-CN" b="1" dirty="0"/>
              <a:t> </a:t>
            </a:r>
            <a:r>
              <a:rPr lang="en-US" altLang="zh-CN" b="1" dirty="0" err="1"/>
              <a:t>PoG</a:t>
            </a:r>
            <a:r>
              <a:rPr lang="en-US" altLang="zh-CN" b="1" dirty="0"/>
              <a:t> </a:t>
            </a:r>
            <a:r>
              <a:rPr lang="zh-CN" altLang="en-US" b="1" dirty="0"/>
              <a:t>的绝对准确率提升百分点</a:t>
            </a:r>
          </a:p>
          <a:p>
            <a:r>
              <a:rPr lang="zh-CN" altLang="en-US" b="1" dirty="0"/>
              <a:t>性能提升幅度与查询复杂度正相关：简单查询（线性查询、组合查询）的提升约</a:t>
            </a:r>
            <a:r>
              <a:rPr lang="en-US" altLang="zh-CN" b="1" dirty="0"/>
              <a:t> 8%-9%</a:t>
            </a:r>
            <a:r>
              <a:rPr lang="zh-CN" altLang="en-US" b="1" dirty="0"/>
              <a:t>，而复杂逻辑查询的提升极为显著</a:t>
            </a:r>
            <a:r>
              <a:rPr lang="en-US" altLang="zh-CN" b="1" dirty="0"/>
              <a:t> —— </a:t>
            </a:r>
            <a:r>
              <a:rPr lang="zh-CN" altLang="en-US" b="1" dirty="0"/>
              <a:t>比较查询（</a:t>
            </a:r>
            <a:r>
              <a:rPr lang="en-US" altLang="zh-CN" b="1" dirty="0"/>
              <a:t>+12.7%</a:t>
            </a:r>
            <a:r>
              <a:rPr lang="zh-CN" altLang="en-US" b="1" dirty="0"/>
              <a:t>）、合取查询（</a:t>
            </a:r>
            <a:r>
              <a:rPr lang="en-US" altLang="zh-CN" b="1" dirty="0"/>
              <a:t>+14.4%</a:t>
            </a:r>
            <a:r>
              <a:rPr lang="zh-CN" altLang="en-US" b="1" dirty="0"/>
              <a:t>）、最高级查询（</a:t>
            </a:r>
            <a:r>
              <a:rPr lang="en-US" altLang="zh-CN" b="1" dirty="0"/>
              <a:t>+20.5%</a:t>
            </a:r>
            <a:r>
              <a:rPr lang="zh-CN" altLang="en-US" b="1" dirty="0"/>
              <a:t>）；</a:t>
            </a:r>
          </a:p>
          <a:p>
            <a:r>
              <a:rPr lang="en-US" altLang="zh-CN" b="1" dirty="0" err="1"/>
              <a:t>PoG</a:t>
            </a:r>
            <a:r>
              <a:rPr lang="zh-CN" altLang="en-US" b="1" dirty="0"/>
              <a:t>（</a:t>
            </a:r>
            <a:r>
              <a:rPr lang="en-US" altLang="zh-CN" b="1" dirty="0"/>
              <a:t>Plan-on-Graph</a:t>
            </a:r>
            <a:r>
              <a:rPr lang="zh-CN" altLang="en-US" b="1" dirty="0"/>
              <a:t>）</a:t>
            </a:r>
          </a:p>
          <a:p>
            <a:r>
              <a:rPr lang="zh-CN" altLang="en-US" b="1" dirty="0"/>
              <a:t>该论文的主要对比基线（同期</a:t>
            </a:r>
            <a:r>
              <a:rPr lang="en-US" altLang="zh-CN" b="1" dirty="0"/>
              <a:t> SOTA</a:t>
            </a:r>
            <a:r>
              <a:rPr lang="zh-CN" altLang="en-US" b="1" dirty="0"/>
              <a:t>），核心是自适应规划：先将复杂问题分解为结构化子目标，再沿子目标规划的路径探索</a:t>
            </a:r>
            <a:r>
              <a:rPr lang="en-US" altLang="zh-CN" b="1" dirty="0"/>
              <a:t> KG</a:t>
            </a:r>
            <a:r>
              <a:rPr lang="zh-CN" altLang="en-US" b="1" dirty="0"/>
              <a:t>，同时引入路径反思与精修机制，优化推理路径的正确性</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a:p>
            <a:r>
              <a:rPr lang="zh-CN" altLang="en-US"/>
              <a:t>这张表是在</a:t>
            </a:r>
            <a:r>
              <a:rPr lang="en-US" altLang="zh-CN"/>
              <a:t> GrailQA </a:t>
            </a:r>
            <a:r>
              <a:rPr lang="zh-CN" altLang="en-US"/>
              <a:t>数据集上评估不同方法的表现，并细分为不同难度类型</a:t>
            </a:r>
          </a:p>
          <a:p>
            <a:r>
              <a:rPr lang="en-US" altLang="en-US"/>
              <a:t>❌</a:t>
            </a:r>
            <a:r>
              <a:rPr lang="en-US" altLang="zh-CN"/>
              <a:t> </a:t>
            </a:r>
            <a:r>
              <a:rPr lang="zh-CN" altLang="en-US"/>
              <a:t>纯</a:t>
            </a:r>
            <a:r>
              <a:rPr lang="en-US" altLang="zh-CN"/>
              <a:t>LLM</a:t>
            </a:r>
            <a:r>
              <a:rPr lang="zh-CN" altLang="en-US"/>
              <a:t>基本做不了</a:t>
            </a:r>
            <a:r>
              <a:rPr lang="en-US" altLang="zh-CN"/>
              <a:t>KGQA</a:t>
            </a:r>
          </a:p>
          <a:p>
            <a:r>
              <a:rPr lang="en-US" altLang="en-US"/>
              <a:t>✔️</a:t>
            </a:r>
            <a:r>
              <a:rPr lang="en-US" altLang="zh-CN"/>
              <a:t> </a:t>
            </a:r>
            <a:r>
              <a:rPr lang="zh-CN" altLang="en-US"/>
              <a:t>端到端方法很强，但依赖训练数据（基于知识图谱增强的端到端微调大语言模型）</a:t>
            </a:r>
          </a:p>
          <a:p>
            <a:r>
              <a:rPr lang="zh-CN" altLang="en-US"/>
              <a:t>组合查询场景：</a:t>
            </a:r>
            <a:r>
              <a:rPr lang="en-US" altLang="zh-CN"/>
              <a:t>GPT-3.5 </a:t>
            </a:r>
            <a:r>
              <a:rPr lang="zh-CN" altLang="en-US"/>
              <a:t>下</a:t>
            </a:r>
            <a:r>
              <a:rPr lang="en-US" altLang="zh-CN"/>
              <a:t> 66.7%</a:t>
            </a:r>
            <a:r>
              <a:rPr lang="zh-CN" altLang="en-US"/>
              <a:t>（超</a:t>
            </a:r>
            <a:r>
              <a:rPr lang="en-US" altLang="zh-CN"/>
              <a:t> PoG 4.6 </a:t>
            </a:r>
            <a:r>
              <a:rPr lang="zh-CN" altLang="en-US"/>
              <a:t>个百分点），</a:t>
            </a:r>
            <a:r>
              <a:rPr lang="en-US" altLang="zh-CN"/>
              <a:t>GPT-4 </a:t>
            </a:r>
            <a:r>
              <a:rPr lang="zh-CN" altLang="en-US"/>
              <a:t>下</a:t>
            </a:r>
            <a:r>
              <a:rPr lang="en-US" altLang="zh-CN"/>
              <a:t> 73.2%</a:t>
            </a:r>
            <a:r>
              <a:rPr lang="zh-CN" altLang="en-US"/>
              <a:t>（超</a:t>
            </a:r>
            <a:r>
              <a:rPr lang="en-US" altLang="zh-CN"/>
              <a:t> PoG 3.5 </a:t>
            </a:r>
            <a:r>
              <a:rPr lang="zh-CN" altLang="en-US"/>
              <a:t>个百分点）；</a:t>
            </a:r>
          </a:p>
          <a:p>
            <a:r>
              <a:rPr lang="zh-CN" altLang="en-US"/>
              <a:t>零样本场景：</a:t>
            </a:r>
            <a:r>
              <a:rPr lang="en-US" altLang="zh-CN"/>
              <a:t>GPT-3.5 </a:t>
            </a:r>
            <a:r>
              <a:rPr lang="zh-CN" altLang="en-US"/>
              <a:t>下</a:t>
            </a:r>
            <a:r>
              <a:rPr lang="en-US" altLang="zh-CN"/>
              <a:t> 87.1%</a:t>
            </a:r>
            <a:r>
              <a:rPr lang="zh-CN" altLang="en-US"/>
              <a:t>（超</a:t>
            </a:r>
            <a:r>
              <a:rPr lang="en-US" altLang="zh-CN"/>
              <a:t> PoG 5.4 </a:t>
            </a:r>
            <a:r>
              <a:rPr lang="zh-CN" altLang="en-US"/>
              <a:t>个百分点），</a:t>
            </a:r>
            <a:r>
              <a:rPr lang="en-US" altLang="zh-CN"/>
              <a:t>GPT-4 </a:t>
            </a:r>
            <a:r>
              <a:rPr lang="zh-CN" altLang="en-US"/>
              <a:t>下</a:t>
            </a:r>
            <a:r>
              <a:rPr lang="en-US" altLang="zh-CN"/>
              <a:t> 91.1%</a:t>
            </a:r>
            <a:r>
              <a:rPr lang="zh-CN" altLang="en-US"/>
              <a:t>（超</a:t>
            </a:r>
            <a:r>
              <a:rPr lang="en-US" altLang="zh-CN"/>
              <a:t> PoG 2.5 </a:t>
            </a:r>
            <a:r>
              <a:rPr lang="zh-CN" altLang="en-US"/>
              <a:t>个百分点），验证了结构化规划的泛化能力。</a:t>
            </a:r>
          </a:p>
          <a:p>
            <a:r>
              <a:rPr lang="zh-CN" altLang="en-US"/>
              <a:t>碾压无</a:t>
            </a:r>
            <a:r>
              <a:rPr lang="en-US" altLang="zh-CN"/>
              <a:t> KG </a:t>
            </a:r>
            <a:r>
              <a:rPr lang="zh-CN" altLang="en-US"/>
              <a:t>增强方法：</a:t>
            </a:r>
            <a:r>
              <a:rPr lang="en-US" altLang="zh-CN"/>
              <a:t>LLM </a:t>
            </a:r>
            <a:r>
              <a:rPr lang="zh-CN" altLang="en-US"/>
              <a:t>提示词方法（如</a:t>
            </a:r>
            <a:r>
              <a:rPr lang="en-US" altLang="zh-CN"/>
              <a:t> CoT</a:t>
            </a:r>
            <a:r>
              <a:rPr lang="zh-CN" altLang="en-US"/>
              <a:t>）整体准确率仅</a:t>
            </a:r>
            <a:r>
              <a:rPr lang="en-US" altLang="zh-CN"/>
              <a:t> 28%-29%</a:t>
            </a:r>
            <a:r>
              <a:rPr lang="zh-CN" altLang="en-US"/>
              <a:t>，凸显</a:t>
            </a:r>
            <a:r>
              <a:rPr lang="en-US" altLang="zh-CN"/>
              <a:t> KG </a:t>
            </a:r>
            <a:r>
              <a:rPr lang="zh-CN" altLang="en-US"/>
              <a:t>增强对知识密集型推理的必要性；端到端微调方法（如</a:t>
            </a:r>
            <a:r>
              <a:rPr lang="en-US" altLang="zh-CN"/>
              <a:t> GAIN</a:t>
            </a:r>
            <a:r>
              <a:rPr lang="zh-CN" altLang="en-US"/>
              <a:t>）整体准确率</a:t>
            </a:r>
            <a:r>
              <a:rPr lang="en-US" altLang="zh-CN"/>
              <a:t> 76.3%</a:t>
            </a:r>
            <a:r>
              <a:rPr lang="zh-CN" altLang="en-US"/>
              <a:t>，低于</a:t>
            </a:r>
            <a:r>
              <a:rPr lang="en-US" altLang="zh-CN"/>
              <a:t> PARoG </a:t>
            </a:r>
            <a:r>
              <a:rPr lang="zh-CN" altLang="en-US"/>
              <a:t>的动态交互模式。</a:t>
            </a:r>
          </a:p>
          <a:p>
            <a:r>
              <a:rPr lang="en-US" altLang="zh-CN"/>
              <a:t>Independent and Identically Distributed</a:t>
            </a:r>
            <a:r>
              <a:rPr lang="zh-CN" altLang="en-US"/>
              <a:t>测试题和训练题</a:t>
            </a:r>
            <a:r>
              <a:rPr lang="en-US" altLang="zh-CN"/>
              <a:t>“</a:t>
            </a:r>
            <a:r>
              <a:rPr lang="zh-CN" altLang="en-US"/>
              <a:t>长得很像</a:t>
            </a:r>
            <a:r>
              <a:rPr lang="en-US" altLang="zh-CN"/>
              <a:t>”</a:t>
            </a:r>
          </a:p>
          <a:p>
            <a:r>
              <a:rPr lang="en-US" altLang="zh-CN"/>
              <a:t>Compositional</a:t>
            </a:r>
            <a:r>
              <a:rPr lang="zh-CN" altLang="en-US"/>
              <a:t>（组合推理）多步推理</a:t>
            </a:r>
            <a:r>
              <a:rPr lang="en-US" altLang="zh-CN"/>
              <a:t> + </a:t>
            </a:r>
            <a:r>
              <a:rPr lang="zh-CN" altLang="en-US"/>
              <a:t>逻辑组合</a:t>
            </a:r>
          </a:p>
          <a:p>
            <a:r>
              <a:rPr lang="en-US" altLang="zh-CN"/>
              <a:t>Zero-shot</a:t>
            </a:r>
            <a:r>
              <a:rPr lang="zh-CN" altLang="en-US"/>
              <a:t>（零样本）测试时遇到训练中从没见过的组合</a:t>
            </a:r>
            <a:r>
              <a:rPr lang="en-US" altLang="zh-CN"/>
              <a:t> </a:t>
            </a:r>
            <a:r>
              <a:rPr lang="zh-CN" altLang="en-US"/>
              <a:t>必须真正理解</a:t>
            </a:r>
            <a:r>
              <a:rPr lang="en-US" altLang="zh-CN"/>
              <a:t> + </a:t>
            </a:r>
            <a:r>
              <a:rPr lang="zh-CN" altLang="en-US"/>
              <a:t>推理</a:t>
            </a:r>
          </a:p>
          <a:p>
            <a:r>
              <a:rPr lang="en-US" altLang="zh-CN"/>
              <a:t>Table 2 </a:t>
            </a:r>
            <a:r>
              <a:rPr lang="zh-CN" altLang="en-US"/>
              <a:t>在</a:t>
            </a:r>
            <a:r>
              <a:rPr lang="en-US" altLang="zh-CN"/>
              <a:t> GrailQA </a:t>
            </a:r>
            <a:r>
              <a:rPr lang="zh-CN" altLang="en-US"/>
              <a:t>数据集上进一步验证了方法的泛化能力。可以看到，</a:t>
            </a:r>
            <a:r>
              <a:rPr lang="en-US" altLang="zh-CN"/>
              <a:t>PARoG </a:t>
            </a:r>
            <a:r>
              <a:rPr lang="zh-CN" altLang="en-US"/>
              <a:t>在</a:t>
            </a:r>
            <a:r>
              <a:rPr lang="en-US" altLang="zh-CN"/>
              <a:t> overall</a:t>
            </a:r>
            <a:r>
              <a:rPr lang="zh-CN" altLang="en-US"/>
              <a:t>、</a:t>
            </a:r>
            <a:r>
              <a:rPr lang="en-US" altLang="zh-CN"/>
              <a:t>compositional </a:t>
            </a:r>
            <a:r>
              <a:rPr lang="zh-CN" altLang="en-US"/>
              <a:t>和</a:t>
            </a:r>
            <a:r>
              <a:rPr lang="en-US" altLang="zh-CN"/>
              <a:t> zero-shot </a:t>
            </a:r>
            <a:r>
              <a:rPr lang="zh-CN" altLang="en-US"/>
              <a:t>三个关键指标上都优于现有方法。特别是在</a:t>
            </a:r>
            <a:r>
              <a:rPr lang="en-US" altLang="zh-CN"/>
              <a:t> compositional </a:t>
            </a:r>
            <a:r>
              <a:rPr lang="zh-CN" altLang="en-US"/>
              <a:t>和</a:t>
            </a:r>
            <a:r>
              <a:rPr lang="en-US" altLang="zh-CN"/>
              <a:t> zero-shot </a:t>
            </a:r>
            <a:r>
              <a:rPr lang="zh-CN" altLang="en-US"/>
              <a:t>场景下，提升更加明显，说明该方法在处理复杂逻辑推理以及未见过问题模式时更具优势。</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图</a:t>
            </a:r>
            <a:r>
              <a:rPr lang="en-US" altLang="zh-CN"/>
              <a:t>·5 </a:t>
            </a:r>
            <a:r>
              <a:rPr lang="zh-CN" altLang="en-US"/>
              <a:t>比的是</a:t>
            </a:r>
            <a:r>
              <a:rPr lang="en-US" altLang="zh-CN"/>
              <a:t>·</a:t>
            </a:r>
            <a:r>
              <a:rPr lang="zh-CN" altLang="en-US"/>
              <a:t>准确率</a:t>
            </a:r>
          </a:p>
          <a:p>
            <a:pPr marL="742950" lvl="1" indent="-285750">
              <a:buFont typeface="Arial" panose="020B0604020202020204" pitchFamily="34" charset="0"/>
              <a:buChar char="•"/>
            </a:pPr>
            <a:r>
              <a:rPr lang="en-US" altLang="zh-CN">
                <a:sym typeface="+mn-ea"/>
              </a:rPr>
              <a:t>WebQSP</a:t>
            </a:r>
            <a:r>
              <a:rPr lang="zh-CN" altLang="en-US">
                <a:sym typeface="+mn-ea"/>
              </a:rPr>
              <a:t>：自然语言问题，测试集</a:t>
            </a:r>
            <a:r>
              <a:rPr lang="en-US" altLang="zh-CN">
                <a:sym typeface="+mn-ea"/>
              </a:rPr>
              <a:t> 1,628 </a:t>
            </a:r>
            <a:r>
              <a:rPr lang="zh-CN" altLang="en-US">
                <a:sym typeface="+mn-ea"/>
              </a:rPr>
              <a:t>个，最大推理深度为</a:t>
            </a:r>
            <a:r>
              <a:rPr lang="en-US" altLang="zh-CN">
                <a:sym typeface="+mn-ea"/>
              </a:rPr>
              <a:t> 2-hop</a:t>
            </a:r>
            <a:endParaRPr lang="en-US" altLang="zh-CN"/>
          </a:p>
          <a:p>
            <a:pPr marL="742950" lvl="1" indent="-285750">
              <a:buFont typeface="Arial" panose="020B0604020202020204" pitchFamily="34" charset="0"/>
              <a:buChar char="•"/>
            </a:pPr>
            <a:endParaRPr lang="en-US" altLang="zh-CN"/>
          </a:p>
          <a:p>
            <a:pPr marL="742950" lvl="1" indent="-285750">
              <a:buFont typeface="Arial" panose="020B0604020202020204" pitchFamily="34" charset="0"/>
              <a:buChar char="•"/>
            </a:pPr>
            <a:r>
              <a:rPr lang="en-US" altLang="zh-CN">
                <a:sym typeface="+mn-ea"/>
              </a:rPr>
              <a:t>CWQ</a:t>
            </a:r>
            <a:r>
              <a:rPr lang="zh-CN" altLang="en-US">
                <a:sym typeface="+mn-ea"/>
              </a:rPr>
              <a:t>：共</a:t>
            </a:r>
            <a:r>
              <a:rPr lang="en-US" altLang="zh-CN">
                <a:sym typeface="+mn-ea"/>
              </a:rPr>
              <a:t> 34,689 </a:t>
            </a:r>
            <a:r>
              <a:rPr lang="zh-CN" altLang="en-US">
                <a:sym typeface="+mn-ea"/>
              </a:rPr>
              <a:t>个复杂问题，测试集</a:t>
            </a:r>
            <a:r>
              <a:rPr lang="en-US" altLang="zh-CN">
                <a:sym typeface="+mn-ea"/>
              </a:rPr>
              <a:t> 3,531 </a:t>
            </a:r>
            <a:r>
              <a:rPr lang="zh-CN" altLang="en-US">
                <a:sym typeface="+mn-ea"/>
              </a:rPr>
              <a:t>个，最大推理深度为</a:t>
            </a:r>
            <a:r>
              <a:rPr lang="en-US" altLang="zh-CN">
                <a:sym typeface="+mn-ea"/>
              </a:rPr>
              <a:t> 4-hop</a:t>
            </a:r>
            <a:endParaRPr lang="en-US" altLang="zh-CN"/>
          </a:p>
          <a:p>
            <a:pPr marL="742950" lvl="1" indent="-285750">
              <a:buFont typeface="Arial" panose="020B0604020202020204" pitchFamily="34" charset="0"/>
              <a:buChar char="•"/>
            </a:pPr>
            <a:endParaRPr lang="en-US" altLang="zh-CN"/>
          </a:p>
          <a:p>
            <a:pPr marL="742950" lvl="1" indent="-285750">
              <a:buFont typeface="Arial" panose="020B0604020202020204" pitchFamily="34" charset="0"/>
              <a:buChar char="•"/>
            </a:pPr>
            <a:r>
              <a:rPr lang="en-US" altLang="zh-CN">
                <a:sym typeface="+mn-ea"/>
              </a:rPr>
              <a:t>GrailQA</a:t>
            </a:r>
            <a:r>
              <a:rPr lang="zh-CN" altLang="en-US">
                <a:sym typeface="+mn-ea"/>
              </a:rPr>
              <a:t>：共</a:t>
            </a:r>
            <a:r>
              <a:rPr lang="en-US" altLang="zh-CN">
                <a:sym typeface="+mn-ea"/>
              </a:rPr>
              <a:t> 64,331 </a:t>
            </a:r>
            <a:r>
              <a:rPr lang="zh-CN" altLang="en-US">
                <a:sym typeface="+mn-ea"/>
              </a:rPr>
              <a:t>个问题，测试集</a:t>
            </a:r>
            <a:r>
              <a:rPr lang="en-US" altLang="zh-CN">
                <a:sym typeface="+mn-ea"/>
              </a:rPr>
              <a:t> 13,231 </a:t>
            </a:r>
            <a:r>
              <a:rPr lang="zh-CN" altLang="en-US">
                <a:sym typeface="+mn-ea"/>
              </a:rPr>
              <a:t>个，强调组合泛化能力</a:t>
            </a:r>
          </a:p>
          <a:p>
            <a:pPr marL="742950" lvl="1" indent="-285750">
              <a:buFont typeface="Arial" panose="020B0604020202020204" pitchFamily="34" charset="0"/>
              <a:buChar char="•"/>
            </a:pPr>
            <a:endParaRPr lang="zh-CN" altLang="en-US">
              <a:sym typeface="+mn-ea"/>
            </a:endParaRPr>
          </a:p>
          <a:p>
            <a:pPr lvl="0" indent="0">
              <a:buNone/>
            </a:pPr>
            <a:r>
              <a:rPr lang="zh-CN" altLang="en-US">
                <a:sym typeface="+mn-ea"/>
              </a:rPr>
              <a:t>图</a:t>
            </a:r>
            <a:r>
              <a:rPr lang="en-US" altLang="zh-CN">
                <a:sym typeface="+mn-ea"/>
              </a:rPr>
              <a:t>5 </a:t>
            </a:r>
            <a:r>
              <a:rPr lang="zh-CN" altLang="en-US">
                <a:sym typeface="+mn-ea"/>
              </a:rPr>
              <a:t>用来验证我们提出的</a:t>
            </a:r>
            <a:r>
              <a:rPr lang="en-US" altLang="zh-CN">
                <a:sym typeface="+mn-ea"/>
              </a:rPr>
              <a:t>SPARQL</a:t>
            </a:r>
            <a:r>
              <a:rPr lang="zh-CN" altLang="en-US">
                <a:sym typeface="+mn-ea"/>
              </a:rPr>
              <a:t>监督规划模块是否有效。</a:t>
            </a:r>
            <a:r>
              <a:rPr lang="zh-CN" altLang="en-US"/>
              <a:t>我们把自己的方法（</a:t>
            </a:r>
            <a:r>
              <a:rPr lang="en-US" altLang="zh-CN"/>
              <a:t>8B</a:t>
            </a:r>
            <a:r>
              <a:rPr lang="zh-CN" altLang="en-US"/>
              <a:t>）和两个更大的模型做对比：</a:t>
            </a:r>
            <a:r>
              <a:rPr lang="en-US" altLang="zh-CN"/>
              <a:t>GPT-3.5</a:t>
            </a:r>
            <a:r>
              <a:rPr lang="zh-CN" altLang="en-US"/>
              <a:t>（</a:t>
            </a:r>
            <a:r>
              <a:rPr lang="en-US" altLang="zh-CN"/>
              <a:t>20B</a:t>
            </a:r>
            <a:r>
              <a:rPr lang="zh-CN" altLang="en-US"/>
              <a:t>）和</a:t>
            </a:r>
            <a:r>
              <a:rPr lang="en-US" altLang="zh-CN"/>
              <a:t> DeepSeek-R1</a:t>
            </a:r>
            <a:r>
              <a:rPr lang="zh-CN" altLang="en-US"/>
              <a:t>（</a:t>
            </a:r>
            <a:r>
              <a:rPr lang="en-US" altLang="zh-CN"/>
              <a:t>671B</a:t>
            </a:r>
            <a:r>
              <a:rPr lang="zh-CN" altLang="en-US"/>
              <a:t>）。</a:t>
            </a:r>
          </a:p>
          <a:p>
            <a:pPr lvl="0" indent="0">
              <a:buNone/>
            </a:pPr>
            <a:r>
              <a:rPr lang="zh-CN" altLang="en-US"/>
              <a:t>实验结果表明，我们的小模型在所有数据集上都超过了这些更大的模型。</a:t>
            </a:r>
          </a:p>
          <a:p>
            <a:pPr lvl="0" indent="0">
              <a:buNone/>
            </a:pPr>
            <a:r>
              <a:rPr lang="zh-CN" altLang="en-US"/>
              <a:t>特别是在最难的</a:t>
            </a:r>
            <a:r>
              <a:rPr lang="en-US" altLang="zh-CN"/>
              <a:t> CWQ </a:t>
            </a:r>
            <a:r>
              <a:rPr lang="zh-CN" altLang="en-US"/>
              <a:t>数据集上，我们达到了</a:t>
            </a:r>
            <a:r>
              <a:rPr lang="en-US" altLang="zh-CN"/>
              <a:t> 73.3</a:t>
            </a:r>
            <a:r>
              <a:rPr lang="zh-CN" altLang="en-US"/>
              <a:t>，而</a:t>
            </a:r>
            <a:r>
              <a:rPr lang="en-US" altLang="zh-CN"/>
              <a:t> GPT-3.5 </a:t>
            </a:r>
            <a:r>
              <a:rPr lang="zh-CN" altLang="en-US"/>
              <a:t>只有</a:t>
            </a:r>
            <a:r>
              <a:rPr lang="en-US" altLang="zh-CN"/>
              <a:t> 65.2</a:t>
            </a:r>
            <a:r>
              <a:rPr lang="zh-CN" altLang="en-US"/>
              <a:t>，有明显提升。</a:t>
            </a:r>
          </a:p>
          <a:p>
            <a:pPr lvl="0" indent="0">
              <a:buNone/>
            </a:pPr>
            <a:r>
              <a:rPr lang="zh-CN" altLang="en-US"/>
              <a:t>这说明一个很重要的点：</a:t>
            </a:r>
            <a:r>
              <a:rPr lang="zh-CN" altLang="en-US" i="1"/>
              <a:t>模型规模并不是决定推理能力的关键，</a:t>
            </a:r>
            <a:endParaRPr lang="zh-CN" altLang="en-US"/>
          </a:p>
          <a:p>
            <a:pPr lvl="0" indent="0">
              <a:buNone/>
            </a:pPr>
            <a:r>
              <a:rPr lang="zh-CN" altLang="en-US" i="1"/>
              <a:t>更重要的是是否有结构化的推理指导。</a:t>
            </a:r>
            <a:r>
              <a:rPr lang="en-US" altLang="zh-CN" i="1"/>
              <a:t> SPARQL </a:t>
            </a:r>
            <a:r>
              <a:rPr lang="zh-CN" altLang="en-US" i="1"/>
              <a:t>提供了明确的逻辑结构，让模型学会如何拆解问题，</a:t>
            </a:r>
          </a:p>
          <a:p>
            <a:pPr lvl="0" indent="0">
              <a:buNone/>
            </a:pPr>
            <a:r>
              <a:rPr lang="zh-CN" altLang="en-US"/>
              <a:t>从而在复杂推理任务上表现更好</a:t>
            </a:r>
          </a:p>
          <a:p>
            <a:r>
              <a:rPr lang="zh-CN" altLang="en-US"/>
              <a:t>图</a:t>
            </a:r>
            <a:r>
              <a:rPr lang="en-US" altLang="zh-CN"/>
              <a:t>·6 </a:t>
            </a:r>
            <a:r>
              <a:rPr lang="zh-CN" altLang="en-US"/>
              <a:t>模型最开始答错的问题，有多少被后续的</a:t>
            </a:r>
            <a:r>
              <a:rPr lang="en-US" altLang="zh-CN"/>
              <a:t>Refine</a:t>
            </a:r>
            <a:r>
              <a:rPr lang="zh-CN" altLang="en-US"/>
              <a:t>步骤成功纠正了</a:t>
            </a:r>
          </a:p>
          <a:p>
            <a:r>
              <a:rPr lang="zh-CN" altLang="en-US"/>
              <a:t>错误修正率（</a:t>
            </a:r>
            <a:r>
              <a:rPr lang="en-US" altLang="zh-CN"/>
              <a:t>CR Rate</a:t>
            </a:r>
            <a:r>
              <a:rPr lang="zh-CN" altLang="en-US"/>
              <a:t>）</a:t>
            </a:r>
          </a:p>
          <a:p>
            <a:r>
              <a:rPr lang="zh-CN" altLang="en-US"/>
              <a:t>这张表主要是在验证</a:t>
            </a:r>
            <a:r>
              <a:rPr lang="en-US" altLang="zh-CN"/>
              <a:t> Plan-Answer-Refine </a:t>
            </a:r>
            <a:r>
              <a:rPr lang="zh-CN" altLang="en-US"/>
              <a:t>里的</a:t>
            </a:r>
            <a:r>
              <a:rPr lang="en-US" altLang="zh-CN"/>
              <a:t> Refine </a:t>
            </a:r>
            <a:r>
              <a:rPr lang="zh-CN" altLang="en-US"/>
              <a:t>到底有没有用。</a:t>
            </a:r>
          </a:p>
          <a:p>
            <a:r>
              <a:rPr lang="zh-CN" altLang="en-US"/>
              <a:t>这里的</a:t>
            </a:r>
            <a:r>
              <a:rPr lang="en-US" altLang="zh-CN"/>
              <a:t> CR Rate</a:t>
            </a:r>
            <a:r>
              <a:rPr lang="zh-CN" altLang="en-US"/>
              <a:t>，也就是</a:t>
            </a:r>
            <a:r>
              <a:rPr lang="en-US" altLang="zh-CN"/>
              <a:t> error correction rate</a:t>
            </a:r>
            <a:r>
              <a:rPr lang="zh-CN" altLang="en-US"/>
              <a:t>，指的是：模型一开始答错的问题里，后续有多少能被</a:t>
            </a:r>
            <a:r>
              <a:rPr lang="en-US" altLang="zh-CN"/>
              <a:t> refinement </a:t>
            </a:r>
            <a:r>
              <a:rPr lang="zh-CN" altLang="en-US"/>
              <a:t>这一步纠正回来。</a:t>
            </a:r>
          </a:p>
          <a:p>
            <a:endParaRPr lang="en-US" altLang="zh-CN"/>
          </a:p>
          <a:p>
            <a:r>
              <a:rPr lang="zh-CN" altLang="en-US"/>
              <a:t>从结果看，</a:t>
            </a:r>
            <a:r>
              <a:rPr lang="en-US" altLang="zh-CN"/>
              <a:t>WebQSP </a:t>
            </a:r>
            <a:r>
              <a:rPr lang="zh-CN" altLang="en-US"/>
              <a:t>上是</a:t>
            </a:r>
            <a:r>
              <a:rPr lang="en-US" altLang="zh-CN"/>
              <a:t> 73.4%</a:t>
            </a:r>
            <a:r>
              <a:rPr lang="zh-CN" altLang="en-US"/>
              <a:t>，</a:t>
            </a:r>
            <a:r>
              <a:rPr lang="en-US" altLang="zh-CN"/>
              <a:t>CWQ </a:t>
            </a:r>
            <a:r>
              <a:rPr lang="zh-CN" altLang="en-US"/>
              <a:t>上是</a:t>
            </a:r>
            <a:r>
              <a:rPr lang="en-US" altLang="zh-CN"/>
              <a:t> 62.4%</a:t>
            </a:r>
            <a:r>
              <a:rPr lang="zh-CN" altLang="en-US"/>
              <a:t>，</a:t>
            </a:r>
            <a:r>
              <a:rPr lang="en-US" altLang="zh-CN"/>
              <a:t>GrailQA </a:t>
            </a:r>
            <a:r>
              <a:rPr lang="zh-CN" altLang="en-US"/>
              <a:t>上是</a:t>
            </a:r>
            <a:r>
              <a:rPr lang="en-US" altLang="zh-CN"/>
              <a:t> 77.1%</a:t>
            </a:r>
            <a:r>
              <a:rPr lang="zh-CN" altLang="en-US"/>
              <a:t>。</a:t>
            </a:r>
          </a:p>
          <a:p>
            <a:r>
              <a:rPr lang="zh-CN" altLang="en-US"/>
              <a:t>也就是说，模型初始犯的错误里，大约有</a:t>
            </a:r>
            <a:r>
              <a:rPr lang="en-US" altLang="zh-CN"/>
              <a:t> 60% </a:t>
            </a:r>
            <a:r>
              <a:rPr lang="zh-CN" altLang="en-US"/>
              <a:t>到</a:t>
            </a:r>
            <a:r>
              <a:rPr lang="en-US" altLang="zh-CN"/>
              <a:t> 77% </a:t>
            </a:r>
            <a:r>
              <a:rPr lang="zh-CN" altLang="en-US"/>
              <a:t>可以通过后续的知识图谱检索和修正过程被改对。</a:t>
            </a:r>
          </a:p>
          <a:p>
            <a:endParaRPr lang="en-US" altLang="zh-CN"/>
          </a:p>
          <a:p>
            <a:r>
              <a:rPr lang="zh-CN" altLang="en-US"/>
              <a:t>这说明</a:t>
            </a:r>
            <a:r>
              <a:rPr lang="en-US" altLang="zh-CN"/>
              <a:t> Refine </a:t>
            </a:r>
            <a:r>
              <a:rPr lang="zh-CN" altLang="en-US"/>
              <a:t>不是一个可有可无的步骤，而是真的提供了很强的</a:t>
            </a:r>
            <a:r>
              <a:rPr lang="en-US" altLang="zh-CN"/>
              <a:t> </a:t>
            </a:r>
            <a:r>
              <a:rPr lang="zh-CN" altLang="en-US"/>
              <a:t>纠错能力。</a:t>
            </a:r>
          </a:p>
          <a:p>
            <a:r>
              <a:rPr lang="zh-CN" altLang="en-US"/>
              <a:t>它让模型不是</a:t>
            </a:r>
            <a:r>
              <a:rPr lang="en-US" altLang="zh-CN"/>
              <a:t>“</a:t>
            </a:r>
            <a:r>
              <a:rPr lang="zh-CN" altLang="en-US"/>
              <a:t>一次答完就结束</a:t>
            </a:r>
            <a:r>
              <a:rPr lang="en-US" altLang="zh-CN"/>
              <a:t>”</a:t>
            </a:r>
            <a:r>
              <a:rPr lang="zh-CN" altLang="en-US"/>
              <a:t>，而是能先给出初始答案，再结合</a:t>
            </a:r>
            <a:r>
              <a:rPr lang="en-US" altLang="zh-CN"/>
              <a:t> KG </a:t>
            </a:r>
            <a:r>
              <a:rPr lang="zh-CN" altLang="en-US"/>
              <a:t>证据去检查并修正，从而减少错误传播，提高系统鲁棒性。</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a:p>
            <a:r>
              <a:rPr lang="zh-CN" altLang="en-US"/>
              <a:t>效率分析</a:t>
            </a:r>
          </a:p>
          <a:p>
            <a:r>
              <a:rPr lang="en-US" altLang="zh-CN" b="1"/>
              <a:t>LLM Call</a:t>
            </a:r>
            <a:r>
              <a:rPr lang="zh-CN" altLang="en-US" b="1"/>
              <a:t>：单条问题平均调用</a:t>
            </a:r>
            <a:r>
              <a:rPr lang="en-US" altLang="zh-CN" b="1"/>
              <a:t> LLM </a:t>
            </a:r>
            <a:r>
              <a:rPr lang="zh-CN" altLang="en-US" b="1"/>
              <a:t>的次数</a:t>
            </a:r>
          </a:p>
          <a:p>
            <a:r>
              <a:rPr lang="en-US" altLang="zh-CN" b="1"/>
              <a:t>Input Token</a:t>
            </a:r>
            <a:r>
              <a:rPr lang="zh-CN" altLang="en-US" b="1"/>
              <a:t>：单条问题平均输入</a:t>
            </a:r>
            <a:r>
              <a:rPr lang="en-US" altLang="zh-CN" b="1"/>
              <a:t> Token </a:t>
            </a:r>
            <a:r>
              <a:rPr lang="zh-CN" altLang="en-US" b="1"/>
              <a:t>数：</a:t>
            </a:r>
            <a:r>
              <a:rPr lang="zh-CN" altLang="en-US"/>
              <a:t>模型在处理单个问题时，发送给</a:t>
            </a:r>
            <a:r>
              <a:rPr lang="en-US" altLang="zh-CN"/>
              <a:t> LLM </a:t>
            </a:r>
            <a:r>
              <a:rPr lang="zh-CN" altLang="en-US"/>
              <a:t>的所有上下文文本的</a:t>
            </a:r>
            <a:r>
              <a:rPr lang="en-US" altLang="zh-CN"/>
              <a:t> Token </a:t>
            </a:r>
            <a:r>
              <a:rPr lang="zh-CN" altLang="en-US"/>
              <a:t>总数，喂给</a:t>
            </a:r>
            <a:r>
              <a:rPr lang="en-US" altLang="zh-CN"/>
              <a:t>” LLM </a:t>
            </a:r>
            <a:r>
              <a:rPr lang="zh-CN" altLang="en-US"/>
              <a:t>的全部内容的</a:t>
            </a:r>
            <a:r>
              <a:rPr lang="en-US" altLang="zh-CN"/>
              <a:t> Token </a:t>
            </a:r>
            <a:r>
              <a:rPr lang="zh-CN" altLang="en-US"/>
              <a:t>计数</a:t>
            </a:r>
          </a:p>
          <a:p>
            <a:r>
              <a:rPr lang="en-US" altLang="zh-CN" b="1"/>
              <a:t>Output Token</a:t>
            </a:r>
            <a:r>
              <a:rPr lang="zh-CN" altLang="en-US" b="1"/>
              <a:t>：单条问题平均输出</a:t>
            </a:r>
            <a:r>
              <a:rPr lang="en-US" altLang="zh-CN" b="1"/>
              <a:t> Token </a:t>
            </a:r>
            <a:r>
              <a:rPr lang="zh-CN" altLang="en-US" b="1"/>
              <a:t>数</a:t>
            </a:r>
            <a:r>
              <a:rPr lang="zh-CN" altLang="en-US"/>
              <a:t>：模型在处理单个问题时，</a:t>
            </a:r>
            <a:r>
              <a:rPr lang="en-US" altLang="zh-CN"/>
              <a:t>LLM </a:t>
            </a:r>
            <a:r>
              <a:rPr lang="zh-CN" altLang="en-US"/>
              <a:t>生成的所有响应文本的</a:t>
            </a:r>
            <a:r>
              <a:rPr lang="en-US" altLang="zh-CN"/>
              <a:t> Token </a:t>
            </a:r>
            <a:r>
              <a:rPr lang="zh-CN" altLang="en-US"/>
              <a:t>总数，</a:t>
            </a:r>
            <a:r>
              <a:rPr lang="en-US" altLang="zh-CN"/>
              <a:t> LLM “</a:t>
            </a:r>
            <a:r>
              <a:rPr lang="zh-CN" altLang="en-US"/>
              <a:t>吐出来</a:t>
            </a:r>
            <a:r>
              <a:rPr lang="en-US" altLang="zh-CN"/>
              <a:t>” </a:t>
            </a:r>
            <a:r>
              <a:rPr lang="zh-CN" altLang="en-US"/>
              <a:t>给你的全部内容的</a:t>
            </a:r>
            <a:r>
              <a:rPr lang="en-US" altLang="zh-CN"/>
              <a:t> Token </a:t>
            </a:r>
            <a:r>
              <a:rPr lang="zh-CN" altLang="en-US"/>
              <a:t>计数</a:t>
            </a:r>
          </a:p>
          <a:p>
            <a:r>
              <a:rPr lang="en-US" altLang="zh-CN" b="1"/>
              <a:t>Total Token</a:t>
            </a:r>
            <a:r>
              <a:rPr lang="zh-CN" altLang="en-US"/>
              <a:t>：单条问题平均总</a:t>
            </a:r>
            <a:r>
              <a:rPr lang="en-US" altLang="zh-CN"/>
              <a:t> Token </a:t>
            </a:r>
            <a:r>
              <a:rPr lang="zh-CN" altLang="en-US"/>
              <a:t>数（输入</a:t>
            </a:r>
            <a:r>
              <a:rPr lang="en-US" altLang="zh-CN"/>
              <a:t> + </a:t>
            </a:r>
            <a:r>
              <a:rPr lang="zh-CN" altLang="en-US"/>
              <a:t>输出）</a:t>
            </a:r>
          </a:p>
          <a:p>
            <a:r>
              <a:rPr lang="en-US" altLang="zh-CN" b="1"/>
              <a:t>Hits@1</a:t>
            </a:r>
            <a:r>
              <a:rPr lang="zh-CN" altLang="en-US" b="1"/>
              <a:t>：问答准确率（与之前表格的准确率指标一致）</a:t>
            </a:r>
          </a:p>
          <a:p>
            <a:endParaRPr lang="zh-CN" altLang="en-US" b="1"/>
          </a:p>
          <a:p>
            <a:r>
              <a:rPr lang="zh-CN" altLang="en-US" b="1"/>
              <a:t>这张表主要分析不同方法在性能和计算成本之间的权衡。</a:t>
            </a:r>
          </a:p>
          <a:p>
            <a:endParaRPr lang="en-US" altLang="zh-CN" b="1"/>
          </a:p>
          <a:p>
            <a:r>
              <a:rPr lang="zh-CN" altLang="en-US" b="1"/>
              <a:t>可以看到，</a:t>
            </a:r>
            <a:r>
              <a:rPr lang="en-US" altLang="zh-CN" b="1"/>
              <a:t>PARoG </a:t>
            </a:r>
            <a:r>
              <a:rPr lang="zh-CN" altLang="en-US" b="1"/>
              <a:t>在所有数据集上都同时实现了更高的准确率和更低的</a:t>
            </a:r>
            <a:r>
              <a:rPr lang="en-US" altLang="zh-CN" b="1"/>
              <a:t>token</a:t>
            </a:r>
            <a:r>
              <a:rPr lang="zh-CN" altLang="en-US" b="1"/>
              <a:t>消耗。</a:t>
            </a:r>
          </a:p>
          <a:p>
            <a:endParaRPr lang="en-US" altLang="zh-CN" b="1"/>
          </a:p>
          <a:p>
            <a:r>
              <a:rPr lang="zh-CN" altLang="en-US" b="1"/>
              <a:t>例如在最难的</a:t>
            </a:r>
            <a:r>
              <a:rPr lang="en-US" altLang="zh-CN" b="1"/>
              <a:t> CWQ </a:t>
            </a:r>
            <a:r>
              <a:rPr lang="zh-CN" altLang="en-US" b="1"/>
              <a:t>数据集上，</a:t>
            </a:r>
            <a:r>
              <a:rPr lang="en-US" altLang="zh-CN" b="1"/>
              <a:t>PARoG </a:t>
            </a:r>
            <a:r>
              <a:rPr lang="zh-CN" altLang="en-US" b="1"/>
              <a:t>的总</a:t>
            </a:r>
            <a:r>
              <a:rPr lang="en-US" altLang="zh-CN" b="1"/>
              <a:t>token</a:t>
            </a:r>
            <a:r>
              <a:rPr lang="zh-CN" altLang="en-US" b="1"/>
              <a:t>只有</a:t>
            </a:r>
            <a:r>
              <a:rPr lang="en-US" altLang="zh-CN" b="1"/>
              <a:t>7398</a:t>
            </a:r>
            <a:r>
              <a:rPr lang="zh-CN" altLang="en-US" b="1"/>
              <a:t>，但准确率达到</a:t>
            </a:r>
            <a:r>
              <a:rPr lang="en-US" altLang="zh-CN" b="1"/>
              <a:t>73.3</a:t>
            </a:r>
            <a:r>
              <a:rPr lang="zh-CN" altLang="en-US" b="1"/>
              <a:t>，而其他方法要么成本更高，要么准确率更低。</a:t>
            </a:r>
          </a:p>
          <a:p>
            <a:endParaRPr lang="en-US" altLang="zh-CN" b="1"/>
          </a:p>
          <a:p>
            <a:r>
              <a:rPr lang="zh-CN" altLang="en-US" b="1"/>
              <a:t>这说明</a:t>
            </a:r>
            <a:r>
              <a:rPr lang="en-US" altLang="zh-CN" b="1"/>
              <a:t>PARoG</a:t>
            </a:r>
            <a:r>
              <a:rPr lang="zh-CN" altLang="en-US" b="1"/>
              <a:t>不仅更准确，而且更高效。</a:t>
            </a:r>
          </a:p>
          <a:p>
            <a:endParaRPr lang="en-US" altLang="zh-CN" b="1"/>
          </a:p>
          <a:p>
            <a:r>
              <a:rPr lang="zh-CN" altLang="en-US" b="1"/>
              <a:t>这种效率提升主要来自于结构化规划减少了无效搜索，以及</a:t>
            </a:r>
            <a:r>
              <a:rPr lang="en-US" altLang="zh-CN" b="1"/>
              <a:t>Refine</a:t>
            </a:r>
            <a:r>
              <a:rPr lang="zh-CN" altLang="en-US" b="1"/>
              <a:t>机制避免了错误路径的重复扩展。</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静态：精炼的规则、步骤和迭代次数是预先设计好的，推理时不会根据中间结果动态调整策略（比如不会根据当前错误类型选择不同的修正方式）。</a:t>
            </a:r>
          </a:p>
          <a:p>
            <a:r>
              <a:rPr lang="zh-CN" altLang="en-US"/>
              <a:t>离线：精炼模块的训练和优化是在推理前完成的，推理过程中不会接收实时反馈、不会在线更新参数或调整修正逻辑。</a:t>
            </a:r>
          </a:p>
          <a:p>
            <a:r>
              <a:rPr lang="zh-CN" altLang="en-US"/>
              <a:t>这篇工作的核心创新是提出了</a:t>
            </a:r>
            <a:r>
              <a:rPr lang="en-US" altLang="zh-CN"/>
              <a:t> PARoG </a:t>
            </a:r>
            <a:r>
              <a:rPr lang="zh-CN" altLang="en-US"/>
              <a:t>框架，也就是</a:t>
            </a:r>
            <a:r>
              <a:rPr lang="en-US" altLang="zh-CN"/>
              <a:t> Plan-Answer-Refine-on-Graph</a:t>
            </a:r>
            <a:r>
              <a:rPr lang="zh-CN" altLang="en-US"/>
              <a:t>。</a:t>
            </a:r>
          </a:p>
          <a:p>
            <a:endParaRPr lang="en-US" altLang="zh-CN"/>
          </a:p>
          <a:p>
            <a:r>
              <a:rPr lang="zh-CN" altLang="en-US"/>
              <a:t>它的关键在于两个点：</a:t>
            </a:r>
          </a:p>
          <a:p>
            <a:r>
              <a:rPr lang="zh-CN" altLang="en-US"/>
              <a:t>一是通过</a:t>
            </a:r>
            <a:r>
              <a:rPr lang="en-US" altLang="zh-CN"/>
              <a:t> SPARQL </a:t>
            </a:r>
            <a:r>
              <a:rPr lang="zh-CN" altLang="en-US"/>
              <a:t>引导模型进行结构化规划，把复杂问题拆成有逻辑的子步骤；</a:t>
            </a:r>
          </a:p>
          <a:p>
            <a:r>
              <a:rPr lang="zh-CN" altLang="en-US"/>
              <a:t>二是引入了</a:t>
            </a:r>
            <a:r>
              <a:rPr lang="en-US" altLang="zh-CN"/>
              <a:t> answer-refine </a:t>
            </a:r>
            <a:r>
              <a:rPr lang="zh-CN" altLang="en-US"/>
              <a:t>机制，让模型可以先给出初始答案，再结合知识图谱进行修正。</a:t>
            </a:r>
          </a:p>
          <a:p>
            <a:r>
              <a:rPr lang="zh-CN" altLang="en-US"/>
              <a:t>首先，它依赖知识图谱的质量，如果</a:t>
            </a:r>
            <a:r>
              <a:rPr lang="en-US" altLang="zh-CN"/>
              <a:t> KG </a:t>
            </a:r>
            <a:r>
              <a:rPr lang="zh-CN" altLang="en-US"/>
              <a:t>本身不完整，效果会受到影响；</a:t>
            </a:r>
          </a:p>
          <a:p>
            <a:r>
              <a:rPr lang="zh-CN" altLang="en-US"/>
              <a:t>其次，训练规划模块需要强大的教师模型来生成</a:t>
            </a:r>
            <a:r>
              <a:rPr lang="en-US" altLang="zh-CN"/>
              <a:t> SPARQL </a:t>
            </a:r>
            <a:r>
              <a:rPr lang="zh-CN" altLang="en-US"/>
              <a:t>数据，成本较高；</a:t>
            </a:r>
          </a:p>
          <a:p>
            <a:endParaRPr lang="zh-CN" altLang="en-US"/>
          </a:p>
          <a:p>
            <a:r>
              <a:rPr lang="zh-CN" altLang="en-US"/>
              <a:t>另外，目前的</a:t>
            </a:r>
            <a:r>
              <a:rPr lang="en-US" altLang="zh-CN"/>
              <a:t> refinement </a:t>
            </a:r>
            <a:r>
              <a:rPr lang="zh-CN" altLang="en-US"/>
              <a:t>还是离线的，没有做到实时动态调整。</a:t>
            </a:r>
          </a:p>
          <a:p>
            <a:r>
              <a:rPr lang="zh-CN" altLang="en-US"/>
              <a:t>未来可以从几个方向继续改进：</a:t>
            </a:r>
          </a:p>
          <a:p>
            <a:r>
              <a:rPr lang="zh-CN" altLang="en-US"/>
              <a:t>比如引入动态在线的</a:t>
            </a:r>
            <a:r>
              <a:rPr lang="en-US" altLang="zh-CN"/>
              <a:t> refinement</a:t>
            </a:r>
            <a:r>
              <a:rPr lang="zh-CN" altLang="en-US"/>
              <a:t>，让模型在推理过程中实时调整；</a:t>
            </a:r>
          </a:p>
          <a:p>
            <a:r>
              <a:rPr lang="zh-CN" altLang="en-US"/>
              <a:t>结合多模态知识图谱，提升信息来源的丰富性；</a:t>
            </a:r>
          </a:p>
          <a:p>
            <a:r>
              <a:rPr lang="zh-CN" altLang="en-US"/>
              <a:t>以及通过自举式学习，让模型逐步减少对强教师模型的依赖。</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这两篇工作对我最大的启发主要有三点：</a:t>
            </a:r>
          </a:p>
          <a:p>
            <a:r>
              <a:rPr lang="zh-CN" altLang="en-US"/>
              <a:t>第一，是推理需要可控和可解释，仅依赖</a:t>
            </a:r>
            <a:r>
              <a:rPr lang="en-US" altLang="zh-CN"/>
              <a:t> LLM </a:t>
            </a:r>
            <a:r>
              <a:rPr lang="zh-CN" altLang="en-US"/>
              <a:t>自由推理容易产生幻觉，而通过知识图谱进行约束可以提升可靠性；</a:t>
            </a:r>
          </a:p>
          <a:p>
            <a:r>
              <a:rPr lang="zh-CN" altLang="en-US"/>
              <a:t>第二，是可以将推理过程建模为隐变量，并通过</a:t>
            </a:r>
            <a:r>
              <a:rPr lang="en-US" altLang="zh-CN"/>
              <a:t> EM </a:t>
            </a:r>
            <a:r>
              <a:rPr lang="zh-CN" altLang="en-US"/>
              <a:t>等方法在缺乏中间标注的情况下进行优化，这对弱监督学习很有启发；</a:t>
            </a:r>
          </a:p>
          <a:p>
            <a:r>
              <a:rPr lang="zh-CN" altLang="en-US"/>
              <a:t>第三，是数据构造非常关键，论文通过</a:t>
            </a:r>
            <a:r>
              <a:rPr lang="en-US" altLang="zh-CN"/>
              <a:t> SPARQL </a:t>
            </a:r>
            <a:r>
              <a:rPr lang="zh-CN" altLang="en-US"/>
              <a:t>自动构造训练数据，降低了对人工标注的依赖。</a:t>
            </a:r>
          </a:p>
          <a:p>
            <a:r>
              <a:rPr lang="zh-CN" altLang="en-US"/>
              <a:t>此外，它的模块化设计也让我意识到，可以将复杂任务拆解为多个子问题分别建模，这是我后续工作中会重点考虑的方向</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1CAD563-42A9-4912-819E-A53333D47224}" type="datetimeFigureOut">
              <a:rPr lang="zh-CN" altLang="en-US" smtClean="0"/>
              <a:t>2026/4/1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6F869D6-B2B5-498E-BFD1-21B78FEA021D}"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CAD563-42A9-4912-819E-A53333D47224}" type="datetimeFigureOut">
              <a:rPr lang="zh-CN" altLang="en-US" smtClean="0"/>
              <a:t>2026/4/1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F869D6-B2B5-498E-BFD1-21B78FEA021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png"/><Relationship Id="rId2" Type="http://schemas.openxmlformats.org/officeDocument/2006/relationships/tags" Target="../tags/tag4.xml"/><Relationship Id="rId1" Type="http://schemas.openxmlformats.org/officeDocument/2006/relationships/tags" Target="../tags/tag3.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png"/><Relationship Id="rId2" Type="http://schemas.openxmlformats.org/officeDocument/2006/relationships/tags" Target="../tags/tag6.xml"/><Relationship Id="rId1" Type="http://schemas.openxmlformats.org/officeDocument/2006/relationships/tags" Target="../tags/tag5.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tags" Target="../tags/tag9.xml"/><Relationship Id="rId7" Type="http://schemas.microsoft.com/office/2007/relationships/hdphoto" Target="../media/hdphoto1.wdp"/><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1.png"/><Relationship Id="rId5" Type="http://schemas.openxmlformats.org/officeDocument/2006/relationships/notesSlide" Target="../notesSlides/notesSlide4.xml"/><Relationship Id="rId4"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4.png"/><Relationship Id="rId2" Type="http://schemas.openxmlformats.org/officeDocument/2006/relationships/tags" Target="../tags/tag11.xml"/><Relationship Id="rId1" Type="http://schemas.openxmlformats.org/officeDocument/2006/relationships/tags" Target="../tags/tag10.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xml"/><Relationship Id="rId1" Type="http://schemas.openxmlformats.org/officeDocument/2006/relationships/tags" Target="../tags/tag12.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5.png"/><Relationship Id="rId2" Type="http://schemas.openxmlformats.org/officeDocument/2006/relationships/tags" Target="../tags/tag15.xml"/><Relationship Id="rId1" Type="http://schemas.openxmlformats.org/officeDocument/2006/relationships/tags" Target="../tags/tag14.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7.xml"/><Relationship Id="rId7" Type="http://schemas.openxmlformats.org/officeDocument/2006/relationships/image" Target="../media/image7.png"/><Relationship Id="rId2" Type="http://schemas.openxmlformats.org/officeDocument/2006/relationships/tags" Target="../tags/tag17.xml"/><Relationship Id="rId1" Type="http://schemas.openxmlformats.org/officeDocument/2006/relationships/tags" Target="../tags/tag16.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7.xml"/><Relationship Id="rId7" Type="http://schemas.openxmlformats.org/officeDocument/2006/relationships/image" Target="../media/image8.png"/><Relationship Id="rId2" Type="http://schemas.openxmlformats.org/officeDocument/2006/relationships/tags" Target="../tags/tag19.xml"/><Relationship Id="rId1" Type="http://schemas.openxmlformats.org/officeDocument/2006/relationships/tags" Target="../tags/tag18.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9.xml"/><Relationship Id="rId9"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14.png"/><Relationship Id="rId3" Type="http://schemas.openxmlformats.org/officeDocument/2006/relationships/tags" Target="../tags/tag22.xml"/><Relationship Id="rId7" Type="http://schemas.openxmlformats.org/officeDocument/2006/relationships/image" Target="../media/image1.png"/><Relationship Id="rId12" Type="http://schemas.openxmlformats.org/officeDocument/2006/relationships/tags" Target="../tags/tag24.xml"/><Relationship Id="rId2" Type="http://schemas.openxmlformats.org/officeDocument/2006/relationships/tags" Target="../tags/tag21.xml"/><Relationship Id="rId16" Type="http://schemas.openxmlformats.org/officeDocument/2006/relationships/image" Target="../media/image16.png"/><Relationship Id="rId1" Type="http://schemas.openxmlformats.org/officeDocument/2006/relationships/tags" Target="../tags/tag20.xml"/><Relationship Id="rId6" Type="http://schemas.openxmlformats.org/officeDocument/2006/relationships/notesSlide" Target="../notesSlides/notesSlide10.xml"/><Relationship Id="rId11" Type="http://schemas.openxmlformats.org/officeDocument/2006/relationships/image" Target="../media/image11.png"/><Relationship Id="rId5" Type="http://schemas.openxmlformats.org/officeDocument/2006/relationships/slideLayout" Target="../slideLayouts/slideLayout7.xml"/><Relationship Id="rId15" Type="http://schemas.openxmlformats.org/officeDocument/2006/relationships/image" Target="../media/image15.png"/><Relationship Id="rId10" Type="http://schemas.openxmlformats.org/officeDocument/2006/relationships/image" Target="../media/image12.png"/><Relationship Id="rId4" Type="http://schemas.openxmlformats.org/officeDocument/2006/relationships/tags" Target="../tags/tag23.xml"/><Relationship Id="rId9" Type="http://schemas.openxmlformats.org/officeDocument/2006/relationships/tags" Target="../tags/tag220.xml"/><Relationship Id="rId14"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slideLayout" Target="../slideLayouts/slideLayout7.xml"/><Relationship Id="rId7" Type="http://schemas.openxmlformats.org/officeDocument/2006/relationships/image" Target="../media/image17.png"/><Relationship Id="rId2" Type="http://schemas.openxmlformats.org/officeDocument/2006/relationships/tags" Target="../tags/tag26.xml"/><Relationship Id="rId1" Type="http://schemas.openxmlformats.org/officeDocument/2006/relationships/tags" Target="../tags/tag25.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9.xml"/><Relationship Id="rId7" Type="http://schemas.microsoft.com/office/2007/relationships/hdphoto" Target="../media/hdphoto1.wdp"/><Relationship Id="rId12" Type="http://schemas.openxmlformats.org/officeDocument/2006/relationships/image" Target="../media/image22.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1.png"/><Relationship Id="rId11" Type="http://schemas.openxmlformats.org/officeDocument/2006/relationships/image" Target="../media/image21.png"/><Relationship Id="rId5" Type="http://schemas.openxmlformats.org/officeDocument/2006/relationships/notesSlide" Target="../notesSlides/notesSlide12.xml"/><Relationship Id="rId10" Type="http://schemas.openxmlformats.org/officeDocument/2006/relationships/image" Target="../media/image19.png"/><Relationship Id="rId4" Type="http://schemas.openxmlformats.org/officeDocument/2006/relationships/slideLayout" Target="../slideLayouts/slideLayout7.xml"/><Relationship Id="rId9"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27.png"/><Relationship Id="rId3" Type="http://schemas.openxmlformats.org/officeDocument/2006/relationships/tags" Target="../tags/tag33.xml"/><Relationship Id="rId7" Type="http://schemas.openxmlformats.org/officeDocument/2006/relationships/image" Target="../media/image1.png"/><Relationship Id="rId12" Type="http://schemas.openxmlformats.org/officeDocument/2006/relationships/image" Target="../media/image26.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notesSlide" Target="../notesSlides/notesSlide13.xml"/><Relationship Id="rId11" Type="http://schemas.openxmlformats.org/officeDocument/2006/relationships/image" Target="../media/image25.png"/><Relationship Id="rId5" Type="http://schemas.openxmlformats.org/officeDocument/2006/relationships/slideLayout" Target="../slideLayouts/slideLayout7.xml"/><Relationship Id="rId10" Type="http://schemas.openxmlformats.org/officeDocument/2006/relationships/image" Target="../media/image24.png"/><Relationship Id="rId4" Type="http://schemas.openxmlformats.org/officeDocument/2006/relationships/tags" Target="../tags/tag34.xml"/><Relationship Id="rId9" Type="http://schemas.openxmlformats.org/officeDocument/2006/relationships/image" Target="../media/image23.png"/><Relationship Id="rId14" Type="http://schemas.openxmlformats.org/officeDocument/2006/relationships/image" Target="../media/image28.png"/></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tags" Target="../tags/tag37.xml"/><Relationship Id="rId7" Type="http://schemas.microsoft.com/office/2007/relationships/hdphoto" Target="../media/hdphoto1.wdp"/><Relationship Id="rId12" Type="http://schemas.openxmlformats.org/officeDocument/2006/relationships/image" Target="../media/image33.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png"/><Relationship Id="rId11" Type="http://schemas.openxmlformats.org/officeDocument/2006/relationships/image" Target="../media/image31.png"/><Relationship Id="rId5" Type="http://schemas.openxmlformats.org/officeDocument/2006/relationships/notesSlide" Target="../notesSlides/notesSlide14.xml"/><Relationship Id="rId10" Type="http://schemas.openxmlformats.org/officeDocument/2006/relationships/image" Target="../media/image32.png"/><Relationship Id="rId4" Type="http://schemas.openxmlformats.org/officeDocument/2006/relationships/slideLayout" Target="../slideLayouts/slideLayout7.xml"/><Relationship Id="rId9" Type="http://schemas.openxmlformats.org/officeDocument/2006/relationships/image" Target="../media/image30.png"/></Relationships>
</file>

<file path=ppt/slides/_rels/slide1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tags" Target="../tags/tag40.xml"/><Relationship Id="rId7" Type="http://schemas.microsoft.com/office/2007/relationships/hdphoto" Target="../media/hdphoto1.wdp"/><Relationship Id="rId12" Type="http://schemas.openxmlformats.org/officeDocument/2006/relationships/image" Target="../media/image38.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image" Target="../media/image1.png"/><Relationship Id="rId11" Type="http://schemas.openxmlformats.org/officeDocument/2006/relationships/image" Target="../media/image37.png"/><Relationship Id="rId5" Type="http://schemas.openxmlformats.org/officeDocument/2006/relationships/notesSlide" Target="../notesSlides/notesSlide15.xml"/><Relationship Id="rId10" Type="http://schemas.openxmlformats.org/officeDocument/2006/relationships/image" Target="../media/image36.png"/><Relationship Id="rId4" Type="http://schemas.openxmlformats.org/officeDocument/2006/relationships/slideLayout" Target="../slideLayouts/slideLayout7.xml"/><Relationship Id="rId9" Type="http://schemas.openxmlformats.org/officeDocument/2006/relationships/image" Target="../media/image35.png"/></Relationships>
</file>

<file path=ppt/slides/_rels/slide1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tags" Target="../tags/tag43.xml"/><Relationship Id="rId7" Type="http://schemas.microsoft.com/office/2007/relationships/hdphoto" Target="../media/hdphoto1.wdp"/><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1.png"/><Relationship Id="rId11" Type="http://schemas.openxmlformats.org/officeDocument/2006/relationships/image" Target="../media/image42.png"/><Relationship Id="rId5" Type="http://schemas.openxmlformats.org/officeDocument/2006/relationships/notesSlide" Target="../notesSlides/notesSlide16.xml"/><Relationship Id="rId10" Type="http://schemas.openxmlformats.org/officeDocument/2006/relationships/image" Target="../media/image41.png"/><Relationship Id="rId4" Type="http://schemas.openxmlformats.org/officeDocument/2006/relationships/slideLayout" Target="../slideLayouts/slideLayout7.xml"/><Relationship Id="rId9"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5.xml"/><Relationship Id="rId1" Type="http://schemas.openxmlformats.org/officeDocument/2006/relationships/tags" Target="../tags/tag44.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47.xml"/><Relationship Id="rId1" Type="http://schemas.openxmlformats.org/officeDocument/2006/relationships/tags" Target="../tags/tag46.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43.png"/><Relationship Id="rId2" Type="http://schemas.openxmlformats.org/officeDocument/2006/relationships/tags" Target="../tags/tag49.xml"/><Relationship Id="rId1" Type="http://schemas.openxmlformats.org/officeDocument/2006/relationships/tags" Target="../tags/tag48.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44.png"/><Relationship Id="rId2" Type="http://schemas.openxmlformats.org/officeDocument/2006/relationships/tags" Target="../tags/tag51.xml"/><Relationship Id="rId1" Type="http://schemas.openxmlformats.org/officeDocument/2006/relationships/tags" Target="../tags/tag50.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slideLayout" Target="../slideLayouts/slideLayout7.xml"/><Relationship Id="rId7" Type="http://schemas.openxmlformats.org/officeDocument/2006/relationships/image" Target="../media/image45.png"/><Relationship Id="rId2" Type="http://schemas.openxmlformats.org/officeDocument/2006/relationships/tags" Target="../tags/tag53.xml"/><Relationship Id="rId1" Type="http://schemas.openxmlformats.org/officeDocument/2006/relationships/tags" Target="../tags/tag52.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1.xml"/><Relationship Id="rId9"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48.png"/><Relationship Id="rId2" Type="http://schemas.openxmlformats.org/officeDocument/2006/relationships/tags" Target="../tags/tag55.xml"/><Relationship Id="rId1" Type="http://schemas.openxmlformats.org/officeDocument/2006/relationships/tags" Target="../tags/tag54.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49.png"/><Relationship Id="rId2" Type="http://schemas.openxmlformats.org/officeDocument/2006/relationships/tags" Target="../tags/tag57.xml"/><Relationship Id="rId1" Type="http://schemas.openxmlformats.org/officeDocument/2006/relationships/tags" Target="../tags/tag56.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50.png"/><Relationship Id="rId2" Type="http://schemas.openxmlformats.org/officeDocument/2006/relationships/tags" Target="../tags/tag59.xml"/><Relationship Id="rId1" Type="http://schemas.openxmlformats.org/officeDocument/2006/relationships/tags" Target="../tags/tag58.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tags" Target="../tags/tag62.xml"/><Relationship Id="rId7" Type="http://schemas.microsoft.com/office/2007/relationships/hdphoto" Target="../media/hdphoto1.wdp"/><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image" Target="../media/image1.png"/><Relationship Id="rId5" Type="http://schemas.openxmlformats.org/officeDocument/2006/relationships/notesSlide" Target="../notesSlides/notesSlide25.xml"/><Relationship Id="rId4"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51.png"/><Relationship Id="rId2" Type="http://schemas.openxmlformats.org/officeDocument/2006/relationships/tags" Target="../tags/tag64.xml"/><Relationship Id="rId1" Type="http://schemas.openxmlformats.org/officeDocument/2006/relationships/tags" Target="../tags/tag63.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tags" Target="../tags/tag67.xml"/><Relationship Id="rId7" Type="http://schemas.microsoft.com/office/2007/relationships/hdphoto" Target="../media/hdphoto1.wdp"/><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1.png"/><Relationship Id="rId5" Type="http://schemas.openxmlformats.org/officeDocument/2006/relationships/notesSlide" Target="../notesSlides/notesSlide27.xml"/><Relationship Id="rId4"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51.png"/><Relationship Id="rId2" Type="http://schemas.openxmlformats.org/officeDocument/2006/relationships/tags" Target="../tags/tag69.xml"/><Relationship Id="rId1" Type="http://schemas.openxmlformats.org/officeDocument/2006/relationships/tags" Target="../tags/tag68.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1.xml"/><Relationship Id="rId1" Type="http://schemas.openxmlformats.org/officeDocument/2006/relationships/tags" Target="../tags/tag70.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52.png"/><Relationship Id="rId2" Type="http://schemas.openxmlformats.org/officeDocument/2006/relationships/tags" Target="../tags/tag73.xml"/><Relationship Id="rId1" Type="http://schemas.openxmlformats.org/officeDocument/2006/relationships/tags" Target="../tags/tag72.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slideLayout" Target="../slideLayouts/slideLayout7.xml"/><Relationship Id="rId7" Type="http://schemas.openxmlformats.org/officeDocument/2006/relationships/image" Target="../media/image53.png"/><Relationship Id="rId2" Type="http://schemas.openxmlformats.org/officeDocument/2006/relationships/tags" Target="../tags/tag75.xml"/><Relationship Id="rId1" Type="http://schemas.openxmlformats.org/officeDocument/2006/relationships/tags" Target="../tags/tag74.xml"/><Relationship Id="rId6" Type="http://schemas.microsoft.com/office/2007/relationships/hdphoto" Target="../media/hdphoto1.wdp"/><Relationship Id="rId5" Type="http://schemas.openxmlformats.org/officeDocument/2006/relationships/image" Target="../media/image1.png"/><Relationship Id="rId10" Type="http://schemas.openxmlformats.org/officeDocument/2006/relationships/image" Target="../media/image56.png"/><Relationship Id="rId4" Type="http://schemas.openxmlformats.org/officeDocument/2006/relationships/notesSlide" Target="../notesSlides/notesSlide31.xml"/><Relationship Id="rId9" Type="http://schemas.openxmlformats.org/officeDocument/2006/relationships/image" Target="../media/image55.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57.png"/><Relationship Id="rId2" Type="http://schemas.openxmlformats.org/officeDocument/2006/relationships/tags" Target="../tags/tag77.xml"/><Relationship Id="rId1" Type="http://schemas.openxmlformats.org/officeDocument/2006/relationships/tags" Target="../tags/tag76.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9.xml"/><Relationship Id="rId1" Type="http://schemas.openxmlformats.org/officeDocument/2006/relationships/tags" Target="../tags/tag78.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1.xml"/><Relationship Id="rId1" Type="http://schemas.openxmlformats.org/officeDocument/2006/relationships/tags" Target="../tags/tag80.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slideLayout" Target="../slideLayouts/slideLayout7.xml"/><Relationship Id="rId7" Type="http://schemas.openxmlformats.org/officeDocument/2006/relationships/image" Target="../media/image58.png"/><Relationship Id="rId2" Type="http://schemas.openxmlformats.org/officeDocument/2006/relationships/tags" Target="../tags/tag83.xml"/><Relationship Id="rId1" Type="http://schemas.openxmlformats.org/officeDocument/2006/relationships/tags" Target="../tags/tag82.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60.png"/><Relationship Id="rId2" Type="http://schemas.openxmlformats.org/officeDocument/2006/relationships/tags" Target="../tags/tag85.xml"/><Relationship Id="rId1" Type="http://schemas.openxmlformats.org/officeDocument/2006/relationships/tags" Target="../tags/tag84.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slideLayout" Target="../slideLayouts/slideLayout7.xml"/><Relationship Id="rId7" Type="http://schemas.openxmlformats.org/officeDocument/2006/relationships/image" Target="../media/image61.png"/><Relationship Id="rId2" Type="http://schemas.openxmlformats.org/officeDocument/2006/relationships/tags" Target="../tags/tag87.xml"/><Relationship Id="rId1" Type="http://schemas.openxmlformats.org/officeDocument/2006/relationships/tags" Target="../tags/tag86.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37.xml"/><Relationship Id="rId9" Type="http://schemas.openxmlformats.org/officeDocument/2006/relationships/image" Target="../media/image63.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64.png"/><Relationship Id="rId2" Type="http://schemas.openxmlformats.org/officeDocument/2006/relationships/tags" Target="../tags/tag89.xml"/><Relationship Id="rId1" Type="http://schemas.openxmlformats.org/officeDocument/2006/relationships/tags" Target="../tags/tag88.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1.xml"/><Relationship Id="rId1" Type="http://schemas.openxmlformats.org/officeDocument/2006/relationships/tags" Target="../tags/tag90.xml"/><Relationship Id="rId6" Type="http://schemas.microsoft.com/office/2007/relationships/hdphoto" Target="../media/hdphoto1.wdp"/><Relationship Id="rId5" Type="http://schemas.openxmlformats.org/officeDocument/2006/relationships/image" Target="../media/image1.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 Id="rId5" Type="http://schemas.openxmlformats.org/officeDocument/2006/relationships/notesSlide" Target="../notesSlides/notesSlide40.xml"/><Relationship Id="rId4"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6D2B85"/>
        </a:solidFill>
        <a:effectLst/>
      </p:bgPr>
    </p:bg>
    <p:spTree>
      <p:nvGrpSpPr>
        <p:cNvPr id="1" name=""/>
        <p:cNvGrpSpPr/>
        <p:nvPr/>
      </p:nvGrpSpPr>
      <p:grpSpPr>
        <a:xfrm>
          <a:off x="0" y="0"/>
          <a:ext cx="0" cy="0"/>
          <a:chOff x="0" y="0"/>
          <a:chExt cx="0" cy="0"/>
        </a:xfrm>
      </p:grpSpPr>
      <p:sp>
        <p:nvSpPr>
          <p:cNvPr id="3" name="文本框 2"/>
          <p:cNvSpPr txBox="1"/>
          <p:nvPr/>
        </p:nvSpPr>
        <p:spPr>
          <a:xfrm>
            <a:off x="1398270" y="1903095"/>
            <a:ext cx="9701530" cy="3480435"/>
          </a:xfrm>
          <a:prstGeom prst="rect">
            <a:avLst/>
          </a:prstGeom>
        </p:spPr>
        <p:txBody>
          <a:bodyPr>
            <a:noAutofit/>
          </a:bodyPr>
          <a:lstStyle/>
          <a:p>
            <a:r>
              <a:rPr lang="zh-CN" altLang="en-US" sz="6000" dirty="0">
                <a:solidFill>
                  <a:schemeClr val="bg1"/>
                </a:solidFill>
              </a:rPr>
              <a:t>大语言模型在知识图谱推理中的结构化规划与对齐方法</a:t>
            </a:r>
          </a:p>
        </p:txBody>
      </p:sp>
      <p:sp>
        <p:nvSpPr>
          <p:cNvPr id="4" name="文本框 3"/>
          <p:cNvSpPr txBox="1"/>
          <p:nvPr>
            <p:custDataLst>
              <p:tags r:id="rId1"/>
            </p:custDataLst>
          </p:nvPr>
        </p:nvSpPr>
        <p:spPr>
          <a:xfrm>
            <a:off x="4451350" y="5224145"/>
            <a:ext cx="3289300" cy="368300"/>
          </a:xfrm>
          <a:prstGeom prst="rect">
            <a:avLst/>
          </a:prstGeom>
          <a:noFill/>
        </p:spPr>
        <p:txBody>
          <a:bodyPr wrap="square" rtlCol="0">
            <a:spAutoFit/>
          </a:bodyPr>
          <a:lstStyle/>
          <a:p>
            <a:pPr algn="ctr"/>
            <a:r>
              <a:rPr lang="zh-CN" altLang="en-US" dirty="0">
                <a:solidFill>
                  <a:schemeClr val="bg1"/>
                </a:solidFill>
                <a:latin typeface="印品黑体" panose="00000500000000000000" pitchFamily="2" charset="-122"/>
                <a:ea typeface="印品黑体" panose="00000500000000000000" pitchFamily="2" charset="-122"/>
              </a:rPr>
              <a:t>报告人：高青召</a:t>
            </a:r>
          </a:p>
        </p:txBody>
      </p:sp>
      <p:sp>
        <p:nvSpPr>
          <p:cNvPr id="2" name="文本框 11"/>
          <p:cNvSpPr txBox="1"/>
          <p:nvPr/>
        </p:nvSpPr>
        <p:spPr>
          <a:xfrm>
            <a:off x="4353696" y="5890396"/>
            <a:ext cx="3289300" cy="3683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dirty="0">
                <a:solidFill>
                  <a:schemeClr val="bg1"/>
                </a:solidFill>
                <a:latin typeface="印品黑体" panose="00000500000000000000" pitchFamily="2" charset="-122"/>
                <a:ea typeface="印品黑体" panose="00000500000000000000" pitchFamily="2" charset="-122"/>
              </a:rPr>
              <a:t>2026.04.01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dirty="0"/>
              <a:t>方法概览</a:t>
            </a:r>
            <a:endParaRPr kumimoji="1" lang="zh-CN" altLang="en-US" sz="2500" dirty="0"/>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pic>
        <p:nvPicPr>
          <p:cNvPr id="2" name="图片 1" descr="Gemini_Generated_Image_14789628472099120248.png"/>
          <p:cNvPicPr>
            <a:picLocks noChangeAspect="1"/>
          </p:cNvPicPr>
          <p:nvPr/>
        </p:nvPicPr>
        <p:blipFill>
          <a:blip r:embed="rId7"/>
          <a:stretch>
            <a:fillRect/>
          </a:stretch>
        </p:blipFill>
        <p:spPr>
          <a:xfrm>
            <a:off x="175895" y="772160"/>
            <a:ext cx="11569700" cy="5852160"/>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7" name="文本框 6"/>
          <p:cNvSpPr txBox="1"/>
          <p:nvPr>
            <p:custDataLst>
              <p:tags r:id="rId2"/>
            </p:custDataLst>
          </p:nvPr>
        </p:nvSpPr>
        <p:spPr>
          <a:xfrm>
            <a:off x="91733" y="6389370"/>
            <a:ext cx="7192645" cy="368300"/>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发表：</a:t>
            </a:r>
            <a:r>
              <a:rPr lang="en-US" altLang="zh-CN" dirty="0"/>
              <a:t>TPAMI 2026</a:t>
            </a:r>
          </a:p>
        </p:txBody>
      </p:sp>
      <p:pic>
        <p:nvPicPr>
          <p:cNvPr id="2" name="图片 1"/>
          <p:cNvPicPr>
            <a:picLocks noChangeAspect="1"/>
          </p:cNvPicPr>
          <p:nvPr/>
        </p:nvPicPr>
        <p:blipFill>
          <a:blip r:embed="rId7"/>
          <a:stretch>
            <a:fillRect/>
          </a:stretch>
        </p:blipFill>
        <p:spPr>
          <a:xfrm>
            <a:off x="1187450" y="883285"/>
            <a:ext cx="9895840" cy="3716655"/>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背景和动机</a:t>
            </a:r>
          </a:p>
        </p:txBody>
      </p:sp>
      <p:pic>
        <p:nvPicPr>
          <p:cNvPr id="6" name="图片 5"/>
          <p:cNvPicPr>
            <a:picLocks noChangeAspect="1"/>
          </p:cNvPicPr>
          <p:nvPr>
            <p:custDataLst>
              <p:tags r:id="rId2"/>
            </p:custDataLst>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3" name="文本框 2"/>
          <p:cNvSpPr txBox="1"/>
          <p:nvPr>
            <p:custDataLst>
              <p:tags r:id="rId3"/>
            </p:custDataLst>
          </p:nvPr>
        </p:nvSpPr>
        <p:spPr>
          <a:xfrm>
            <a:off x="195580" y="731520"/>
            <a:ext cx="11800205" cy="5434330"/>
          </a:xfrm>
          <a:prstGeom prst="rect">
            <a:avLst/>
          </a:prstGeom>
          <a:noFill/>
        </p:spPr>
        <p:txBody>
          <a:bodyPr wrap="square" rtlCol="0" anchor="t">
            <a:noAutofit/>
          </a:bodyPr>
          <a:lstStyle/>
          <a:p>
            <a:pPr marL="457200" lvl="2" indent="0" algn="l">
              <a:lnSpc>
                <a:spcPct val="150000"/>
              </a:lnSpc>
              <a:buFont typeface="Arial" panose="020B0604020202020204" pitchFamily="34" charset="0"/>
              <a:buNone/>
            </a:pPr>
            <a:r>
              <a:rPr lang="zh-CN" altLang="en-US" sz="2000" b="1" dirty="0">
                <a:latin typeface="+mn-ea"/>
                <a:cs typeface="+mn-ea"/>
              </a:rPr>
              <a:t>研究背景：</a:t>
            </a:r>
            <a:r>
              <a:rPr lang="zh-CN" altLang="en-US" sz="2000" dirty="0">
                <a:latin typeface="+mn-ea"/>
                <a:cs typeface="+mn-ea"/>
              </a:rPr>
              <a:t>现有知识图谱问答方法存在两类关键局限，而</a:t>
            </a:r>
            <a:r>
              <a:rPr lang="en-US" altLang="zh-CN" sz="2000" dirty="0">
                <a:latin typeface="+mn-ea"/>
                <a:cs typeface="+mn-ea"/>
              </a:rPr>
              <a:t>LLM</a:t>
            </a:r>
            <a:r>
              <a:rPr lang="zh-CN" altLang="en-US" sz="2000" dirty="0">
                <a:latin typeface="+mn-ea"/>
                <a:cs typeface="+mn-ea"/>
              </a:rPr>
              <a:t>与</a:t>
            </a:r>
            <a:r>
              <a:rPr lang="en-US" altLang="zh-CN" sz="2000" dirty="0">
                <a:latin typeface="+mn-ea"/>
                <a:cs typeface="+mn-ea"/>
              </a:rPr>
              <a:t>KG</a:t>
            </a:r>
            <a:r>
              <a:rPr lang="zh-CN" altLang="en-US" sz="2000" dirty="0">
                <a:latin typeface="+mn-ea"/>
                <a:cs typeface="+mn-ea"/>
              </a:rPr>
              <a:t>的能力具有显著互补性</a:t>
            </a:r>
          </a:p>
          <a:p>
            <a:pPr marL="457200" lvl="2" indent="0" algn="l">
              <a:lnSpc>
                <a:spcPct val="150000"/>
              </a:lnSpc>
              <a:buFont typeface="Arial" panose="020B0604020202020204" pitchFamily="34" charset="0"/>
              <a:buNone/>
            </a:pPr>
            <a:endParaRPr lang="zh-CN" altLang="en-US" sz="2000" dirty="0">
              <a:latin typeface="+mn-ea"/>
              <a:cs typeface="+mn-ea"/>
            </a:endParaRPr>
          </a:p>
          <a:p>
            <a:pPr lvl="2" indent="-457200" algn="l">
              <a:lnSpc>
                <a:spcPct val="150000"/>
              </a:lnSpc>
              <a:buFont typeface="Arial" panose="020B0604020202020204" pitchFamily="34" charset="0"/>
              <a:buAutoNum type="arabicPeriod"/>
            </a:pPr>
            <a:r>
              <a:rPr lang="zh-CN" altLang="en-US" sz="2000" dirty="0">
                <a:latin typeface="+mn-ea"/>
                <a:cs typeface="+mn-ea"/>
              </a:rPr>
              <a:t>基于</a:t>
            </a:r>
            <a:r>
              <a:rPr lang="en-US" altLang="zh-CN" sz="2000" dirty="0">
                <a:latin typeface="+mn-ea"/>
                <a:cs typeface="+mn-ea"/>
              </a:rPr>
              <a:t>LLM</a:t>
            </a:r>
            <a:r>
              <a:rPr lang="zh-CN" altLang="en-US" sz="2000" dirty="0">
                <a:latin typeface="+mn-ea"/>
                <a:cs typeface="+mn-ea"/>
              </a:rPr>
              <a:t>推理的方法：</a:t>
            </a:r>
          </a:p>
          <a:p>
            <a:pPr marL="1257300" lvl="3" indent="-342900" algn="l">
              <a:lnSpc>
                <a:spcPct val="150000"/>
              </a:lnSpc>
              <a:buFont typeface="Arial" panose="020B0604020202020204" pitchFamily="34" charset="0"/>
              <a:buChar char="•"/>
            </a:pPr>
            <a:r>
              <a:rPr lang="zh-CN" altLang="en-US" sz="2000" dirty="0">
                <a:latin typeface="+mn-ea"/>
                <a:cs typeface="+mn-ea"/>
              </a:rPr>
              <a:t>虽能生成类人推理链，但易产生幻觉，缺乏事实支撑，导致结果不可靠</a:t>
            </a:r>
          </a:p>
          <a:p>
            <a:pPr marL="1257300" lvl="3" indent="-342900" algn="l">
              <a:lnSpc>
                <a:spcPct val="150000"/>
              </a:lnSpc>
              <a:buFont typeface="Arial" panose="020B0604020202020204" pitchFamily="34" charset="0"/>
              <a:buChar char="•"/>
            </a:pPr>
            <a:endParaRPr lang="zh-CN" altLang="en-US" sz="2000" dirty="0">
              <a:latin typeface="+mn-ea"/>
              <a:cs typeface="+mn-ea"/>
            </a:endParaRPr>
          </a:p>
          <a:p>
            <a:pPr lvl="2" indent="-457200" algn="l">
              <a:lnSpc>
                <a:spcPct val="150000"/>
              </a:lnSpc>
              <a:buFont typeface="Arial" panose="020B0604020202020204" pitchFamily="34" charset="0"/>
              <a:buAutoNum type="arabicPeriod"/>
            </a:pPr>
            <a:r>
              <a:rPr lang="en-US" altLang="zh-CN" sz="2000" dirty="0">
                <a:latin typeface="+mn-ea"/>
                <a:cs typeface="+mn-ea"/>
              </a:rPr>
              <a:t>KG</a:t>
            </a:r>
            <a:r>
              <a:rPr lang="zh-CN" altLang="en-US" sz="2000" dirty="0">
                <a:latin typeface="+mn-ea"/>
                <a:cs typeface="+mn-ea"/>
              </a:rPr>
              <a:t>推理类方法：</a:t>
            </a:r>
          </a:p>
          <a:p>
            <a:pPr lvl="3" indent="-457200" algn="l">
              <a:lnSpc>
                <a:spcPct val="150000"/>
              </a:lnSpc>
              <a:buFont typeface="Arial" panose="020B0604020202020204" pitchFamily="34" charset="0"/>
              <a:buChar char="•"/>
            </a:pPr>
            <a:r>
              <a:rPr lang="zh-CN" altLang="en-US" sz="2000" dirty="0">
                <a:latin typeface="+mn-ea"/>
                <a:cs typeface="+mn-ea"/>
              </a:rPr>
              <a:t>包括</a:t>
            </a:r>
            <a:r>
              <a:rPr lang="zh-CN" altLang="en-US" sz="2000" dirty="0">
                <a:solidFill>
                  <a:srgbClr val="FF0000"/>
                </a:solidFill>
                <a:latin typeface="+mn-ea"/>
                <a:cs typeface="+mn-ea"/>
              </a:rPr>
              <a:t>无训练的智能体探索</a:t>
            </a:r>
            <a:r>
              <a:rPr lang="zh-CN" altLang="en-US" sz="2000" dirty="0">
                <a:latin typeface="+mn-ea"/>
                <a:cs typeface="+mn-ea"/>
              </a:rPr>
              <a:t>和</a:t>
            </a:r>
            <a:r>
              <a:rPr lang="zh-CN" altLang="en-US" sz="2000" dirty="0">
                <a:solidFill>
                  <a:srgbClr val="FF0000"/>
                </a:solidFill>
                <a:latin typeface="+mn-ea"/>
                <a:cs typeface="+mn-ea"/>
              </a:rPr>
              <a:t>有训练的路径生成</a:t>
            </a:r>
            <a:r>
              <a:rPr lang="zh-CN" altLang="en-US" sz="2000" dirty="0">
                <a:latin typeface="+mn-ea"/>
                <a:cs typeface="+mn-ea"/>
              </a:rPr>
              <a:t>，前者依赖</a:t>
            </a:r>
            <a:r>
              <a:rPr lang="en-US" altLang="zh-CN" sz="2000" dirty="0">
                <a:latin typeface="+mn-ea"/>
                <a:cs typeface="+mn-ea"/>
              </a:rPr>
              <a:t>Prompt</a:t>
            </a:r>
            <a:r>
              <a:rPr lang="zh-CN" altLang="en-US" sz="2000" dirty="0">
                <a:latin typeface="+mn-ea"/>
                <a:cs typeface="+mn-ea"/>
              </a:rPr>
              <a:t>工程，推理过程无全局规划；后者直接生成</a:t>
            </a:r>
            <a:r>
              <a:rPr lang="en-US" altLang="zh-CN" sz="2000" dirty="0">
                <a:latin typeface="+mn-ea"/>
                <a:cs typeface="+mn-ea"/>
              </a:rPr>
              <a:t>KG</a:t>
            </a:r>
            <a:r>
              <a:rPr lang="zh-CN" altLang="en-US" sz="2000" dirty="0">
                <a:latin typeface="+mn-ea"/>
                <a:cs typeface="+mn-ea"/>
              </a:rPr>
              <a:t>路径，缺乏类人逻辑，且易受噪声路径干扰</a:t>
            </a:r>
          </a:p>
          <a:p>
            <a:pPr lvl="3" indent="-457200" algn="l">
              <a:lnSpc>
                <a:spcPct val="150000"/>
              </a:lnSpc>
              <a:buFont typeface="Arial" panose="020B0604020202020204" pitchFamily="34" charset="0"/>
              <a:buChar char="•"/>
            </a:pPr>
            <a:endParaRPr lang="zh-CN" altLang="en-US" sz="2000" dirty="0">
              <a:latin typeface="+mn-ea"/>
              <a:cs typeface="+mn-ea"/>
            </a:endParaRPr>
          </a:p>
          <a:p>
            <a:pPr lvl="2" indent="-457200" algn="l">
              <a:lnSpc>
                <a:spcPct val="150000"/>
              </a:lnSpc>
              <a:buFont typeface="Arial" panose="020B0604020202020204" pitchFamily="34" charset="0"/>
              <a:buAutoNum type="arabicPeriod"/>
            </a:pPr>
            <a:r>
              <a:rPr lang="zh-CN" altLang="en-US" sz="2000" dirty="0">
                <a:latin typeface="+mn-ea"/>
                <a:cs typeface="+mn-ea"/>
              </a:rPr>
              <a:t>互补性机遇：</a:t>
            </a:r>
          </a:p>
          <a:p>
            <a:pPr lvl="3" indent="-457200" algn="l">
              <a:lnSpc>
                <a:spcPct val="150000"/>
              </a:lnSpc>
              <a:buFont typeface="Arial" panose="020B0604020202020204" pitchFamily="34" charset="0"/>
              <a:buChar char="•"/>
            </a:pPr>
            <a:r>
              <a:rPr lang="en-US" altLang="zh-CN" sz="2000" dirty="0">
                <a:latin typeface="+mn-ea"/>
                <a:cs typeface="+mn-ea"/>
              </a:rPr>
              <a:t>LLM</a:t>
            </a:r>
            <a:r>
              <a:rPr lang="zh-CN" altLang="en-US" sz="2000" dirty="0">
                <a:latin typeface="+mn-ea"/>
                <a:cs typeface="+mn-ea"/>
              </a:rPr>
              <a:t>可提供</a:t>
            </a:r>
            <a:r>
              <a:rPr lang="zh-CN" altLang="en-US" sz="2000" dirty="0">
                <a:solidFill>
                  <a:srgbClr val="FF0000"/>
                </a:solidFill>
                <a:latin typeface="+mn-ea"/>
                <a:cs typeface="+mn-ea"/>
              </a:rPr>
              <a:t>全局规划</a:t>
            </a:r>
            <a:r>
              <a:rPr lang="zh-CN" altLang="en-US" sz="2000" dirty="0">
                <a:latin typeface="+mn-ea"/>
                <a:cs typeface="+mn-ea"/>
              </a:rPr>
              <a:t>，</a:t>
            </a:r>
            <a:r>
              <a:rPr lang="en-US" altLang="zh-CN" sz="2000" dirty="0">
                <a:latin typeface="+mn-ea"/>
                <a:cs typeface="+mn-ea"/>
              </a:rPr>
              <a:t>KG</a:t>
            </a:r>
            <a:r>
              <a:rPr lang="zh-CN" altLang="en-US" sz="2000" dirty="0">
                <a:latin typeface="+mn-ea"/>
                <a:cs typeface="+mn-ea"/>
              </a:rPr>
              <a:t>拥有结构化事实知识，能为推理</a:t>
            </a:r>
            <a:r>
              <a:rPr lang="zh-CN" altLang="en-US" sz="2000" dirty="0">
                <a:solidFill>
                  <a:srgbClr val="FF0000"/>
                </a:solidFill>
                <a:latin typeface="+mn-ea"/>
                <a:cs typeface="+mn-ea"/>
              </a:rPr>
              <a:t>提供可靠约束</a:t>
            </a:r>
            <a:r>
              <a:rPr lang="zh-CN" altLang="en-US" sz="2000" dirty="0">
                <a:latin typeface="+mn-ea"/>
                <a:cs typeface="+mn-ea"/>
              </a:rPr>
              <a:t>。二者结合可同时提升</a:t>
            </a:r>
            <a:r>
              <a:rPr lang="en-US" altLang="zh-CN" sz="2000" dirty="0">
                <a:latin typeface="+mn-ea"/>
                <a:cs typeface="+mn-ea"/>
              </a:rPr>
              <a:t>KGQA</a:t>
            </a:r>
            <a:r>
              <a:rPr lang="zh-CN" altLang="en-US" sz="2000" dirty="0">
                <a:latin typeface="+mn-ea"/>
                <a:cs typeface="+mn-ea"/>
              </a:rPr>
              <a:t>的准确性与可解释性。</a:t>
            </a:r>
          </a:p>
          <a:p>
            <a:pPr lvl="1" indent="0">
              <a:lnSpc>
                <a:spcPct val="150000"/>
              </a:lnSpc>
              <a:buFont typeface="Arial" panose="020B0604020202020204" pitchFamily="34" charset="0"/>
              <a:buNone/>
            </a:pPr>
            <a:endParaRPr lang="zh-CN" altLang="en-US" sz="2000" b="1" dirty="0">
              <a:latin typeface="+mn-ea"/>
              <a:cs typeface="+mn-ea"/>
            </a:endParaRPr>
          </a:p>
          <a:p>
            <a:pPr marL="800100" lvl="1" indent="-342900">
              <a:lnSpc>
                <a:spcPct val="150000"/>
              </a:lnSpc>
              <a:buFont typeface="Arial" panose="020B0604020202020204" pitchFamily="34" charset="0"/>
              <a:buChar char="•"/>
            </a:pPr>
            <a:endParaRPr lang="zh-CN" altLang="en-US" sz="2000" b="1" dirty="0">
              <a:latin typeface="+mn-ea"/>
              <a:cs typeface="+mn-ea"/>
            </a:endParaRPr>
          </a:p>
          <a:p>
            <a:pPr lvl="1" indent="0">
              <a:lnSpc>
                <a:spcPct val="150000"/>
              </a:lnSpc>
              <a:buFont typeface="Arial" panose="020B0604020202020204" pitchFamily="34" charset="0"/>
              <a:buNone/>
            </a:pPr>
            <a:endParaRPr lang="zh-CN" altLang="en-US" sz="2000" b="1" dirty="0">
              <a:latin typeface="+mn-ea"/>
              <a:cs typeface="+mn-ea"/>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方法对比</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10" name="五边形 9"/>
          <p:cNvSpPr/>
          <p:nvPr/>
        </p:nvSpPr>
        <p:spPr>
          <a:xfrm>
            <a:off x="854075" y="1670050"/>
            <a:ext cx="3143250" cy="1263650"/>
          </a:xfrm>
          <a:prstGeom prst="homePlate">
            <a:avLst/>
          </a:prstGeom>
          <a:ln>
            <a:solidFill>
              <a:srgbClr val="7030A0"/>
            </a:solidFill>
          </a:ln>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2" name="文本框 11"/>
          <p:cNvSpPr txBox="1"/>
          <p:nvPr/>
        </p:nvSpPr>
        <p:spPr>
          <a:xfrm>
            <a:off x="930275" y="1774825"/>
            <a:ext cx="2717165" cy="1054735"/>
          </a:xfrm>
          <a:prstGeom prst="rect">
            <a:avLst/>
          </a:prstGeom>
          <a:noFill/>
        </p:spPr>
        <p:txBody>
          <a:bodyPr wrap="square" rtlCol="0">
            <a:noAutofit/>
          </a:bodyPr>
          <a:lstStyle/>
          <a:p>
            <a:r>
              <a:rPr lang="zh-CN" altLang="en-US" sz="1600"/>
              <a:t>无训练式智能体探索方法</a:t>
            </a:r>
          </a:p>
          <a:p>
            <a:pPr marL="285750" indent="-285750">
              <a:buFont typeface="Arial" panose="020B0604020202020204" pitchFamily="34" charset="0"/>
              <a:buChar char="•"/>
            </a:pPr>
            <a:r>
              <a:rPr lang="zh-CN" altLang="en-US" sz="1600"/>
              <a:t>没有全局规划，推理引导</a:t>
            </a:r>
          </a:p>
          <a:p>
            <a:pPr marL="285750" indent="-285750">
              <a:buFont typeface="Arial" panose="020B0604020202020204" pitchFamily="34" charset="0"/>
              <a:buChar char="•"/>
            </a:pPr>
            <a:r>
              <a:rPr lang="zh-CN" altLang="en-US" sz="1600"/>
              <a:t>容易走错路径</a:t>
            </a:r>
          </a:p>
          <a:p>
            <a:pPr marL="285750" indent="-285750">
              <a:buFont typeface="Arial" panose="020B0604020202020204" pitchFamily="34" charset="0"/>
              <a:buChar char="•"/>
            </a:pPr>
            <a:r>
              <a:rPr lang="zh-CN" altLang="en-US" sz="1600"/>
              <a:t>依赖</a:t>
            </a:r>
            <a:r>
              <a:rPr lang="en-US" altLang="zh-CN" sz="1600"/>
              <a:t>prompt</a:t>
            </a:r>
            <a:endParaRPr lang="zh-CN" altLang="en-US" sz="1600"/>
          </a:p>
          <a:p>
            <a:pPr marL="285750" indent="-285750">
              <a:buFont typeface="Arial" panose="020B0604020202020204" pitchFamily="34" charset="0"/>
              <a:buChar char="•"/>
            </a:pPr>
            <a:endParaRPr lang="zh-CN" altLang="en-US" sz="1600"/>
          </a:p>
        </p:txBody>
      </p:sp>
      <p:sp>
        <p:nvSpPr>
          <p:cNvPr id="14" name="文本框 13"/>
          <p:cNvSpPr txBox="1"/>
          <p:nvPr/>
        </p:nvSpPr>
        <p:spPr>
          <a:xfrm>
            <a:off x="9004300" y="1622425"/>
            <a:ext cx="2545080" cy="1054735"/>
          </a:xfrm>
          <a:prstGeom prst="rect">
            <a:avLst/>
          </a:prstGeom>
          <a:noFill/>
        </p:spPr>
        <p:txBody>
          <a:bodyPr wrap="square" rtlCol="0">
            <a:noAutofit/>
          </a:bodyPr>
          <a:lstStyle/>
          <a:p>
            <a:pPr indent="0">
              <a:buFont typeface="Arial" panose="020B0604020202020204" pitchFamily="34" charset="0"/>
              <a:buNone/>
            </a:pPr>
            <a:r>
              <a:rPr lang="en-US" altLang="zh-CN" sz="1600" dirty="0"/>
              <a:t>  </a:t>
            </a:r>
            <a:r>
              <a:rPr lang="zh-CN" altLang="en-US" sz="1600" dirty="0"/>
              <a:t>基于训练的路径生成方法</a:t>
            </a:r>
          </a:p>
          <a:p>
            <a:pPr marL="285750" indent="-285750">
              <a:buFont typeface="Arial" panose="020B0604020202020204" pitchFamily="34" charset="0"/>
              <a:buChar char="•"/>
            </a:pPr>
            <a:r>
              <a:rPr lang="zh-CN" altLang="en-US" sz="1600" dirty="0"/>
              <a:t>没有类人推理过程</a:t>
            </a:r>
          </a:p>
          <a:p>
            <a:pPr marL="285750" indent="-285750">
              <a:buFont typeface="Arial" panose="020B0604020202020204" pitchFamily="34" charset="0"/>
              <a:buChar char="•"/>
            </a:pPr>
            <a:r>
              <a:rPr lang="zh-CN" altLang="en-US" sz="1600" dirty="0"/>
              <a:t>路径可能不合理</a:t>
            </a:r>
          </a:p>
          <a:p>
            <a:pPr marL="285750" indent="-285750">
              <a:buFont typeface="Arial" panose="020B0604020202020204" pitchFamily="34" charset="0"/>
              <a:buChar char="•"/>
            </a:pPr>
            <a:r>
              <a:rPr lang="zh-CN" altLang="en-US" sz="1600" dirty="0"/>
              <a:t>容易受到噪声路径干扰</a:t>
            </a:r>
          </a:p>
          <a:p>
            <a:pPr indent="0">
              <a:buFont typeface="Arial" panose="020B0604020202020204" pitchFamily="34" charset="0"/>
              <a:buNone/>
            </a:pPr>
            <a:endParaRPr lang="zh-CN" altLang="en-US" sz="1600" dirty="0"/>
          </a:p>
        </p:txBody>
      </p:sp>
      <p:sp>
        <p:nvSpPr>
          <p:cNvPr id="15" name="五边形 14"/>
          <p:cNvSpPr/>
          <p:nvPr/>
        </p:nvSpPr>
        <p:spPr>
          <a:xfrm rot="10800000">
            <a:off x="8480425" y="1518285"/>
            <a:ext cx="3143250" cy="1263650"/>
          </a:xfrm>
          <a:prstGeom prst="homePlate">
            <a:avLst/>
          </a:prstGeom>
          <a:ln>
            <a:solidFill>
              <a:srgbClr val="7030A0"/>
            </a:solidFill>
          </a:ln>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9" name="文本框 18"/>
          <p:cNvSpPr txBox="1"/>
          <p:nvPr/>
        </p:nvSpPr>
        <p:spPr>
          <a:xfrm>
            <a:off x="316230" y="4094480"/>
            <a:ext cx="4064000" cy="1198880"/>
          </a:xfrm>
          <a:prstGeom prst="rect">
            <a:avLst/>
          </a:prstGeom>
          <a:noFill/>
        </p:spPr>
        <p:txBody>
          <a:bodyPr wrap="square" rtlCol="0">
            <a:spAutoFit/>
          </a:bodyPr>
          <a:lstStyle/>
          <a:p>
            <a:r>
              <a:rPr lang="en-US" altLang="zh-CN" b="1"/>
              <a:t>RAR</a:t>
            </a:r>
            <a:r>
              <a:rPr lang="zh-CN" altLang="en-US" b="1"/>
              <a:t>框架</a:t>
            </a:r>
          </a:p>
          <a:p>
            <a:pPr marL="285750" indent="-285750">
              <a:buFont typeface="Arial" panose="020B0604020202020204" pitchFamily="34" charset="0"/>
              <a:buChar char="•"/>
            </a:pPr>
            <a:r>
              <a:rPr lang="en-US" altLang="zh-CN"/>
              <a:t>Reasoner</a:t>
            </a:r>
            <a:r>
              <a:rPr lang="zh-CN" altLang="en-US"/>
              <a:t>：先做人类式推理</a:t>
            </a:r>
          </a:p>
          <a:p>
            <a:pPr marL="285750" indent="-285750">
              <a:buFont typeface="Arial" panose="020B0604020202020204" pitchFamily="34" charset="0"/>
              <a:buChar char="•"/>
            </a:pPr>
            <a:r>
              <a:rPr lang="en-US" altLang="zh-CN"/>
              <a:t>Aligner</a:t>
            </a:r>
            <a:r>
              <a:rPr lang="zh-CN" altLang="en-US"/>
              <a:t>：把推理对齐到</a:t>
            </a:r>
            <a:r>
              <a:rPr lang="en-US" altLang="zh-CN"/>
              <a:t>KG</a:t>
            </a:r>
            <a:r>
              <a:rPr lang="zh-CN" altLang="en-US"/>
              <a:t>路径</a:t>
            </a:r>
          </a:p>
          <a:p>
            <a:pPr marL="285750" indent="-285750">
              <a:buFont typeface="Arial" panose="020B0604020202020204" pitchFamily="34" charset="0"/>
              <a:buChar char="•"/>
            </a:pPr>
            <a:r>
              <a:rPr lang="en-US" altLang="zh-CN"/>
              <a:t>Responser</a:t>
            </a:r>
            <a:r>
              <a:rPr lang="zh-CN" altLang="en-US"/>
              <a:t>：生成最终答案</a:t>
            </a:r>
          </a:p>
        </p:txBody>
      </p:sp>
      <p:pic>
        <p:nvPicPr>
          <p:cNvPr id="2" name="图片 1"/>
          <p:cNvPicPr>
            <a:picLocks noChangeAspect="1"/>
          </p:cNvPicPr>
          <p:nvPr/>
        </p:nvPicPr>
        <p:blipFill>
          <a:blip r:embed="rId7"/>
          <a:stretch>
            <a:fillRect/>
          </a:stretch>
        </p:blipFill>
        <p:spPr>
          <a:xfrm>
            <a:off x="3997325" y="894715"/>
            <a:ext cx="4349750" cy="5856605"/>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论文贡献</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8" name="文本框 7"/>
          <p:cNvSpPr txBox="1"/>
          <p:nvPr/>
        </p:nvSpPr>
        <p:spPr>
          <a:xfrm>
            <a:off x="455295" y="930275"/>
            <a:ext cx="11141710" cy="4997450"/>
          </a:xfrm>
          <a:prstGeom prst="rect">
            <a:avLst/>
          </a:prstGeom>
          <a:noFill/>
        </p:spPr>
        <p:txBody>
          <a:bodyPr wrap="square" rtlCol="0">
            <a:noAutofit/>
          </a:bodyPr>
          <a:lstStyle/>
          <a:p>
            <a:pPr indent="0">
              <a:buNone/>
            </a:pPr>
            <a:r>
              <a:rPr lang="en-US" altLang="zh-CN" b="1" dirty="0"/>
              <a:t>1.</a:t>
            </a:r>
            <a:r>
              <a:rPr lang="zh-CN" altLang="en-US" b="1" dirty="0"/>
              <a:t>提出</a:t>
            </a:r>
            <a:r>
              <a:rPr lang="en-US" altLang="zh-CN" b="1" dirty="0"/>
              <a:t>RAR</a:t>
            </a:r>
            <a:r>
              <a:rPr lang="zh-CN" altLang="en-US" b="1" dirty="0"/>
              <a:t>框架，实现推理与知识的对齐</a:t>
            </a:r>
          </a:p>
          <a:p>
            <a:pPr indent="0">
              <a:buNone/>
            </a:pPr>
            <a:endParaRPr lang="zh-CN" altLang="en-US" b="1" dirty="0"/>
          </a:p>
          <a:p>
            <a:pPr marL="800100" lvl="1" indent="-342900">
              <a:buFont typeface="Arial" panose="020B0604020202020204" pitchFamily="34" charset="0"/>
              <a:buChar char="•"/>
            </a:pPr>
            <a:r>
              <a:rPr lang="en-US" altLang="zh-CN" dirty="0"/>
              <a:t>Reasoner</a:t>
            </a:r>
            <a:r>
              <a:rPr lang="zh-CN" altLang="en-US" dirty="0"/>
              <a:t>、</a:t>
            </a:r>
            <a:r>
              <a:rPr lang="en-US" altLang="zh-CN" dirty="0"/>
              <a:t>Aligner </a:t>
            </a:r>
            <a:r>
              <a:rPr lang="zh-CN" altLang="en-US" dirty="0"/>
              <a:t>和</a:t>
            </a:r>
            <a:r>
              <a:rPr lang="en-US" altLang="zh-CN" dirty="0"/>
              <a:t> </a:t>
            </a:r>
            <a:r>
              <a:rPr lang="en-US" altLang="zh-CN" dirty="0" err="1"/>
              <a:t>Responser</a:t>
            </a:r>
            <a:endParaRPr lang="en-US" altLang="zh-CN" dirty="0"/>
          </a:p>
          <a:p>
            <a:pPr marL="800100" lvl="1" indent="-342900">
              <a:buFont typeface="Arial" panose="020B0604020202020204" pitchFamily="34" charset="0"/>
              <a:buChar char="•"/>
            </a:pPr>
            <a:endParaRPr lang="en-US" altLang="zh-CN" dirty="0"/>
          </a:p>
          <a:p>
            <a:pPr indent="0">
              <a:buNone/>
            </a:pPr>
            <a:r>
              <a:rPr lang="en-US" altLang="zh-CN" b="1" dirty="0"/>
              <a:t>2.</a:t>
            </a:r>
            <a:r>
              <a:rPr lang="zh-CN" altLang="en-US" b="1" dirty="0"/>
              <a:t>引入基于隐变量的概率建模与</a:t>
            </a:r>
            <a:r>
              <a:rPr lang="en-US" altLang="zh-CN" b="1" dirty="0"/>
              <a:t>EM</a:t>
            </a:r>
            <a:r>
              <a:rPr lang="zh-CN" altLang="en-US" b="1" dirty="0"/>
              <a:t>优化机制</a:t>
            </a:r>
          </a:p>
          <a:p>
            <a:pPr indent="0">
              <a:buNone/>
            </a:pPr>
            <a:endParaRPr lang="zh-CN" altLang="en-US" b="1" dirty="0"/>
          </a:p>
          <a:p>
            <a:pPr marL="800100" lvl="1" indent="-342900">
              <a:buFont typeface="Arial" panose="020B0604020202020204" pitchFamily="34" charset="0"/>
              <a:buChar char="•"/>
            </a:pPr>
            <a:r>
              <a:rPr lang="zh-CN" altLang="en-US" dirty="0"/>
              <a:t>将</a:t>
            </a:r>
            <a:r>
              <a:rPr lang="en-US" altLang="zh-CN" dirty="0"/>
              <a:t>“</a:t>
            </a:r>
            <a:r>
              <a:rPr lang="zh-CN" altLang="en-US" dirty="0"/>
              <a:t>推理链</a:t>
            </a:r>
            <a:r>
              <a:rPr lang="en-US" altLang="zh-CN" dirty="0"/>
              <a:t>”</a:t>
            </a:r>
            <a:r>
              <a:rPr lang="zh-CN" altLang="en-US" dirty="0"/>
              <a:t>和</a:t>
            </a:r>
            <a:r>
              <a:rPr lang="en-US" altLang="zh-CN" dirty="0"/>
              <a:t>“</a:t>
            </a:r>
            <a:r>
              <a:rPr lang="zh-CN" altLang="en-US" dirty="0"/>
              <a:t>知识路径</a:t>
            </a:r>
            <a:r>
              <a:rPr lang="en-US" altLang="zh-CN" dirty="0"/>
              <a:t>”</a:t>
            </a:r>
            <a:r>
              <a:rPr lang="zh-CN" altLang="en-US" dirty="0"/>
              <a:t>建模为隐变量，构建统一的概率框架，并采用</a:t>
            </a:r>
            <a:r>
              <a:rPr lang="en-US" altLang="zh-CN" dirty="0"/>
              <a:t>EM</a:t>
            </a:r>
            <a:r>
              <a:rPr lang="zh-CN" altLang="en-US" dirty="0"/>
              <a:t>算法进行联合优化</a:t>
            </a:r>
          </a:p>
          <a:p>
            <a:pPr marL="800100" lvl="1" indent="-342900">
              <a:buFont typeface="Arial" panose="020B0604020202020204" pitchFamily="34" charset="0"/>
              <a:buChar char="•"/>
            </a:pPr>
            <a:endParaRPr lang="zh-CN" altLang="en-US" dirty="0"/>
          </a:p>
          <a:p>
            <a:pPr marL="800100" lvl="1" indent="-342900">
              <a:buFont typeface="Arial" panose="020B0604020202020204" pitchFamily="34" charset="0"/>
              <a:buChar char="•"/>
            </a:pPr>
            <a:r>
              <a:rPr lang="zh-CN" altLang="en-US" dirty="0"/>
              <a:t>通过迭代过程不断筛选高质量推理路径并优化模型参数，实现推理与知识对齐的逐步提升</a:t>
            </a:r>
          </a:p>
          <a:p>
            <a:pPr marL="800100" lvl="1" indent="-342900">
              <a:buFont typeface="Arial" panose="020B0604020202020204" pitchFamily="34" charset="0"/>
              <a:buChar char="•"/>
            </a:pPr>
            <a:endParaRPr lang="zh-CN" altLang="en-US" dirty="0"/>
          </a:p>
          <a:p>
            <a:pPr indent="0">
              <a:buNone/>
            </a:pPr>
            <a:r>
              <a:rPr lang="en-US" altLang="zh-CN" b="1" dirty="0"/>
              <a:t>3.</a:t>
            </a:r>
            <a:r>
              <a:rPr lang="zh-CN" altLang="en-US" b="1" dirty="0"/>
              <a:t>设计</a:t>
            </a:r>
            <a:r>
              <a:rPr lang="en-US" altLang="zh-CN" b="1" dirty="0"/>
              <a:t>KG</a:t>
            </a:r>
            <a:r>
              <a:rPr lang="zh-CN" altLang="en-US" b="1" dirty="0"/>
              <a:t>约束与路径增强机制，降低幻觉并提升完整性</a:t>
            </a:r>
          </a:p>
          <a:p>
            <a:pPr indent="0">
              <a:buNone/>
            </a:pPr>
            <a:endParaRPr lang="zh-CN" altLang="en-US" b="1" dirty="0"/>
          </a:p>
          <a:p>
            <a:pPr marL="800100" lvl="1" indent="-342900">
              <a:buFont typeface="Arial" panose="020B0604020202020204" pitchFamily="34" charset="0"/>
              <a:buChar char="•"/>
            </a:pPr>
            <a:r>
              <a:rPr lang="en-US" altLang="zh-CN" dirty="0"/>
              <a:t>KG</a:t>
            </a:r>
            <a:r>
              <a:rPr lang="zh-CN" altLang="en-US" dirty="0"/>
              <a:t>约束解码、知识路径扩展、</a:t>
            </a:r>
            <a:r>
              <a:rPr lang="en-US" altLang="zh-CN" dirty="0"/>
              <a:t>LLM</a:t>
            </a:r>
            <a:r>
              <a:rPr lang="zh-CN" altLang="en-US" dirty="0"/>
              <a:t>驱动整合</a:t>
            </a:r>
          </a:p>
          <a:p>
            <a:pPr marL="800100" lvl="1" indent="-342900">
              <a:buFont typeface="Arial" panose="020B0604020202020204" pitchFamily="34" charset="0"/>
              <a:buChar char="•"/>
            </a:pPr>
            <a:endParaRPr lang="zh-CN" altLang="en-US" dirty="0"/>
          </a:p>
          <a:p>
            <a:pPr indent="0">
              <a:buNone/>
            </a:pPr>
            <a:r>
              <a:rPr lang="en-US" altLang="zh-CN" b="1" dirty="0"/>
              <a:t>4.</a:t>
            </a:r>
            <a:r>
              <a:rPr lang="zh-CN" altLang="en-US" b="1" dirty="0"/>
              <a:t>在多个基准数据集上取得最优性能并验证可解释性</a:t>
            </a:r>
          </a:p>
          <a:p>
            <a:pPr indent="0">
              <a:buNone/>
            </a:pPr>
            <a:endParaRPr lang="zh-CN" altLang="en-US" b="1" dirty="0"/>
          </a:p>
          <a:p>
            <a:pPr marL="800100" lvl="1" indent="-342900">
              <a:buFont typeface="Arial" panose="020B0604020202020204" pitchFamily="34" charset="0"/>
              <a:buChar char="•"/>
            </a:pPr>
            <a:r>
              <a:rPr lang="zh-CN" altLang="en-US" dirty="0"/>
              <a:t>在</a:t>
            </a:r>
            <a:r>
              <a:rPr lang="en-US" altLang="zh-CN" dirty="0"/>
              <a:t> </a:t>
            </a:r>
            <a:r>
              <a:rPr lang="en-US" altLang="zh-CN" dirty="0" err="1"/>
              <a:t>WebQSP</a:t>
            </a:r>
            <a:r>
              <a:rPr lang="zh-CN" altLang="en-US" dirty="0"/>
              <a:t>、</a:t>
            </a:r>
            <a:r>
              <a:rPr lang="en-US" altLang="zh-CN" dirty="0"/>
              <a:t>CWQ </a:t>
            </a:r>
            <a:r>
              <a:rPr lang="zh-CN" altLang="en-US" dirty="0"/>
              <a:t>等多个</a:t>
            </a:r>
            <a:r>
              <a:rPr lang="en-US" altLang="zh-CN" dirty="0"/>
              <a:t>KGQA</a:t>
            </a:r>
            <a:r>
              <a:rPr lang="zh-CN" altLang="en-US" dirty="0"/>
              <a:t>基准上取得</a:t>
            </a:r>
            <a:r>
              <a:rPr lang="en-US" altLang="zh-CN" dirty="0"/>
              <a:t>SOTA</a:t>
            </a:r>
            <a:r>
              <a:rPr lang="zh-CN" altLang="en-US" dirty="0"/>
              <a:t>性能</a:t>
            </a:r>
          </a:p>
          <a:p>
            <a:pPr marL="342900" indent="-342900">
              <a:buAutoNum type="arabicPeriod"/>
            </a:pPr>
            <a:endParaRPr lang="zh-CN" altLang="en-US" dirty="0"/>
          </a:p>
          <a:p>
            <a:pPr marL="342900" indent="-342900">
              <a:buAutoNum type="arabicPeriod"/>
            </a:pPr>
            <a:endParaRPr lang="zh-CN" alt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方法框架</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pic>
        <p:nvPicPr>
          <p:cNvPr id="2" name="图片 1"/>
          <p:cNvPicPr>
            <a:picLocks noChangeAspect="1"/>
          </p:cNvPicPr>
          <p:nvPr/>
        </p:nvPicPr>
        <p:blipFill>
          <a:blip r:embed="rId7"/>
          <a:stretch>
            <a:fillRect/>
          </a:stretch>
        </p:blipFill>
        <p:spPr>
          <a:xfrm>
            <a:off x="796925" y="1035050"/>
            <a:ext cx="10617200" cy="5133975"/>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任务定义和隐变量</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mc:AlternateContent xmlns:mc="http://schemas.openxmlformats.org/markup-compatibility/2006" xmlns:a14="http://schemas.microsoft.com/office/drawing/2010/main">
        <mc:Choice Requires="a14">
          <p:sp>
            <p:nvSpPr>
              <p:cNvPr id="2" name="文本框 1"/>
              <p:cNvSpPr txBox="1"/>
              <p:nvPr/>
            </p:nvSpPr>
            <p:spPr>
              <a:xfrm>
                <a:off x="307975" y="862965"/>
                <a:ext cx="11366500" cy="5237480"/>
              </a:xfrm>
              <a:prstGeom prst="rect">
                <a:avLst/>
              </a:prstGeom>
              <a:noFill/>
            </p:spPr>
            <p:txBody>
              <a:bodyPr wrap="square" rtlCol="0">
                <a:noAutofit/>
              </a:bodyPr>
              <a:lstStyle/>
              <a:p>
                <a:pPr marL="342900" indent="-342900">
                  <a:buAutoNum type="arabicPeriod"/>
                </a:pPr>
                <a:r>
                  <a:rPr lang="zh-CN" altLang="en-US"/>
                  <a:t>知识图谱定义：</a:t>
                </a:r>
              </a:p>
              <a:p>
                <a:pPr lvl="2" indent="-342900">
                  <a:buFont typeface="Arial" panose="020B0604020202020204" pitchFamily="34" charset="0"/>
                  <a:buChar char="•"/>
                </a:pPr>
                <a:r>
                  <a:rPr lang="zh-CN" altLang="en-US">
                    <a:sym typeface="+mn-ea"/>
                  </a:rPr>
                  <a:t>以三元组形式存储结构化事实</a:t>
                </a:r>
                <a:endParaRPr lang="zh-CN" altLang="en-US"/>
              </a:p>
              <a:p>
                <a:pPr marL="342900" indent="-342900">
                  <a:buAutoNum type="arabicPeriod"/>
                </a:pPr>
                <a:endParaRPr lang="zh-CN" altLang="en-US"/>
              </a:p>
              <a:p>
                <a:pPr marL="342900" indent="-342900">
                  <a:buAutoNum type="arabicPeriod"/>
                </a:pPr>
                <a:endParaRPr lang="zh-CN" altLang="en-US"/>
              </a:p>
              <a:p>
                <a:pPr marL="342900" indent="-342900">
                  <a:buAutoNum type="arabicPeriod"/>
                </a:pPr>
                <a:endParaRPr lang="zh-CN" altLang="en-US"/>
              </a:p>
              <a:p>
                <a:pPr marL="342900" indent="-342900">
                  <a:buAutoNum type="arabicPeriod"/>
                </a:pPr>
                <a:r>
                  <a:rPr lang="en-US" altLang="zh-CN"/>
                  <a:t>KGQA </a:t>
                </a:r>
                <a:r>
                  <a:rPr lang="zh-CN" altLang="en-US"/>
                  <a:t>任务目标：</a:t>
                </a:r>
              </a:p>
              <a:p>
                <a:pPr marL="800100" lvl="1" indent="-342900">
                  <a:buFont typeface="Arial" panose="020B0604020202020204" pitchFamily="34" charset="0"/>
                  <a:buChar char="•"/>
                </a:pPr>
                <a:r>
                  <a:rPr lang="zh-CN" altLang="en-US"/>
                  <a:t>输入：自然语言问题</a:t>
                </a:r>
                <a:r>
                  <a:rPr lang="en-US" altLang="zh-CN"/>
                  <a:t> </a:t>
                </a:r>
                <a14:m>
                  <m:oMath xmlns:m="http://schemas.openxmlformats.org/officeDocument/2006/math">
                    <m:r>
                      <a:rPr lang="en-US" altLang="zh-CN" i="1">
                        <a:latin typeface="Cambria Math" panose="02040503050406030204" pitchFamily="18" charset="0"/>
                        <a:cs typeface="Cambria Math" panose="02040503050406030204" pitchFamily="18" charset="0"/>
                      </a:rPr>
                      <m:t>𝑞</m:t>
                    </m:r>
                  </m:oMath>
                </a14:m>
                <a:r>
                  <a:rPr lang="en-US" altLang="zh-CN"/>
                  <a:t> + </a:t>
                </a:r>
                <a:r>
                  <a:rPr lang="zh-CN" altLang="en-US"/>
                  <a:t>知识图谱</a:t>
                </a:r>
                <a:r>
                  <a:rPr lang="en-US" altLang="zh-CN"/>
                  <a:t> </a:t>
                </a:r>
                <a14:m>
                  <m:oMath xmlns:m="http://schemas.openxmlformats.org/officeDocument/2006/math">
                    <m:r>
                      <a:rPr lang="en-US" altLang="zh-CN" i="1">
                        <a:latin typeface="Cambria Math" panose="02040503050406030204" pitchFamily="18" charset="0"/>
                        <a:cs typeface="Cambria Math" panose="02040503050406030204" pitchFamily="18" charset="0"/>
                      </a:rPr>
                      <m:t>𝐺</m:t>
                    </m:r>
                  </m:oMath>
                </a14:m>
                <a:endParaRPr lang="en-US" altLang="zh-CN"/>
              </a:p>
              <a:p>
                <a:pPr marL="800100" lvl="1" indent="-342900">
                  <a:buFont typeface="Arial" panose="020B0604020202020204" pitchFamily="34" charset="0"/>
                  <a:buChar char="•"/>
                </a:pPr>
                <a:r>
                  <a:rPr lang="zh-CN" altLang="en-US"/>
                  <a:t>输出：基于</a:t>
                </a:r>
                <a14:m>
                  <m:oMath xmlns:m="http://schemas.openxmlformats.org/officeDocument/2006/math">
                    <m:r>
                      <a:rPr lang="en-US" altLang="zh-CN" i="1">
                        <a:latin typeface="Cambria Math" panose="02040503050406030204" pitchFamily="18" charset="0"/>
                        <a:cs typeface="Cambria Math" panose="02040503050406030204" pitchFamily="18" charset="0"/>
                      </a:rPr>
                      <m:t>𝐺</m:t>
                    </m:r>
                  </m:oMath>
                </a14:m>
                <a:r>
                  <a:rPr lang="zh-CN" altLang="en-US"/>
                  <a:t>中相关事实的准确答案</a:t>
                </a:r>
                <a14:m>
                  <m:oMath xmlns:m="http://schemas.openxmlformats.org/officeDocument/2006/math">
                    <m:r>
                      <a:rPr lang="en-US" altLang="zh-CN" i="1">
                        <a:latin typeface="Cambria Math" panose="02040503050406030204" pitchFamily="18" charset="0"/>
                        <a:cs typeface="Cambria Math" panose="02040503050406030204" pitchFamily="18" charset="0"/>
                      </a:rPr>
                      <m:t>𝑎</m:t>
                    </m:r>
                  </m:oMath>
                </a14:m>
                <a:endParaRPr lang="en-US" altLang="zh-CN" i="1">
                  <a:latin typeface="Cambria Math" panose="02040503050406030204" pitchFamily="18" charset="0"/>
                  <a:cs typeface="Cambria Math" panose="02040503050406030204" pitchFamily="18" charset="0"/>
                </a:endParaRPr>
              </a:p>
              <a:p>
                <a:pPr marL="800100" lvl="1" indent="-342900">
                  <a:buFont typeface="Arial" panose="020B0604020202020204" pitchFamily="34" charset="0"/>
                  <a:buChar char="•"/>
                </a:pPr>
                <a:endParaRPr lang="en-US" altLang="zh-CN" i="1">
                  <a:latin typeface="Cambria Math" panose="02040503050406030204" pitchFamily="18" charset="0"/>
                  <a:cs typeface="Cambria Math" panose="02040503050406030204" pitchFamily="18" charset="0"/>
                </a:endParaRPr>
              </a:p>
              <a:p>
                <a:pPr marL="800100" lvl="1" indent="-342900">
                  <a:buFont typeface="Arial" panose="020B0604020202020204" pitchFamily="34" charset="0"/>
                  <a:buChar char="•"/>
                </a:pPr>
                <a:endParaRPr lang="en-US" altLang="zh-CN" i="1">
                  <a:latin typeface="Cambria Math" panose="02040503050406030204" pitchFamily="18" charset="0"/>
                  <a:cs typeface="Cambria Math" panose="02040503050406030204" pitchFamily="18" charset="0"/>
                </a:endParaRPr>
              </a:p>
              <a:p>
                <a:pPr marL="800100" lvl="1" indent="-342900">
                  <a:buFont typeface="Arial" panose="020B0604020202020204" pitchFamily="34" charset="0"/>
                  <a:buChar char="•"/>
                </a:pPr>
                <a:endParaRPr lang="en-US" altLang="zh-CN"/>
              </a:p>
              <a:p>
                <a:pPr marL="342900" indent="-342900">
                  <a:buAutoNum type="arabicPeriod"/>
                </a:pPr>
                <a:r>
                  <a:rPr lang="zh-CN" altLang="en-US"/>
                  <a:t>核心创新：引入两个隐变量，建模</a:t>
                </a:r>
                <a:r>
                  <a:rPr lang="en-US" altLang="zh-CN"/>
                  <a:t> “</a:t>
                </a:r>
                <a:r>
                  <a:rPr lang="zh-CN" altLang="en-US"/>
                  <a:t>推理</a:t>
                </a:r>
                <a:r>
                  <a:rPr lang="en-US" altLang="zh-CN"/>
                  <a:t> - </a:t>
                </a:r>
                <a:r>
                  <a:rPr lang="zh-CN" altLang="en-US"/>
                  <a:t>对齐</a:t>
                </a:r>
                <a:r>
                  <a:rPr lang="en-US" altLang="zh-CN"/>
                  <a:t> - </a:t>
                </a:r>
                <a:r>
                  <a:rPr lang="zh-CN" altLang="en-US"/>
                  <a:t>应答</a:t>
                </a:r>
                <a:r>
                  <a:rPr lang="en-US" altLang="zh-CN"/>
                  <a:t>” </a:t>
                </a:r>
                <a:r>
                  <a:rPr lang="zh-CN" altLang="en-US"/>
                  <a:t>全流程</a:t>
                </a:r>
              </a:p>
              <a:p>
                <a:pPr marL="742950" lvl="1" indent="-285750">
                  <a:buFont typeface="Arial" panose="020B0604020202020204" pitchFamily="34" charset="0"/>
                  <a:buChar char="•"/>
                </a:pPr>
                <a:r>
                  <a:rPr lang="zh-CN" altLang="en-US"/>
                  <a:t>推理链</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𝓏</m:t>
                        </m:r>
                      </m:e>
                      <m:sub>
                        <m:r>
                          <a:rPr lang="en-US" altLang="zh-CN" i="1">
                            <a:latin typeface="Cambria Math" panose="02040503050406030204" pitchFamily="18" charset="0"/>
                            <a:cs typeface="Cambria Math" panose="02040503050406030204" pitchFamily="18" charset="0"/>
                          </a:rPr>
                          <m:t>𝑟</m:t>
                        </m:r>
                      </m:sub>
                    </m:sSub>
                  </m:oMath>
                </a14:m>
                <a:r>
                  <a:rPr lang="zh-CN" altLang="en-US">
                    <a:latin typeface="Cambria Math" panose="02040503050406030204" pitchFamily="18" charset="0"/>
                    <a:cs typeface="Cambria Math" panose="02040503050406030204" pitchFamily="18" charset="0"/>
                  </a:rPr>
                  <a:t>：</a:t>
                </a:r>
                <a:r>
                  <a:rPr lang="zh-CN" altLang="en-US"/>
                  <a:t>自然语言分步推理步骤</a:t>
                </a:r>
              </a:p>
              <a:p>
                <a:pPr marL="742950" lvl="1" indent="-285750">
                  <a:buFont typeface="Arial" panose="020B0604020202020204" pitchFamily="34" charset="0"/>
                  <a:buChar char="•"/>
                </a:pPr>
                <a:r>
                  <a:rPr lang="zh-CN" altLang="en-US"/>
                  <a:t>知识路径</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𝓏</m:t>
                        </m:r>
                      </m:e>
                      <m:sub>
                        <m:r>
                          <a:rPr lang="en-US" altLang="zh-CN" i="1">
                            <a:latin typeface="Cambria Math" panose="02040503050406030204" pitchFamily="18" charset="0"/>
                            <a:cs typeface="Cambria Math" panose="02040503050406030204" pitchFamily="18" charset="0"/>
                          </a:rPr>
                          <m:t>𝑝</m:t>
                        </m:r>
                      </m:sub>
                    </m:sSub>
                  </m:oMath>
                </a14:m>
                <a:r>
                  <a:rPr lang="zh-CN" altLang="en-US">
                    <a:latin typeface="Cambria Math" panose="02040503050406030204" pitchFamily="18" charset="0"/>
                    <a:cs typeface="Cambria Math" panose="02040503050406030204" pitchFamily="18" charset="0"/>
                  </a:rPr>
                  <a:t>：</a:t>
                </a:r>
                <a:r>
                  <a:rPr lang="en-US" altLang="zh-CN"/>
                  <a:t>KG </a:t>
                </a:r>
                <a:r>
                  <a:rPr lang="zh-CN" altLang="en-US"/>
                  <a:t>中与推理链对齐的三元组序列</a:t>
                </a:r>
              </a:p>
            </p:txBody>
          </p:sp>
        </mc:Choice>
        <mc:Fallback xmlns="">
          <p:sp>
            <p:nvSpPr>
              <p:cNvPr id="2" name="文本框 1"/>
              <p:cNvSpPr txBox="1">
                <a:spLocks noRot="1" noChangeAspect="1" noMove="1" noResize="1" noEditPoints="1" noAdjustHandles="1" noChangeArrowheads="1" noChangeShapeType="1" noTextEdit="1"/>
              </p:cNvSpPr>
              <p:nvPr/>
            </p:nvSpPr>
            <p:spPr>
              <a:xfrm>
                <a:off x="307975" y="862965"/>
                <a:ext cx="11366500" cy="5237480"/>
              </a:xfrm>
              <a:prstGeom prst="rect">
                <a:avLst/>
              </a:prstGeom>
              <a:blipFill rotWithShape="1">
                <a:blip r:embed="rId7"/>
                <a:stretch>
                  <a:fillRect/>
                </a:stretch>
              </a:blipFill>
            </p:spPr>
            <p:txBody>
              <a:bodyPr/>
              <a:lstStyle/>
              <a:p>
                <a:r>
                  <a:rPr lang="zh-CN" altLang="en-US">
                    <a:noFill/>
                  </a:rPr>
                  <a:t> </a:t>
                </a:r>
              </a:p>
            </p:txBody>
          </p:sp>
        </mc:Fallback>
      </mc:AlternateContent>
      <p:pic>
        <p:nvPicPr>
          <p:cNvPr id="7" name="图片 6"/>
          <p:cNvPicPr>
            <a:picLocks noChangeAspect="1"/>
          </p:cNvPicPr>
          <p:nvPr/>
        </p:nvPicPr>
        <p:blipFill>
          <a:blip r:embed="rId8"/>
          <a:stretch>
            <a:fillRect/>
          </a:stretch>
        </p:blipFill>
        <p:spPr>
          <a:xfrm>
            <a:off x="1323975" y="1689100"/>
            <a:ext cx="2787650" cy="368300"/>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sym typeface="+mn-ea"/>
              </a:rPr>
              <a:t>框架与</a:t>
            </a:r>
            <a:r>
              <a:rPr kumimoji="1" lang="zh-CN" altLang="en-US" sz="2500" dirty="0"/>
              <a:t>概率模型</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8" name="文本框 7"/>
          <p:cNvSpPr txBox="1"/>
          <p:nvPr/>
        </p:nvSpPr>
        <p:spPr>
          <a:xfrm>
            <a:off x="247650" y="923925"/>
            <a:ext cx="7003415" cy="3517900"/>
          </a:xfrm>
          <a:prstGeom prst="rect">
            <a:avLst/>
          </a:prstGeom>
        </p:spPr>
        <p:txBody>
          <a:bodyPr>
            <a:noAutofit/>
          </a:bodyPr>
          <a:lstStyle/>
          <a:p>
            <a:r>
              <a:rPr lang="en-US" altLang="zh-CN" sz="1600"/>
              <a:t>RAR </a:t>
            </a:r>
            <a:r>
              <a:rPr lang="zh-CN" altLang="en-US" sz="1600"/>
              <a:t>框架</a:t>
            </a:r>
          </a:p>
        </p:txBody>
      </p:sp>
      <p:pic>
        <p:nvPicPr>
          <p:cNvPr id="10" name="图片 9"/>
          <p:cNvPicPr>
            <a:picLocks noChangeAspect="1"/>
          </p:cNvPicPr>
          <p:nvPr/>
        </p:nvPicPr>
        <p:blipFill>
          <a:blip r:embed="rId7"/>
          <a:stretch>
            <a:fillRect/>
          </a:stretch>
        </p:blipFill>
        <p:spPr>
          <a:xfrm>
            <a:off x="247650" y="1374775"/>
            <a:ext cx="8248650" cy="2241550"/>
          </a:xfrm>
          <a:prstGeom prst="rect">
            <a:avLst/>
          </a:prstGeom>
        </p:spPr>
      </p:pic>
      <p:sp>
        <p:nvSpPr>
          <p:cNvPr id="11" name="文本框 10"/>
          <p:cNvSpPr txBox="1"/>
          <p:nvPr/>
        </p:nvSpPr>
        <p:spPr>
          <a:xfrm>
            <a:off x="247650" y="4104323"/>
            <a:ext cx="5080000" cy="337185"/>
          </a:xfrm>
          <a:prstGeom prst="rect">
            <a:avLst/>
          </a:prstGeom>
        </p:spPr>
        <p:txBody>
          <a:bodyPr>
            <a:spAutoFit/>
          </a:bodyPr>
          <a:lstStyle/>
          <a:p>
            <a:r>
              <a:rPr lang="zh-CN" altLang="en-US" sz="1600"/>
              <a:t>核心概率公式</a:t>
            </a:r>
          </a:p>
        </p:txBody>
      </p:sp>
      <p:pic>
        <p:nvPicPr>
          <p:cNvPr id="13" name="图片 12"/>
          <p:cNvPicPr>
            <a:picLocks noChangeAspect="1"/>
          </p:cNvPicPr>
          <p:nvPr/>
        </p:nvPicPr>
        <p:blipFill>
          <a:blip r:embed="rId8"/>
          <a:stretch>
            <a:fillRect/>
          </a:stretch>
        </p:blipFill>
        <p:spPr>
          <a:xfrm>
            <a:off x="298450" y="5321300"/>
            <a:ext cx="2921000" cy="800100"/>
          </a:xfrm>
          <a:prstGeom prst="rect">
            <a:avLst/>
          </a:prstGeom>
        </p:spPr>
      </p:pic>
      <p:pic>
        <p:nvPicPr>
          <p:cNvPr id="2" name="图片 1"/>
          <p:cNvPicPr>
            <a:picLocks noChangeAspect="1"/>
          </p:cNvPicPr>
          <p:nvPr/>
        </p:nvPicPr>
        <p:blipFill>
          <a:blip r:embed="rId9"/>
          <a:stretch>
            <a:fillRect/>
          </a:stretch>
        </p:blipFill>
        <p:spPr>
          <a:xfrm>
            <a:off x="1851025" y="4104640"/>
            <a:ext cx="4248150" cy="876300"/>
          </a:xfrm>
          <a:prstGeom prst="rect">
            <a:avLst/>
          </a:prstGeom>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推理和对齐模块</a:t>
            </a:r>
          </a:p>
        </p:txBody>
      </p:sp>
      <p:pic>
        <p:nvPicPr>
          <p:cNvPr id="6" name="图片 5"/>
          <p:cNvPicPr>
            <a:picLocks noChangeAspect="1"/>
          </p:cNvPicPr>
          <p:nvPr>
            <p:custDataLst>
              <p:tags r:id="rId2"/>
            </p:custDataLst>
          </p:nvPr>
        </p:nvPicPr>
        <p:blipFill>
          <a:blip r:embed="rId7" cstate="print">
            <a:duotone>
              <a:schemeClr val="bg2">
                <a:shade val="45000"/>
                <a:satMod val="135000"/>
              </a:schemeClr>
              <a:prstClr val="white"/>
            </a:duotone>
            <a:extLst>
              <a:ext uri="{BEBA8EAE-BF5A-486C-A8C5-ECC9F3942E4B}">
                <a14:imgProps xmlns:a14="http://schemas.microsoft.com/office/drawing/2010/main">
                  <a14:imgLayer r:embed="rId8">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mc:AlternateContent xmlns:mc="http://schemas.openxmlformats.org/markup-compatibility/2006" xmlns:a14="http://schemas.microsoft.com/office/drawing/2010/main">
        <mc:Choice Requires="a14">
          <p:sp>
            <p:nvSpPr>
              <p:cNvPr id="2" name="文本框 1"/>
              <p:cNvSpPr txBox="1"/>
              <p:nvPr>
                <p:custDataLst>
                  <p:tags r:id="rId3"/>
                </p:custDataLst>
              </p:nvPr>
            </p:nvSpPr>
            <p:spPr>
              <a:xfrm>
                <a:off x="606425" y="3478530"/>
                <a:ext cx="9467850" cy="1788795"/>
              </a:xfrm>
              <a:prstGeom prst="rect">
                <a:avLst/>
              </a:prstGeom>
              <a:noFill/>
            </p:spPr>
            <p:txBody>
              <a:bodyPr wrap="square" rtlCol="0">
                <a:spAutoFit/>
              </a:bodyPr>
              <a:lstStyle/>
              <a:p>
                <a:r>
                  <a:rPr lang="en-US" altLang="zh-CN" b="1"/>
                  <a:t>Aligner </a:t>
                </a:r>
                <a:r>
                  <a:rPr lang="zh-CN" altLang="en-US" b="1"/>
                  <a:t>模块：</a:t>
                </a:r>
              </a:p>
              <a:p>
                <a:pPr marL="285750" indent="-285750">
                  <a:buFont typeface="Arial" panose="020B0604020202020204" pitchFamily="34" charset="0"/>
                  <a:buChar char="•"/>
                </a:pPr>
                <a:r>
                  <a:rPr lang="zh-CN" altLang="en-US" b="1"/>
                  <a:t>核心功能：以推理链</a:t>
                </a:r>
                <a:r>
                  <a:rPr lang="en-US" altLang="zh-CN" b="1"/>
                  <a:t> </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𝓏</m:t>
                        </m:r>
                      </m:e>
                      <m:sub>
                        <m:r>
                          <a:rPr lang="en-US" altLang="zh-CN" i="1">
                            <a:latin typeface="Cambria Math" panose="02040503050406030204" pitchFamily="18" charset="0"/>
                            <a:cs typeface="Cambria Math" panose="02040503050406030204" pitchFamily="18" charset="0"/>
                          </a:rPr>
                          <m:t>𝑟</m:t>
                        </m:r>
                      </m:sub>
                    </m:sSub>
                  </m:oMath>
                </a14:m>
                <a:r>
                  <a:rPr lang="en-US" altLang="zh-CN" b="1"/>
                  <a:t>​ </a:t>
                </a:r>
                <a:r>
                  <a:rPr lang="zh-CN" altLang="en-US" b="1"/>
                  <a:t>为指导，在</a:t>
                </a:r>
                <a:r>
                  <a:rPr lang="en-US" altLang="zh-CN" b="1"/>
                  <a:t> KG </a:t>
                </a:r>
                <a:r>
                  <a:rPr lang="zh-CN" altLang="en-US" b="1"/>
                  <a:t>中解码出一一对应的合法知识路径</a:t>
                </a:r>
              </a:p>
              <a:p>
                <a:pPr marL="285750" indent="-285750">
                  <a:buFont typeface="Arial" panose="020B0604020202020204" pitchFamily="34" charset="0"/>
                  <a:buChar char="•"/>
                </a:pPr>
                <a:r>
                  <a:rPr lang="zh-CN" altLang="en-US" b="1"/>
                  <a:t>输入</a:t>
                </a:r>
                <a:r>
                  <a:rPr lang="en-US" altLang="zh-CN" b="1"/>
                  <a:t> / </a:t>
                </a:r>
                <a:r>
                  <a:rPr lang="zh-CN" altLang="en-US" b="1"/>
                  <a:t>输出：</a:t>
                </a:r>
              </a:p>
              <a:p>
                <a:pPr lvl="2" indent="0">
                  <a:buFont typeface="Arial" panose="020B0604020202020204" pitchFamily="34" charset="0"/>
                  <a:buNone/>
                </a:pPr>
                <a:r>
                  <a:rPr lang="zh-CN" altLang="en-US" b="1"/>
                  <a:t>输入：</a:t>
                </a:r>
                <a:r>
                  <a:rPr lang="zh-CN" altLang="en-US"/>
                  <a:t>问题</a:t>
                </a:r>
                <a:r>
                  <a:rPr lang="en-US" altLang="zh-CN"/>
                  <a:t> </a:t>
                </a:r>
                <a:r>
                  <a:rPr lang="en-US" altLang="zh-CN">
                    <a:latin typeface="Cambria Math" panose="02040503050406030204" pitchFamily="18" charset="0"/>
                    <a:cs typeface="Cambria Math" panose="02040503050406030204" pitchFamily="18" charset="0"/>
                    <a:sym typeface="+mn-ea"/>
                  </a:rPr>
                  <a:t>q</a:t>
                </a:r>
                <a:r>
                  <a:rPr lang="en-US" altLang="zh-CN"/>
                  <a:t> + </a:t>
                </a:r>
                <a:r>
                  <a:rPr lang="zh-CN" altLang="en-US"/>
                  <a:t>推理链</a:t>
                </a:r>
                <a:r>
                  <a:rPr lang="en-US" altLang="zh-CN"/>
                  <a:t> </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𝓏</m:t>
                        </m:r>
                      </m:e>
                      <m:sub>
                        <m:r>
                          <a:rPr lang="en-US" altLang="zh-CN" i="1">
                            <a:latin typeface="Cambria Math" panose="02040503050406030204" pitchFamily="18" charset="0"/>
                            <a:cs typeface="Cambria Math" panose="02040503050406030204" pitchFamily="18" charset="0"/>
                          </a:rPr>
                          <m:t>𝑟</m:t>
                        </m:r>
                      </m:sub>
                    </m:sSub>
                  </m:oMath>
                </a14:m>
                <a:r>
                  <a:rPr lang="en-US" altLang="zh-CN"/>
                  <a:t> + </a:t>
                </a:r>
                <a:r>
                  <a:rPr lang="zh-CN" altLang="en-US"/>
                  <a:t>知识图谱</a:t>
                </a:r>
                <a14:m>
                  <m:oMath xmlns:m="http://schemas.openxmlformats.org/officeDocument/2006/math">
                    <m:r>
                      <a:rPr lang="en-US" altLang="zh-CN" i="1">
                        <a:latin typeface="Cambria Math" panose="02040503050406030204" pitchFamily="18" charset="0"/>
                        <a:cs typeface="Cambria Math" panose="02040503050406030204" pitchFamily="18" charset="0"/>
                      </a:rPr>
                      <m:t> </m:t>
                    </m:r>
                    <m:r>
                      <a:rPr lang="en-US" altLang="zh-CN" i="1">
                        <a:latin typeface="Cambria Math" panose="02040503050406030204" pitchFamily="18" charset="0"/>
                        <a:cs typeface="Cambria Math" panose="02040503050406030204" pitchFamily="18" charset="0"/>
                      </a:rPr>
                      <m:t>𝐺</m:t>
                    </m:r>
                  </m:oMath>
                </a14:m>
                <a:endParaRPr lang="en-US" altLang="zh-CN"/>
              </a:p>
              <a:p>
                <a:pPr lvl="2"/>
                <a:r>
                  <a:rPr lang="zh-CN" altLang="en-US" b="1"/>
                  <a:t>输出：</a:t>
                </a:r>
                <a:r>
                  <a:rPr lang="zh-CN" altLang="en-US"/>
                  <a:t>标准化知识路径</a:t>
                </a:r>
                <a:r>
                  <a:rPr lang="en-US" altLang="zh-CN"/>
                  <a:t> </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𝓏</m:t>
                        </m:r>
                      </m:e>
                      <m:sub>
                        <m:r>
                          <a:rPr lang="en-US" altLang="zh-CN" i="1">
                            <a:latin typeface="Cambria Math" panose="02040503050406030204" pitchFamily="18" charset="0"/>
                            <a:cs typeface="Cambria Math" panose="02040503050406030204" pitchFamily="18" charset="0"/>
                          </a:rPr>
                          <m:t>𝑝</m:t>
                        </m:r>
                      </m:sub>
                    </m:sSub>
                  </m:oMath>
                </a14:m>
                <a:endParaRPr lang="en-US" altLang="zh-CN"/>
              </a:p>
              <a:p>
                <a:pPr marL="285750" indent="-285750">
                  <a:buFont typeface="Arial" panose="020B0604020202020204" pitchFamily="34" charset="0"/>
                  <a:buChar char="•"/>
                </a:pPr>
                <a:r>
                  <a:rPr lang="zh-CN" altLang="en-US" b="1"/>
                  <a:t>核心约束：后续推理阶段将通过</a:t>
                </a:r>
                <a:r>
                  <a:rPr lang="en-US" altLang="zh-CN" b="1"/>
                  <a:t> “KG </a:t>
                </a:r>
                <a:r>
                  <a:rPr lang="zh-CN" altLang="en-US" b="1"/>
                  <a:t>约束解码</a:t>
                </a:r>
                <a:r>
                  <a:rPr lang="en-US" altLang="zh-CN" b="1"/>
                  <a:t>” </a:t>
                </a:r>
                <a:r>
                  <a:rPr lang="zh-CN" altLang="en-US" b="1"/>
                  <a:t>确保路径合法性</a:t>
                </a:r>
              </a:p>
            </p:txBody>
          </p:sp>
        </mc:Choice>
        <mc:Fallback xmlns="">
          <p:sp>
            <p:nvSpPr>
              <p:cNvPr id="2" name="文本框 1"/>
              <p:cNvSpPr txBox="1">
                <a:spLocks noRot="1" noChangeAspect="1" noMove="1" noResize="1" noEditPoints="1" noAdjustHandles="1" noChangeArrowheads="1" noChangeShapeType="1" noTextEdit="1"/>
              </p:cNvSpPr>
              <p:nvPr>
                <p:custDataLst>
                  <p:tags r:id="rId9"/>
                </p:custDataLst>
              </p:nvPr>
            </p:nvSpPr>
            <p:spPr>
              <a:xfrm>
                <a:off x="606425" y="3478530"/>
                <a:ext cx="9467850" cy="1788795"/>
              </a:xfrm>
              <a:prstGeom prst="rect">
                <a:avLst/>
              </a:prstGeom>
              <a:blipFill rotWithShape="1">
                <a:blip r:embed="rId10"/>
                <a:stretch>
                  <a:fillRect/>
                </a:stretch>
              </a:blipFill>
            </p:spPr>
            <p:txBody>
              <a:bodyPr/>
              <a:lstStyle/>
              <a:p>
                <a:r>
                  <a:rPr lang="zh-CN" altLang="en-US">
                    <a:noFill/>
                  </a:rPr>
                  <a:t> </a:t>
                </a:r>
              </a:p>
            </p:txBody>
          </p:sp>
        </mc:Fallback>
      </mc:AlternateContent>
      <p:pic>
        <p:nvPicPr>
          <p:cNvPr id="7" name="图片 6"/>
          <p:cNvPicPr>
            <a:picLocks noChangeAspect="1"/>
          </p:cNvPicPr>
          <p:nvPr/>
        </p:nvPicPr>
        <p:blipFill>
          <a:blip r:embed="rId11"/>
          <a:stretch>
            <a:fillRect/>
          </a:stretch>
        </p:blipFill>
        <p:spPr>
          <a:xfrm>
            <a:off x="8314055" y="2506980"/>
            <a:ext cx="2794000" cy="971550"/>
          </a:xfrm>
          <a:prstGeom prst="rect">
            <a:avLst/>
          </a:prstGeom>
        </p:spPr>
      </p:pic>
      <mc:AlternateContent xmlns:mc="http://schemas.openxmlformats.org/markup-compatibility/2006" xmlns:a14="http://schemas.microsoft.com/office/drawing/2010/main">
        <mc:Choice Requires="a14">
          <p:sp>
            <p:nvSpPr>
              <p:cNvPr id="14" name="文本框 13"/>
              <p:cNvSpPr txBox="1"/>
              <p:nvPr>
                <p:custDataLst>
                  <p:tags r:id="rId4"/>
                </p:custDataLst>
              </p:nvPr>
            </p:nvSpPr>
            <p:spPr>
              <a:xfrm>
                <a:off x="606425" y="1046480"/>
                <a:ext cx="9467850" cy="1753235"/>
              </a:xfrm>
              <a:prstGeom prst="rect">
                <a:avLst/>
              </a:prstGeom>
              <a:noFill/>
            </p:spPr>
            <p:txBody>
              <a:bodyPr wrap="square" rtlCol="0">
                <a:spAutoFit/>
              </a:bodyPr>
              <a:lstStyle/>
              <a:p>
                <a:r>
                  <a:rPr lang="en-US" altLang="zh-CN" b="1"/>
                  <a:t>Reasoner </a:t>
                </a:r>
                <a:r>
                  <a:rPr lang="zh-CN" altLang="en-US" b="1"/>
                  <a:t>模块：</a:t>
                </a:r>
              </a:p>
              <a:p>
                <a:pPr marL="285750" indent="-285750">
                  <a:buFont typeface="Arial" panose="020B0604020202020204" pitchFamily="34" charset="0"/>
                  <a:buChar char="•"/>
                </a:pPr>
                <a:r>
                  <a:rPr lang="zh-CN" altLang="en-US" b="1"/>
                  <a:t>核心功能：</a:t>
                </a:r>
                <a:r>
                  <a:rPr lang="zh-CN" altLang="en-US"/>
                  <a:t>对问题做全局类人推理，输出结构化推理链，指导</a:t>
                </a:r>
                <a:r>
                  <a:rPr lang="en-US" altLang="zh-CN"/>
                  <a:t> KG </a:t>
                </a:r>
                <a:r>
                  <a:rPr lang="zh-CN" altLang="en-US"/>
                  <a:t>路径探索</a:t>
                </a:r>
              </a:p>
              <a:p>
                <a:pPr marL="285750" indent="-285750">
                  <a:buFont typeface="Arial" panose="020B0604020202020204" pitchFamily="34" charset="0"/>
                  <a:buChar char="•"/>
                </a:pPr>
                <a:r>
                  <a:rPr lang="zh-CN" altLang="en-US" b="1"/>
                  <a:t>输入</a:t>
                </a:r>
                <a:r>
                  <a:rPr lang="en-US" altLang="zh-CN" b="1"/>
                  <a:t> / </a:t>
                </a:r>
                <a:r>
                  <a:rPr lang="zh-CN" altLang="en-US" b="1"/>
                  <a:t>输出：</a:t>
                </a:r>
              </a:p>
              <a:p>
                <a:pPr lvl="2" indent="0">
                  <a:buFont typeface="Arial" panose="020B0604020202020204" pitchFamily="34" charset="0"/>
                  <a:buNone/>
                </a:pPr>
                <a:r>
                  <a:rPr lang="zh-CN" altLang="en-US" b="1"/>
                  <a:t>输入：</a:t>
                </a:r>
                <a:r>
                  <a:rPr lang="zh-CN" altLang="en-US"/>
                  <a:t>仅自然语言问题</a:t>
                </a:r>
                <a:r>
                  <a:rPr lang="en-US" altLang="zh-CN"/>
                  <a:t> </a:t>
                </a:r>
                <a:r>
                  <a:rPr lang="en-US" altLang="zh-CN">
                    <a:latin typeface="Cambria Math" panose="02040503050406030204" pitchFamily="18" charset="0"/>
                    <a:cs typeface="Cambria Math" panose="02040503050406030204" pitchFamily="18" charset="0"/>
                  </a:rPr>
                  <a:t>q</a:t>
                </a:r>
                <a:endParaRPr lang="en-US" altLang="zh-CN"/>
              </a:p>
              <a:p>
                <a:pPr lvl="2"/>
                <a:r>
                  <a:rPr lang="zh-CN" altLang="en-US" b="1"/>
                  <a:t>输出：</a:t>
                </a:r>
                <a:r>
                  <a:rPr lang="zh-CN" altLang="en-US"/>
                  <a:t>标准化推理链</a:t>
                </a:r>
                <a:r>
                  <a:rPr lang="en-US" altLang="zh-CN"/>
                  <a:t> </a:t>
                </a:r>
                <a14:m>
                  <m:oMath xmlns:m="http://schemas.openxmlformats.org/officeDocument/2006/math">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𝓏</m:t>
                        </m:r>
                      </m:e>
                      <m:sub>
                        <m:r>
                          <a:rPr lang="en-US" altLang="zh-CN" i="1">
                            <a:latin typeface="Cambria Math" panose="02040503050406030204" pitchFamily="18" charset="0"/>
                            <a:cs typeface="Cambria Math" panose="02040503050406030204" pitchFamily="18" charset="0"/>
                          </a:rPr>
                          <m:t>𝑟</m:t>
                        </m:r>
                      </m:sub>
                    </m:sSub>
                  </m:oMath>
                </a14:m>
                <a:endParaRPr lang="en-US" altLang="zh-CN"/>
              </a:p>
              <a:p>
                <a:pPr marL="285750" indent="-285750">
                  <a:buFont typeface="Arial" panose="020B0604020202020204" pitchFamily="34" charset="0"/>
                  <a:buChar char="•"/>
                </a:pPr>
                <a:r>
                  <a:rPr lang="zh-CN" altLang="en-US" b="1"/>
                  <a:t>核心作用：避免</a:t>
                </a:r>
                <a:r>
                  <a:rPr lang="en-US" altLang="zh-CN" b="1"/>
                  <a:t> KG </a:t>
                </a:r>
                <a:r>
                  <a:rPr lang="zh-CN" altLang="en-US" b="1"/>
                  <a:t>盲目探索，减少无效</a:t>
                </a:r>
                <a:r>
                  <a:rPr lang="en-US" altLang="zh-CN" b="1"/>
                  <a:t> / </a:t>
                </a:r>
                <a:r>
                  <a:rPr lang="zh-CN" altLang="en-US" b="1"/>
                  <a:t>噪声路径，赋予推理</a:t>
                </a:r>
                <a:r>
                  <a:rPr lang="en-US" altLang="zh-CN" b="1"/>
                  <a:t> “</a:t>
                </a:r>
                <a:r>
                  <a:rPr lang="zh-CN" altLang="en-US" b="1"/>
                  <a:t>目标性</a:t>
                </a:r>
                <a:r>
                  <a:rPr lang="en-US" altLang="zh-CN" b="1"/>
                  <a:t>”</a:t>
                </a:r>
              </a:p>
            </p:txBody>
          </p:sp>
        </mc:Choice>
        <mc:Fallback xmlns="">
          <p:sp>
            <p:nvSpPr>
              <p:cNvPr id="14" name="文本框 13"/>
              <p:cNvSpPr txBox="1">
                <a:spLocks noRot="1" noChangeAspect="1" noMove="1" noResize="1" noEditPoints="1" noAdjustHandles="1" noChangeArrowheads="1" noChangeShapeType="1" noTextEdit="1"/>
              </p:cNvSpPr>
              <p:nvPr>
                <p:custDataLst>
                  <p:tags r:id="rId12"/>
                </p:custDataLst>
              </p:nvPr>
            </p:nvSpPr>
            <p:spPr>
              <a:xfrm>
                <a:off x="606425" y="1046480"/>
                <a:ext cx="9467850" cy="1753235"/>
              </a:xfrm>
              <a:prstGeom prst="rect">
                <a:avLst/>
              </a:prstGeom>
              <a:blipFill rotWithShape="1">
                <a:blip r:embed="rId13"/>
                <a:stretch>
                  <a:fillRect/>
                </a:stretch>
              </a:blipFill>
            </p:spPr>
            <p:txBody>
              <a:bodyPr/>
              <a:lstStyle/>
              <a:p>
                <a:r>
                  <a:rPr lang="zh-CN" altLang="en-US">
                    <a:noFill/>
                  </a:rPr>
                  <a:t> </a:t>
                </a:r>
              </a:p>
            </p:txBody>
          </p:sp>
        </mc:Fallback>
      </mc:AlternateContent>
      <p:pic>
        <p:nvPicPr>
          <p:cNvPr id="16" name="图片 15"/>
          <p:cNvPicPr>
            <a:picLocks noChangeAspect="1"/>
          </p:cNvPicPr>
          <p:nvPr/>
        </p:nvPicPr>
        <p:blipFill>
          <a:blip r:embed="rId14"/>
          <a:stretch>
            <a:fillRect/>
          </a:stretch>
        </p:blipFill>
        <p:spPr>
          <a:xfrm>
            <a:off x="8115300" y="5184140"/>
            <a:ext cx="3359150" cy="1054100"/>
          </a:xfrm>
          <a:prstGeom prst="rect">
            <a:avLst/>
          </a:prstGeom>
        </p:spPr>
      </p:pic>
      <p:pic>
        <p:nvPicPr>
          <p:cNvPr id="8" name="图片 7"/>
          <p:cNvPicPr>
            <a:picLocks noChangeAspect="1"/>
          </p:cNvPicPr>
          <p:nvPr/>
        </p:nvPicPr>
        <p:blipFill>
          <a:blip r:embed="rId15"/>
          <a:stretch>
            <a:fillRect/>
          </a:stretch>
        </p:blipFill>
        <p:spPr>
          <a:xfrm>
            <a:off x="3578225" y="2910840"/>
            <a:ext cx="2914650" cy="457200"/>
          </a:xfrm>
          <a:prstGeom prst="rect">
            <a:avLst/>
          </a:prstGeom>
        </p:spPr>
      </p:pic>
      <p:pic>
        <p:nvPicPr>
          <p:cNvPr id="9" name="图片 8"/>
          <p:cNvPicPr>
            <a:picLocks noChangeAspect="1"/>
          </p:cNvPicPr>
          <p:nvPr/>
        </p:nvPicPr>
        <p:blipFill>
          <a:blip r:embed="rId16"/>
          <a:stretch>
            <a:fillRect/>
          </a:stretch>
        </p:blipFill>
        <p:spPr>
          <a:xfrm>
            <a:off x="3759200" y="5377815"/>
            <a:ext cx="3162300" cy="679450"/>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训练方法</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3" name="文本框 2"/>
          <p:cNvSpPr txBox="1"/>
          <p:nvPr/>
        </p:nvSpPr>
        <p:spPr>
          <a:xfrm>
            <a:off x="202565" y="783590"/>
            <a:ext cx="11415395" cy="5779135"/>
          </a:xfrm>
          <a:prstGeom prst="rect">
            <a:avLst/>
          </a:prstGeom>
        </p:spPr>
        <p:txBody>
          <a:bodyPr>
            <a:noAutofit/>
          </a:bodyPr>
          <a:lstStyle/>
          <a:p>
            <a:pPr indent="0">
              <a:lnSpc>
                <a:spcPts val="1440"/>
              </a:lnSpc>
              <a:spcBef>
                <a:spcPct val="0"/>
              </a:spcBef>
              <a:spcAft>
                <a:spcPct val="0"/>
              </a:spcAft>
              <a:buNone/>
            </a:pPr>
            <a:r>
              <a:rPr lang="en-US" altLang="zh-CN" b="1" dirty="0">
                <a:solidFill>
                  <a:srgbClr val="000000"/>
                </a:solidFill>
              </a:rPr>
              <a:t>1.   </a:t>
            </a:r>
            <a:r>
              <a:rPr lang="zh-CN" altLang="en-US" b="1" dirty="0">
                <a:solidFill>
                  <a:srgbClr val="000000"/>
                </a:solidFill>
              </a:rPr>
              <a:t>冷启动预训练</a:t>
            </a:r>
          </a:p>
          <a:p>
            <a:pPr marL="342900" indent="-342900">
              <a:lnSpc>
                <a:spcPts val="1440"/>
              </a:lnSpc>
              <a:spcBef>
                <a:spcPct val="0"/>
              </a:spcBef>
              <a:spcAft>
                <a:spcPct val="0"/>
              </a:spcAft>
              <a:buAutoNum type="arabicPeriod"/>
            </a:pPr>
            <a:endParaRPr lang="zh-CN" altLang="en-US" b="0" dirty="0">
              <a:solidFill>
                <a:srgbClr val="000000"/>
              </a:solidFill>
            </a:endParaRPr>
          </a:p>
          <a:p>
            <a:pPr marL="342900" indent="-342900">
              <a:lnSpc>
                <a:spcPts val="1440"/>
              </a:lnSpc>
              <a:spcBef>
                <a:spcPct val="0"/>
              </a:spcBef>
              <a:spcAft>
                <a:spcPct val="0"/>
              </a:spcAft>
              <a:buAutoNum type="arabicPeriod"/>
            </a:pPr>
            <a:endParaRPr lang="zh-CN" altLang="en-US" b="0" dirty="0">
              <a:solidFill>
                <a:srgbClr val="000000"/>
              </a:solidFill>
            </a:endParaRPr>
          </a:p>
          <a:p>
            <a:pPr marL="342900" indent="-342900">
              <a:lnSpc>
                <a:spcPts val="1440"/>
              </a:lnSpc>
              <a:spcBef>
                <a:spcPct val="0"/>
              </a:spcBef>
              <a:spcAft>
                <a:spcPct val="0"/>
              </a:spcAft>
              <a:buFont typeface="Arial" panose="020B0604020202020204" pitchFamily="34" charset="0"/>
              <a:buChar char="•"/>
            </a:pPr>
            <a:r>
              <a:rPr lang="zh-CN" altLang="en-US" b="1" dirty="0">
                <a:solidFill>
                  <a:srgbClr val="000000"/>
                </a:solidFill>
                <a:sym typeface="+mn-ea"/>
              </a:rPr>
              <a:t>训练对象：</a:t>
            </a:r>
            <a:r>
              <a:rPr lang="en-US" altLang="zh-CN" dirty="0">
                <a:solidFill>
                  <a:srgbClr val="000000"/>
                </a:solidFill>
                <a:sym typeface="+mn-ea"/>
              </a:rPr>
              <a:t>Reasoner</a:t>
            </a:r>
            <a:r>
              <a:rPr lang="zh-CN" altLang="en-US" dirty="0">
                <a:solidFill>
                  <a:srgbClr val="000000"/>
                </a:solidFill>
                <a:sym typeface="+mn-ea"/>
              </a:rPr>
              <a:t>（推理器）、</a:t>
            </a:r>
            <a:r>
              <a:rPr lang="en-US" altLang="zh-CN" dirty="0">
                <a:solidFill>
                  <a:srgbClr val="000000"/>
                </a:solidFill>
                <a:sym typeface="+mn-ea"/>
              </a:rPr>
              <a:t>Aligner</a:t>
            </a:r>
            <a:r>
              <a:rPr lang="zh-CN" altLang="en-US" dirty="0">
                <a:solidFill>
                  <a:srgbClr val="000000"/>
                </a:solidFill>
                <a:sym typeface="+mn-ea"/>
              </a:rPr>
              <a:t>（对齐器）</a:t>
            </a:r>
            <a:endParaRPr lang="zh-CN" altLang="en-US" b="0" dirty="0">
              <a:solidFill>
                <a:srgbClr val="000000"/>
              </a:solidFill>
            </a:endParaRPr>
          </a:p>
          <a:p>
            <a:pPr marL="342900" indent="-342900">
              <a:lnSpc>
                <a:spcPts val="1440"/>
              </a:lnSpc>
              <a:spcBef>
                <a:spcPct val="0"/>
              </a:spcBef>
              <a:spcAft>
                <a:spcPct val="0"/>
              </a:spcAft>
              <a:buFont typeface="Arial" panose="020B0604020202020204" pitchFamily="34" charset="0"/>
              <a:buChar char="•"/>
            </a:pPr>
            <a:endParaRPr lang="zh-CN" altLang="en-US" b="0" dirty="0">
              <a:solidFill>
                <a:srgbClr val="000000"/>
              </a:solidFill>
            </a:endParaRPr>
          </a:p>
          <a:p>
            <a:pPr marL="342900" indent="-342900">
              <a:lnSpc>
                <a:spcPts val="1440"/>
              </a:lnSpc>
              <a:spcBef>
                <a:spcPct val="0"/>
              </a:spcBef>
              <a:spcAft>
                <a:spcPct val="0"/>
              </a:spcAft>
              <a:buFont typeface="Arial" panose="020B0604020202020204" pitchFamily="34" charset="0"/>
              <a:buChar char="•"/>
            </a:pPr>
            <a:r>
              <a:rPr lang="zh-CN" altLang="en-US" b="1" dirty="0">
                <a:solidFill>
                  <a:srgbClr val="000000"/>
                </a:solidFill>
                <a:sym typeface="+mn-ea"/>
              </a:rPr>
              <a:t>训练方式：</a:t>
            </a:r>
            <a:r>
              <a:rPr lang="zh-CN" altLang="en-US" dirty="0">
                <a:solidFill>
                  <a:srgbClr val="000000"/>
                </a:solidFill>
                <a:sym typeface="+mn-ea"/>
              </a:rPr>
              <a:t>基于</a:t>
            </a:r>
            <a:r>
              <a:rPr lang="en-US" altLang="zh-CN" dirty="0">
                <a:solidFill>
                  <a:srgbClr val="000000"/>
                </a:solidFill>
                <a:sym typeface="+mn-ea"/>
              </a:rPr>
              <a:t> 2000 </a:t>
            </a:r>
            <a:r>
              <a:rPr lang="zh-CN" altLang="en-US" dirty="0">
                <a:solidFill>
                  <a:srgbClr val="000000"/>
                </a:solidFill>
                <a:sym typeface="+mn-ea"/>
              </a:rPr>
              <a:t>条</a:t>
            </a:r>
            <a:r>
              <a:rPr lang="en-US" altLang="zh-CN" dirty="0">
                <a:solidFill>
                  <a:srgbClr val="000000"/>
                </a:solidFill>
                <a:sym typeface="+mn-ea"/>
              </a:rPr>
              <a:t> &lt;q, z</a:t>
            </a:r>
            <a:r>
              <a:rPr lang="en-US" altLang="en-US" dirty="0">
                <a:solidFill>
                  <a:srgbClr val="000000"/>
                </a:solidFill>
                <a:sym typeface="+mn-ea"/>
              </a:rPr>
              <a:t>ᵣ</a:t>
            </a:r>
            <a:r>
              <a:rPr lang="en-US" altLang="zh-CN" dirty="0">
                <a:solidFill>
                  <a:srgbClr val="000000"/>
                </a:solidFill>
                <a:sym typeface="+mn-ea"/>
              </a:rPr>
              <a:t>, z</a:t>
            </a:r>
            <a:r>
              <a:rPr lang="en-US" altLang="en-US" dirty="0">
                <a:solidFill>
                  <a:srgbClr val="000000"/>
                </a:solidFill>
                <a:sym typeface="+mn-ea"/>
              </a:rPr>
              <a:t>ₚ</a:t>
            </a:r>
            <a:r>
              <a:rPr lang="en-US" altLang="zh-CN" dirty="0">
                <a:solidFill>
                  <a:srgbClr val="000000"/>
                </a:solidFill>
                <a:sym typeface="+mn-ea"/>
              </a:rPr>
              <a:t>&gt; </a:t>
            </a:r>
            <a:r>
              <a:rPr lang="zh-CN" altLang="en-US" dirty="0">
                <a:solidFill>
                  <a:srgbClr val="000000"/>
                </a:solidFill>
                <a:sym typeface="+mn-ea"/>
              </a:rPr>
              <a:t>配对数据做指令微调</a:t>
            </a:r>
            <a:endParaRPr lang="zh-CN" altLang="en-US" b="0" dirty="0">
              <a:solidFill>
                <a:srgbClr val="000000"/>
              </a:solidFill>
            </a:endParaRPr>
          </a:p>
          <a:p>
            <a:pPr marL="342900" indent="-342900">
              <a:lnSpc>
                <a:spcPts val="1440"/>
              </a:lnSpc>
              <a:spcBef>
                <a:spcPct val="0"/>
              </a:spcBef>
              <a:spcAft>
                <a:spcPct val="0"/>
              </a:spcAft>
              <a:buFont typeface="Arial" panose="020B0604020202020204" pitchFamily="34" charset="0"/>
              <a:buChar char="•"/>
            </a:pPr>
            <a:endParaRPr lang="zh-CN" altLang="en-US" b="0" dirty="0">
              <a:solidFill>
                <a:srgbClr val="000000"/>
              </a:solidFill>
            </a:endParaRPr>
          </a:p>
          <a:p>
            <a:pPr marL="342900" indent="-342900">
              <a:lnSpc>
                <a:spcPts val="1440"/>
              </a:lnSpc>
              <a:spcBef>
                <a:spcPct val="0"/>
              </a:spcBef>
              <a:spcAft>
                <a:spcPct val="0"/>
              </a:spcAft>
              <a:buFont typeface="Arial" panose="020B0604020202020204" pitchFamily="34" charset="0"/>
              <a:buChar char="•"/>
            </a:pPr>
            <a:r>
              <a:rPr lang="zh-CN" altLang="en-US" b="1" dirty="0">
                <a:solidFill>
                  <a:srgbClr val="000000"/>
                </a:solidFill>
                <a:sym typeface="+mn-ea"/>
              </a:rPr>
              <a:t>训练目标：</a:t>
            </a:r>
            <a:endParaRPr lang="zh-CN" altLang="en-US" b="1" dirty="0">
              <a:solidFill>
                <a:srgbClr val="000000"/>
              </a:solidFill>
            </a:endParaRPr>
          </a:p>
          <a:p>
            <a:pPr marL="342900" indent="-342900">
              <a:lnSpc>
                <a:spcPts val="1440"/>
              </a:lnSpc>
              <a:spcBef>
                <a:spcPct val="0"/>
              </a:spcBef>
              <a:spcAft>
                <a:spcPct val="0"/>
              </a:spcAft>
              <a:buFont typeface="Arial" panose="020B0604020202020204" pitchFamily="34" charset="0"/>
              <a:buChar char="•"/>
            </a:pPr>
            <a:endParaRPr lang="zh-CN" altLang="en-US" b="0" dirty="0">
              <a:solidFill>
                <a:srgbClr val="000000"/>
              </a:solidFill>
            </a:endParaRPr>
          </a:p>
          <a:p>
            <a:pPr marL="1257300" lvl="2" indent="-342900">
              <a:lnSpc>
                <a:spcPts val="1440"/>
              </a:lnSpc>
              <a:spcBef>
                <a:spcPct val="0"/>
              </a:spcBef>
              <a:spcAft>
                <a:spcPct val="0"/>
              </a:spcAft>
              <a:buFont typeface="Arial" panose="020B0604020202020204" pitchFamily="34" charset="0"/>
              <a:buChar char="•"/>
            </a:pPr>
            <a:r>
              <a:rPr lang="en-US" altLang="zh-CN" dirty="0">
                <a:solidFill>
                  <a:srgbClr val="000000"/>
                </a:solidFill>
                <a:sym typeface="+mn-ea"/>
              </a:rPr>
              <a:t>Reasoner</a:t>
            </a:r>
            <a:r>
              <a:rPr lang="zh-CN" altLang="en-US" dirty="0">
                <a:solidFill>
                  <a:srgbClr val="000000"/>
                </a:solidFill>
                <a:sym typeface="+mn-ea"/>
              </a:rPr>
              <a:t>：学会根据自然语言问题，生成带</a:t>
            </a:r>
            <a:r>
              <a:rPr lang="en-US" altLang="zh-CN" dirty="0">
                <a:solidFill>
                  <a:srgbClr val="000000"/>
                </a:solidFill>
                <a:sym typeface="+mn-ea"/>
              </a:rPr>
              <a:t>&lt;THINK&gt;&lt;/THINK&gt;</a:t>
            </a:r>
            <a:r>
              <a:rPr lang="zh-CN" altLang="en-US" dirty="0">
                <a:solidFill>
                  <a:srgbClr val="000000"/>
                </a:solidFill>
                <a:sym typeface="+mn-ea"/>
              </a:rPr>
              <a:t>标识的分步推理链</a:t>
            </a:r>
            <a:endParaRPr lang="zh-CN" altLang="en-US" b="0" dirty="0">
              <a:solidFill>
                <a:srgbClr val="000000"/>
              </a:solidFill>
            </a:endParaRPr>
          </a:p>
          <a:p>
            <a:pPr indent="0">
              <a:lnSpc>
                <a:spcPts val="1440"/>
              </a:lnSpc>
              <a:spcBef>
                <a:spcPct val="0"/>
              </a:spcBef>
              <a:spcAft>
                <a:spcPct val="0"/>
              </a:spcAft>
              <a:buFont typeface="Arial" panose="020B0604020202020204" pitchFamily="34" charset="0"/>
              <a:buNone/>
            </a:pPr>
            <a:endParaRPr lang="zh-CN" altLang="en-US" b="0" dirty="0">
              <a:solidFill>
                <a:srgbClr val="000000"/>
              </a:solidFill>
            </a:endParaRPr>
          </a:p>
          <a:p>
            <a:pPr marL="342900" indent="-342900">
              <a:lnSpc>
                <a:spcPts val="1440"/>
              </a:lnSpc>
              <a:spcBef>
                <a:spcPct val="0"/>
              </a:spcBef>
              <a:spcAft>
                <a:spcPct val="0"/>
              </a:spcAft>
              <a:buFont typeface="Arial" panose="020B0604020202020204" pitchFamily="34" charset="0"/>
              <a:buChar char="•"/>
            </a:pPr>
            <a:endParaRPr lang="zh-CN" altLang="en-US" b="0" dirty="0">
              <a:solidFill>
                <a:srgbClr val="000000"/>
              </a:solidFill>
            </a:endParaRPr>
          </a:p>
          <a:p>
            <a:pPr marL="342900" indent="-342900">
              <a:lnSpc>
                <a:spcPts val="1440"/>
              </a:lnSpc>
              <a:spcBef>
                <a:spcPct val="0"/>
              </a:spcBef>
              <a:spcAft>
                <a:spcPct val="0"/>
              </a:spcAft>
              <a:buFont typeface="Arial" panose="020B0604020202020204" pitchFamily="34" charset="0"/>
              <a:buChar char="•"/>
            </a:pPr>
            <a:endParaRPr lang="zh-CN" altLang="en-US" b="0" dirty="0">
              <a:solidFill>
                <a:srgbClr val="000000"/>
              </a:solidFill>
            </a:endParaRPr>
          </a:p>
          <a:p>
            <a:pPr marL="1257300" lvl="2" indent="-342900">
              <a:lnSpc>
                <a:spcPts val="1440"/>
              </a:lnSpc>
              <a:spcBef>
                <a:spcPct val="0"/>
              </a:spcBef>
              <a:spcAft>
                <a:spcPct val="0"/>
              </a:spcAft>
              <a:buFont typeface="Arial" panose="020B0604020202020204" pitchFamily="34" charset="0"/>
              <a:buChar char="•"/>
            </a:pPr>
            <a:r>
              <a:rPr lang="en-US" altLang="zh-CN" dirty="0">
                <a:solidFill>
                  <a:srgbClr val="000000"/>
                </a:solidFill>
                <a:sym typeface="+mn-ea"/>
              </a:rPr>
              <a:t>Aligner</a:t>
            </a:r>
            <a:r>
              <a:rPr lang="zh-CN" altLang="en-US" dirty="0">
                <a:solidFill>
                  <a:srgbClr val="000000"/>
                </a:solidFill>
                <a:sym typeface="+mn-ea"/>
              </a:rPr>
              <a:t>：学会根据问题</a:t>
            </a:r>
            <a:r>
              <a:rPr lang="en-US" altLang="zh-CN" dirty="0">
                <a:solidFill>
                  <a:srgbClr val="000000"/>
                </a:solidFill>
                <a:sym typeface="+mn-ea"/>
              </a:rPr>
              <a:t> + </a:t>
            </a:r>
            <a:r>
              <a:rPr lang="zh-CN" altLang="en-US" dirty="0">
                <a:solidFill>
                  <a:srgbClr val="000000"/>
                </a:solidFill>
                <a:sym typeface="+mn-ea"/>
              </a:rPr>
              <a:t>推理链，生成带</a:t>
            </a:r>
            <a:r>
              <a:rPr lang="en-US" altLang="zh-CN" dirty="0">
                <a:solidFill>
                  <a:srgbClr val="000000"/>
                </a:solidFill>
                <a:sym typeface="+mn-ea"/>
              </a:rPr>
              <a:t>&lt;ALIGN&gt;&lt;/ALIGN&gt;</a:t>
            </a:r>
            <a:r>
              <a:rPr lang="zh-CN" altLang="en-US" dirty="0">
                <a:solidFill>
                  <a:srgbClr val="000000"/>
                </a:solidFill>
                <a:sym typeface="+mn-ea"/>
              </a:rPr>
              <a:t>标识的</a:t>
            </a:r>
            <a:r>
              <a:rPr lang="en-US" altLang="zh-CN" dirty="0">
                <a:solidFill>
                  <a:srgbClr val="000000"/>
                </a:solidFill>
                <a:sym typeface="+mn-ea"/>
              </a:rPr>
              <a:t> KG </a:t>
            </a:r>
            <a:r>
              <a:rPr lang="zh-CN" altLang="en-US" dirty="0">
                <a:solidFill>
                  <a:srgbClr val="000000"/>
                </a:solidFill>
                <a:sym typeface="+mn-ea"/>
              </a:rPr>
              <a:t>有效知识路径</a:t>
            </a:r>
            <a:endParaRPr lang="zh-CN" altLang="en-US" b="0" dirty="0">
              <a:solidFill>
                <a:srgbClr val="000000"/>
              </a:solidFill>
            </a:endParaRPr>
          </a:p>
          <a:p>
            <a:pPr marL="342900" indent="-342900">
              <a:lnSpc>
                <a:spcPts val="1440"/>
              </a:lnSpc>
              <a:spcBef>
                <a:spcPct val="0"/>
              </a:spcBef>
              <a:spcAft>
                <a:spcPct val="0"/>
              </a:spcAft>
              <a:buAutoNum type="arabicPeriod"/>
            </a:pPr>
            <a:endParaRPr lang="zh-CN" altLang="en-US" b="0" dirty="0">
              <a:solidFill>
                <a:srgbClr val="000000"/>
              </a:solidFill>
            </a:endParaRPr>
          </a:p>
          <a:p>
            <a:pPr marL="342900" indent="-342900">
              <a:lnSpc>
                <a:spcPts val="1440"/>
              </a:lnSpc>
              <a:spcBef>
                <a:spcPct val="0"/>
              </a:spcBef>
              <a:spcAft>
                <a:spcPct val="0"/>
              </a:spcAft>
              <a:buAutoNum type="arabicPeriod"/>
            </a:pPr>
            <a:endParaRPr lang="zh-CN" altLang="en-US" b="0" dirty="0">
              <a:solidFill>
                <a:srgbClr val="000000"/>
              </a:solidFill>
            </a:endParaRPr>
          </a:p>
          <a:p>
            <a:pPr marL="342900" indent="-342900">
              <a:lnSpc>
                <a:spcPts val="1440"/>
              </a:lnSpc>
              <a:spcBef>
                <a:spcPct val="0"/>
              </a:spcBef>
              <a:spcAft>
                <a:spcPct val="0"/>
              </a:spcAft>
              <a:buAutoNum type="arabicPeriod"/>
            </a:pPr>
            <a:endParaRPr lang="zh-CN" altLang="en-US" b="0" dirty="0">
              <a:solidFill>
                <a:srgbClr val="000000"/>
              </a:solidFill>
            </a:endParaRPr>
          </a:p>
          <a:p>
            <a:pPr marL="342900" indent="-342900">
              <a:lnSpc>
                <a:spcPts val="1440"/>
              </a:lnSpc>
              <a:spcBef>
                <a:spcPct val="0"/>
              </a:spcBef>
              <a:spcAft>
                <a:spcPct val="0"/>
              </a:spcAft>
              <a:buAutoNum type="arabicPeriod"/>
            </a:pPr>
            <a:endParaRPr lang="zh-CN" altLang="en-US" b="0" dirty="0">
              <a:solidFill>
                <a:srgbClr val="000000"/>
              </a:solidFill>
            </a:endParaRPr>
          </a:p>
          <a:p>
            <a:pPr indent="0">
              <a:lnSpc>
                <a:spcPts val="1440"/>
              </a:lnSpc>
              <a:spcBef>
                <a:spcPct val="0"/>
              </a:spcBef>
              <a:spcAft>
                <a:spcPct val="0"/>
              </a:spcAft>
              <a:buNone/>
            </a:pPr>
            <a:r>
              <a:rPr lang="en-US" altLang="zh-CN" b="1" dirty="0">
                <a:solidFill>
                  <a:srgbClr val="000000"/>
                </a:solidFill>
              </a:rPr>
              <a:t>2.   EM</a:t>
            </a:r>
            <a:r>
              <a:rPr lang="zh-CN" altLang="en-US" b="1" dirty="0">
                <a:solidFill>
                  <a:srgbClr val="000000"/>
                </a:solidFill>
              </a:rPr>
              <a:t>（期望最大化）算法迭代训练</a:t>
            </a:r>
          </a:p>
          <a:p>
            <a:pPr marL="342900" indent="-342900">
              <a:lnSpc>
                <a:spcPts val="1440"/>
              </a:lnSpc>
              <a:spcBef>
                <a:spcPct val="0"/>
              </a:spcBef>
              <a:spcAft>
                <a:spcPct val="0"/>
              </a:spcAft>
              <a:buAutoNum type="arabicPeriod"/>
            </a:pPr>
            <a:endParaRPr lang="zh-CN" altLang="en-US" b="0" dirty="0">
              <a:solidFill>
                <a:srgbClr val="000000"/>
              </a:solidFill>
            </a:endParaRPr>
          </a:p>
          <a:p>
            <a:pPr marL="342900" indent="-342900">
              <a:lnSpc>
                <a:spcPts val="1440"/>
              </a:lnSpc>
              <a:spcBef>
                <a:spcPct val="0"/>
              </a:spcBef>
              <a:spcAft>
                <a:spcPct val="0"/>
              </a:spcAft>
              <a:buFont typeface="Arial" panose="020B0604020202020204" pitchFamily="34" charset="0"/>
              <a:buChar char="•"/>
            </a:pPr>
            <a:endParaRPr lang="zh-CN" altLang="en-US" b="0" dirty="0">
              <a:solidFill>
                <a:srgbClr val="000000"/>
              </a:solidFill>
            </a:endParaRPr>
          </a:p>
          <a:p>
            <a:pPr marL="342900" indent="-342900">
              <a:lnSpc>
                <a:spcPts val="1440"/>
              </a:lnSpc>
              <a:spcBef>
                <a:spcPct val="0"/>
              </a:spcBef>
              <a:spcAft>
                <a:spcPct val="0"/>
              </a:spcAft>
              <a:buFont typeface="Arial" panose="020B0604020202020204" pitchFamily="34" charset="0"/>
              <a:buChar char="•"/>
            </a:pPr>
            <a:r>
              <a:rPr lang="zh-CN" altLang="en-US" b="1" dirty="0">
                <a:solidFill>
                  <a:srgbClr val="000000"/>
                </a:solidFill>
              </a:rPr>
              <a:t>核心前提</a:t>
            </a:r>
            <a:r>
              <a:rPr lang="zh-CN" altLang="en-US" b="0" dirty="0">
                <a:solidFill>
                  <a:srgbClr val="000000"/>
                </a:solidFill>
              </a:rPr>
              <a:t>：</a:t>
            </a:r>
          </a:p>
          <a:p>
            <a:pPr marL="342900" indent="-342900">
              <a:lnSpc>
                <a:spcPts val="1440"/>
              </a:lnSpc>
              <a:spcBef>
                <a:spcPct val="0"/>
              </a:spcBef>
              <a:spcAft>
                <a:spcPct val="0"/>
              </a:spcAft>
              <a:buAutoNum type="arabicPeriod"/>
            </a:pPr>
            <a:endParaRPr lang="zh-CN" altLang="en-US" b="0" dirty="0">
              <a:solidFill>
                <a:srgbClr val="000000"/>
              </a:solidFill>
            </a:endParaRPr>
          </a:p>
          <a:p>
            <a:pPr marL="342900" indent="-342900">
              <a:lnSpc>
                <a:spcPts val="1440"/>
              </a:lnSpc>
              <a:spcBef>
                <a:spcPct val="0"/>
              </a:spcBef>
              <a:spcAft>
                <a:spcPct val="0"/>
              </a:spcAft>
              <a:buAutoNum type="arabicPeriod"/>
            </a:pPr>
            <a:endParaRPr lang="zh-CN" altLang="en-US" b="0" dirty="0">
              <a:solidFill>
                <a:srgbClr val="000000"/>
              </a:solidFill>
            </a:endParaRPr>
          </a:p>
          <a:p>
            <a:pPr marL="342900" indent="-342900">
              <a:lnSpc>
                <a:spcPts val="1440"/>
              </a:lnSpc>
              <a:spcBef>
                <a:spcPct val="0"/>
              </a:spcBef>
              <a:spcAft>
                <a:spcPct val="0"/>
              </a:spcAft>
              <a:buAutoNum type="arabicPeriod"/>
            </a:pPr>
            <a:endParaRPr lang="zh-CN" altLang="en-US" b="0" dirty="0">
              <a:solidFill>
                <a:srgbClr val="000000"/>
              </a:solidFill>
            </a:endParaRPr>
          </a:p>
          <a:p>
            <a:pPr marL="342900" indent="-342900">
              <a:lnSpc>
                <a:spcPts val="1440"/>
              </a:lnSpc>
              <a:spcBef>
                <a:spcPct val="0"/>
              </a:spcBef>
              <a:spcAft>
                <a:spcPct val="0"/>
              </a:spcAft>
              <a:buFont typeface="Arial" panose="020B0604020202020204" pitchFamily="34" charset="0"/>
              <a:buChar char="•"/>
            </a:pPr>
            <a:r>
              <a:rPr lang="zh-CN" altLang="en-US" b="1" dirty="0">
                <a:solidFill>
                  <a:srgbClr val="000000"/>
                </a:solidFill>
              </a:rPr>
              <a:t>训练目标</a:t>
            </a:r>
            <a:r>
              <a:rPr lang="zh-CN" altLang="en-US" b="0" dirty="0">
                <a:solidFill>
                  <a:srgbClr val="000000"/>
                </a:solidFill>
              </a:rPr>
              <a:t>：</a:t>
            </a:r>
          </a:p>
          <a:p>
            <a:pPr marL="342900" indent="-342900">
              <a:lnSpc>
                <a:spcPts val="1440"/>
              </a:lnSpc>
              <a:spcBef>
                <a:spcPct val="0"/>
              </a:spcBef>
              <a:spcAft>
                <a:spcPct val="0"/>
              </a:spcAft>
              <a:buFont typeface="Arial" panose="020B0604020202020204" pitchFamily="34" charset="0"/>
              <a:buChar char="•"/>
            </a:pPr>
            <a:endParaRPr lang="zh-CN" altLang="en-US" b="0" dirty="0">
              <a:solidFill>
                <a:srgbClr val="000000"/>
              </a:solidFill>
            </a:endParaRPr>
          </a:p>
          <a:p>
            <a:pPr marL="342900" indent="-342900">
              <a:lnSpc>
                <a:spcPts val="1440"/>
              </a:lnSpc>
              <a:spcBef>
                <a:spcPct val="0"/>
              </a:spcBef>
              <a:spcAft>
                <a:spcPct val="0"/>
              </a:spcAft>
              <a:buFont typeface="Arial" panose="020B0604020202020204" pitchFamily="34" charset="0"/>
              <a:buChar char="•"/>
            </a:pPr>
            <a:endParaRPr lang="zh-CN" altLang="en-US" b="0" dirty="0">
              <a:solidFill>
                <a:srgbClr val="000000"/>
              </a:solidFill>
            </a:endParaRPr>
          </a:p>
          <a:p>
            <a:pPr marL="342900" indent="-342900">
              <a:lnSpc>
                <a:spcPts val="1440"/>
              </a:lnSpc>
              <a:spcBef>
                <a:spcPct val="0"/>
              </a:spcBef>
              <a:spcAft>
                <a:spcPct val="0"/>
              </a:spcAft>
              <a:buFont typeface="Arial" panose="020B0604020202020204" pitchFamily="34" charset="0"/>
              <a:buChar char="•"/>
            </a:pPr>
            <a:r>
              <a:rPr lang="zh-CN" altLang="en-US" b="1" dirty="0">
                <a:solidFill>
                  <a:srgbClr val="000000"/>
                </a:solidFill>
              </a:rPr>
              <a:t>迭代终止条件</a:t>
            </a:r>
            <a:r>
              <a:rPr lang="zh-CN" altLang="en-US" b="0" dirty="0">
                <a:solidFill>
                  <a:srgbClr val="000000"/>
                </a:solidFill>
              </a:rPr>
              <a:t>：模型性能收敛</a:t>
            </a:r>
          </a:p>
        </p:txBody>
      </p:sp>
      <p:pic>
        <p:nvPicPr>
          <p:cNvPr id="8" name="图片 7"/>
          <p:cNvPicPr>
            <a:picLocks noChangeAspect="1"/>
          </p:cNvPicPr>
          <p:nvPr/>
        </p:nvPicPr>
        <p:blipFill>
          <a:blip r:embed="rId7"/>
          <a:stretch>
            <a:fillRect/>
          </a:stretch>
        </p:blipFill>
        <p:spPr>
          <a:xfrm>
            <a:off x="1840865" y="5221605"/>
            <a:ext cx="5617845" cy="408305"/>
          </a:xfrm>
          <a:prstGeom prst="rect">
            <a:avLst/>
          </a:prstGeom>
        </p:spPr>
      </p:pic>
      <p:pic>
        <p:nvPicPr>
          <p:cNvPr id="2" name="图片 1"/>
          <p:cNvPicPr>
            <a:picLocks noChangeAspect="1"/>
          </p:cNvPicPr>
          <p:nvPr/>
        </p:nvPicPr>
        <p:blipFill>
          <a:blip r:embed="rId8"/>
          <a:stretch>
            <a:fillRect/>
          </a:stretch>
        </p:blipFill>
        <p:spPr>
          <a:xfrm>
            <a:off x="1840865" y="4354830"/>
            <a:ext cx="9711690" cy="673735"/>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模块融合与期望推导</a:t>
            </a:r>
          </a:p>
        </p:txBody>
      </p:sp>
      <p:pic>
        <p:nvPicPr>
          <p:cNvPr id="6" name="图片 5"/>
          <p:cNvPicPr>
            <a:picLocks noChangeAspect="1"/>
          </p:cNvPicPr>
          <p:nvPr>
            <p:custDataLst>
              <p:tags r:id="rId2"/>
            </p:custDataLst>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mc:AlternateContent xmlns:mc="http://schemas.openxmlformats.org/markup-compatibility/2006" xmlns:a14="http://schemas.microsoft.com/office/drawing/2010/main">
        <mc:Choice Requires="a14">
          <p:sp>
            <p:nvSpPr>
              <p:cNvPr id="8" name="文本框 7"/>
              <p:cNvSpPr txBox="1"/>
              <p:nvPr>
                <p:custDataLst>
                  <p:tags r:id="rId3"/>
                </p:custDataLst>
              </p:nvPr>
            </p:nvSpPr>
            <p:spPr>
              <a:xfrm>
                <a:off x="247015" y="894715"/>
                <a:ext cx="9467850" cy="4004945"/>
              </a:xfrm>
              <a:prstGeom prst="rect">
                <a:avLst/>
              </a:prstGeom>
              <a:noFill/>
            </p:spPr>
            <p:txBody>
              <a:bodyPr wrap="square" rtlCol="0">
                <a:spAutoFit/>
              </a:bodyPr>
              <a:lstStyle/>
              <a:p>
                <a:r>
                  <a:rPr lang="zh-CN" altLang="en-US" b="1"/>
                  <a:t>模块融合：</a:t>
                </a:r>
              </a:p>
              <a:p>
                <a:pPr marL="285750" indent="-285750">
                  <a:buFont typeface="Arial" panose="020B0604020202020204" pitchFamily="34" charset="0"/>
                  <a:buChar char="•"/>
                </a:pPr>
                <a:r>
                  <a:rPr lang="zh-CN" altLang="en-US" b="1"/>
                  <a:t>融合逻辑：</a:t>
                </a:r>
                <a:r>
                  <a:rPr lang="zh-CN" altLang="en-US"/>
                  <a:t>将</a:t>
                </a:r>
                <a:r>
                  <a:rPr lang="en-US" altLang="zh-CN"/>
                  <a:t> Reasoner </a:t>
                </a:r>
                <a:r>
                  <a:rPr lang="zh-CN" altLang="en-US"/>
                  <a:t>和</a:t>
                </a:r>
                <a:r>
                  <a:rPr lang="en-US" altLang="zh-CN"/>
                  <a:t> Aligner </a:t>
                </a:r>
                <a:r>
                  <a:rPr lang="zh-CN" altLang="en-US"/>
                  <a:t>合并为</a:t>
                </a:r>
                <a:r>
                  <a:rPr lang="en-US" altLang="zh-CN"/>
                  <a:t> ReAligner</a:t>
                </a:r>
                <a:r>
                  <a:rPr lang="zh-CN" altLang="en-US"/>
                  <a:t>，统一输出</a:t>
                </a:r>
                <a14:m>
                  <m:oMath xmlns:m="http://schemas.openxmlformats.org/officeDocument/2006/math">
                    <m:r>
                      <a:rPr lang="en-US" altLang="zh-CN" i="1">
                        <a:latin typeface="Cambria Math" panose="02040503050406030204" pitchFamily="18" charset="0"/>
                        <a:cs typeface="Cambria Math" panose="02040503050406030204" pitchFamily="18" charset="0"/>
                      </a:rPr>
                      <m:t>𝓏</m:t>
                    </m:r>
                    <m:r>
                      <a:rPr lang="en-US" altLang="zh-CN" i="1">
                        <a:latin typeface="Cambria Math" panose="02040503050406030204" pitchFamily="18" charset="0"/>
                        <a:cs typeface="Cambria Math" panose="02040503050406030204" pitchFamily="18" charset="0"/>
                      </a:rPr>
                      <m:t>=</m:t>
                    </m:r>
                    <m:d>
                      <m:dPr>
                        <m:ctrlPr>
                          <a:rPr lang="en-US" altLang="zh-CN" i="1">
                            <a:latin typeface="Cambria Math" panose="02040503050406030204" pitchFamily="18" charset="0"/>
                            <a:cs typeface="Cambria Math" panose="02040503050406030204" pitchFamily="18" charset="0"/>
                          </a:rPr>
                        </m:ctrlPr>
                      </m:dPr>
                      <m:e>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𝓏</m:t>
                            </m:r>
                          </m:e>
                          <m:sub>
                            <m:r>
                              <a:rPr lang="en-US" altLang="zh-CN" i="1">
                                <a:latin typeface="Cambria Math" panose="02040503050406030204" pitchFamily="18" charset="0"/>
                                <a:cs typeface="Cambria Math" panose="02040503050406030204" pitchFamily="18" charset="0"/>
                              </a:rPr>
                              <m:t>𝑟</m:t>
                            </m:r>
                          </m:sub>
                        </m:sSub>
                        <m:r>
                          <a:rPr lang="en-US" altLang="zh-CN" i="1">
                            <a:latin typeface="Cambria Math" panose="02040503050406030204" pitchFamily="18" charset="0"/>
                            <a:cs typeface="Cambria Math" panose="02040503050406030204" pitchFamily="18" charset="0"/>
                          </a:rPr>
                          <m:t>,</m:t>
                        </m:r>
                        <m:sSub>
                          <m:sSubPr>
                            <m:ctrlPr>
                              <a:rPr lang="en-US" altLang="zh-CN" i="1">
                                <a:latin typeface="Cambria Math" panose="02040503050406030204" pitchFamily="18" charset="0"/>
                                <a:cs typeface="Cambria Math" panose="02040503050406030204" pitchFamily="18" charset="0"/>
                              </a:rPr>
                            </m:ctrlPr>
                          </m:sSubPr>
                          <m:e>
                            <m:r>
                              <a:rPr lang="en-US" altLang="zh-CN" i="1">
                                <a:latin typeface="Cambria Math" panose="02040503050406030204" pitchFamily="18" charset="0"/>
                                <a:cs typeface="Cambria Math" panose="02040503050406030204" pitchFamily="18" charset="0"/>
                              </a:rPr>
                              <m:t>𝓏</m:t>
                            </m:r>
                          </m:e>
                          <m:sub>
                            <m:r>
                              <a:rPr lang="en-US" altLang="zh-CN" i="1">
                                <a:latin typeface="Cambria Math" panose="02040503050406030204" pitchFamily="18" charset="0"/>
                                <a:cs typeface="Cambria Math" panose="02040503050406030204" pitchFamily="18" charset="0"/>
                              </a:rPr>
                              <m:t>𝑝</m:t>
                            </m:r>
                          </m:sub>
                        </m:sSub>
                      </m:e>
                    </m:d>
                  </m:oMath>
                </a14:m>
                <a:endParaRPr lang="zh-CN" altLang="en-US" b="1"/>
              </a:p>
              <a:p>
                <a:pPr lvl="2"/>
                <a:r>
                  <a:rPr lang="zh-CN" altLang="en-US" b="1"/>
                  <a:t>简化原因：</a:t>
                </a:r>
                <a:r>
                  <a:rPr lang="zh-CN" altLang="en-US"/>
                  <a:t>减少隐变量优化复杂度，提升训练效率</a:t>
                </a:r>
                <a:endParaRPr lang="zh-CN" altLang="en-US" b="1"/>
              </a:p>
              <a:p>
                <a:pPr lvl="2"/>
                <a:r>
                  <a:rPr lang="zh-CN" altLang="en-US" b="1"/>
                  <a:t>参数更新：</a:t>
                </a:r>
                <a:r>
                  <a:rPr lang="en-US" altLang="zh-CN"/>
                  <a:t>ReAligner </a:t>
                </a:r>
                <a:r>
                  <a:rPr lang="zh-CN" altLang="en-US"/>
                  <a:t>参数</a:t>
                </a:r>
                <a14:m>
                  <m:oMath xmlns:m="http://schemas.openxmlformats.org/officeDocument/2006/math">
                    <m:r>
                      <a:rPr lang="en-US" altLang="zh-CN" i="1">
                        <a:latin typeface="Cambria Math" panose="02040503050406030204" pitchFamily="18" charset="0"/>
                        <a:cs typeface="Cambria Math" panose="02040503050406030204" pitchFamily="18" charset="0"/>
                      </a:rPr>
                      <m:t>𝜓</m:t>
                    </m:r>
                  </m:oMath>
                </a14:m>
                <a:r>
                  <a:rPr lang="zh-CN" altLang="en-US"/>
                  <a:t>（替代原</a:t>
                </a:r>
                <a14:m>
                  <m:oMath xmlns:m="http://schemas.openxmlformats.org/officeDocument/2006/math">
                    <m:r>
                      <a:rPr lang="en-US" altLang="zh-CN" i="1">
                        <a:latin typeface="Cambria Math" panose="02040503050406030204" pitchFamily="18" charset="0"/>
                        <a:cs typeface="Cambria Math" panose="02040503050406030204" pitchFamily="18" charset="0"/>
                      </a:rPr>
                      <m:t>𝜃</m:t>
                    </m:r>
                  </m:oMath>
                </a14:m>
                <a:r>
                  <a:rPr lang="en-US" altLang="zh-CN"/>
                  <a:t>,</a:t>
                </a:r>
                <a14:m>
                  <m:oMath xmlns:m="http://schemas.openxmlformats.org/officeDocument/2006/math">
                    <m:r>
                      <a:rPr lang="en-US" altLang="zh-CN" i="1">
                        <a:latin typeface="Cambria Math" panose="02040503050406030204" pitchFamily="18" charset="0"/>
                        <a:cs typeface="Cambria Math" panose="02040503050406030204" pitchFamily="18" charset="0"/>
                      </a:rPr>
                      <m:t>𝜙</m:t>
                    </m:r>
                  </m:oMath>
                </a14:m>
                <a:r>
                  <a:rPr lang="zh-CN" altLang="en-US"/>
                  <a:t>）</a:t>
                </a:r>
              </a:p>
              <a:p>
                <a:pPr marL="285750" lvl="0" indent="-285750">
                  <a:buFont typeface="Arial" panose="020B0604020202020204" pitchFamily="34" charset="0"/>
                  <a:buChar char="•"/>
                </a:pPr>
                <a:r>
                  <a:rPr lang="zh-CN" altLang="en-US" b="1"/>
                  <a:t>融合后概率分布：</a:t>
                </a:r>
                <a:endParaRPr lang="en-US" altLang="zh-CN"/>
              </a:p>
              <a:p>
                <a:pPr marL="285750" lvl="0" indent="-285750">
                  <a:buFont typeface="Arial" panose="020B0604020202020204" pitchFamily="34" charset="0"/>
                  <a:buChar char="•"/>
                </a:pPr>
                <a:endParaRPr lang="en-US" altLang="zh-CN"/>
              </a:p>
              <a:p>
                <a:pPr marL="285750" lvl="0" indent="-285750">
                  <a:buFont typeface="Arial" panose="020B0604020202020204" pitchFamily="34" charset="0"/>
                  <a:buChar char="•"/>
                </a:pPr>
                <a:endParaRPr lang="en-US" altLang="zh-CN"/>
              </a:p>
              <a:p>
                <a:pPr marL="285750" lvl="0" indent="-285750">
                  <a:buFont typeface="Arial" panose="020B0604020202020204" pitchFamily="34" charset="0"/>
                  <a:buChar char="•"/>
                </a:pPr>
                <a:endParaRPr lang="en-US" altLang="zh-CN"/>
              </a:p>
              <a:p>
                <a:pPr marL="285750" lvl="0" indent="-285750">
                  <a:buFont typeface="Arial" panose="020B0604020202020204" pitchFamily="34" charset="0"/>
                  <a:buChar char="•"/>
                </a:pPr>
                <a:endParaRPr lang="en-US" altLang="zh-CN"/>
              </a:p>
              <a:p>
                <a:pPr marL="285750" lvl="0" indent="-285750">
                  <a:buFont typeface="Arial" panose="020B0604020202020204" pitchFamily="34" charset="0"/>
                  <a:buChar char="•"/>
                </a:pPr>
                <a:r>
                  <a:rPr lang="zh-CN" altLang="en-US" b="1"/>
                  <a:t>改写为期望形式：</a:t>
                </a:r>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r>
                  <a:rPr lang="zh-CN" altLang="en-US" b="1"/>
                  <a:t>训练目标：最大化对数似然</a:t>
                </a:r>
              </a:p>
            </p:txBody>
          </p:sp>
        </mc:Choice>
        <mc:Fallback xmlns="">
          <p:sp>
            <p:nvSpPr>
              <p:cNvPr id="8" name="文本框 7"/>
              <p:cNvSpPr txBox="1">
                <a:spLocks noRot="1" noChangeAspect="1" noMove="1" noResize="1" noEditPoints="1" noAdjustHandles="1" noChangeArrowheads="1" noChangeShapeType="1" noTextEdit="1"/>
              </p:cNvSpPr>
              <p:nvPr>
                <p:custDataLst>
                  <p:tags r:id="rId8"/>
                </p:custDataLst>
              </p:nvPr>
            </p:nvSpPr>
            <p:spPr>
              <a:xfrm>
                <a:off x="247015" y="894715"/>
                <a:ext cx="9467850" cy="4004945"/>
              </a:xfrm>
              <a:prstGeom prst="rect">
                <a:avLst/>
              </a:prstGeom>
              <a:blipFill rotWithShape="1">
                <a:blip r:embed="rId9"/>
                <a:stretch>
                  <a:fillRect/>
                </a:stretch>
              </a:blipFill>
            </p:spPr>
            <p:txBody>
              <a:bodyPr/>
              <a:lstStyle/>
              <a:p>
                <a:r>
                  <a:rPr lang="zh-CN" altLang="en-US">
                    <a:noFill/>
                  </a:rPr>
                  <a:t> </a:t>
                </a:r>
              </a:p>
            </p:txBody>
          </p:sp>
        </mc:Fallback>
      </mc:AlternateContent>
      <p:pic>
        <p:nvPicPr>
          <p:cNvPr id="12" name="图片 11"/>
          <p:cNvPicPr>
            <a:picLocks noChangeAspect="1"/>
          </p:cNvPicPr>
          <p:nvPr/>
        </p:nvPicPr>
        <p:blipFill>
          <a:blip r:embed="rId10"/>
          <a:stretch>
            <a:fillRect/>
          </a:stretch>
        </p:blipFill>
        <p:spPr>
          <a:xfrm>
            <a:off x="2189480" y="2502535"/>
            <a:ext cx="5365115" cy="638175"/>
          </a:xfrm>
          <a:prstGeom prst="rect">
            <a:avLst/>
          </a:prstGeom>
        </p:spPr>
      </p:pic>
      <p:pic>
        <p:nvPicPr>
          <p:cNvPr id="2" name="图片 1"/>
          <p:cNvPicPr>
            <a:picLocks noChangeAspect="1"/>
          </p:cNvPicPr>
          <p:nvPr/>
        </p:nvPicPr>
        <p:blipFill>
          <a:blip r:embed="rId11"/>
          <a:stretch>
            <a:fillRect/>
          </a:stretch>
        </p:blipFill>
        <p:spPr>
          <a:xfrm>
            <a:off x="2189480" y="3838575"/>
            <a:ext cx="4422140" cy="596265"/>
          </a:xfrm>
          <a:prstGeom prst="rect">
            <a:avLst/>
          </a:prstGeom>
        </p:spPr>
      </p:pic>
      <p:pic>
        <p:nvPicPr>
          <p:cNvPr id="10" name="图片 9"/>
          <p:cNvPicPr>
            <a:picLocks noChangeAspect="1"/>
          </p:cNvPicPr>
          <p:nvPr/>
        </p:nvPicPr>
        <p:blipFill>
          <a:blip r:embed="rId12"/>
          <a:stretch>
            <a:fillRect/>
          </a:stretch>
        </p:blipFill>
        <p:spPr>
          <a:xfrm>
            <a:off x="2189480" y="5033645"/>
            <a:ext cx="5219700" cy="574675"/>
          </a:xfrm>
          <a:prstGeom prst="rect">
            <a:avLst/>
          </a:prstGeo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CN" sz="2500" dirty="0"/>
              <a:t>ELBO </a:t>
            </a:r>
            <a:r>
              <a:rPr kumimoji="1" lang="zh-CN" altLang="en-US" sz="2500" dirty="0"/>
              <a:t>下界与优化思路</a:t>
            </a:r>
          </a:p>
        </p:txBody>
      </p:sp>
      <p:pic>
        <p:nvPicPr>
          <p:cNvPr id="6" name="图片 5"/>
          <p:cNvPicPr>
            <a:picLocks noChangeAspect="1"/>
          </p:cNvPicPr>
          <p:nvPr>
            <p:custDataLst>
              <p:tags r:id="rId2"/>
            </p:custDataLst>
          </p:nvPr>
        </p:nvPicPr>
        <p:blipFill>
          <a:blip r:embed="rId7" cstate="print">
            <a:duotone>
              <a:schemeClr val="bg2">
                <a:shade val="45000"/>
                <a:satMod val="135000"/>
              </a:schemeClr>
              <a:prstClr val="white"/>
            </a:duotone>
            <a:extLst>
              <a:ext uri="{BEBA8EAE-BF5A-486C-A8C5-ECC9F3942E4B}">
                <a14:imgProps xmlns:a14="http://schemas.microsoft.com/office/drawing/2010/main">
                  <a14:imgLayer r:embed="rId8">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10" name="文本框 9"/>
          <p:cNvSpPr txBox="1"/>
          <p:nvPr>
            <p:custDataLst>
              <p:tags r:id="rId3"/>
            </p:custDataLst>
          </p:nvPr>
        </p:nvSpPr>
        <p:spPr>
          <a:xfrm>
            <a:off x="212725" y="934720"/>
            <a:ext cx="9992995" cy="3260090"/>
          </a:xfrm>
          <a:prstGeom prst="rect">
            <a:avLst/>
          </a:prstGeom>
          <a:noFill/>
        </p:spPr>
        <p:txBody>
          <a:bodyPr wrap="square" rtlCol="0">
            <a:noAutofit/>
          </a:bodyPr>
          <a:lstStyle/>
          <a:p>
            <a:pPr marL="285750" indent="-285750">
              <a:buFont typeface="Arial" panose="020B0604020202020204" pitchFamily="34" charset="0"/>
              <a:buChar char="•"/>
            </a:pPr>
            <a:endParaRPr lang="zh-CN" altLang="en-US" b="1"/>
          </a:p>
          <a:p>
            <a:pPr marL="285750" indent="-285750">
              <a:buFont typeface="Arial" panose="020B0604020202020204" pitchFamily="34" charset="0"/>
              <a:buChar char="•"/>
            </a:pPr>
            <a:endParaRPr lang="zh-CN" altLang="en-US" b="1"/>
          </a:p>
          <a:p>
            <a:pPr marL="285750" indent="-285750">
              <a:buFont typeface="Arial" panose="020B0604020202020204" pitchFamily="34" charset="0"/>
              <a:buChar char="•"/>
            </a:pPr>
            <a:endParaRPr lang="zh-CN" altLang="en-US" b="1"/>
          </a:p>
          <a:p>
            <a:pPr marL="285750" indent="-285750">
              <a:buFont typeface="Arial" panose="020B0604020202020204" pitchFamily="34" charset="0"/>
              <a:buChar char="•"/>
            </a:pPr>
            <a:endParaRPr lang="zh-CN" altLang="en-US" b="1"/>
          </a:p>
          <a:p>
            <a:pPr indent="0">
              <a:buFont typeface="Arial" panose="020B0604020202020204" pitchFamily="34" charset="0"/>
              <a:buNone/>
            </a:pPr>
            <a:endParaRPr lang="en-US" altLang="zh-CN" b="1"/>
          </a:p>
        </p:txBody>
      </p:sp>
      <p:sp>
        <p:nvSpPr>
          <p:cNvPr id="7" name="文本框 6"/>
          <p:cNvSpPr txBox="1"/>
          <p:nvPr>
            <p:custDataLst>
              <p:tags r:id="rId4"/>
            </p:custDataLst>
          </p:nvPr>
        </p:nvSpPr>
        <p:spPr>
          <a:xfrm>
            <a:off x="357505" y="885825"/>
            <a:ext cx="9992995" cy="5351145"/>
          </a:xfrm>
          <a:prstGeom prst="rect">
            <a:avLst/>
          </a:prstGeom>
          <a:noFill/>
        </p:spPr>
        <p:txBody>
          <a:bodyPr wrap="square" rtlCol="0">
            <a:noAutofit/>
          </a:bodyPr>
          <a:lstStyle/>
          <a:p>
            <a:pPr marL="285750" indent="-285750">
              <a:buFont typeface="Arial" panose="020B0604020202020204" pitchFamily="34" charset="0"/>
              <a:buChar char="•"/>
            </a:pPr>
            <a:r>
              <a:rPr lang="zh-CN" altLang="en-US" b="1"/>
              <a:t>引入</a:t>
            </a:r>
            <a:r>
              <a:rPr lang="en-US" altLang="zh-CN" b="1"/>
              <a:t> ELBO</a:t>
            </a:r>
            <a:r>
              <a:rPr lang="zh-CN" altLang="en-US" b="1"/>
              <a:t>（</a:t>
            </a:r>
            <a:r>
              <a:rPr lang="en-US" altLang="zh-CN" b="1"/>
              <a:t>Jensen </a:t>
            </a:r>
            <a:r>
              <a:rPr lang="zh-CN" altLang="en-US" b="1"/>
              <a:t>不等式）：</a:t>
            </a:r>
          </a:p>
          <a:p>
            <a:pPr indent="0">
              <a:buFont typeface="Arial" panose="020B0604020202020204" pitchFamily="34" charset="0"/>
              <a:buNone/>
            </a:pPr>
            <a:endParaRPr lang="zh-CN" altLang="en-US" b="1">
              <a:sym typeface="+mn-ea"/>
            </a:endParaRPr>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endParaRPr lang="zh-CN" altLang="en-US" b="1"/>
          </a:p>
          <a:p>
            <a:pPr marL="285750" indent="-285750">
              <a:buFont typeface="Arial" panose="020B0604020202020204" pitchFamily="34" charset="0"/>
              <a:buChar char="•"/>
            </a:pPr>
            <a:endParaRPr lang="zh-CN" altLang="en-US" b="1"/>
          </a:p>
          <a:p>
            <a:pPr marL="285750" indent="-285750">
              <a:buFont typeface="Arial" panose="020B0604020202020204" pitchFamily="34" charset="0"/>
              <a:buChar char="•"/>
            </a:pPr>
            <a:endParaRPr lang="zh-CN" altLang="en-US" b="1"/>
          </a:p>
          <a:p>
            <a:pPr marL="285750" indent="-285750">
              <a:buFont typeface="Arial" panose="020B0604020202020204" pitchFamily="34" charset="0"/>
              <a:buChar char="•"/>
            </a:pPr>
            <a:endParaRPr lang="zh-CN" altLang="en-US" b="1"/>
          </a:p>
          <a:p>
            <a:pPr marL="285750" indent="-285750">
              <a:buFont typeface="Arial" panose="020B0604020202020204" pitchFamily="34" charset="0"/>
              <a:buChar char="•"/>
            </a:pPr>
            <a:endParaRPr lang="zh-CN" altLang="en-US" b="1"/>
          </a:p>
          <a:p>
            <a:pPr marL="285750" indent="-285750">
              <a:buFont typeface="Arial" panose="020B0604020202020204" pitchFamily="34" charset="0"/>
              <a:buChar char="•"/>
            </a:pPr>
            <a:endParaRPr lang="zh-CN" altLang="en-US" b="1"/>
          </a:p>
          <a:p>
            <a:pPr marL="285750" indent="-285750">
              <a:buFont typeface="Arial" panose="020B0604020202020204" pitchFamily="34" charset="0"/>
              <a:buChar char="•"/>
            </a:pPr>
            <a:endParaRPr lang="zh-CN" altLang="en-US" b="1"/>
          </a:p>
          <a:p>
            <a:pPr marL="285750" indent="-285750">
              <a:buFont typeface="Arial" panose="020B0604020202020204" pitchFamily="34" charset="0"/>
              <a:buChar char="•"/>
            </a:pPr>
            <a:endParaRPr lang="zh-CN" altLang="en-US" b="1"/>
          </a:p>
          <a:p>
            <a:pPr indent="0">
              <a:buFont typeface="Arial" panose="020B0604020202020204" pitchFamily="34" charset="0"/>
              <a:buNone/>
            </a:pPr>
            <a:endParaRPr lang="zh-CN" altLang="en-US" b="1"/>
          </a:p>
        </p:txBody>
      </p:sp>
      <p:pic>
        <p:nvPicPr>
          <p:cNvPr id="3" name="图片 2"/>
          <p:cNvPicPr>
            <a:picLocks noChangeAspect="1"/>
          </p:cNvPicPr>
          <p:nvPr/>
        </p:nvPicPr>
        <p:blipFill>
          <a:blip r:embed="rId9"/>
          <a:stretch>
            <a:fillRect/>
          </a:stretch>
        </p:blipFill>
        <p:spPr>
          <a:xfrm>
            <a:off x="1344930" y="1597660"/>
            <a:ext cx="4244340" cy="1234440"/>
          </a:xfrm>
          <a:prstGeom prst="rect">
            <a:avLst/>
          </a:prstGeom>
        </p:spPr>
      </p:pic>
      <p:pic>
        <p:nvPicPr>
          <p:cNvPr id="11" name="图片 10"/>
          <p:cNvPicPr>
            <a:picLocks noChangeAspect="1"/>
          </p:cNvPicPr>
          <p:nvPr/>
        </p:nvPicPr>
        <p:blipFill>
          <a:blip r:embed="rId10"/>
          <a:stretch>
            <a:fillRect/>
          </a:stretch>
        </p:blipFill>
        <p:spPr>
          <a:xfrm>
            <a:off x="1238885" y="2761615"/>
            <a:ext cx="5303520" cy="960120"/>
          </a:xfrm>
          <a:prstGeom prst="rect">
            <a:avLst/>
          </a:prstGeom>
        </p:spPr>
      </p:pic>
      <p:pic>
        <p:nvPicPr>
          <p:cNvPr id="2" name="图片 1"/>
          <p:cNvPicPr>
            <a:picLocks noChangeAspect="1"/>
          </p:cNvPicPr>
          <p:nvPr/>
        </p:nvPicPr>
        <p:blipFill>
          <a:blip r:embed="rId11"/>
          <a:stretch>
            <a:fillRect/>
          </a:stretch>
        </p:blipFill>
        <p:spPr>
          <a:xfrm>
            <a:off x="7560310" y="1276985"/>
            <a:ext cx="3594100" cy="582295"/>
          </a:xfrm>
          <a:prstGeom prst="rect">
            <a:avLst/>
          </a:prstGeom>
        </p:spPr>
      </p:pic>
      <p:pic>
        <p:nvPicPr>
          <p:cNvPr id="9" name="图片 8"/>
          <p:cNvPicPr>
            <a:picLocks noChangeAspect="1"/>
          </p:cNvPicPr>
          <p:nvPr/>
        </p:nvPicPr>
        <p:blipFill>
          <a:blip r:embed="rId12"/>
          <a:stretch>
            <a:fillRect/>
          </a:stretch>
        </p:blipFill>
        <p:spPr>
          <a:xfrm>
            <a:off x="8348345" y="1725930"/>
            <a:ext cx="3270250" cy="1308100"/>
          </a:xfrm>
          <a:prstGeom prst="rect">
            <a:avLst/>
          </a:prstGeom>
        </p:spPr>
      </p:pic>
      <p:pic>
        <p:nvPicPr>
          <p:cNvPr id="13" name="图片 12"/>
          <p:cNvPicPr>
            <a:picLocks noChangeAspect="1"/>
          </p:cNvPicPr>
          <p:nvPr/>
        </p:nvPicPr>
        <p:blipFill>
          <a:blip r:embed="rId13"/>
          <a:stretch>
            <a:fillRect/>
          </a:stretch>
        </p:blipFill>
        <p:spPr>
          <a:xfrm>
            <a:off x="8494395" y="3178810"/>
            <a:ext cx="3124200" cy="641350"/>
          </a:xfrm>
          <a:prstGeom prst="rect">
            <a:avLst/>
          </a:prstGeom>
        </p:spPr>
      </p:pic>
      <p:pic>
        <p:nvPicPr>
          <p:cNvPr id="12" name="图片 11"/>
          <p:cNvPicPr>
            <a:picLocks noChangeAspect="1"/>
          </p:cNvPicPr>
          <p:nvPr/>
        </p:nvPicPr>
        <p:blipFill>
          <a:blip r:embed="rId14"/>
          <a:stretch>
            <a:fillRect/>
          </a:stretch>
        </p:blipFill>
        <p:spPr>
          <a:xfrm>
            <a:off x="1166749" y="3819792"/>
            <a:ext cx="6523736" cy="1297161"/>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CN" sz="2500" dirty="0"/>
              <a:t>EM </a:t>
            </a:r>
            <a:r>
              <a:rPr kumimoji="1" lang="zh-CN" altLang="en-US" sz="2500" dirty="0"/>
              <a:t>算法优化</a:t>
            </a:r>
          </a:p>
        </p:txBody>
      </p:sp>
      <p:pic>
        <p:nvPicPr>
          <p:cNvPr id="6" name="图片 5"/>
          <p:cNvPicPr>
            <a:picLocks noChangeAspect="1"/>
          </p:cNvPicPr>
          <p:nvPr>
            <p:custDataLst>
              <p:tags r:id="rId2"/>
            </p:custDataLst>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8" name="文本框 7"/>
          <p:cNvSpPr txBox="1"/>
          <p:nvPr>
            <p:custDataLst>
              <p:tags r:id="rId3"/>
            </p:custDataLst>
          </p:nvPr>
        </p:nvSpPr>
        <p:spPr>
          <a:xfrm>
            <a:off x="247015" y="894715"/>
            <a:ext cx="9681845" cy="5575300"/>
          </a:xfrm>
          <a:prstGeom prst="rect">
            <a:avLst/>
          </a:prstGeom>
          <a:noFill/>
        </p:spPr>
        <p:txBody>
          <a:bodyPr wrap="square" rtlCol="0">
            <a:noAutofit/>
          </a:bodyPr>
          <a:lstStyle/>
          <a:p>
            <a:r>
              <a:rPr lang="en-US" altLang="zh-CN" b="1" dirty="0"/>
              <a:t>E </a:t>
            </a:r>
            <a:r>
              <a:rPr lang="zh-CN" altLang="en-US" b="1" dirty="0"/>
              <a:t>步（期望步）：</a:t>
            </a:r>
          </a:p>
          <a:p>
            <a:endParaRPr lang="zh-CN" altLang="en-US" b="1" dirty="0"/>
          </a:p>
          <a:p>
            <a:pPr marL="285750" indent="-285750">
              <a:buFont typeface="Arial" panose="020B0604020202020204" pitchFamily="34" charset="0"/>
              <a:buChar char="•"/>
            </a:pPr>
            <a:r>
              <a:rPr lang="zh-CN" altLang="en-US" b="1" dirty="0"/>
              <a:t>核心目标：</a:t>
            </a:r>
          </a:p>
          <a:p>
            <a:pPr marL="285750" indent="-285750">
              <a:buFont typeface="Arial" panose="020B0604020202020204" pitchFamily="34" charset="0"/>
              <a:buChar char="•"/>
            </a:pPr>
            <a:endParaRPr lang="zh-CN" altLang="en-US" b="1" dirty="0"/>
          </a:p>
          <a:p>
            <a:pPr marL="285750" indent="-285750">
              <a:buFont typeface="Arial" panose="020B0604020202020204" pitchFamily="34" charset="0"/>
              <a:buChar char="•"/>
            </a:pPr>
            <a:endParaRPr lang="zh-CN" altLang="en-US" b="1" dirty="0"/>
          </a:p>
          <a:p>
            <a:pPr marL="285750" indent="-285750">
              <a:buFont typeface="Arial" panose="020B0604020202020204" pitchFamily="34" charset="0"/>
              <a:buChar char="•"/>
            </a:pPr>
            <a:endParaRPr lang="zh-CN" altLang="en-US" b="1" dirty="0"/>
          </a:p>
          <a:p>
            <a:pPr marL="285750" indent="-285750">
              <a:buFont typeface="Arial" panose="020B0604020202020204" pitchFamily="34" charset="0"/>
              <a:buChar char="•"/>
            </a:pPr>
            <a:endParaRPr lang="zh-CN" altLang="en-US" b="1" dirty="0"/>
          </a:p>
          <a:p>
            <a:pPr marL="285750" indent="-285750">
              <a:buFont typeface="Arial" panose="020B0604020202020204" pitchFamily="34" charset="0"/>
              <a:buChar char="•"/>
            </a:pPr>
            <a:r>
              <a:rPr lang="zh-CN" altLang="en-US" b="1" dirty="0"/>
              <a:t>后验近似（贝叶斯公式）：</a:t>
            </a:r>
          </a:p>
          <a:p>
            <a:pPr marL="285750" lvl="0" indent="-285750">
              <a:buFont typeface="Arial" panose="020B0604020202020204" pitchFamily="34" charset="0"/>
              <a:buChar char="•"/>
            </a:pPr>
            <a:endParaRPr lang="zh-CN" altLang="en-US" b="1" dirty="0"/>
          </a:p>
          <a:p>
            <a:pPr marL="285750" lvl="0" indent="-285750">
              <a:buFont typeface="Arial" panose="020B0604020202020204" pitchFamily="34" charset="0"/>
              <a:buChar char="•"/>
            </a:pPr>
            <a:endParaRPr lang="zh-CN" altLang="en-US" b="1" dirty="0"/>
          </a:p>
          <a:p>
            <a:pPr marL="285750" lvl="0" indent="-285750">
              <a:buFont typeface="Arial" panose="020B0604020202020204" pitchFamily="34" charset="0"/>
              <a:buChar char="•"/>
            </a:pPr>
            <a:r>
              <a:rPr lang="zh-CN" altLang="en-US" b="1" dirty="0"/>
              <a:t>候选打分：</a:t>
            </a:r>
            <a:r>
              <a:rPr lang="en-US" altLang="zh-CN" b="1" dirty="0"/>
              <a:t> </a:t>
            </a:r>
            <a:endParaRPr lang="zh-CN" altLang="en-US" b="1" dirty="0"/>
          </a:p>
          <a:p>
            <a:pPr marL="285750" lvl="0" indent="-285750">
              <a:buFont typeface="Arial" panose="020B0604020202020204" pitchFamily="34" charset="0"/>
              <a:buChar char="•"/>
            </a:pPr>
            <a:endParaRPr lang="zh-CN" altLang="en-US" b="1" dirty="0"/>
          </a:p>
          <a:p>
            <a:pPr marL="285750" lvl="0" indent="-285750">
              <a:buFont typeface="Arial" panose="020B0604020202020204" pitchFamily="34" charset="0"/>
              <a:buChar char="•"/>
            </a:pPr>
            <a:endParaRPr lang="zh-CN" altLang="en-US" b="1" dirty="0"/>
          </a:p>
          <a:p>
            <a:pPr marL="285750" lvl="0" indent="-285750">
              <a:buFont typeface="Arial" panose="020B0604020202020204" pitchFamily="34" charset="0"/>
              <a:buChar char="•"/>
            </a:pPr>
            <a:endParaRPr lang="zh-CN" altLang="en-US" b="1" dirty="0"/>
          </a:p>
          <a:p>
            <a:pPr marL="285750" lvl="0" indent="-285750">
              <a:buFont typeface="Arial" panose="020B0604020202020204" pitchFamily="34" charset="0"/>
              <a:buChar char="•"/>
            </a:pPr>
            <a:r>
              <a:rPr lang="zh-CN" altLang="en-US" b="1" dirty="0"/>
              <a:t>操作流程：</a:t>
            </a:r>
            <a:endParaRPr lang="en-US" altLang="zh-CN" b="1" dirty="0"/>
          </a:p>
          <a:p>
            <a:pPr marL="285750" lvl="0" indent="-285750">
              <a:buFont typeface="Arial" panose="020B0604020202020204" pitchFamily="34" charset="0"/>
              <a:buChar char="•"/>
            </a:pPr>
            <a:endParaRPr lang="en-US" altLang="zh-CN" b="1" dirty="0"/>
          </a:p>
          <a:p>
            <a:pPr marL="285750" lvl="0" indent="-285750">
              <a:buFont typeface="Arial" panose="020B0604020202020204" pitchFamily="34" charset="0"/>
              <a:buChar char="•"/>
            </a:pPr>
            <a:endParaRPr lang="zh-CN" altLang="en-US" b="1" dirty="0"/>
          </a:p>
          <a:p>
            <a:pPr marL="742950" lvl="1" indent="-285750">
              <a:buFont typeface="Arial" panose="020B0604020202020204" pitchFamily="34" charset="0"/>
              <a:buChar char="•"/>
            </a:pPr>
            <a:endParaRPr lang="zh-CN" altLang="en-US" b="1" dirty="0"/>
          </a:p>
          <a:p>
            <a:pPr lvl="2"/>
            <a:endParaRPr lang="en-US" altLang="zh-CN" b="1" dirty="0"/>
          </a:p>
        </p:txBody>
      </p:sp>
      <p:pic>
        <p:nvPicPr>
          <p:cNvPr id="12" name="图片 11"/>
          <p:cNvPicPr>
            <a:picLocks noChangeAspect="1"/>
          </p:cNvPicPr>
          <p:nvPr/>
        </p:nvPicPr>
        <p:blipFill>
          <a:blip r:embed="rId8"/>
          <a:stretch>
            <a:fillRect/>
          </a:stretch>
        </p:blipFill>
        <p:spPr>
          <a:xfrm>
            <a:off x="1904365" y="1463675"/>
            <a:ext cx="8383270" cy="895350"/>
          </a:xfrm>
          <a:prstGeom prst="rect">
            <a:avLst/>
          </a:prstGeom>
        </p:spPr>
      </p:pic>
      <p:pic>
        <p:nvPicPr>
          <p:cNvPr id="13" name="图片 12"/>
          <p:cNvPicPr>
            <a:picLocks noChangeAspect="1"/>
          </p:cNvPicPr>
          <p:nvPr/>
        </p:nvPicPr>
        <p:blipFill>
          <a:blip r:embed="rId9"/>
          <a:stretch>
            <a:fillRect/>
          </a:stretch>
        </p:blipFill>
        <p:spPr>
          <a:xfrm>
            <a:off x="3255010" y="2773680"/>
            <a:ext cx="3489960" cy="563880"/>
          </a:xfrm>
          <a:prstGeom prst="rect">
            <a:avLst/>
          </a:prstGeom>
        </p:spPr>
      </p:pic>
      <mc:AlternateContent xmlns:mc="http://schemas.openxmlformats.org/markup-compatibility/2006" xmlns:a14="http://schemas.microsoft.com/office/drawing/2010/main">
        <mc:Choice Requires="a14">
          <p:sp>
            <p:nvSpPr>
              <p:cNvPr id="14" name="文本框 13"/>
              <p:cNvSpPr txBox="1"/>
              <p:nvPr/>
            </p:nvSpPr>
            <p:spPr>
              <a:xfrm>
                <a:off x="1904365" y="4988865"/>
                <a:ext cx="7420610" cy="1322070"/>
              </a:xfrm>
              <a:prstGeom prst="rect">
                <a:avLst/>
              </a:prstGeom>
            </p:spPr>
            <p:txBody>
              <a:bodyPr wrap="square">
                <a:spAutoFit/>
              </a:bodyPr>
              <a:lstStyle/>
              <a:p>
                <a:pPr marL="285750" indent="-285750">
                  <a:buFont typeface="Arial" panose="020B0604020202020204" pitchFamily="34" charset="0"/>
                  <a:buChar char="•"/>
                </a:pPr>
                <a:r>
                  <a:rPr lang="zh-CN" altLang="en-US" sz="1600" b="1" dirty="0"/>
                  <a:t>从当前 </a:t>
                </a:r>
                <a:r>
                  <a:rPr lang="en-US" altLang="zh-CN" sz="1600" b="1" dirty="0" err="1"/>
                  <a:t>ReAligner</a:t>
                </a:r>
                <a:r>
                  <a:rPr lang="en-US" altLang="zh-CN" sz="1600" b="1" dirty="0"/>
                  <a:t> </a:t>
                </a:r>
                <a:r>
                  <a:rPr lang="zh-CN" altLang="en-US" sz="1600" b="1" dirty="0"/>
                  <a:t>采样多个候选</a:t>
                </a:r>
                <a:r>
                  <a:rPr lang="en-US" altLang="zh-CN" sz="1600" b="1" dirty="0"/>
                  <a:t> </a:t>
                </a:r>
                <a14:m>
                  <m:oMath xmlns:m="http://schemas.openxmlformats.org/officeDocument/2006/math">
                    <m:r>
                      <a:rPr lang="en-US" altLang="zh-CN" sz="1600" b="1">
                        <a:latin typeface="Cambria Math" panose="02040503050406030204" pitchFamily="18" charset="0"/>
                        <a:cs typeface="Cambria Math" panose="02040503050406030204" pitchFamily="18" charset="0"/>
                      </a:rPr>
                      <m:t>𝓏</m:t>
                    </m:r>
                  </m:oMath>
                </a14:m>
                <a:r>
                  <a:rPr lang="zh-CN" altLang="en-US" sz="1600" b="1" dirty="0"/>
                  <a:t>（推理链 </a:t>
                </a:r>
                <a:r>
                  <a:rPr lang="en-US" altLang="zh-CN" sz="1600" b="1" dirty="0"/>
                  <a:t>+ </a:t>
                </a:r>
                <a:r>
                  <a:rPr lang="zh-CN" altLang="en-US" sz="1600" b="1" dirty="0"/>
                  <a:t>知识路径）</a:t>
                </a:r>
              </a:p>
              <a:p>
                <a:endParaRPr lang="zh-CN" altLang="en-US" sz="1600" b="1" dirty="0"/>
              </a:p>
              <a:p>
                <a:pPr marL="285750" indent="-285750">
                  <a:buFont typeface="Arial" panose="020B0604020202020204" pitchFamily="34" charset="0"/>
                  <a:buChar char="•"/>
                </a:pPr>
                <a:r>
                  <a:rPr lang="zh-CN" altLang="en-US" sz="1600" b="1" dirty="0"/>
                  <a:t>根据 </a:t>
                </a:r>
                <a14:m>
                  <m:oMath xmlns:m="http://schemas.openxmlformats.org/officeDocument/2006/math">
                    <m:r>
                      <a:rPr lang="en-US" altLang="zh-CN" sz="1600" b="1" i="1">
                        <a:latin typeface="Cambria Math" panose="02040503050406030204" pitchFamily="18" charset="0"/>
                        <a:cs typeface="Cambria Math" panose="02040503050406030204" pitchFamily="18" charset="0"/>
                      </a:rPr>
                      <m:t>𝑺</m:t>
                    </m:r>
                    <m:r>
                      <a:rPr lang="en-US" altLang="zh-CN" sz="1600" b="1" i="1">
                        <a:latin typeface="Cambria Math" panose="02040503050406030204" pitchFamily="18" charset="0"/>
                        <a:cs typeface="Cambria Math" panose="02040503050406030204" pitchFamily="18" charset="0"/>
                      </a:rPr>
                      <m:t>(</m:t>
                    </m:r>
                    <m:r>
                      <a:rPr lang="en-US" altLang="zh-CN" sz="1600" b="1" i="1">
                        <a:latin typeface="Cambria Math" panose="02040503050406030204" pitchFamily="18" charset="0"/>
                        <a:cs typeface="Cambria Math" panose="02040503050406030204" pitchFamily="18" charset="0"/>
                      </a:rPr>
                      <m:t>𝓏</m:t>
                    </m:r>
                    <m:r>
                      <a:rPr lang="en-US" altLang="zh-CN" sz="1600" b="1" i="1">
                        <a:latin typeface="Cambria Math" panose="02040503050406030204" pitchFamily="18" charset="0"/>
                        <a:cs typeface="Cambria Math" panose="02040503050406030204" pitchFamily="18" charset="0"/>
                      </a:rPr>
                      <m:t>)</m:t>
                    </m:r>
                  </m:oMath>
                </a14:m>
                <a:r>
                  <a:rPr lang="zh-CN" altLang="en-US" sz="1600" b="1" dirty="0"/>
                  <a:t>对候选进行打分</a:t>
                </a:r>
              </a:p>
              <a:p>
                <a:endParaRPr lang="zh-CN" altLang="en-US" sz="1600" b="1" dirty="0"/>
              </a:p>
              <a:p>
                <a:pPr marL="285750" indent="-285750">
                  <a:buFont typeface="Arial" panose="020B0604020202020204" pitchFamily="34" charset="0"/>
                  <a:buChar char="•"/>
                </a:pPr>
                <a:r>
                  <a:rPr lang="zh-CN" altLang="en-US" sz="1600" b="1" dirty="0"/>
                  <a:t>选取 </a:t>
                </a:r>
                <a:r>
                  <a:rPr lang="en-US" altLang="zh-CN" sz="1600" b="1" dirty="0"/>
                  <a:t>Top-K </a:t>
                </a:r>
                <a:r>
                  <a:rPr lang="zh-CN" altLang="en-US" sz="1600" b="1" dirty="0"/>
                  <a:t>高质量样本，作为 </a:t>
                </a:r>
                <a:r>
                  <a:rPr lang="en-US" altLang="zh-CN" sz="1600" b="1" dirty="0"/>
                  <a:t>M </a:t>
                </a:r>
                <a:r>
                  <a:rPr lang="zh-CN" altLang="en-US" sz="1600" b="1" dirty="0"/>
                  <a:t>步的伪监督数据</a:t>
                </a:r>
              </a:p>
            </p:txBody>
          </p:sp>
        </mc:Choice>
        <mc:Fallback xmlns="">
          <p:sp>
            <p:nvSpPr>
              <p:cNvPr id="14" name="文本框 13"/>
              <p:cNvSpPr txBox="1">
                <a:spLocks noRot="1" noChangeAspect="1" noMove="1" noResize="1" noEditPoints="1" noAdjustHandles="1" noChangeArrowheads="1" noChangeShapeType="1" noTextEdit="1"/>
              </p:cNvSpPr>
              <p:nvPr/>
            </p:nvSpPr>
            <p:spPr>
              <a:xfrm>
                <a:off x="1904365" y="4988865"/>
                <a:ext cx="7420610" cy="1322070"/>
              </a:xfrm>
              <a:prstGeom prst="rect">
                <a:avLst/>
              </a:prstGeom>
              <a:blipFill rotWithShape="1">
                <a:blip r:embed="rId10"/>
                <a:stretch>
                  <a:fillRect t="-23" b="23"/>
                </a:stretch>
              </a:blipFill>
            </p:spPr>
            <p:txBody>
              <a:bodyPr/>
              <a:lstStyle/>
              <a:p>
                <a:r>
                  <a:rPr lang="zh-CN" altLang="en-US">
                    <a:noFill/>
                  </a:rPr>
                  <a:t> </a:t>
                </a:r>
              </a:p>
            </p:txBody>
          </p:sp>
        </mc:Fallback>
      </mc:AlternateContent>
      <p:pic>
        <p:nvPicPr>
          <p:cNvPr id="15" name="图片 14"/>
          <p:cNvPicPr>
            <a:picLocks noChangeAspect="1"/>
          </p:cNvPicPr>
          <p:nvPr/>
        </p:nvPicPr>
        <p:blipFill>
          <a:blip r:embed="rId11"/>
          <a:stretch>
            <a:fillRect/>
          </a:stretch>
        </p:blipFill>
        <p:spPr>
          <a:xfrm>
            <a:off x="2722880" y="3563620"/>
            <a:ext cx="3817620" cy="746760"/>
          </a:xfrm>
          <a:prstGeom prst="rect">
            <a:avLst/>
          </a:prstGeom>
        </p:spPr>
      </p:pic>
      <p:pic>
        <p:nvPicPr>
          <p:cNvPr id="16" name="图片 15"/>
          <p:cNvPicPr>
            <a:picLocks noChangeAspect="1"/>
          </p:cNvPicPr>
          <p:nvPr/>
        </p:nvPicPr>
        <p:blipFill>
          <a:blip r:embed="rId12"/>
          <a:stretch>
            <a:fillRect/>
          </a:stretch>
        </p:blipFill>
        <p:spPr>
          <a:xfrm>
            <a:off x="7333615" y="2573020"/>
            <a:ext cx="4690745" cy="605790"/>
          </a:xfrm>
          <a:prstGeom prst="rect">
            <a:avLst/>
          </a:prstGeom>
        </p:spPr>
      </p:pic>
      <p:cxnSp>
        <p:nvCxnSpPr>
          <p:cNvPr id="17" name="直接箭头连接符 16"/>
          <p:cNvCxnSpPr>
            <a:stCxn id="16" idx="1"/>
          </p:cNvCxnSpPr>
          <p:nvPr/>
        </p:nvCxnSpPr>
        <p:spPr>
          <a:xfrm flipH="1">
            <a:off x="6433185" y="2875915"/>
            <a:ext cx="900430" cy="10223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CN" sz="2500" dirty="0"/>
              <a:t>EM </a:t>
            </a:r>
            <a:r>
              <a:rPr kumimoji="1" lang="zh-CN" altLang="en-US" sz="2500" dirty="0"/>
              <a:t>算法优化</a:t>
            </a:r>
          </a:p>
        </p:txBody>
      </p:sp>
      <p:pic>
        <p:nvPicPr>
          <p:cNvPr id="6" name="图片 5"/>
          <p:cNvPicPr>
            <a:picLocks noChangeAspect="1"/>
          </p:cNvPicPr>
          <p:nvPr>
            <p:custDataLst>
              <p:tags r:id="rId2"/>
            </p:custDataLst>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8" name="文本框 7"/>
          <p:cNvSpPr txBox="1"/>
          <p:nvPr>
            <p:custDataLst>
              <p:tags r:id="rId3"/>
            </p:custDataLst>
          </p:nvPr>
        </p:nvSpPr>
        <p:spPr>
          <a:xfrm>
            <a:off x="367030" y="826770"/>
            <a:ext cx="10856595" cy="5817870"/>
          </a:xfrm>
          <a:prstGeom prst="rect">
            <a:avLst/>
          </a:prstGeom>
          <a:noFill/>
        </p:spPr>
        <p:txBody>
          <a:bodyPr wrap="square" rtlCol="0">
            <a:noAutofit/>
          </a:bodyPr>
          <a:lstStyle/>
          <a:p>
            <a:r>
              <a:rPr lang="en-US" altLang="zh-CN" b="1"/>
              <a:t>M </a:t>
            </a:r>
            <a:r>
              <a:rPr lang="zh-CN" altLang="en-US" b="1"/>
              <a:t>步（最大化步）：</a:t>
            </a:r>
          </a:p>
          <a:p>
            <a:pPr marL="285750" indent="-285750">
              <a:buFont typeface="Arial" panose="020B0604020202020204" pitchFamily="34" charset="0"/>
              <a:buChar char="•"/>
            </a:pPr>
            <a:r>
              <a:rPr lang="zh-CN" altLang="en-US" b="1"/>
              <a:t>核心目标：</a:t>
            </a:r>
          </a:p>
          <a:p>
            <a:pPr marL="285750" indent="-285750">
              <a:buFont typeface="Arial" panose="020B0604020202020204" pitchFamily="34" charset="0"/>
              <a:buChar char="•"/>
            </a:pPr>
            <a:endParaRPr lang="zh-CN" altLang="en-US" b="1"/>
          </a:p>
          <a:p>
            <a:pPr marL="285750" indent="-285750">
              <a:buFont typeface="Arial" panose="020B0604020202020204" pitchFamily="34" charset="0"/>
              <a:buChar char="•"/>
            </a:pPr>
            <a:endParaRPr lang="zh-CN" altLang="en-US" b="1"/>
          </a:p>
          <a:p>
            <a:pPr marL="285750" indent="-285750">
              <a:buFont typeface="Arial" panose="020B0604020202020204" pitchFamily="34" charset="0"/>
              <a:buChar char="•"/>
            </a:pPr>
            <a:endParaRPr lang="zh-CN" altLang="en-US" b="1"/>
          </a:p>
          <a:p>
            <a:pPr marL="285750" indent="-285750">
              <a:buFont typeface="Arial" panose="020B0604020202020204" pitchFamily="34" charset="0"/>
              <a:buChar char="•"/>
            </a:pPr>
            <a:endParaRPr lang="zh-CN" altLang="en-US" b="1"/>
          </a:p>
          <a:p>
            <a:pPr marL="285750" indent="-285750">
              <a:buFont typeface="Arial" panose="020B0604020202020204" pitchFamily="34" charset="0"/>
              <a:buChar char="•"/>
            </a:pPr>
            <a:r>
              <a:rPr lang="zh-CN" altLang="en-US" b="1"/>
              <a:t>公式</a:t>
            </a:r>
            <a:r>
              <a:rPr lang="en-US" altLang="zh-CN"/>
              <a:t>:</a:t>
            </a:r>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742950" lvl="1" indent="-285750">
              <a:buFont typeface="Arial" panose="020B0604020202020204" pitchFamily="34" charset="0"/>
              <a:buChar char="•"/>
            </a:pPr>
            <a:endParaRPr lang="zh-CN" altLang="en-US" b="1"/>
          </a:p>
          <a:p>
            <a:pPr lvl="2"/>
            <a:endParaRPr lang="en-US" altLang="zh-CN" b="1"/>
          </a:p>
        </p:txBody>
      </p:sp>
      <p:pic>
        <p:nvPicPr>
          <p:cNvPr id="3" name="图片 2"/>
          <p:cNvPicPr>
            <a:picLocks noChangeAspect="1"/>
          </p:cNvPicPr>
          <p:nvPr/>
        </p:nvPicPr>
        <p:blipFill>
          <a:blip r:embed="rId8"/>
          <a:stretch>
            <a:fillRect/>
          </a:stretch>
        </p:blipFill>
        <p:spPr>
          <a:xfrm>
            <a:off x="1909445" y="1205230"/>
            <a:ext cx="5473700" cy="1422400"/>
          </a:xfrm>
          <a:prstGeom prst="rect">
            <a:avLst/>
          </a:prstGeom>
        </p:spPr>
      </p:pic>
      <p:pic>
        <p:nvPicPr>
          <p:cNvPr id="7" name="图片 6"/>
          <p:cNvPicPr>
            <a:picLocks noChangeAspect="1"/>
          </p:cNvPicPr>
          <p:nvPr/>
        </p:nvPicPr>
        <p:blipFill>
          <a:blip r:embed="rId9"/>
          <a:stretch>
            <a:fillRect/>
          </a:stretch>
        </p:blipFill>
        <p:spPr>
          <a:xfrm>
            <a:off x="978535" y="3035935"/>
            <a:ext cx="4425950" cy="3263900"/>
          </a:xfrm>
          <a:prstGeom prst="rect">
            <a:avLst/>
          </a:prstGeom>
        </p:spPr>
      </p:pic>
      <p:pic>
        <p:nvPicPr>
          <p:cNvPr id="9" name="图片 8"/>
          <p:cNvPicPr>
            <a:picLocks noChangeAspect="1"/>
          </p:cNvPicPr>
          <p:nvPr/>
        </p:nvPicPr>
        <p:blipFill>
          <a:blip r:embed="rId10"/>
          <a:stretch>
            <a:fillRect/>
          </a:stretch>
        </p:blipFill>
        <p:spPr>
          <a:xfrm>
            <a:off x="6299200" y="2627630"/>
            <a:ext cx="5516245" cy="1046480"/>
          </a:xfrm>
          <a:prstGeom prst="rect">
            <a:avLst/>
          </a:prstGeom>
        </p:spPr>
      </p:pic>
      <p:pic>
        <p:nvPicPr>
          <p:cNvPr id="10" name="图片 9"/>
          <p:cNvPicPr>
            <a:picLocks noChangeAspect="1"/>
          </p:cNvPicPr>
          <p:nvPr/>
        </p:nvPicPr>
        <p:blipFill>
          <a:blip r:embed="rId11"/>
          <a:stretch>
            <a:fillRect/>
          </a:stretch>
        </p:blipFill>
        <p:spPr>
          <a:xfrm>
            <a:off x="6089015" y="3715385"/>
            <a:ext cx="5935980" cy="826135"/>
          </a:xfrm>
          <a:prstGeom prst="rect">
            <a:avLst/>
          </a:prstGeom>
        </p:spPr>
      </p:pic>
      <p:pic>
        <p:nvPicPr>
          <p:cNvPr id="11" name="图片 10"/>
          <p:cNvPicPr>
            <a:picLocks noChangeAspect="1"/>
          </p:cNvPicPr>
          <p:nvPr/>
        </p:nvPicPr>
        <p:blipFill>
          <a:blip r:embed="rId12"/>
          <a:stretch>
            <a:fillRect/>
          </a:stretch>
        </p:blipFill>
        <p:spPr>
          <a:xfrm>
            <a:off x="5802630" y="4582795"/>
            <a:ext cx="6305550" cy="1422400"/>
          </a:xfrm>
          <a:prstGeom prst="rect">
            <a:avLst/>
          </a:prstGeom>
        </p:spPr>
      </p:pic>
      <p:cxnSp>
        <p:nvCxnSpPr>
          <p:cNvPr id="16" name="直接箭头连接符 15"/>
          <p:cNvCxnSpPr/>
          <p:nvPr/>
        </p:nvCxnSpPr>
        <p:spPr>
          <a:xfrm flipH="1" flipV="1">
            <a:off x="4645660" y="3891915"/>
            <a:ext cx="2551430" cy="183007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CN" sz="2500" dirty="0"/>
              <a:t>EM </a:t>
            </a:r>
            <a:r>
              <a:rPr kumimoji="1" lang="zh-CN" altLang="en-US" sz="2500" dirty="0"/>
              <a:t>算法优化</a:t>
            </a:r>
          </a:p>
        </p:txBody>
      </p:sp>
      <p:pic>
        <p:nvPicPr>
          <p:cNvPr id="6" name="图片 5"/>
          <p:cNvPicPr>
            <a:picLocks noChangeAspect="1"/>
          </p:cNvPicPr>
          <p:nvPr>
            <p:custDataLst>
              <p:tags r:id="rId2"/>
            </p:custDataLst>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pic>
        <p:nvPicPr>
          <p:cNvPr id="3" name="图片 2"/>
          <p:cNvPicPr>
            <a:picLocks noChangeAspect="1"/>
          </p:cNvPicPr>
          <p:nvPr/>
        </p:nvPicPr>
        <p:blipFill>
          <a:blip r:embed="rId8"/>
          <a:stretch>
            <a:fillRect/>
          </a:stretch>
        </p:blipFill>
        <p:spPr>
          <a:xfrm>
            <a:off x="491490" y="894715"/>
            <a:ext cx="3792855" cy="1261110"/>
          </a:xfrm>
          <a:prstGeom prst="rect">
            <a:avLst/>
          </a:prstGeom>
        </p:spPr>
      </p:pic>
      <p:pic>
        <p:nvPicPr>
          <p:cNvPr id="7" name="图片 6"/>
          <p:cNvPicPr>
            <a:picLocks noChangeAspect="1"/>
          </p:cNvPicPr>
          <p:nvPr/>
        </p:nvPicPr>
        <p:blipFill>
          <a:blip r:embed="rId9"/>
          <a:stretch>
            <a:fillRect/>
          </a:stretch>
        </p:blipFill>
        <p:spPr>
          <a:xfrm>
            <a:off x="215900" y="2739390"/>
            <a:ext cx="6598920" cy="1379220"/>
          </a:xfrm>
          <a:prstGeom prst="rect">
            <a:avLst/>
          </a:prstGeom>
        </p:spPr>
      </p:pic>
      <p:pic>
        <p:nvPicPr>
          <p:cNvPr id="11" name="图片 10"/>
          <p:cNvPicPr>
            <a:picLocks noChangeAspect="1"/>
          </p:cNvPicPr>
          <p:nvPr/>
        </p:nvPicPr>
        <p:blipFill>
          <a:blip r:embed="rId10"/>
          <a:stretch>
            <a:fillRect/>
          </a:stretch>
        </p:blipFill>
        <p:spPr>
          <a:xfrm>
            <a:off x="299720" y="4702175"/>
            <a:ext cx="6431280" cy="1851660"/>
          </a:xfrm>
          <a:prstGeom prst="rect">
            <a:avLst/>
          </a:prstGeom>
        </p:spPr>
      </p:pic>
      <p:pic>
        <p:nvPicPr>
          <p:cNvPr id="12" name="图片 11"/>
          <p:cNvPicPr>
            <a:picLocks noChangeAspect="1"/>
          </p:cNvPicPr>
          <p:nvPr/>
        </p:nvPicPr>
        <p:blipFill>
          <a:blip r:embed="rId11"/>
          <a:stretch>
            <a:fillRect/>
          </a:stretch>
        </p:blipFill>
        <p:spPr>
          <a:xfrm>
            <a:off x="5441950" y="990600"/>
            <a:ext cx="3836670" cy="1441450"/>
          </a:xfrm>
          <a:prstGeom prst="rect">
            <a:avLst/>
          </a:prstGeom>
        </p:spPr>
      </p:pic>
      <p:sp>
        <p:nvSpPr>
          <p:cNvPr id="2" name="文本框 1"/>
          <p:cNvSpPr txBox="1"/>
          <p:nvPr/>
        </p:nvSpPr>
        <p:spPr>
          <a:xfrm>
            <a:off x="7760335" y="4264660"/>
            <a:ext cx="4064000" cy="368300"/>
          </a:xfrm>
          <a:prstGeom prst="rect">
            <a:avLst/>
          </a:prstGeom>
          <a:noFill/>
        </p:spPr>
        <p:txBody>
          <a:bodyPr wrap="square" rtlCol="0">
            <a:spAutoFit/>
          </a:bodyPr>
          <a:lstStyle/>
          <a:p>
            <a:endParaRPr lang="zh-CN" altLang="en-US"/>
          </a:p>
        </p:txBody>
      </p:sp>
      <p:sp>
        <p:nvSpPr>
          <p:cNvPr id="9" name="文本框 8"/>
          <p:cNvSpPr txBox="1"/>
          <p:nvPr>
            <p:custDataLst>
              <p:tags r:id="rId3"/>
            </p:custDataLst>
          </p:nvPr>
        </p:nvSpPr>
        <p:spPr>
          <a:xfrm>
            <a:off x="215900" y="894715"/>
            <a:ext cx="10856595" cy="5817870"/>
          </a:xfrm>
          <a:prstGeom prst="rect">
            <a:avLst/>
          </a:prstGeom>
          <a:noFill/>
        </p:spPr>
        <p:txBody>
          <a:bodyPr wrap="square" rtlCol="0">
            <a:noAutofit/>
          </a:bodyPr>
          <a:lstStyle/>
          <a:p>
            <a:pPr marL="285750" indent="-285750">
              <a:buFont typeface="Arial" panose="020B0604020202020204" pitchFamily="34" charset="0"/>
              <a:buChar char="•"/>
            </a:pPr>
            <a:endParaRPr lang="zh-CN" altLang="en-US" b="1"/>
          </a:p>
          <a:p>
            <a:pPr marL="285750" indent="-285750">
              <a:buFont typeface="Arial" panose="020B0604020202020204" pitchFamily="34" charset="0"/>
              <a:buChar char="•"/>
            </a:pPr>
            <a:endParaRPr lang="zh-CN" altLang="en-US" b="1"/>
          </a:p>
          <a:p>
            <a:pPr marL="285750" indent="-285750">
              <a:buFont typeface="Arial" panose="020B0604020202020204" pitchFamily="34" charset="0"/>
              <a:buChar char="•"/>
            </a:pPr>
            <a:endParaRPr lang="zh-CN" altLang="en-US" b="1"/>
          </a:p>
          <a:p>
            <a:pPr marL="28575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r>
              <a:rPr lang="zh-CN" altLang="en-US" b="1"/>
              <a:t>子目标</a:t>
            </a:r>
            <a:r>
              <a:rPr lang="en-US" altLang="zh-CN" b="1"/>
              <a:t> 1 —— </a:t>
            </a:r>
            <a:r>
              <a:rPr lang="zh-CN" altLang="en-US" b="1"/>
              <a:t>更新</a:t>
            </a:r>
            <a:r>
              <a:rPr lang="en-US" altLang="zh-CN" b="1"/>
              <a:t> Responser</a:t>
            </a: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endParaRPr lang="zh-CN" altLang="en-US" b="1"/>
          </a:p>
          <a:p>
            <a:pPr marL="285750" lvl="0" indent="-285750">
              <a:buFont typeface="Arial" panose="020B0604020202020204" pitchFamily="34" charset="0"/>
              <a:buChar char="•"/>
            </a:pPr>
            <a:r>
              <a:rPr lang="zh-CN" altLang="en-US" b="1"/>
              <a:t>子目标</a:t>
            </a:r>
            <a:r>
              <a:rPr lang="en-US" altLang="zh-CN" b="1"/>
              <a:t> 2 —— </a:t>
            </a:r>
            <a:r>
              <a:rPr lang="zh-CN" altLang="en-US" b="1"/>
              <a:t>更新</a:t>
            </a:r>
            <a:r>
              <a:rPr lang="en-US" altLang="zh-CN" b="1"/>
              <a:t> ReAligner</a:t>
            </a:r>
          </a:p>
          <a:p>
            <a:pPr lvl="2"/>
            <a:endParaRPr lang="en-US" altLang="zh-CN" b="1"/>
          </a:p>
        </p:txBody>
      </p:sp>
      <p:sp>
        <p:nvSpPr>
          <p:cNvPr id="10" name="文本框 9"/>
          <p:cNvSpPr txBox="1"/>
          <p:nvPr/>
        </p:nvSpPr>
        <p:spPr>
          <a:xfrm>
            <a:off x="7978775" y="5567680"/>
            <a:ext cx="3627120" cy="922020"/>
          </a:xfrm>
          <a:prstGeom prst="rect">
            <a:avLst/>
          </a:prstGeom>
          <a:noFill/>
        </p:spPr>
        <p:txBody>
          <a:bodyPr wrap="square" rtlCol="0">
            <a:spAutoFit/>
          </a:bodyPr>
          <a:lstStyle/>
          <a:p>
            <a:r>
              <a:rPr lang="zh-CN" altLang="en-US" b="1"/>
              <a:t>通过</a:t>
            </a:r>
            <a:r>
              <a:rPr lang="en-US" altLang="zh-CN" b="1"/>
              <a:t> E-step </a:t>
            </a:r>
            <a:r>
              <a:rPr lang="zh-CN" altLang="en-US" b="1"/>
              <a:t>和</a:t>
            </a:r>
            <a:r>
              <a:rPr lang="en-US" altLang="zh-CN" b="1"/>
              <a:t> M-step </a:t>
            </a:r>
            <a:r>
              <a:rPr lang="zh-CN" altLang="en-US" b="1"/>
              <a:t>的交替迭代，模型逐步逼近真实后验分布，从而提升推理链与答案生成的质量。</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推理阶段关键技术</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9" name="文本框 8"/>
          <p:cNvSpPr txBox="1"/>
          <p:nvPr/>
        </p:nvSpPr>
        <p:spPr>
          <a:xfrm>
            <a:off x="791210" y="797560"/>
            <a:ext cx="11004550" cy="4523105"/>
          </a:xfrm>
          <a:prstGeom prst="rect">
            <a:avLst/>
          </a:prstGeom>
        </p:spPr>
        <p:txBody>
          <a:bodyPr wrap="square">
            <a:spAutoFit/>
          </a:bodyPr>
          <a:lstStyle/>
          <a:p>
            <a:r>
              <a:rPr lang="en-US" altLang="zh-CN" sz="1600" b="1"/>
              <a:t>KG-constrained Decoding</a:t>
            </a:r>
            <a:r>
              <a:rPr lang="zh-CN" altLang="en-US" sz="1600" b="1"/>
              <a:t>（知识图谱约束解码）</a:t>
            </a:r>
          </a:p>
          <a:p>
            <a:endParaRPr lang="zh-CN" altLang="en-US" sz="1600" b="1"/>
          </a:p>
          <a:p>
            <a:pPr marL="285750" indent="-285750">
              <a:buFont typeface="Arial" panose="020B0604020202020204" pitchFamily="34" charset="0"/>
              <a:buChar char="•"/>
            </a:pPr>
            <a:r>
              <a:rPr lang="zh-CN" altLang="en-US" sz="1600"/>
              <a:t>作用是防止 </a:t>
            </a:r>
            <a:r>
              <a:rPr lang="en-US" altLang="zh-CN" sz="1600"/>
              <a:t>Aligner </a:t>
            </a:r>
            <a:r>
              <a:rPr lang="zh-CN" altLang="en-US" sz="1600"/>
              <a:t>生成不存在于知识图谱里的三元组。生成知识路径时，只允许输出能组成合法 </a:t>
            </a:r>
            <a:r>
              <a:rPr lang="en-US" altLang="zh-CN" sz="1600"/>
              <a:t>KG </a:t>
            </a:r>
            <a:r>
              <a:rPr lang="zh-CN" altLang="en-US" sz="1600"/>
              <a:t>三元组的 </a:t>
            </a:r>
            <a:r>
              <a:rPr lang="en-US" altLang="zh-CN" sz="1600"/>
              <a:t>token</a:t>
            </a:r>
            <a:r>
              <a:rPr lang="zh-CN" altLang="en-US" sz="1600"/>
              <a:t>，</a:t>
            </a:r>
            <a:r>
              <a:rPr lang="en-US" altLang="zh-CN" sz="1600"/>
              <a:t> </a:t>
            </a:r>
            <a:r>
              <a:rPr lang="zh-CN" altLang="en-US" sz="1600"/>
              <a:t>这样知识路径就严格贴合图谱，减少幻觉。</a:t>
            </a:r>
          </a:p>
          <a:p>
            <a:endParaRPr lang="zh-CN" altLang="en-US" sz="1600"/>
          </a:p>
          <a:p>
            <a:endParaRPr lang="zh-CN" altLang="en-US" sz="1600"/>
          </a:p>
          <a:p>
            <a:endParaRPr lang="zh-CN" altLang="en-US" sz="1600"/>
          </a:p>
          <a:p>
            <a:r>
              <a:rPr lang="en-US" altLang="zh-CN" sz="1600" b="1"/>
              <a:t>Knowledge Path Expansion</a:t>
            </a:r>
            <a:r>
              <a:rPr lang="zh-CN" altLang="en-US" sz="1600" b="1"/>
              <a:t>（知识路径扩展）</a:t>
            </a:r>
          </a:p>
          <a:p>
            <a:endParaRPr lang="zh-CN" altLang="en-US" sz="1600" b="1"/>
          </a:p>
          <a:p>
            <a:pPr marL="285750" indent="-285750">
              <a:buFont typeface="Arial" panose="020B0604020202020204" pitchFamily="34" charset="0"/>
              <a:buChar char="•"/>
            </a:pPr>
            <a:r>
              <a:rPr lang="zh-CN" altLang="en-US" sz="1600"/>
              <a:t> 作用是解决初始知识路径不完整的问题。论文举的例子是：如果先生成了 </a:t>
            </a:r>
            <a:r>
              <a:rPr lang="en-US" altLang="zh-CN" sz="1600"/>
              <a:t>(US, borders, Mexico)</a:t>
            </a:r>
            <a:r>
              <a:rPr lang="zh-CN" altLang="en-US" sz="1600"/>
              <a:t>，可以把它抽象成模板 </a:t>
            </a:r>
            <a:r>
              <a:rPr lang="en-US" altLang="zh-CN" sz="1600"/>
              <a:t>(US, borders, ?country)</a:t>
            </a:r>
            <a:r>
              <a:rPr lang="zh-CN" altLang="en-US" sz="1600"/>
              <a:t>，再去 </a:t>
            </a:r>
            <a:r>
              <a:rPr lang="en-US" altLang="zh-CN" sz="1600"/>
              <a:t>KG </a:t>
            </a:r>
            <a:r>
              <a:rPr lang="zh-CN" altLang="en-US" sz="1600"/>
              <a:t>里找出所有满足条件的实例，比如 </a:t>
            </a:r>
            <a:r>
              <a:rPr lang="en-US" altLang="zh-CN" sz="1600"/>
              <a:t>Canada</a:t>
            </a:r>
            <a:r>
              <a:rPr lang="zh-CN" altLang="en-US" sz="1600"/>
              <a:t>、</a:t>
            </a:r>
            <a:r>
              <a:rPr lang="en-US" altLang="zh-CN" sz="1600"/>
              <a:t>Mexico </a:t>
            </a:r>
            <a:r>
              <a:rPr lang="zh-CN" altLang="en-US" sz="1600"/>
              <a:t>等，从而得到更完整的答案。</a:t>
            </a:r>
          </a:p>
          <a:p>
            <a:endParaRPr lang="zh-CN" altLang="en-US" sz="1600"/>
          </a:p>
          <a:p>
            <a:endParaRPr lang="zh-CN" altLang="en-US" sz="1600"/>
          </a:p>
          <a:p>
            <a:endParaRPr lang="zh-CN" altLang="en-US" sz="1600"/>
          </a:p>
          <a:p>
            <a:r>
              <a:rPr lang="en-US" altLang="zh-CN" sz="1600" b="1"/>
              <a:t>LLM-driven Consolidation</a:t>
            </a:r>
            <a:r>
              <a:rPr lang="zh-CN" altLang="en-US" sz="1600" b="1"/>
              <a:t>（</a:t>
            </a:r>
            <a:r>
              <a:rPr lang="en-US" altLang="zh-CN" sz="1600" b="1"/>
              <a:t>LLM</a:t>
            </a:r>
            <a:r>
              <a:rPr lang="zh-CN" altLang="en-US" sz="1600" b="1"/>
              <a:t>驱动整合）</a:t>
            </a:r>
          </a:p>
          <a:p>
            <a:endParaRPr lang="zh-CN" altLang="en-US" sz="1600" b="1"/>
          </a:p>
          <a:p>
            <a:pPr marL="285750" indent="-285750">
              <a:buFont typeface="Arial" panose="020B0604020202020204" pitchFamily="34" charset="0"/>
              <a:buChar char="•"/>
            </a:pPr>
            <a:r>
              <a:rPr lang="zh-CN" altLang="en-US" sz="1600"/>
              <a:t> 作用是处理多次采样后产生的噪声和冲突。因为模型会采样多个推理链和知识路径，覆盖更全，但也更杂；于是再用一个强 </a:t>
            </a:r>
            <a:r>
              <a:rPr lang="en-US" altLang="zh-CN" sz="1600"/>
              <a:t>LLM </a:t>
            </a:r>
            <a:r>
              <a:rPr lang="zh-CN" altLang="en-US" sz="1600"/>
              <a:t>作为“整合器”，综合这些候选路径和答案，输出更可靠的最终结果。</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实验设置</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2" name="文本框 1"/>
          <p:cNvSpPr txBox="1"/>
          <p:nvPr/>
        </p:nvSpPr>
        <p:spPr>
          <a:xfrm>
            <a:off x="307975" y="1070610"/>
            <a:ext cx="11583035" cy="5159375"/>
          </a:xfrm>
          <a:prstGeom prst="rect">
            <a:avLst/>
          </a:prstGeom>
          <a:noFill/>
        </p:spPr>
        <p:txBody>
          <a:bodyPr wrap="square" rtlCol="0">
            <a:noAutofit/>
          </a:bodyPr>
          <a:lstStyle/>
          <a:p>
            <a:pPr marL="285750" indent="-285750">
              <a:buFont typeface="Arial" panose="020B0604020202020204" pitchFamily="34" charset="0"/>
              <a:buChar char="•"/>
            </a:pPr>
            <a:r>
              <a:rPr lang="zh-CN" altLang="en-US"/>
              <a:t>数据集：</a:t>
            </a:r>
            <a:r>
              <a:rPr lang="en-US" altLang="zh-CN"/>
              <a:t>WebQSP</a:t>
            </a:r>
            <a:r>
              <a:rPr lang="zh-CN" altLang="en-US"/>
              <a:t>、</a:t>
            </a:r>
            <a:r>
              <a:rPr lang="en-US" altLang="zh-CN"/>
              <a:t>CWQ</a:t>
            </a:r>
            <a:r>
              <a:rPr lang="zh-CN" altLang="en-US"/>
              <a:t>、</a:t>
            </a:r>
            <a:r>
              <a:rPr lang="en-US" altLang="zh-CN"/>
              <a:t>CSQA</a:t>
            </a:r>
            <a:r>
              <a:rPr lang="zh-CN" altLang="en-US"/>
              <a:t>、</a:t>
            </a:r>
            <a:r>
              <a:rPr lang="en-US" altLang="zh-CN"/>
              <a:t>MedQA</a:t>
            </a:r>
            <a:r>
              <a:rPr lang="zh-CN" altLang="en-US"/>
              <a:t>。</a:t>
            </a:r>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zh-CN" altLang="en-US"/>
              <a:t>基线对比：涵盖</a:t>
            </a:r>
            <a:r>
              <a:rPr lang="en-US" altLang="zh-CN"/>
              <a:t>19</a:t>
            </a:r>
            <a:r>
              <a:rPr lang="zh-CN" altLang="en-US"/>
              <a:t>种方法，分为</a:t>
            </a:r>
            <a:r>
              <a:rPr lang="en-US" altLang="zh-CN"/>
              <a:t>LLM</a:t>
            </a:r>
            <a:r>
              <a:rPr lang="zh-CN" altLang="en-US"/>
              <a:t>推理（如</a:t>
            </a:r>
            <a:r>
              <a:rPr lang="en-US" altLang="zh-CN"/>
              <a:t>GPT-4o-mini</a:t>
            </a:r>
            <a:r>
              <a:rPr lang="zh-CN" altLang="en-US"/>
              <a:t>）、</a:t>
            </a:r>
            <a:r>
              <a:rPr lang="en-US" altLang="zh-CN"/>
              <a:t>KG</a:t>
            </a:r>
            <a:r>
              <a:rPr lang="zh-CN" altLang="en-US"/>
              <a:t>推理（如</a:t>
            </a:r>
            <a:r>
              <a:rPr lang="en-US" altLang="zh-CN"/>
              <a:t>NSM</a:t>
            </a:r>
            <a:r>
              <a:rPr lang="zh-CN" altLang="en-US"/>
              <a:t>）、</a:t>
            </a:r>
            <a:r>
              <a:rPr lang="en-US" altLang="zh-CN"/>
              <a:t>KG+LLM</a:t>
            </a:r>
            <a:r>
              <a:rPr lang="zh-CN" altLang="en-US"/>
              <a:t>（如</a:t>
            </a:r>
            <a:r>
              <a:rPr lang="en-US" altLang="zh-CN"/>
              <a:t>GCR</a:t>
            </a:r>
            <a:r>
              <a:rPr lang="zh-CN" altLang="en-US"/>
              <a:t>）三类。</a:t>
            </a:r>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zh-CN" altLang="en-US"/>
              <a:t>评价指标：</a:t>
            </a:r>
            <a:r>
              <a:rPr lang="en-US" altLang="zh-CN"/>
              <a:t>WebQSP/CWQ</a:t>
            </a:r>
            <a:r>
              <a:rPr lang="zh-CN" altLang="en-US"/>
              <a:t>用</a:t>
            </a:r>
            <a:r>
              <a:rPr lang="en-US" altLang="zh-CN"/>
              <a:t>Hit</a:t>
            </a:r>
            <a:r>
              <a:rPr lang="zh-CN" altLang="en-US"/>
              <a:t>和</a:t>
            </a:r>
            <a:r>
              <a:rPr lang="en-US" altLang="zh-CN"/>
              <a:t>F1</a:t>
            </a:r>
            <a:r>
              <a:rPr lang="zh-CN" altLang="en-US"/>
              <a:t>；</a:t>
            </a:r>
            <a:r>
              <a:rPr lang="en-US" altLang="zh-CN"/>
              <a:t>CSQA/MedQA</a:t>
            </a:r>
            <a:r>
              <a:rPr lang="zh-CN" altLang="en-US"/>
              <a:t>用准确率。</a:t>
            </a:r>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en-US" altLang="zh-CN"/>
              <a:t>Reasoner</a:t>
            </a:r>
            <a:r>
              <a:rPr lang="zh-CN" altLang="en-US"/>
              <a:t>、</a:t>
            </a:r>
            <a:r>
              <a:rPr lang="en-US" altLang="zh-CN"/>
              <a:t>Aligner</a:t>
            </a:r>
            <a:r>
              <a:rPr lang="zh-CN" altLang="en-US"/>
              <a:t>、</a:t>
            </a:r>
            <a:r>
              <a:rPr lang="en-US" altLang="zh-CN"/>
              <a:t>Responser </a:t>
            </a:r>
            <a:r>
              <a:rPr lang="zh-CN" altLang="en-US"/>
              <a:t>的骨干模型用的是</a:t>
            </a:r>
            <a:r>
              <a:rPr lang="en-US" altLang="zh-CN"/>
              <a:t> Llama-3.1-8B</a:t>
            </a:r>
          </a:p>
          <a:p>
            <a:pPr marL="285750" indent="-285750">
              <a:buFont typeface="Arial" panose="020B0604020202020204" pitchFamily="34" charset="0"/>
              <a:buChar char="•"/>
            </a:pPr>
            <a:endParaRPr lang="en-US" altLang="zh-CN"/>
          </a:p>
          <a:p>
            <a:pPr marL="285750" indent="-285750">
              <a:buFont typeface="Arial" panose="020B0604020202020204" pitchFamily="34" charset="0"/>
              <a:buChar char="•"/>
            </a:pPr>
            <a:r>
              <a:rPr lang="zh-CN" altLang="en-US"/>
              <a:t>最后的</a:t>
            </a:r>
            <a:r>
              <a:rPr lang="en-US" altLang="zh-CN"/>
              <a:t> LLM-driven Consolidation </a:t>
            </a:r>
            <a:r>
              <a:rPr lang="zh-CN" altLang="en-US"/>
              <a:t>用的是</a:t>
            </a:r>
            <a:r>
              <a:rPr lang="en-US" altLang="zh-CN"/>
              <a:t> GPT-4o-mini</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实验结果</a:t>
            </a:r>
            <a:r>
              <a:rPr kumimoji="1" lang="en-US" altLang="zh-CN" sz="2500" dirty="0"/>
              <a:t>1</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7" name="文本框 6"/>
          <p:cNvSpPr txBox="1"/>
          <p:nvPr/>
        </p:nvSpPr>
        <p:spPr>
          <a:xfrm>
            <a:off x="7552055" y="2094230"/>
            <a:ext cx="4064000" cy="2174875"/>
          </a:xfrm>
          <a:prstGeom prst="rect">
            <a:avLst/>
          </a:prstGeom>
          <a:noFill/>
        </p:spPr>
        <p:txBody>
          <a:bodyPr wrap="square" rtlCol="0">
            <a:noAutofit/>
          </a:bodyPr>
          <a:lstStyle/>
          <a:p>
            <a:pPr marL="285750" indent="-285750">
              <a:buFont typeface="Arial" panose="020B0604020202020204" pitchFamily="34" charset="0"/>
              <a:buChar char="•"/>
            </a:pPr>
            <a:r>
              <a:rPr lang="en-US" altLang="zh-CN" sz="1600" b="1"/>
              <a:t>RAR</a:t>
            </a:r>
            <a:r>
              <a:rPr lang="zh-CN" altLang="en-US" sz="1600" b="1"/>
              <a:t>在两个数据集上都取得了最好的性能</a:t>
            </a:r>
          </a:p>
          <a:p>
            <a:pPr marL="285750" indent="-285750">
              <a:buFont typeface="Arial" panose="020B0604020202020204" pitchFamily="34" charset="0"/>
              <a:buChar char="•"/>
            </a:pPr>
            <a:endParaRPr lang="zh-CN" altLang="en-US" sz="1600" b="1"/>
          </a:p>
          <a:p>
            <a:pPr marL="285750" indent="-285750">
              <a:buFont typeface="Arial" panose="020B0604020202020204" pitchFamily="34" charset="0"/>
              <a:buChar char="•"/>
            </a:pPr>
            <a:r>
              <a:rPr lang="zh-CN" altLang="en-US" sz="1600" b="1"/>
              <a:t>与之前最强的</a:t>
            </a:r>
            <a:r>
              <a:rPr lang="en-US" altLang="zh-CN" sz="1600" b="1"/>
              <a:t>GCR</a:t>
            </a:r>
            <a:r>
              <a:rPr lang="zh-CN" altLang="en-US" sz="1600" b="1"/>
              <a:t>相比，</a:t>
            </a:r>
            <a:r>
              <a:rPr lang="en-US" altLang="zh-CN" sz="1600" b="1"/>
              <a:t>RAR</a:t>
            </a:r>
            <a:r>
              <a:rPr lang="zh-CN" altLang="en-US" sz="1600" b="1"/>
              <a:t>在</a:t>
            </a:r>
            <a:r>
              <a:rPr lang="en-US" altLang="zh-CN" sz="1600" b="1"/>
              <a:t>CWQ</a:t>
            </a:r>
            <a:r>
              <a:rPr lang="zh-CN" altLang="en-US" sz="1600" b="1"/>
              <a:t>上的</a:t>
            </a:r>
            <a:r>
              <a:rPr lang="en-US" altLang="zh-CN" sz="1600" b="1"/>
              <a:t>F1</a:t>
            </a:r>
            <a:r>
              <a:rPr lang="zh-CN" altLang="en-US" sz="1600" b="1"/>
              <a:t>从</a:t>
            </a:r>
            <a:r>
              <a:rPr lang="en-US" altLang="zh-CN" sz="1600" b="1"/>
              <a:t>61.7</a:t>
            </a:r>
            <a:r>
              <a:rPr lang="zh-CN" altLang="en-US" sz="1600" b="1"/>
              <a:t>提升到</a:t>
            </a:r>
            <a:r>
              <a:rPr lang="en-US" altLang="zh-CN" sz="1600" b="1"/>
              <a:t>84.8</a:t>
            </a:r>
          </a:p>
          <a:p>
            <a:pPr marL="285750" indent="-285750">
              <a:buFont typeface="Arial" panose="020B0604020202020204" pitchFamily="34" charset="0"/>
              <a:buChar char="•"/>
            </a:pPr>
            <a:endParaRPr lang="en-US" altLang="zh-CN" sz="1600" b="1"/>
          </a:p>
          <a:p>
            <a:pPr marL="285750" indent="-285750">
              <a:buFont typeface="Arial" panose="020B0604020202020204" pitchFamily="34" charset="0"/>
              <a:buChar char="•"/>
            </a:pPr>
            <a:r>
              <a:rPr lang="en-US" altLang="zh-CN" sz="1600" b="1">
                <a:sym typeface="+mn-ea"/>
              </a:rPr>
              <a:t>RAR </a:t>
            </a:r>
            <a:r>
              <a:rPr lang="zh-CN" altLang="en-US" sz="1600" b="1">
                <a:sym typeface="+mn-ea"/>
              </a:rPr>
              <a:t>的</a:t>
            </a:r>
            <a:r>
              <a:rPr lang="en-US" altLang="zh-CN" sz="1600" b="1">
                <a:sym typeface="+mn-ea"/>
              </a:rPr>
              <a:t>“</a:t>
            </a:r>
            <a:r>
              <a:rPr lang="zh-CN" altLang="en-US" sz="1600" b="1">
                <a:sym typeface="+mn-ea"/>
              </a:rPr>
              <a:t>推理链</a:t>
            </a:r>
            <a:r>
              <a:rPr lang="en-US" altLang="zh-CN" sz="1600" b="1">
                <a:sym typeface="+mn-ea"/>
              </a:rPr>
              <a:t> + KG</a:t>
            </a:r>
            <a:r>
              <a:rPr lang="zh-CN" altLang="en-US" sz="1600" b="1">
                <a:sym typeface="+mn-ea"/>
              </a:rPr>
              <a:t>对齐</a:t>
            </a:r>
            <a:r>
              <a:rPr lang="en-US" altLang="zh-CN" sz="1600" b="1">
                <a:sym typeface="+mn-ea"/>
              </a:rPr>
              <a:t>”</a:t>
            </a:r>
            <a:r>
              <a:rPr lang="zh-CN" altLang="en-US" sz="1600" b="1">
                <a:sym typeface="+mn-ea"/>
              </a:rPr>
              <a:t>机制更适合复杂推理任务</a:t>
            </a:r>
            <a:endParaRPr lang="zh-CN" altLang="en-US" sz="1600" b="1"/>
          </a:p>
        </p:txBody>
      </p:sp>
      <p:pic>
        <p:nvPicPr>
          <p:cNvPr id="2" name="图片 1"/>
          <p:cNvPicPr>
            <a:picLocks noChangeAspect="1"/>
          </p:cNvPicPr>
          <p:nvPr/>
        </p:nvPicPr>
        <p:blipFill>
          <a:blip r:embed="rId7"/>
          <a:stretch>
            <a:fillRect/>
          </a:stretch>
        </p:blipFill>
        <p:spPr>
          <a:xfrm>
            <a:off x="222885" y="1067435"/>
            <a:ext cx="7329170" cy="5599430"/>
          </a:xfrm>
          <a:prstGeom prst="rect">
            <a:avLst/>
          </a:prstGeom>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消融实验</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12" name="文本框 11"/>
          <p:cNvSpPr txBox="1"/>
          <p:nvPr/>
        </p:nvSpPr>
        <p:spPr>
          <a:xfrm>
            <a:off x="549275" y="3780790"/>
            <a:ext cx="5779770" cy="2545080"/>
          </a:xfrm>
          <a:prstGeom prst="rect">
            <a:avLst/>
          </a:prstGeom>
          <a:noFill/>
        </p:spPr>
        <p:txBody>
          <a:bodyPr wrap="square" rtlCol="0">
            <a:noAutofit/>
          </a:bodyPr>
          <a:lstStyle/>
          <a:p>
            <a:pPr marL="285750" indent="-285750">
              <a:buFont typeface="Arial" panose="020B0604020202020204" pitchFamily="34" charset="0"/>
              <a:buChar char="•"/>
            </a:pPr>
            <a:r>
              <a:rPr lang="zh-CN" altLang="en-US" b="1"/>
              <a:t>移除</a:t>
            </a:r>
            <a:r>
              <a:rPr lang="en-US" altLang="zh-CN" b="1"/>
              <a:t>KG</a:t>
            </a:r>
            <a:r>
              <a:rPr lang="zh-CN" altLang="en-US" b="1"/>
              <a:t>约束解码（</a:t>
            </a:r>
            <a:r>
              <a:rPr lang="en-US" altLang="zh-CN" b="1"/>
              <a:t>KD</a:t>
            </a:r>
            <a:r>
              <a:rPr lang="zh-CN" altLang="en-US" b="1"/>
              <a:t>）：影响最大</a:t>
            </a:r>
          </a:p>
          <a:p>
            <a:pPr marL="285750" indent="-285750">
              <a:buFont typeface="Arial" panose="020B0604020202020204" pitchFamily="34" charset="0"/>
              <a:buChar char="•"/>
            </a:pPr>
            <a:r>
              <a:rPr lang="zh-CN" altLang="en-US" b="1"/>
              <a:t>移除</a:t>
            </a:r>
            <a:r>
              <a:rPr lang="en-US" altLang="zh-CN" b="1"/>
              <a:t>Reasoner</a:t>
            </a:r>
            <a:r>
              <a:rPr lang="zh-CN" altLang="en-US" b="1"/>
              <a:t>：</a:t>
            </a:r>
            <a:r>
              <a:rPr lang="en-US" altLang="zh-CN" b="1"/>
              <a:t>Precision</a:t>
            </a:r>
            <a:r>
              <a:rPr lang="zh-CN" altLang="en-US" b="1"/>
              <a:t>下降</a:t>
            </a:r>
            <a:r>
              <a:rPr lang="en-US" altLang="zh-CN" b="1"/>
              <a:t>8.7%</a:t>
            </a:r>
            <a:r>
              <a:rPr lang="zh-CN" altLang="en-US" b="1"/>
              <a:t>，噪声路径显著增加</a:t>
            </a:r>
          </a:p>
          <a:p>
            <a:pPr marL="285750" indent="-285750">
              <a:buFont typeface="Arial" panose="020B0604020202020204" pitchFamily="34" charset="0"/>
              <a:buChar char="•"/>
            </a:pPr>
            <a:r>
              <a:rPr lang="zh-CN" altLang="en-US" b="1"/>
              <a:t>移除</a:t>
            </a:r>
            <a:r>
              <a:rPr lang="en-US" altLang="zh-CN" b="1"/>
              <a:t>LLM</a:t>
            </a:r>
            <a:r>
              <a:rPr lang="zh-CN" altLang="en-US" b="1"/>
              <a:t>驱动整合（</a:t>
            </a:r>
            <a:r>
              <a:rPr lang="en-US" altLang="zh-CN" b="1"/>
              <a:t>LC</a:t>
            </a:r>
            <a:r>
              <a:rPr lang="zh-CN" altLang="en-US" b="1"/>
              <a:t>）：</a:t>
            </a:r>
            <a:r>
              <a:rPr lang="en-US" altLang="zh-CN" b="1"/>
              <a:t>Recall</a:t>
            </a:r>
            <a:r>
              <a:rPr lang="zh-CN" altLang="en-US" b="1"/>
              <a:t>提升</a:t>
            </a:r>
            <a:r>
              <a:rPr lang="en-US" altLang="zh-CN" b="1"/>
              <a:t>3.2%</a:t>
            </a:r>
            <a:r>
              <a:rPr lang="zh-CN" altLang="en-US" b="1"/>
              <a:t>但</a:t>
            </a:r>
            <a:r>
              <a:rPr lang="en-US" altLang="zh-CN" b="1"/>
              <a:t>Precision</a:t>
            </a:r>
            <a:r>
              <a:rPr lang="zh-CN" altLang="en-US" b="1"/>
              <a:t>下降</a:t>
            </a:r>
            <a:r>
              <a:rPr lang="en-US" altLang="zh-CN" b="1"/>
              <a:t>5.1%</a:t>
            </a:r>
            <a:r>
              <a:rPr lang="zh-CN" altLang="en-US" b="1"/>
              <a:t>，答案一致性降低。</a:t>
            </a:r>
          </a:p>
          <a:p>
            <a:pPr marL="285750" indent="-285750">
              <a:buFont typeface="Arial" panose="020B0604020202020204" pitchFamily="34" charset="0"/>
              <a:buChar char="•"/>
            </a:pPr>
            <a:r>
              <a:rPr lang="zh-CN" altLang="en-US" b="1"/>
              <a:t>移除知识路径拓展（</a:t>
            </a:r>
            <a:r>
              <a:rPr lang="en-US" altLang="zh-CN" b="1"/>
              <a:t>KPE</a:t>
            </a:r>
            <a:r>
              <a:rPr lang="zh-CN" altLang="en-US" b="1"/>
              <a:t>）：</a:t>
            </a:r>
            <a:r>
              <a:rPr lang="en-US" altLang="zh-CN" b="1"/>
              <a:t>Recall</a:t>
            </a:r>
            <a:r>
              <a:rPr lang="zh-CN" altLang="en-US" b="1"/>
              <a:t>降低</a:t>
            </a:r>
            <a:r>
              <a:rPr lang="en-US" altLang="zh-CN" b="1"/>
              <a:t>17.3%</a:t>
            </a:r>
            <a:r>
              <a:rPr lang="zh-CN" altLang="en-US" b="1"/>
              <a:t>，</a:t>
            </a:r>
            <a:r>
              <a:rPr lang="zh-CN" altLang="en-US" b="1">
                <a:sym typeface="+mn-ea"/>
              </a:rPr>
              <a:t>路径不完整，覆盖不够</a:t>
            </a:r>
            <a:endParaRPr lang="zh-CN" altLang="en-US" b="1"/>
          </a:p>
        </p:txBody>
      </p:sp>
      <p:pic>
        <p:nvPicPr>
          <p:cNvPr id="3" name="图片 2"/>
          <p:cNvPicPr>
            <a:picLocks noChangeAspect="1"/>
          </p:cNvPicPr>
          <p:nvPr/>
        </p:nvPicPr>
        <p:blipFill>
          <a:blip r:embed="rId7"/>
          <a:stretch>
            <a:fillRect/>
          </a:stretch>
        </p:blipFill>
        <p:spPr>
          <a:xfrm>
            <a:off x="952500" y="974725"/>
            <a:ext cx="4171950" cy="2571750"/>
          </a:xfrm>
          <a:prstGeom prst="rect">
            <a:avLst/>
          </a:prstGeo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实验结果</a:t>
            </a:r>
            <a:r>
              <a:rPr kumimoji="1" lang="en-US" altLang="zh-CN" sz="2500" dirty="0"/>
              <a:t>2</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pic>
        <p:nvPicPr>
          <p:cNvPr id="10" name="图片 9"/>
          <p:cNvPicPr>
            <a:picLocks noChangeAspect="1"/>
          </p:cNvPicPr>
          <p:nvPr/>
        </p:nvPicPr>
        <p:blipFill>
          <a:blip r:embed="rId7"/>
          <a:stretch>
            <a:fillRect/>
          </a:stretch>
        </p:blipFill>
        <p:spPr>
          <a:xfrm>
            <a:off x="788670" y="4203065"/>
            <a:ext cx="3917950" cy="539750"/>
          </a:xfrm>
          <a:prstGeom prst="rect">
            <a:avLst/>
          </a:prstGeom>
        </p:spPr>
      </p:pic>
      <p:sp>
        <p:nvSpPr>
          <p:cNvPr id="12" name="文本框 11"/>
          <p:cNvSpPr txBox="1"/>
          <p:nvPr/>
        </p:nvSpPr>
        <p:spPr>
          <a:xfrm>
            <a:off x="788670" y="4949190"/>
            <a:ext cx="4064000" cy="583565"/>
          </a:xfrm>
          <a:prstGeom prst="rect">
            <a:avLst/>
          </a:prstGeom>
          <a:noFill/>
        </p:spPr>
        <p:txBody>
          <a:bodyPr wrap="square" rtlCol="0">
            <a:spAutoFit/>
          </a:bodyPr>
          <a:lstStyle/>
          <a:p>
            <a:r>
              <a:rPr lang="en-US" altLang="zh-CN" sz="1600" b="1"/>
              <a:t>RAR </a:t>
            </a:r>
            <a:r>
              <a:rPr lang="zh-CN" altLang="en-US" sz="1600" b="1"/>
              <a:t>生成的推理链不仅更正确，而且和知识图谱高度一致</a:t>
            </a:r>
          </a:p>
        </p:txBody>
      </p:sp>
      <p:sp>
        <p:nvSpPr>
          <p:cNvPr id="14" name="文本框 13"/>
          <p:cNvSpPr txBox="1"/>
          <p:nvPr/>
        </p:nvSpPr>
        <p:spPr>
          <a:xfrm>
            <a:off x="6024245" y="4354830"/>
            <a:ext cx="4064000" cy="645160"/>
          </a:xfrm>
          <a:prstGeom prst="rect">
            <a:avLst/>
          </a:prstGeom>
          <a:noFill/>
        </p:spPr>
        <p:txBody>
          <a:bodyPr wrap="square" rtlCol="0">
            <a:spAutoFit/>
          </a:bodyPr>
          <a:lstStyle/>
          <a:p>
            <a:r>
              <a:rPr lang="zh-CN" altLang="en-US" b="1"/>
              <a:t>性能大幅提升，时间变化不大，</a:t>
            </a:r>
            <a:r>
              <a:rPr lang="en-US" altLang="zh-CN" b="1"/>
              <a:t>Agent </a:t>
            </a:r>
            <a:r>
              <a:rPr lang="zh-CN" altLang="en-US" b="1"/>
              <a:t>方法太慢</a:t>
            </a:r>
          </a:p>
        </p:txBody>
      </p:sp>
      <p:pic>
        <p:nvPicPr>
          <p:cNvPr id="2" name="图片 1"/>
          <p:cNvPicPr>
            <a:picLocks noChangeAspect="1"/>
          </p:cNvPicPr>
          <p:nvPr/>
        </p:nvPicPr>
        <p:blipFill>
          <a:blip r:embed="rId8"/>
          <a:stretch>
            <a:fillRect/>
          </a:stretch>
        </p:blipFill>
        <p:spPr>
          <a:xfrm>
            <a:off x="703580" y="1102995"/>
            <a:ext cx="4812030" cy="3016885"/>
          </a:xfrm>
          <a:prstGeom prst="rect">
            <a:avLst/>
          </a:prstGeom>
        </p:spPr>
      </p:pic>
      <p:pic>
        <p:nvPicPr>
          <p:cNvPr id="8" name="图片 7"/>
          <p:cNvPicPr>
            <a:picLocks noChangeAspect="1"/>
          </p:cNvPicPr>
          <p:nvPr/>
        </p:nvPicPr>
        <p:blipFill>
          <a:blip r:embed="rId9"/>
          <a:stretch>
            <a:fillRect/>
          </a:stretch>
        </p:blipFill>
        <p:spPr>
          <a:xfrm>
            <a:off x="6024245" y="1287780"/>
            <a:ext cx="4584700" cy="2832100"/>
          </a:xfrm>
          <a:prstGeom prst="rect">
            <a:avLst/>
          </a:prstGeom>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实验结果</a:t>
            </a:r>
            <a:r>
              <a:rPr kumimoji="1" lang="en-US" altLang="zh-CN" sz="2500" dirty="0"/>
              <a:t>3</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9" name="文本框 8"/>
          <p:cNvSpPr txBox="1"/>
          <p:nvPr/>
        </p:nvSpPr>
        <p:spPr>
          <a:xfrm>
            <a:off x="241935" y="4417060"/>
            <a:ext cx="5217795" cy="1814830"/>
          </a:xfrm>
          <a:prstGeom prst="rect">
            <a:avLst/>
          </a:prstGeom>
          <a:noFill/>
        </p:spPr>
        <p:txBody>
          <a:bodyPr wrap="square" rtlCol="0">
            <a:spAutoFit/>
          </a:bodyPr>
          <a:lstStyle/>
          <a:p>
            <a:r>
              <a:rPr lang="zh-CN" altLang="en-US" sz="1600" b="1"/>
              <a:t>不同</a:t>
            </a:r>
            <a:r>
              <a:rPr lang="en-US" altLang="zh-CN" sz="1600" b="1"/>
              <a:t> LLM </a:t>
            </a:r>
            <a:r>
              <a:rPr lang="zh-CN" altLang="en-US" sz="1600" b="1"/>
              <a:t>骨干对模型性能的影响</a:t>
            </a:r>
          </a:p>
          <a:p>
            <a:pPr marL="285750" indent="-285750">
              <a:buFont typeface="Arial" panose="020B0604020202020204" pitchFamily="34" charset="0"/>
              <a:buChar char="•"/>
            </a:pPr>
            <a:r>
              <a:rPr lang="zh-CN" altLang="en-US" sz="1600" b="1"/>
              <a:t>模型规模与性能正相关</a:t>
            </a:r>
          </a:p>
          <a:p>
            <a:pPr marL="285750" indent="-285750">
              <a:buFont typeface="Arial" panose="020B0604020202020204" pitchFamily="34" charset="0"/>
              <a:buChar char="•"/>
            </a:pPr>
            <a:r>
              <a:rPr lang="en-US" altLang="zh-CN" sz="1600" b="1"/>
              <a:t>Consolidation </a:t>
            </a:r>
            <a:r>
              <a:rPr lang="zh-CN" altLang="en-US" sz="1600" b="1"/>
              <a:t>模块各模型</a:t>
            </a:r>
            <a:r>
              <a:rPr lang="en-US" altLang="zh-CN" sz="1600" b="1"/>
              <a:t> F1 </a:t>
            </a:r>
            <a:r>
              <a:rPr lang="zh-CN" altLang="en-US" sz="1600" b="1"/>
              <a:t>分数差距不大，对模型能力的要求不敏感</a:t>
            </a:r>
          </a:p>
          <a:p>
            <a:pPr marL="285750" indent="-285750">
              <a:buFont typeface="Arial" panose="020B0604020202020204" pitchFamily="34" charset="0"/>
              <a:buChar char="•"/>
            </a:pPr>
            <a:r>
              <a:rPr lang="en-US" altLang="zh-CN" sz="1600" b="1"/>
              <a:t>RAR </a:t>
            </a:r>
            <a:r>
              <a:rPr lang="zh-CN" altLang="en-US" sz="1600" b="1"/>
              <a:t>的核心增益主要来自前面的</a:t>
            </a:r>
            <a:r>
              <a:rPr lang="en-US" altLang="zh-CN" sz="1600" b="1"/>
              <a:t>“</a:t>
            </a:r>
            <a:r>
              <a:rPr lang="zh-CN" altLang="en-US" sz="1600" b="1"/>
              <a:t>推理链生成</a:t>
            </a:r>
            <a:r>
              <a:rPr lang="en-US" altLang="zh-CN" sz="1600" b="1"/>
              <a:t> + KG </a:t>
            </a:r>
            <a:r>
              <a:rPr lang="zh-CN" altLang="en-US" sz="1600" b="1"/>
              <a:t>对齐</a:t>
            </a:r>
            <a:r>
              <a:rPr lang="en-US" altLang="zh-CN" sz="1600" b="1"/>
              <a:t>”</a:t>
            </a:r>
            <a:r>
              <a:rPr lang="zh-CN" altLang="en-US" sz="1600" b="1"/>
              <a:t>，而不是最后这一步换一个特别强的</a:t>
            </a:r>
            <a:r>
              <a:rPr lang="en-US" altLang="zh-CN" sz="1600" b="1"/>
              <a:t> LLM</a:t>
            </a:r>
            <a:r>
              <a:rPr lang="zh-CN" altLang="en-US" sz="1600" b="1"/>
              <a:t>。</a:t>
            </a:r>
          </a:p>
          <a:p>
            <a:pPr marL="285750" indent="-285750">
              <a:buFont typeface="Arial" panose="020B0604020202020204" pitchFamily="34" charset="0"/>
              <a:buChar char="•"/>
            </a:pPr>
            <a:r>
              <a:rPr lang="en-US" altLang="zh-CN" sz="1600" b="1"/>
              <a:t>Llama-3.1-8B </a:t>
            </a:r>
            <a:r>
              <a:rPr lang="zh-CN" altLang="en-US" sz="1600" b="1"/>
              <a:t>有性价比</a:t>
            </a:r>
          </a:p>
        </p:txBody>
      </p:sp>
      <p:pic>
        <p:nvPicPr>
          <p:cNvPr id="3" name="图片 2"/>
          <p:cNvPicPr>
            <a:picLocks noChangeAspect="1"/>
          </p:cNvPicPr>
          <p:nvPr/>
        </p:nvPicPr>
        <p:blipFill>
          <a:blip r:embed="rId7"/>
          <a:stretch>
            <a:fillRect/>
          </a:stretch>
        </p:blipFill>
        <p:spPr>
          <a:xfrm>
            <a:off x="407670" y="683260"/>
            <a:ext cx="4051935" cy="3481705"/>
          </a:xfrm>
          <a:prstGeom prst="rect">
            <a:avLst/>
          </a:prstGeom>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研究局限与未来方向</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pic>
        <p:nvPicPr>
          <p:cNvPr id="3" name="图片 2"/>
          <p:cNvPicPr>
            <a:picLocks noChangeAspect="1"/>
          </p:cNvPicPr>
          <p:nvPr/>
        </p:nvPicPr>
        <p:blipFill>
          <a:blip r:embed="rId7"/>
          <a:stretch>
            <a:fillRect/>
          </a:stretch>
        </p:blipFill>
        <p:spPr>
          <a:xfrm>
            <a:off x="441960" y="1177290"/>
            <a:ext cx="10833735" cy="3826510"/>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7" name="文本框 6"/>
          <p:cNvSpPr txBox="1"/>
          <p:nvPr>
            <p:custDataLst>
              <p:tags r:id="rId2"/>
            </p:custDataLst>
          </p:nvPr>
        </p:nvSpPr>
        <p:spPr>
          <a:xfrm>
            <a:off x="91733" y="6389370"/>
            <a:ext cx="7192645" cy="368300"/>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发表：</a:t>
            </a:r>
            <a:r>
              <a:rPr lang="en-US" altLang="zh-CN" dirty="0" err="1"/>
              <a:t>ICLR</a:t>
            </a:r>
            <a:r>
              <a:rPr lang="en-US" altLang="zh-CN" dirty="0"/>
              <a:t> 2026</a:t>
            </a:r>
          </a:p>
        </p:txBody>
      </p:sp>
      <p:pic>
        <p:nvPicPr>
          <p:cNvPr id="3" name="图片 2"/>
          <p:cNvPicPr>
            <a:picLocks noChangeAspect="1"/>
          </p:cNvPicPr>
          <p:nvPr/>
        </p:nvPicPr>
        <p:blipFill>
          <a:blip r:embed="rId7"/>
          <a:stretch>
            <a:fillRect/>
          </a:stretch>
        </p:blipFill>
        <p:spPr>
          <a:xfrm>
            <a:off x="1014095" y="1242060"/>
            <a:ext cx="10164445" cy="3568065"/>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背景和动机</a:t>
            </a:r>
          </a:p>
        </p:txBody>
      </p:sp>
      <p:pic>
        <p:nvPicPr>
          <p:cNvPr id="6" name="图片 5"/>
          <p:cNvPicPr>
            <a:picLocks noChangeAspect="1"/>
          </p:cNvPicPr>
          <p:nvPr>
            <p:custDataLst>
              <p:tags r:id="rId2"/>
            </p:custDataLst>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3" name="文本框 2"/>
          <p:cNvSpPr txBox="1"/>
          <p:nvPr>
            <p:custDataLst>
              <p:tags r:id="rId3"/>
            </p:custDataLst>
          </p:nvPr>
        </p:nvSpPr>
        <p:spPr>
          <a:xfrm>
            <a:off x="217805" y="731520"/>
            <a:ext cx="11800205" cy="5434330"/>
          </a:xfrm>
          <a:prstGeom prst="rect">
            <a:avLst/>
          </a:prstGeom>
          <a:noFill/>
        </p:spPr>
        <p:txBody>
          <a:bodyPr wrap="square" rtlCol="0" anchor="t">
            <a:noAutofit/>
          </a:bodyPr>
          <a:lstStyle/>
          <a:p>
            <a:pPr marL="457200" lvl="2" indent="0" algn="l">
              <a:lnSpc>
                <a:spcPct val="150000"/>
              </a:lnSpc>
              <a:buFont typeface="Arial" panose="020B0604020202020204" pitchFamily="34" charset="0"/>
              <a:buNone/>
            </a:pPr>
            <a:r>
              <a:rPr lang="zh-CN" altLang="en-US" sz="2000" b="1" dirty="0">
                <a:latin typeface="+mn-ea"/>
                <a:cs typeface="+mn-ea"/>
              </a:rPr>
              <a:t>研究背景：</a:t>
            </a:r>
          </a:p>
          <a:p>
            <a:pPr marL="800100" lvl="1" indent="-342900">
              <a:lnSpc>
                <a:spcPct val="150000"/>
              </a:lnSpc>
              <a:buFont typeface="Arial" panose="020B0604020202020204" pitchFamily="34" charset="0"/>
              <a:buChar char="•"/>
            </a:pPr>
            <a:r>
              <a:rPr lang="zh-CN" altLang="en-US" sz="2000" dirty="0">
                <a:latin typeface="+mn-ea"/>
                <a:cs typeface="+mn-ea"/>
              </a:rPr>
              <a:t>将知识图谱融入大语言模型推理，是解决</a:t>
            </a:r>
            <a:r>
              <a:rPr lang="en-US" altLang="zh-CN" sz="2000" dirty="0">
                <a:latin typeface="+mn-ea"/>
                <a:cs typeface="+mn-ea"/>
              </a:rPr>
              <a:t> LLM </a:t>
            </a:r>
            <a:r>
              <a:rPr lang="zh-CN" altLang="en-US" sz="2000" dirty="0">
                <a:latin typeface="+mn-ea"/>
                <a:cs typeface="+mn-ea"/>
              </a:rPr>
              <a:t>幻觉和事实性错误的有效途径，但现有</a:t>
            </a:r>
            <a:r>
              <a:rPr lang="en-US" altLang="zh-CN" sz="2000" dirty="0">
                <a:latin typeface="+mn-ea"/>
                <a:cs typeface="+mn-ea"/>
              </a:rPr>
              <a:t> KG </a:t>
            </a:r>
            <a:r>
              <a:rPr lang="zh-CN" altLang="en-US" sz="2000" dirty="0">
                <a:latin typeface="+mn-ea"/>
                <a:cs typeface="+mn-ea"/>
              </a:rPr>
              <a:t>增强</a:t>
            </a:r>
            <a:r>
              <a:rPr lang="en-US" altLang="zh-CN" sz="2000" dirty="0">
                <a:latin typeface="+mn-ea"/>
                <a:cs typeface="+mn-ea"/>
              </a:rPr>
              <a:t> LLM </a:t>
            </a:r>
            <a:r>
              <a:rPr lang="zh-CN" altLang="en-US" sz="2000" dirty="0">
                <a:latin typeface="+mn-ea"/>
                <a:cs typeface="+mn-ea"/>
              </a:rPr>
              <a:t>范式在处理</a:t>
            </a:r>
            <a:r>
              <a:rPr lang="zh-CN" altLang="en-US" sz="2000" dirty="0">
                <a:solidFill>
                  <a:srgbClr val="FF0000"/>
                </a:solidFill>
                <a:latin typeface="+mn-ea"/>
                <a:cs typeface="+mn-ea"/>
              </a:rPr>
              <a:t>多跳推理</a:t>
            </a:r>
            <a:r>
              <a:rPr lang="zh-CN" altLang="en-US" sz="2000" dirty="0">
                <a:latin typeface="+mn-ea"/>
                <a:cs typeface="+mn-ea"/>
              </a:rPr>
              <a:t>和</a:t>
            </a:r>
            <a:r>
              <a:rPr lang="zh-CN" altLang="en-US" sz="2000" dirty="0">
                <a:solidFill>
                  <a:srgbClr val="FF0000"/>
                </a:solidFill>
                <a:latin typeface="+mn-ea"/>
                <a:cs typeface="+mn-ea"/>
              </a:rPr>
              <a:t>复杂逻辑查询</a:t>
            </a:r>
            <a:r>
              <a:rPr lang="zh-CN" altLang="en-US" sz="2000" dirty="0">
                <a:latin typeface="+mn-ea"/>
                <a:cs typeface="+mn-ea"/>
              </a:rPr>
              <a:t>时，仍存在显著性能短板</a:t>
            </a:r>
          </a:p>
          <a:p>
            <a:pPr marL="800100" lvl="1" indent="-342900">
              <a:lnSpc>
                <a:spcPct val="150000"/>
              </a:lnSpc>
              <a:buFont typeface="Arial" panose="020B0604020202020204" pitchFamily="34" charset="0"/>
              <a:buChar char="•"/>
            </a:pPr>
            <a:endParaRPr lang="zh-CN" altLang="en-US" sz="2000" dirty="0">
              <a:latin typeface="+mn-ea"/>
              <a:cs typeface="+mn-ea"/>
            </a:endParaRPr>
          </a:p>
          <a:p>
            <a:pPr lvl="1" indent="0">
              <a:lnSpc>
                <a:spcPct val="150000"/>
              </a:lnSpc>
              <a:buFont typeface="Arial" panose="020B0604020202020204" pitchFamily="34" charset="0"/>
              <a:buNone/>
            </a:pPr>
            <a:r>
              <a:rPr lang="zh-CN" altLang="en-US" sz="2000" b="1" dirty="0">
                <a:latin typeface="+mn-ea"/>
                <a:cs typeface="+mn-ea"/>
              </a:rPr>
              <a:t>研究动机：</a:t>
            </a:r>
          </a:p>
          <a:p>
            <a:pPr lvl="1" indent="0">
              <a:lnSpc>
                <a:spcPct val="150000"/>
              </a:lnSpc>
              <a:buFont typeface="Arial" panose="020B0604020202020204" pitchFamily="34" charset="0"/>
              <a:buNone/>
            </a:pPr>
            <a:r>
              <a:rPr lang="zh-CN" altLang="en-US" sz="2000" dirty="0">
                <a:latin typeface="+mn-ea"/>
                <a:cs typeface="+mn-ea"/>
              </a:rPr>
              <a:t>现有</a:t>
            </a:r>
            <a:r>
              <a:rPr lang="en-US" altLang="zh-CN" sz="2000" dirty="0">
                <a:latin typeface="+mn-ea"/>
                <a:cs typeface="+mn-ea"/>
              </a:rPr>
              <a:t> KG-augmented LLM </a:t>
            </a:r>
            <a:r>
              <a:rPr lang="zh-CN" altLang="en-US" sz="2000" dirty="0">
                <a:latin typeface="+mn-ea"/>
                <a:cs typeface="+mn-ea"/>
              </a:rPr>
              <a:t>方法存在两类关键缺陷，严重制约复杂推理能力</a:t>
            </a:r>
          </a:p>
          <a:p>
            <a:pPr marL="800100" lvl="1" indent="-342900">
              <a:lnSpc>
                <a:spcPct val="150000"/>
              </a:lnSpc>
              <a:buFont typeface="Arial" panose="020B0604020202020204" pitchFamily="34" charset="0"/>
              <a:buChar char="•"/>
            </a:pPr>
            <a:r>
              <a:rPr lang="zh-CN" altLang="en-US" sz="2000" b="1" dirty="0">
                <a:latin typeface="+mn-ea"/>
                <a:cs typeface="+mn-ea"/>
              </a:rPr>
              <a:t>搜索空间截断偏差：</a:t>
            </a:r>
            <a:r>
              <a:rPr lang="zh-CN" altLang="en-US" sz="2000" dirty="0">
                <a:latin typeface="+mn-ea"/>
                <a:cs typeface="+mn-ea"/>
              </a:rPr>
              <a:t>依赖线性</a:t>
            </a:r>
            <a:r>
              <a:rPr lang="en-US" altLang="zh-CN" sz="2000" dirty="0">
                <a:latin typeface="+mn-ea"/>
                <a:cs typeface="+mn-ea"/>
              </a:rPr>
              <a:t>“</a:t>
            </a:r>
            <a:r>
              <a:rPr lang="zh-CN" altLang="en-US" sz="2000" dirty="0">
                <a:latin typeface="+mn-ea"/>
                <a:cs typeface="+mn-ea"/>
              </a:rPr>
              <a:t>实体</a:t>
            </a:r>
            <a:r>
              <a:rPr lang="en-US" altLang="zh-CN" sz="2000" dirty="0">
                <a:latin typeface="+mn-ea"/>
                <a:cs typeface="+mn-ea"/>
              </a:rPr>
              <a:t>–</a:t>
            </a:r>
            <a:r>
              <a:rPr lang="zh-CN" altLang="en-US" sz="2000" dirty="0">
                <a:latin typeface="+mn-ea"/>
                <a:cs typeface="+mn-ea"/>
              </a:rPr>
              <a:t>关系</a:t>
            </a:r>
            <a:r>
              <a:rPr lang="en-US" altLang="zh-CN" sz="2000" dirty="0">
                <a:latin typeface="+mn-ea"/>
                <a:cs typeface="+mn-ea"/>
              </a:rPr>
              <a:t>”</a:t>
            </a:r>
            <a:r>
              <a:rPr lang="zh-CN" altLang="en-US" sz="2000" dirty="0">
                <a:latin typeface="+mn-ea"/>
                <a:cs typeface="+mn-ea"/>
              </a:rPr>
              <a:t>推理路径，在迭代探索过程中通过剪枝（如</a:t>
            </a:r>
            <a:r>
              <a:rPr lang="en-US" altLang="zh-CN" sz="2000" dirty="0">
                <a:latin typeface="+mn-ea"/>
                <a:cs typeface="+mn-ea"/>
              </a:rPr>
              <a:t> top-k</a:t>
            </a:r>
            <a:r>
              <a:rPr lang="zh-CN" altLang="en-US" sz="2000" dirty="0">
                <a:latin typeface="+mn-ea"/>
                <a:cs typeface="+mn-ea"/>
              </a:rPr>
              <a:t>）容易</a:t>
            </a:r>
            <a:r>
              <a:rPr lang="zh-CN" altLang="en-US" sz="2000" dirty="0">
                <a:solidFill>
                  <a:srgbClr val="FF0000"/>
                </a:solidFill>
                <a:latin typeface="+mn-ea"/>
                <a:cs typeface="+mn-ea"/>
              </a:rPr>
              <a:t>过早丢弃正确候选实体</a:t>
            </a:r>
            <a:r>
              <a:rPr lang="zh-CN" altLang="en-US" sz="2000" dirty="0">
                <a:latin typeface="+mn-ea"/>
                <a:cs typeface="+mn-ea"/>
              </a:rPr>
              <a:t>，导致关键推理信息缺失</a:t>
            </a:r>
          </a:p>
          <a:p>
            <a:pPr marL="800100" lvl="1" indent="-342900">
              <a:lnSpc>
                <a:spcPct val="150000"/>
              </a:lnSpc>
              <a:buFont typeface="Arial" panose="020B0604020202020204" pitchFamily="34" charset="0"/>
              <a:buChar char="•"/>
            </a:pPr>
            <a:endParaRPr lang="zh-CN" altLang="en-US" sz="2000" dirty="0">
              <a:latin typeface="+mn-ea"/>
              <a:cs typeface="+mn-ea"/>
            </a:endParaRPr>
          </a:p>
          <a:p>
            <a:pPr marL="800100" lvl="1" indent="-342900">
              <a:lnSpc>
                <a:spcPct val="150000"/>
              </a:lnSpc>
              <a:buFont typeface="Arial" panose="020B0604020202020204" pitchFamily="34" charset="0"/>
              <a:buChar char="•"/>
            </a:pPr>
            <a:r>
              <a:rPr lang="zh-CN" altLang="en-US" sz="2000" b="1" dirty="0">
                <a:latin typeface="+mn-ea"/>
                <a:cs typeface="+mn-ea"/>
              </a:rPr>
              <a:t>实体错误放大问题：</a:t>
            </a:r>
            <a:r>
              <a:rPr lang="zh-CN" altLang="en-US" sz="2000" dirty="0">
                <a:latin typeface="+mn-ea"/>
                <a:cs typeface="+mn-ea"/>
              </a:rPr>
              <a:t>遵循</a:t>
            </a:r>
            <a:r>
              <a:rPr lang="en-US" altLang="zh-CN" sz="2000" dirty="0">
                <a:latin typeface="+mn-ea"/>
                <a:cs typeface="+mn-ea"/>
              </a:rPr>
              <a:t>“</a:t>
            </a:r>
            <a:r>
              <a:rPr lang="zh-CN" altLang="en-US" sz="2000" dirty="0">
                <a:latin typeface="+mn-ea"/>
                <a:cs typeface="+mn-ea"/>
              </a:rPr>
              <a:t>检索</a:t>
            </a:r>
            <a:r>
              <a:rPr lang="en-US" altLang="zh-CN" sz="2000" dirty="0">
                <a:latin typeface="+mn-ea"/>
                <a:cs typeface="+mn-ea"/>
              </a:rPr>
              <a:t>–</a:t>
            </a:r>
            <a:r>
              <a:rPr lang="zh-CN" altLang="en-US" sz="2000" dirty="0">
                <a:latin typeface="+mn-ea"/>
                <a:cs typeface="+mn-ea"/>
              </a:rPr>
              <a:t>回答</a:t>
            </a:r>
            <a:r>
              <a:rPr lang="en-US" altLang="zh-CN" sz="2000" dirty="0">
                <a:latin typeface="+mn-ea"/>
                <a:cs typeface="+mn-ea"/>
              </a:rPr>
              <a:t>”</a:t>
            </a:r>
            <a:r>
              <a:rPr lang="zh-CN" altLang="en-US" sz="2000" dirty="0">
                <a:latin typeface="+mn-ea"/>
                <a:cs typeface="+mn-ea"/>
              </a:rPr>
              <a:t>的单阶段范式，使</a:t>
            </a:r>
            <a:r>
              <a:rPr lang="en-US" altLang="zh-CN" sz="2000" dirty="0">
                <a:latin typeface="+mn-ea"/>
                <a:cs typeface="+mn-ea"/>
              </a:rPr>
              <a:t> </a:t>
            </a:r>
            <a:r>
              <a:rPr lang="en-US" altLang="zh-CN" sz="2000" dirty="0">
                <a:solidFill>
                  <a:srgbClr val="FF0000"/>
                </a:solidFill>
                <a:latin typeface="+mn-ea"/>
                <a:cs typeface="+mn-ea"/>
              </a:rPr>
              <a:t>LLM </a:t>
            </a:r>
            <a:r>
              <a:rPr lang="zh-CN" altLang="en-US" sz="2000" dirty="0">
                <a:solidFill>
                  <a:srgbClr val="FF0000"/>
                </a:solidFill>
                <a:latin typeface="+mn-ea"/>
                <a:cs typeface="+mn-ea"/>
              </a:rPr>
              <a:t>过度依赖检索证据</a:t>
            </a:r>
            <a:r>
              <a:rPr lang="zh-CN" altLang="en-US" sz="2000" dirty="0">
                <a:latin typeface="+mn-ea"/>
                <a:cs typeface="+mn-ea"/>
              </a:rPr>
              <a:t>；一旦引入错误实体或关系，其误差会在后续推理中不断累积并放大，最终导致错误答案</a:t>
            </a:r>
          </a:p>
          <a:p>
            <a:pPr marL="800100" lvl="1" indent="-342900">
              <a:lnSpc>
                <a:spcPct val="150000"/>
              </a:lnSpc>
              <a:buFont typeface="Arial" panose="020B0604020202020204" pitchFamily="34" charset="0"/>
              <a:buChar char="•"/>
            </a:pPr>
            <a:endParaRPr lang="zh-CN" altLang="en-US" sz="2000" dirty="0">
              <a:latin typeface="+mn-ea"/>
              <a:cs typeface="+mn-ea"/>
            </a:endParaRPr>
          </a:p>
          <a:p>
            <a:pPr marL="800100" lvl="1" indent="-342900">
              <a:lnSpc>
                <a:spcPct val="150000"/>
              </a:lnSpc>
              <a:buFont typeface="Arial" panose="020B0604020202020204" pitchFamily="34" charset="0"/>
              <a:buChar char="•"/>
            </a:pPr>
            <a:endParaRPr lang="zh-CN" altLang="en-US" sz="2000" b="1" dirty="0">
              <a:latin typeface="+mn-ea"/>
              <a:cs typeface="+mn-ea"/>
            </a:endParaRPr>
          </a:p>
          <a:p>
            <a:pPr lvl="1" indent="0">
              <a:lnSpc>
                <a:spcPct val="150000"/>
              </a:lnSpc>
              <a:buFont typeface="Arial" panose="020B0604020202020204" pitchFamily="34" charset="0"/>
              <a:buNone/>
            </a:pPr>
            <a:endParaRPr lang="zh-CN" altLang="en-US" sz="2000" b="1" dirty="0">
              <a:latin typeface="+mn-ea"/>
              <a:cs typeface="+mn-ea"/>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方法对比</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pic>
        <p:nvPicPr>
          <p:cNvPr id="2" name="图片 1"/>
          <p:cNvPicPr>
            <a:picLocks noChangeAspect="1"/>
          </p:cNvPicPr>
          <p:nvPr/>
        </p:nvPicPr>
        <p:blipFill>
          <a:blip r:embed="rId7"/>
          <a:stretch>
            <a:fillRect/>
          </a:stretch>
        </p:blipFill>
        <p:spPr>
          <a:xfrm>
            <a:off x="901700" y="1063625"/>
            <a:ext cx="10388600" cy="4730750"/>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论文贡献</a:t>
            </a:r>
          </a:p>
        </p:txBody>
      </p:sp>
      <p:pic>
        <p:nvPicPr>
          <p:cNvPr id="6" name="图片 5"/>
          <p:cNvPicPr>
            <a:picLocks noChangeAspect="1"/>
          </p:cNvPicPr>
          <p:nvPr>
            <p:custDataLst>
              <p:tags r:id="rId2"/>
            </p:custDataLst>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7" name="文本框 6"/>
          <p:cNvSpPr txBox="1"/>
          <p:nvPr>
            <p:custDataLst>
              <p:tags r:id="rId3"/>
            </p:custDataLst>
          </p:nvPr>
        </p:nvSpPr>
        <p:spPr>
          <a:xfrm>
            <a:off x="291374" y="890905"/>
            <a:ext cx="11212195" cy="5906135"/>
          </a:xfrm>
          <a:prstGeom prst="rect">
            <a:avLst/>
          </a:prstGeom>
          <a:noFill/>
        </p:spPr>
        <p:txBody>
          <a:bodyPr wrap="square" rtlCol="0" anchor="t">
            <a:noAutofit/>
          </a:bodyPr>
          <a:lstStyle/>
          <a:p>
            <a:pPr marL="342900" indent="-342900" fontAlgn="auto">
              <a:lnSpc>
                <a:spcPct val="150000"/>
              </a:lnSpc>
              <a:buFont typeface="Wingdings" panose="05000000000000000000" pitchFamily="2" charset="2"/>
              <a:buChar char="Ø"/>
            </a:pPr>
            <a:r>
              <a:rPr lang="zh-CN" altLang="en-US" sz="2000" b="1" i="0" dirty="0">
                <a:effectLst/>
                <a:latin typeface="Times New Roman" panose="02020603050405020304" pitchFamily="18" charset="0"/>
                <a:cs typeface="Times New Roman" panose="02020603050405020304" pitchFamily="18" charset="0"/>
              </a:rPr>
              <a:t>提出了基于</a:t>
            </a:r>
            <a:r>
              <a:rPr lang="en-US" altLang="zh-CN" sz="2000" b="1" i="0" dirty="0">
                <a:effectLst/>
                <a:latin typeface="Times New Roman" panose="02020603050405020304" pitchFamily="18" charset="0"/>
                <a:cs typeface="Times New Roman" panose="02020603050405020304" pitchFamily="18" charset="0"/>
              </a:rPr>
              <a:t> </a:t>
            </a:r>
            <a:r>
              <a:rPr lang="en-US" altLang="zh-CN" sz="2000" b="1" i="0" dirty="0">
                <a:solidFill>
                  <a:srgbClr val="FF0000"/>
                </a:solidFill>
                <a:effectLst/>
                <a:latin typeface="Times New Roman" panose="02020603050405020304" pitchFamily="18" charset="0"/>
                <a:cs typeface="Times New Roman" panose="02020603050405020304" pitchFamily="18" charset="0"/>
              </a:rPr>
              <a:t>SPARQL</a:t>
            </a:r>
            <a:r>
              <a:rPr lang="en-US" altLang="zh-CN" sz="2000" b="1" i="0" dirty="0">
                <a:effectLst/>
                <a:latin typeface="Times New Roman" panose="02020603050405020304" pitchFamily="18" charset="0"/>
                <a:cs typeface="Times New Roman" panose="02020603050405020304" pitchFamily="18" charset="0"/>
              </a:rPr>
              <a:t> </a:t>
            </a:r>
            <a:r>
              <a:rPr lang="zh-CN" altLang="en-US" sz="2000" b="1" i="0" dirty="0">
                <a:effectLst/>
                <a:latin typeface="Times New Roman" panose="02020603050405020304" pitchFamily="18" charset="0"/>
                <a:cs typeface="Times New Roman" panose="02020603050405020304" pitchFamily="18" charset="0"/>
              </a:rPr>
              <a:t>引导的结构化规划方法</a:t>
            </a:r>
          </a:p>
          <a:p>
            <a:pPr marL="800100" lvl="1" indent="-342900" fontAlgn="auto">
              <a:lnSpc>
                <a:spcPct val="150000"/>
              </a:lnSpc>
              <a:buFont typeface="Arial" panose="020B0604020202020204" pitchFamily="34" charset="0"/>
              <a:buChar char="•"/>
            </a:pPr>
            <a:r>
              <a:rPr lang="zh-CN" altLang="en-US" sz="2000" b="0" i="0" dirty="0">
                <a:solidFill>
                  <a:schemeClr val="tx1"/>
                </a:solidFill>
                <a:effectLst/>
                <a:latin typeface="Times New Roman" panose="02020603050405020304" pitchFamily="18" charset="0"/>
                <a:cs typeface="Times New Roman" panose="02020603050405020304" pitchFamily="18" charset="0"/>
              </a:rPr>
              <a:t>论文利用</a:t>
            </a:r>
            <a:r>
              <a:rPr lang="en-US" altLang="zh-CN" sz="2000" b="0" i="0" dirty="0">
                <a:solidFill>
                  <a:schemeClr val="tx1"/>
                </a:solidFill>
                <a:effectLst/>
                <a:latin typeface="Times New Roman" panose="02020603050405020304" pitchFamily="18" charset="0"/>
                <a:cs typeface="Times New Roman" panose="02020603050405020304" pitchFamily="18" charset="0"/>
              </a:rPr>
              <a:t> SPARQL</a:t>
            </a:r>
            <a:r>
              <a:rPr lang="zh-CN" altLang="en-US" sz="2000" b="0" i="0" dirty="0">
                <a:solidFill>
                  <a:schemeClr val="tx1"/>
                </a:solidFill>
                <a:effectLst/>
                <a:latin typeface="Times New Roman" panose="02020603050405020304" pitchFamily="18" charset="0"/>
                <a:cs typeface="Times New Roman" panose="02020603050405020304" pitchFamily="18" charset="0"/>
              </a:rPr>
              <a:t>（一种用于查询知识图谱的结构化查询语言）</a:t>
            </a:r>
            <a:r>
              <a:rPr lang="en-US" altLang="zh-CN" sz="2000" b="0" i="0" dirty="0">
                <a:solidFill>
                  <a:schemeClr val="tx1"/>
                </a:solidFill>
                <a:effectLst/>
                <a:latin typeface="Times New Roman" panose="02020603050405020304" pitchFamily="18" charset="0"/>
                <a:cs typeface="Times New Roman" panose="02020603050405020304" pitchFamily="18" charset="0"/>
              </a:rPr>
              <a:t> </a:t>
            </a:r>
            <a:r>
              <a:rPr lang="zh-CN" altLang="en-US" sz="2000" b="0" i="0" dirty="0">
                <a:solidFill>
                  <a:schemeClr val="tx1"/>
                </a:solidFill>
                <a:effectLst/>
                <a:latin typeface="Times New Roman" panose="02020603050405020304" pitchFamily="18" charset="0"/>
                <a:cs typeface="Times New Roman" panose="02020603050405020304" pitchFamily="18" charset="0"/>
              </a:rPr>
              <a:t>查询作为结构化监督信号，将复杂问题分解为多个子目标，从而训练模型生成具有组合性和逻辑性的推理路径。</a:t>
            </a:r>
          </a:p>
          <a:p>
            <a:pPr marL="800100" lvl="1" indent="-342900" fontAlgn="auto">
              <a:lnSpc>
                <a:spcPct val="150000"/>
              </a:lnSpc>
              <a:buFont typeface="Arial" panose="020B0604020202020204" pitchFamily="34" charset="0"/>
              <a:buChar char="•"/>
            </a:pPr>
            <a:endParaRPr lang="zh-CN" altLang="en-US" sz="2000" b="0" i="0" dirty="0">
              <a:solidFill>
                <a:schemeClr val="tx1"/>
              </a:solidFill>
              <a:effectLst/>
              <a:latin typeface="Times New Roman" panose="02020603050405020304" pitchFamily="18" charset="0"/>
              <a:cs typeface="Times New Roman" panose="02020603050405020304" pitchFamily="18" charset="0"/>
            </a:endParaRPr>
          </a:p>
          <a:p>
            <a:pPr marL="342900" indent="-342900" fontAlgn="auto">
              <a:lnSpc>
                <a:spcPct val="150000"/>
              </a:lnSpc>
              <a:buFont typeface="Wingdings" panose="05000000000000000000" pitchFamily="2" charset="2"/>
              <a:buChar char="Ø"/>
            </a:pPr>
            <a:r>
              <a:rPr lang="zh-CN" altLang="en-US" sz="2000" b="1" dirty="0">
                <a:solidFill>
                  <a:schemeClr val="tx1"/>
                </a:solidFill>
                <a:latin typeface="Times New Roman" panose="02020603050405020304" pitchFamily="18" charset="0"/>
                <a:cs typeface="Times New Roman" panose="02020603050405020304" pitchFamily="18" charset="0"/>
              </a:rPr>
              <a:t>提出了</a:t>
            </a:r>
            <a:r>
              <a:rPr lang="en-US" altLang="zh-CN" sz="2000" b="1" dirty="0">
                <a:solidFill>
                  <a:schemeClr val="tx1"/>
                </a:solidFill>
                <a:latin typeface="Times New Roman" panose="02020603050405020304" pitchFamily="18" charset="0"/>
                <a:cs typeface="Times New Roman" panose="02020603050405020304" pitchFamily="18" charset="0"/>
              </a:rPr>
              <a:t> </a:t>
            </a:r>
            <a:r>
              <a:rPr lang="en-US" altLang="zh-CN" sz="2000" b="1" dirty="0">
                <a:solidFill>
                  <a:srgbClr val="FF0000"/>
                </a:solidFill>
                <a:latin typeface="Times New Roman" panose="02020603050405020304" pitchFamily="18" charset="0"/>
                <a:cs typeface="Times New Roman" panose="02020603050405020304" pitchFamily="18" charset="0"/>
              </a:rPr>
              <a:t>Plan-Answer-Refine </a:t>
            </a:r>
            <a:r>
              <a:rPr lang="zh-CN" altLang="en-US" sz="2000" b="1" dirty="0">
                <a:solidFill>
                  <a:schemeClr val="tx1"/>
                </a:solidFill>
                <a:latin typeface="Times New Roman" panose="02020603050405020304" pitchFamily="18" charset="0"/>
                <a:cs typeface="Times New Roman" panose="02020603050405020304" pitchFamily="18" charset="0"/>
              </a:rPr>
              <a:t>推理范式</a:t>
            </a:r>
          </a:p>
          <a:p>
            <a:pPr marL="800100" lvl="2" indent="-342900" fontAlgn="auto">
              <a:lnSpc>
                <a:spcPct val="150000"/>
              </a:lnSpc>
              <a:buFont typeface="Arial" panose="020B0604020202020204" pitchFamily="34" charset="0"/>
              <a:buChar char="•"/>
            </a:pPr>
            <a:r>
              <a:rPr lang="zh-CN" altLang="en-US" sz="2000" dirty="0">
                <a:latin typeface="+mn-ea"/>
                <a:cs typeface="Times New Roman" panose="02020603050405020304" pitchFamily="18" charset="0"/>
                <a:sym typeface="+mn-ea"/>
              </a:rPr>
              <a:t>让</a:t>
            </a:r>
            <a:r>
              <a:rPr lang="en-US" altLang="zh-CN" sz="2000" dirty="0">
                <a:latin typeface="+mn-ea"/>
                <a:cs typeface="Times New Roman" panose="02020603050405020304" pitchFamily="18" charset="0"/>
                <a:sym typeface="+mn-ea"/>
              </a:rPr>
              <a:t> LLM </a:t>
            </a:r>
            <a:r>
              <a:rPr lang="zh-CN" altLang="en-US" sz="2000" dirty="0">
                <a:latin typeface="+mn-ea"/>
                <a:cs typeface="Times New Roman" panose="02020603050405020304" pitchFamily="18" charset="0"/>
                <a:sym typeface="+mn-ea"/>
              </a:rPr>
              <a:t>基于参数知识生成初步答案，再结合知识图谱检索到的证据进行显式修正，缓解由于错误实体或关系引起的误差传播和放大问题。</a:t>
            </a:r>
          </a:p>
          <a:p>
            <a:pPr marL="800100" lvl="2" indent="-342900" fontAlgn="auto">
              <a:lnSpc>
                <a:spcPct val="150000"/>
              </a:lnSpc>
              <a:buFont typeface="Arial" panose="020B0604020202020204" pitchFamily="34" charset="0"/>
              <a:buChar char="•"/>
            </a:pPr>
            <a:endParaRPr lang="zh-CN" altLang="en-US" sz="2000" b="1" dirty="0">
              <a:solidFill>
                <a:schemeClr val="tx1"/>
              </a:solidFill>
              <a:latin typeface="Times New Roman" panose="02020603050405020304" pitchFamily="18" charset="0"/>
              <a:cs typeface="Times New Roman" panose="02020603050405020304" pitchFamily="18" charset="0"/>
            </a:endParaRPr>
          </a:p>
          <a:p>
            <a:pPr marL="342900" indent="-342900" fontAlgn="auto">
              <a:lnSpc>
                <a:spcPct val="150000"/>
              </a:lnSpc>
              <a:buFont typeface="Wingdings" panose="05000000000000000000" pitchFamily="2" charset="2"/>
              <a:buChar char="Ø"/>
            </a:pPr>
            <a:r>
              <a:rPr lang="zh-CN" altLang="en-US" sz="2000" dirty="0">
                <a:solidFill>
                  <a:schemeClr val="tx1"/>
                </a:solidFill>
                <a:latin typeface="Times New Roman" panose="02020603050405020304" pitchFamily="18" charset="0"/>
                <a:cs typeface="Times New Roman" panose="02020603050405020304" pitchFamily="18" charset="0"/>
              </a:rPr>
              <a:t>构建了</a:t>
            </a:r>
            <a:r>
              <a:rPr lang="en-US" altLang="zh-CN" sz="2000" dirty="0">
                <a:solidFill>
                  <a:schemeClr val="tx1"/>
                </a:solidFill>
                <a:latin typeface="Times New Roman" panose="02020603050405020304" pitchFamily="18" charset="0"/>
                <a:cs typeface="Times New Roman" panose="02020603050405020304" pitchFamily="18" charset="0"/>
              </a:rPr>
              <a:t> PARoG </a:t>
            </a:r>
            <a:r>
              <a:rPr lang="zh-CN" altLang="en-US" sz="2000" dirty="0">
                <a:solidFill>
                  <a:schemeClr val="tx1"/>
                </a:solidFill>
                <a:latin typeface="Times New Roman" panose="02020603050405020304" pitchFamily="18" charset="0"/>
                <a:cs typeface="Times New Roman" panose="02020603050405020304" pitchFamily="18" charset="0"/>
              </a:rPr>
              <a:t>框架，并在多个</a:t>
            </a:r>
            <a:r>
              <a:rPr lang="en-US" altLang="zh-CN" sz="2000" dirty="0">
                <a:solidFill>
                  <a:schemeClr val="tx1"/>
                </a:solidFill>
                <a:latin typeface="Times New Roman" panose="02020603050405020304" pitchFamily="18" charset="0"/>
                <a:cs typeface="Times New Roman" panose="02020603050405020304" pitchFamily="18" charset="0"/>
              </a:rPr>
              <a:t> KGQA </a:t>
            </a:r>
            <a:r>
              <a:rPr lang="zh-CN" altLang="en-US" sz="2000" dirty="0">
                <a:solidFill>
                  <a:schemeClr val="tx1"/>
                </a:solidFill>
                <a:latin typeface="Times New Roman" panose="02020603050405020304" pitchFamily="18" charset="0"/>
                <a:cs typeface="Times New Roman" panose="02020603050405020304" pitchFamily="18" charset="0"/>
              </a:rPr>
              <a:t>数据集上验证了有效性</a:t>
            </a:r>
          </a:p>
          <a:p>
            <a:pPr marL="800100" lvl="1" indent="-342900" fontAlgn="auto">
              <a:lnSpc>
                <a:spcPct val="150000"/>
              </a:lnSpc>
              <a:buFont typeface="Arial" panose="020B0604020202020204" pitchFamily="34" charset="0"/>
              <a:buChar char="•"/>
            </a:pPr>
            <a:r>
              <a:rPr lang="zh-CN" altLang="en-US" sz="2000" dirty="0">
                <a:latin typeface="Times New Roman" panose="02020603050405020304" pitchFamily="18" charset="0"/>
                <a:cs typeface="Times New Roman" panose="02020603050405020304" pitchFamily="18" charset="0"/>
              </a:rPr>
              <a:t>论文将上述两种思想结合，提出了完整的</a:t>
            </a:r>
            <a:r>
              <a:rPr lang="en-US" altLang="zh-CN" sz="2000" dirty="0">
                <a:latin typeface="Times New Roman" panose="02020603050405020304" pitchFamily="18" charset="0"/>
                <a:cs typeface="Times New Roman" panose="02020603050405020304" pitchFamily="18" charset="0"/>
              </a:rPr>
              <a:t> PARoG </a:t>
            </a:r>
            <a:r>
              <a:rPr lang="zh-CN" altLang="en-US" sz="2000" dirty="0">
                <a:latin typeface="Times New Roman" panose="02020603050405020304" pitchFamily="18" charset="0"/>
                <a:cs typeface="Times New Roman" panose="02020603050405020304" pitchFamily="18" charset="0"/>
              </a:rPr>
              <a:t>框架，并在</a:t>
            </a:r>
            <a:r>
              <a:rPr lang="en-US" altLang="zh-CN" sz="2000" dirty="0">
                <a:latin typeface="Times New Roman" panose="02020603050405020304" pitchFamily="18" charset="0"/>
                <a:cs typeface="Times New Roman" panose="02020603050405020304" pitchFamily="18" charset="0"/>
              </a:rPr>
              <a:t> WebQSP</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CWQ</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GrailQA </a:t>
            </a:r>
            <a:r>
              <a:rPr lang="zh-CN" altLang="en-US" sz="2000" dirty="0">
                <a:latin typeface="Times New Roman" panose="02020603050405020304" pitchFamily="18" charset="0"/>
                <a:cs typeface="Times New Roman" panose="02020603050405020304" pitchFamily="18" charset="0"/>
              </a:rPr>
              <a:t>等多个知识图谱问答基准上进行实验。</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方法对比</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pic>
        <p:nvPicPr>
          <p:cNvPr id="2" name="图片 1"/>
          <p:cNvPicPr>
            <a:picLocks noChangeAspect="1"/>
          </p:cNvPicPr>
          <p:nvPr/>
        </p:nvPicPr>
        <p:blipFill>
          <a:blip r:embed="rId7"/>
          <a:stretch>
            <a:fillRect/>
          </a:stretch>
        </p:blipFill>
        <p:spPr>
          <a:xfrm>
            <a:off x="901700" y="1063625"/>
            <a:ext cx="10388600" cy="4730750"/>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方法框架</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3" name="文本框 2"/>
          <p:cNvSpPr txBox="1"/>
          <p:nvPr/>
        </p:nvSpPr>
        <p:spPr>
          <a:xfrm>
            <a:off x="452120" y="894080"/>
            <a:ext cx="10015855" cy="4828540"/>
          </a:xfrm>
          <a:prstGeom prst="rect">
            <a:avLst/>
          </a:prstGeom>
          <a:noFill/>
        </p:spPr>
        <p:txBody>
          <a:bodyPr wrap="square" rtlCol="0">
            <a:noAutofit/>
          </a:bodyPr>
          <a:lstStyle/>
          <a:p>
            <a:r>
              <a:rPr lang="en-US" altLang="zh-CN"/>
              <a:t>PARoG </a:t>
            </a:r>
            <a:r>
              <a:rPr lang="zh-CN" altLang="en-US"/>
              <a:t>框架，包含两个核心模块：</a:t>
            </a:r>
          </a:p>
          <a:p>
            <a:endParaRPr lang="zh-CN" altLang="en-US"/>
          </a:p>
          <a:p>
            <a:pPr marL="342900" indent="-342900">
              <a:buAutoNum type="arabicPeriod"/>
            </a:pPr>
            <a:r>
              <a:rPr lang="zh-CN" altLang="en-US" b="1"/>
              <a:t>结构化规划（</a:t>
            </a:r>
            <a:r>
              <a:rPr lang="en-US" altLang="zh-CN" b="1"/>
              <a:t>Structured Planning</a:t>
            </a:r>
            <a:r>
              <a:rPr lang="zh-CN" altLang="en-US" b="1"/>
              <a:t>）</a:t>
            </a:r>
          </a:p>
          <a:p>
            <a:pPr marL="342900" indent="-342900">
              <a:buAutoNum type="arabicPeriod"/>
            </a:pPr>
            <a:endParaRPr lang="zh-CN" altLang="en-US"/>
          </a:p>
          <a:p>
            <a:pPr marL="800100" lvl="1" indent="-342900">
              <a:buFont typeface="Arial" panose="020B0604020202020204" pitchFamily="34" charset="0"/>
              <a:buChar char="•"/>
            </a:pPr>
            <a:r>
              <a:rPr lang="zh-CN" altLang="en-US"/>
              <a:t>基于</a:t>
            </a:r>
            <a:r>
              <a:rPr lang="en-US" altLang="zh-CN"/>
              <a:t> SPARQL </a:t>
            </a:r>
            <a:r>
              <a:rPr lang="zh-CN" altLang="en-US"/>
              <a:t>将复杂问题转化为结构化推理计划</a:t>
            </a:r>
          </a:p>
          <a:p>
            <a:pPr marL="800100" lvl="1" indent="-342900">
              <a:buFont typeface="Arial" panose="020B0604020202020204" pitchFamily="34" charset="0"/>
              <a:buChar char="•"/>
            </a:pPr>
            <a:endParaRPr lang="zh-CN" altLang="en-US"/>
          </a:p>
          <a:p>
            <a:pPr marL="800100" lvl="1" indent="-342900">
              <a:buFont typeface="Arial" panose="020B0604020202020204" pitchFamily="34" charset="0"/>
              <a:buChar char="•"/>
            </a:pPr>
            <a:r>
              <a:rPr lang="zh-CN" altLang="en-US"/>
              <a:t>将问题分解为具有逻辑关系的子目标序列</a:t>
            </a:r>
          </a:p>
          <a:p>
            <a:pPr marL="342900" indent="-342900">
              <a:buAutoNum type="arabicPeriod"/>
            </a:pPr>
            <a:endParaRPr lang="zh-CN" altLang="en-US"/>
          </a:p>
          <a:p>
            <a:pPr marL="342900" indent="-342900">
              <a:buAutoNum type="arabicPeriod"/>
            </a:pPr>
            <a:r>
              <a:rPr lang="en-US" altLang="zh-CN" b="1"/>
              <a:t>Plan-Answer-Refine </a:t>
            </a:r>
            <a:r>
              <a:rPr lang="zh-CN" altLang="en-US" b="1"/>
              <a:t>推理机制</a:t>
            </a:r>
          </a:p>
          <a:p>
            <a:pPr marL="342900" indent="-342900">
              <a:buAutoNum type="arabicPeriod"/>
            </a:pPr>
            <a:endParaRPr lang="zh-CN" altLang="en-US" b="1"/>
          </a:p>
          <a:p>
            <a:pPr marL="800100" lvl="1" indent="-342900">
              <a:buFont typeface="Arial" panose="020B0604020202020204" pitchFamily="34" charset="0"/>
              <a:buChar char="•"/>
            </a:pPr>
            <a:r>
              <a:rPr lang="zh-CN" altLang="en-US"/>
              <a:t>基于模型参数知识生成初始答案</a:t>
            </a:r>
          </a:p>
          <a:p>
            <a:pPr marL="800100" lvl="1" indent="-342900">
              <a:buFont typeface="Arial" panose="020B0604020202020204" pitchFamily="34" charset="0"/>
              <a:buChar char="•"/>
            </a:pPr>
            <a:endParaRPr lang="zh-CN" altLang="en-US"/>
          </a:p>
          <a:p>
            <a:pPr marL="800100" lvl="1" indent="-342900">
              <a:buFont typeface="Arial" panose="020B0604020202020204" pitchFamily="34" charset="0"/>
              <a:buChar char="•"/>
            </a:pPr>
            <a:r>
              <a:rPr lang="zh-CN" altLang="en-US"/>
              <a:t>再结合知识图谱进行修正</a:t>
            </a:r>
          </a:p>
          <a:p>
            <a:pPr marL="800100" lvl="1" indent="-342900">
              <a:buFont typeface="Arial" panose="020B0604020202020204" pitchFamily="34" charset="0"/>
              <a:buChar char="•"/>
            </a:pPr>
            <a:endParaRPr lang="en-US" altLang="zh-CN"/>
          </a:p>
          <a:p>
            <a:pPr marL="800100" lvl="1" indent="-342900">
              <a:buFont typeface="Arial" panose="020B0604020202020204" pitchFamily="34" charset="0"/>
              <a:buChar char="•"/>
            </a:pPr>
            <a:r>
              <a:rPr lang="zh-CN" altLang="en-US"/>
              <a:t>缓解错误传播问题</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方法框架</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pic>
        <p:nvPicPr>
          <p:cNvPr id="7" name="图片 6"/>
          <p:cNvPicPr>
            <a:picLocks noChangeAspect="1"/>
          </p:cNvPicPr>
          <p:nvPr/>
        </p:nvPicPr>
        <p:blipFill>
          <a:blip r:embed="rId7"/>
          <a:stretch>
            <a:fillRect/>
          </a:stretch>
        </p:blipFill>
        <p:spPr>
          <a:xfrm>
            <a:off x="703580" y="808990"/>
            <a:ext cx="10433050" cy="5835650"/>
          </a:xfrm>
          <a:prstGeom prst="rect">
            <a:avLst/>
          </a:prstGeom>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US" altLang="zh-CN" sz="2500" dirty="0"/>
              <a:t>Plan-Answer-Refine </a:t>
            </a:r>
            <a:r>
              <a:rPr kumimoji="1" lang="zh-CN" altLang="en-US" sz="2500" dirty="0"/>
              <a:t>推理机制</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3" name="文本框 2"/>
          <p:cNvSpPr txBox="1"/>
          <p:nvPr/>
        </p:nvSpPr>
        <p:spPr>
          <a:xfrm>
            <a:off x="368300" y="894080"/>
            <a:ext cx="10015855" cy="4828540"/>
          </a:xfrm>
          <a:prstGeom prst="rect">
            <a:avLst/>
          </a:prstGeom>
          <a:noFill/>
        </p:spPr>
        <p:txBody>
          <a:bodyPr wrap="square" rtlCol="0">
            <a:noAutofit/>
          </a:bodyPr>
          <a:lstStyle/>
          <a:p>
            <a:r>
              <a:rPr lang="en-US" altLang="zh-CN" b="1"/>
              <a:t>Step 1: Plan</a:t>
            </a:r>
          </a:p>
          <a:p>
            <a:pPr marL="285750" indent="-285750">
              <a:buFont typeface="Arial" panose="020B0604020202020204" pitchFamily="34" charset="0"/>
              <a:buChar char="•"/>
            </a:pPr>
            <a:r>
              <a:rPr lang="zh-CN" altLang="en-US" b="1"/>
              <a:t>将原始问题</a:t>
            </a:r>
            <a:r>
              <a:rPr lang="en-US" altLang="zh-CN" b="1"/>
              <a:t> </a:t>
            </a:r>
            <a:r>
              <a:rPr lang="zh-CN" altLang="en-US" b="1"/>
              <a:t>𝑄分解为一组结构化子目标</a:t>
            </a:r>
            <a:endParaRPr lang="en-US" altLang="zh-CN" b="1"/>
          </a:p>
          <a:p>
            <a:pPr marL="285750" indent="-285750">
              <a:buFont typeface="Arial" panose="020B0604020202020204" pitchFamily="34" charset="0"/>
              <a:buChar char="•"/>
            </a:pPr>
            <a:r>
              <a:rPr lang="zh-CN" altLang="en-US" b="1"/>
              <a:t>子目标之间支持结构化逻辑关系：</a:t>
            </a:r>
            <a:endParaRPr lang="en-US" altLang="zh-CN" b="1"/>
          </a:p>
          <a:p>
            <a:pPr marL="742950" lvl="1" indent="-285750" algn="l">
              <a:buClrTx/>
              <a:buSzTx/>
              <a:buFont typeface="Arial" panose="020B0604020202020204" pitchFamily="34" charset="0"/>
              <a:buChar char="•"/>
            </a:pPr>
            <a:r>
              <a:rPr lang="zh-CN" altLang="en-US" sz="1600"/>
              <a:t>Conjunction (∧)：多条件约束</a:t>
            </a:r>
          </a:p>
          <a:p>
            <a:pPr marL="742950" lvl="1" indent="-285750" algn="l">
              <a:buClrTx/>
              <a:buSzTx/>
              <a:buFont typeface="Arial" panose="020B0604020202020204" pitchFamily="34" charset="0"/>
              <a:buChar char="•"/>
            </a:pPr>
            <a:r>
              <a:rPr lang="zh-CN" altLang="en-US" sz="1600"/>
              <a:t>Composition (→)：多跳关系推理</a:t>
            </a:r>
          </a:p>
          <a:p>
            <a:pPr marL="742950" lvl="1" indent="-285750" algn="l">
              <a:buClrTx/>
              <a:buSzTx/>
              <a:buFont typeface="Arial" panose="020B0604020202020204" pitchFamily="34" charset="0"/>
              <a:buChar char="•"/>
            </a:pPr>
            <a:r>
              <a:rPr lang="zh-CN" altLang="en-US" sz="1600"/>
              <a:t>Comparative：属性比较（e.g., larger than）</a:t>
            </a:r>
          </a:p>
          <a:p>
            <a:pPr marL="742950" lvl="1" indent="-285750" algn="l">
              <a:buClrTx/>
              <a:buSzTx/>
              <a:buFont typeface="Arial" panose="020B0604020202020204" pitchFamily="34" charset="0"/>
              <a:buChar char="•"/>
            </a:pPr>
            <a:r>
              <a:rPr lang="zh-CN" altLang="en-US" sz="1600"/>
              <a:t>Superlative：极值选择（e.g., </a:t>
            </a:r>
            <a:r>
              <a:rPr lang="en-US" altLang="zh-CN" sz="1600" b="1"/>
              <a:t>largest</a:t>
            </a:r>
            <a:r>
              <a:rPr lang="zh-CN" altLang="en-US" sz="1600" b="1"/>
              <a:t>）</a:t>
            </a:r>
            <a:endParaRPr lang="zh-CN" altLang="en-US" b="1"/>
          </a:p>
          <a:p>
            <a:pPr indent="0">
              <a:buNone/>
            </a:pPr>
            <a:endParaRPr lang="en-US" altLang="zh-CN" b="1"/>
          </a:p>
          <a:p>
            <a:pPr indent="0">
              <a:buNone/>
            </a:pPr>
            <a:r>
              <a:rPr lang="en-US" altLang="zh-CN" b="1"/>
              <a:t>Step 2: Answer</a:t>
            </a:r>
          </a:p>
          <a:p>
            <a:pPr marL="285750" indent="-285750">
              <a:buFont typeface="Arial" panose="020B0604020202020204" pitchFamily="34" charset="0"/>
              <a:buChar char="•"/>
            </a:pPr>
            <a:r>
              <a:rPr lang="zh-CN" altLang="en-US"/>
              <a:t>生成初始答案</a:t>
            </a:r>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endParaRPr lang="zh-CN" altLang="en-US"/>
          </a:p>
          <a:p>
            <a:pPr indent="0">
              <a:buFont typeface="Arial" panose="020B0604020202020204" pitchFamily="34" charset="0"/>
              <a:buNone/>
            </a:pPr>
            <a:r>
              <a:rPr lang="en-US" altLang="zh-CN" b="1"/>
              <a:t>Step 3: Refine</a:t>
            </a:r>
          </a:p>
          <a:p>
            <a:pPr marL="285750" indent="-285750">
              <a:buFont typeface="Arial" panose="020B0604020202020204" pitchFamily="34" charset="0"/>
              <a:buChar char="•"/>
            </a:pPr>
            <a:r>
              <a:rPr lang="zh-CN" altLang="en-US"/>
              <a:t>结合</a:t>
            </a:r>
            <a:r>
              <a:rPr lang="en-US" altLang="zh-CN"/>
              <a:t> KG </a:t>
            </a:r>
            <a:r>
              <a:rPr lang="zh-CN" altLang="en-US"/>
              <a:t>证据修正</a:t>
            </a:r>
          </a:p>
        </p:txBody>
      </p:sp>
      <p:pic>
        <p:nvPicPr>
          <p:cNvPr id="10" name="图片 9"/>
          <p:cNvPicPr>
            <a:picLocks noChangeAspect="1"/>
          </p:cNvPicPr>
          <p:nvPr/>
        </p:nvPicPr>
        <p:blipFill>
          <a:blip r:embed="rId7"/>
          <a:stretch>
            <a:fillRect/>
          </a:stretch>
        </p:blipFill>
        <p:spPr>
          <a:xfrm>
            <a:off x="4787900" y="3235960"/>
            <a:ext cx="3050540" cy="1559560"/>
          </a:xfrm>
          <a:prstGeom prst="rect">
            <a:avLst/>
          </a:prstGeom>
        </p:spPr>
      </p:pic>
      <p:pic>
        <p:nvPicPr>
          <p:cNvPr id="11" name="图片 10"/>
          <p:cNvPicPr>
            <a:picLocks noChangeAspect="1"/>
          </p:cNvPicPr>
          <p:nvPr/>
        </p:nvPicPr>
        <p:blipFill>
          <a:blip r:embed="rId8"/>
          <a:stretch>
            <a:fillRect/>
          </a:stretch>
        </p:blipFill>
        <p:spPr>
          <a:xfrm>
            <a:off x="2632710" y="5321300"/>
            <a:ext cx="2095500" cy="520700"/>
          </a:xfrm>
          <a:prstGeom prst="rect">
            <a:avLst/>
          </a:prstGeom>
        </p:spPr>
      </p:pic>
      <p:pic>
        <p:nvPicPr>
          <p:cNvPr id="12" name="图片 11"/>
          <p:cNvPicPr>
            <a:picLocks noChangeAspect="1"/>
          </p:cNvPicPr>
          <p:nvPr/>
        </p:nvPicPr>
        <p:blipFill>
          <a:blip r:embed="rId9"/>
          <a:stretch>
            <a:fillRect/>
          </a:stretch>
        </p:blipFill>
        <p:spPr>
          <a:xfrm>
            <a:off x="4993640" y="5201920"/>
            <a:ext cx="2743835" cy="1606550"/>
          </a:xfrm>
          <a:prstGeom prst="rect">
            <a:avLst/>
          </a:prstGeom>
        </p:spPr>
      </p:pic>
      <p:pic>
        <p:nvPicPr>
          <p:cNvPr id="2" name="图片 1"/>
          <p:cNvPicPr>
            <a:picLocks noChangeAspect="1"/>
          </p:cNvPicPr>
          <p:nvPr/>
        </p:nvPicPr>
        <p:blipFill>
          <a:blip r:embed="rId10"/>
          <a:stretch>
            <a:fillRect/>
          </a:stretch>
        </p:blipFill>
        <p:spPr>
          <a:xfrm>
            <a:off x="2188210" y="3190875"/>
            <a:ext cx="2152650" cy="476250"/>
          </a:xfrm>
          <a:prstGeom prst="rect">
            <a:avLst/>
          </a:prstGeom>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模型与训练细节</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3" name="文本框 2"/>
          <p:cNvSpPr txBox="1"/>
          <p:nvPr/>
        </p:nvSpPr>
        <p:spPr>
          <a:xfrm>
            <a:off x="452120" y="894080"/>
            <a:ext cx="10015855" cy="4828540"/>
          </a:xfrm>
          <a:prstGeom prst="rect">
            <a:avLst/>
          </a:prstGeom>
          <a:noFill/>
        </p:spPr>
        <p:txBody>
          <a:bodyPr wrap="square" rtlCol="0">
            <a:noAutofit/>
          </a:bodyPr>
          <a:lstStyle/>
          <a:p>
            <a:endParaRPr lang="zh-CN" altLang="en-US"/>
          </a:p>
          <a:p>
            <a:pPr marL="342900" indent="-342900">
              <a:buAutoNum type="arabicPeriod"/>
            </a:pPr>
            <a:r>
              <a:rPr lang="zh-CN" altLang="en-US" b="1"/>
              <a:t>基座模型：</a:t>
            </a:r>
            <a:r>
              <a:rPr lang="en-US" altLang="zh-CN" b="1"/>
              <a:t>Llama-3.1-8B</a:t>
            </a:r>
          </a:p>
          <a:p>
            <a:pPr marL="342900" indent="-342900">
              <a:buAutoNum type="arabicPeriod"/>
            </a:pPr>
            <a:endParaRPr lang="zh-CN" altLang="en-US"/>
          </a:p>
          <a:p>
            <a:pPr marL="342900" indent="-342900">
              <a:buAutoNum type="arabicPeriod"/>
            </a:pPr>
            <a:r>
              <a:rPr lang="zh-CN" altLang="en-US" b="1"/>
              <a:t>训练方式：监督微调（</a:t>
            </a:r>
            <a:r>
              <a:rPr lang="en-US" altLang="zh-CN" b="1"/>
              <a:t>SFT</a:t>
            </a:r>
            <a:r>
              <a:rPr lang="zh-CN" altLang="en-US" b="1"/>
              <a:t>）</a:t>
            </a:r>
          </a:p>
          <a:p>
            <a:pPr marL="342900" indent="-342900">
              <a:buAutoNum type="arabicPeriod"/>
            </a:pPr>
            <a:endParaRPr lang="zh-CN" altLang="en-US" b="1"/>
          </a:p>
          <a:p>
            <a:pPr marL="800100" lvl="1" indent="-342900">
              <a:buFont typeface="Arial" panose="020B0604020202020204" pitchFamily="34" charset="0"/>
              <a:buChar char="•"/>
            </a:pPr>
            <a:r>
              <a:rPr lang="zh-CN" altLang="en-US"/>
              <a:t>从</a:t>
            </a:r>
            <a:r>
              <a:rPr lang="en-US" altLang="zh-CN"/>
              <a:t> KGQA </a:t>
            </a:r>
            <a:r>
              <a:rPr lang="zh-CN" altLang="en-US"/>
              <a:t>数据集中获取：</a:t>
            </a:r>
            <a:r>
              <a:rPr lang="en-US" altLang="zh-CN"/>
              <a:t>Question + SPARQL </a:t>
            </a:r>
            <a:r>
              <a:rPr lang="zh-CN" altLang="en-US"/>
              <a:t>查询</a:t>
            </a:r>
          </a:p>
          <a:p>
            <a:pPr marL="800100" lvl="1" indent="-342900">
              <a:buFont typeface="Arial" panose="020B0604020202020204" pitchFamily="34" charset="0"/>
              <a:buChar char="•"/>
            </a:pPr>
            <a:endParaRPr lang="zh-CN" altLang="en-US"/>
          </a:p>
          <a:p>
            <a:pPr marL="800100" lvl="1" indent="-342900">
              <a:buFont typeface="Arial" panose="020B0604020202020204" pitchFamily="34" charset="0"/>
              <a:buChar char="•"/>
            </a:pPr>
            <a:r>
              <a:rPr lang="zh-CN" altLang="en-US"/>
              <a:t>利用</a:t>
            </a:r>
            <a:r>
              <a:rPr lang="en-US" altLang="zh-CN"/>
              <a:t> GPT-4o </a:t>
            </a:r>
            <a:r>
              <a:rPr lang="zh-CN" altLang="en-US"/>
              <a:t>将</a:t>
            </a:r>
            <a:r>
              <a:rPr lang="en-US" altLang="zh-CN"/>
              <a:t> SPARQL </a:t>
            </a:r>
            <a:r>
              <a:rPr lang="zh-CN" altLang="en-US"/>
              <a:t>转换为</a:t>
            </a:r>
            <a:r>
              <a:rPr lang="en-US" altLang="zh-CN"/>
              <a:t> </a:t>
            </a:r>
            <a:r>
              <a:rPr lang="zh-CN" altLang="en-US"/>
              <a:t>分步推理过程</a:t>
            </a:r>
          </a:p>
          <a:p>
            <a:pPr marL="800100" lvl="1" indent="-342900">
              <a:buFont typeface="Arial" panose="020B0604020202020204" pitchFamily="34" charset="0"/>
              <a:buChar char="•"/>
            </a:pPr>
            <a:endParaRPr lang="zh-CN" altLang="en-US"/>
          </a:p>
          <a:p>
            <a:pPr marL="800100" lvl="1" indent="-342900">
              <a:buFont typeface="Arial" panose="020B0604020202020204" pitchFamily="34" charset="0"/>
              <a:buChar char="•"/>
            </a:pPr>
            <a:r>
              <a:rPr lang="zh-CN" altLang="en-US"/>
              <a:t>对规划模块（</a:t>
            </a:r>
            <a:r>
              <a:rPr lang="en-US" altLang="zh-CN"/>
              <a:t>planner</a:t>
            </a:r>
            <a:r>
              <a:rPr lang="zh-CN" altLang="en-US"/>
              <a:t>）进行监督微调</a:t>
            </a:r>
          </a:p>
          <a:p>
            <a:pPr marL="800100" lvl="1" indent="-342900">
              <a:buFont typeface="Arial" panose="020B0604020202020204" pitchFamily="34" charset="0"/>
              <a:buChar char="•"/>
            </a:pPr>
            <a:endParaRPr lang="zh-CN" altLang="en-US"/>
          </a:p>
          <a:p>
            <a:pPr marL="800100" lvl="1" indent="-342900">
              <a:buFont typeface="Arial" panose="020B0604020202020204" pitchFamily="34" charset="0"/>
              <a:buChar char="•"/>
            </a:pPr>
            <a:r>
              <a:rPr lang="zh-CN" altLang="en-US"/>
              <a:t>使模型学会将复杂问题拆解为适合在知识图谱上执行的推理步骤</a:t>
            </a:r>
          </a:p>
          <a:p>
            <a:pPr marL="800100" lvl="1" indent="-342900">
              <a:buFont typeface="Arial" panose="020B0604020202020204" pitchFamily="34" charset="0"/>
              <a:buChar char="•"/>
            </a:pPr>
            <a:endParaRPr lang="zh-CN" altLang="en-US"/>
          </a:p>
          <a:p>
            <a:pPr marL="342900" lvl="0" indent="-342900">
              <a:buFont typeface="Arial" panose="020B0604020202020204" pitchFamily="34" charset="0"/>
              <a:buAutoNum type="arabicPeriod"/>
            </a:pPr>
            <a:r>
              <a:rPr lang="zh-CN" altLang="en-US" b="1"/>
              <a:t>训练目标：学习从自然语言问题生成结构化推理计划（</a:t>
            </a:r>
            <a:r>
              <a:rPr lang="en-US" altLang="zh-CN" b="1"/>
              <a:t>plan</a:t>
            </a:r>
            <a:r>
              <a:rPr lang="zh-CN" altLang="en-US" b="1"/>
              <a:t>）</a:t>
            </a:r>
          </a:p>
        </p:txBody>
      </p:sp>
      <p:sp>
        <p:nvSpPr>
          <p:cNvPr id="7" name="文本框 6"/>
          <p:cNvSpPr txBox="1"/>
          <p:nvPr/>
        </p:nvSpPr>
        <p:spPr>
          <a:xfrm>
            <a:off x="8825865" y="5432425"/>
            <a:ext cx="3081655" cy="337185"/>
          </a:xfrm>
          <a:prstGeom prst="rect">
            <a:avLst/>
          </a:prstGeom>
          <a:noFill/>
        </p:spPr>
        <p:txBody>
          <a:bodyPr wrap="square" rtlCol="0">
            <a:spAutoFit/>
          </a:bodyPr>
          <a:lstStyle/>
          <a:p>
            <a:r>
              <a:rPr lang="zh-CN" altLang="en-US" sz="1600" b="1"/>
              <a:t>训练数据中不同查询类型的分布</a:t>
            </a:r>
          </a:p>
        </p:txBody>
      </p:sp>
      <p:pic>
        <p:nvPicPr>
          <p:cNvPr id="8" name="图片 7"/>
          <p:cNvPicPr>
            <a:picLocks noChangeAspect="1"/>
          </p:cNvPicPr>
          <p:nvPr/>
        </p:nvPicPr>
        <p:blipFill>
          <a:blip r:embed="rId7"/>
          <a:stretch>
            <a:fillRect/>
          </a:stretch>
        </p:blipFill>
        <p:spPr>
          <a:xfrm>
            <a:off x="8916035" y="1317625"/>
            <a:ext cx="2813050" cy="3981450"/>
          </a:xfrm>
          <a:prstGeom prst="rect">
            <a:avLst/>
          </a:prstGeom>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实验设置</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3" name="文本框 2"/>
          <p:cNvSpPr txBox="1"/>
          <p:nvPr/>
        </p:nvSpPr>
        <p:spPr>
          <a:xfrm>
            <a:off x="452120" y="894080"/>
            <a:ext cx="10015855" cy="4828540"/>
          </a:xfrm>
          <a:prstGeom prst="rect">
            <a:avLst/>
          </a:prstGeom>
          <a:noFill/>
        </p:spPr>
        <p:txBody>
          <a:bodyPr wrap="square" rtlCol="0">
            <a:noAutofit/>
          </a:bodyPr>
          <a:lstStyle/>
          <a:p>
            <a:endParaRPr lang="zh-CN" altLang="en-US"/>
          </a:p>
        </p:txBody>
      </p:sp>
      <p:sp>
        <p:nvSpPr>
          <p:cNvPr id="2" name="文本框 1"/>
          <p:cNvSpPr txBox="1"/>
          <p:nvPr/>
        </p:nvSpPr>
        <p:spPr>
          <a:xfrm>
            <a:off x="318135" y="894080"/>
            <a:ext cx="8945880" cy="5234305"/>
          </a:xfrm>
          <a:prstGeom prst="rect">
            <a:avLst/>
          </a:prstGeom>
          <a:noFill/>
        </p:spPr>
        <p:txBody>
          <a:bodyPr wrap="square" rtlCol="0">
            <a:noAutofit/>
          </a:bodyPr>
          <a:lstStyle/>
          <a:p>
            <a:pPr marL="342900" indent="-342900">
              <a:buFont typeface="Arial" panose="020B0604020202020204" pitchFamily="34" charset="0"/>
              <a:buAutoNum type="arabicPeriod"/>
            </a:pPr>
            <a:r>
              <a:rPr lang="zh-CN" altLang="en-US"/>
              <a:t>数据集：</a:t>
            </a:r>
          </a:p>
          <a:p>
            <a:pPr marL="342900" indent="-342900">
              <a:buFont typeface="Arial" panose="020B0604020202020204" pitchFamily="34" charset="0"/>
              <a:buAutoNum type="arabicPeriod"/>
            </a:pPr>
            <a:endParaRPr lang="zh-CN" altLang="en-US"/>
          </a:p>
          <a:p>
            <a:pPr marL="742950" lvl="1" indent="-285750">
              <a:buFont typeface="Arial" panose="020B0604020202020204" pitchFamily="34" charset="0"/>
              <a:buChar char="•"/>
            </a:pPr>
            <a:r>
              <a:rPr lang="en-US" altLang="zh-CN"/>
              <a:t>WebQSP</a:t>
            </a:r>
            <a:r>
              <a:rPr lang="zh-CN" altLang="en-US"/>
              <a:t>：共</a:t>
            </a:r>
            <a:r>
              <a:rPr lang="en-US" altLang="zh-CN"/>
              <a:t> 4,737 </a:t>
            </a:r>
            <a:r>
              <a:rPr lang="zh-CN" altLang="en-US"/>
              <a:t>个自然语言问题，测试集</a:t>
            </a:r>
            <a:r>
              <a:rPr lang="en-US" altLang="zh-CN"/>
              <a:t> 1,628 </a:t>
            </a:r>
            <a:r>
              <a:rPr lang="zh-CN" altLang="en-US"/>
              <a:t>个，最大推理深度为</a:t>
            </a:r>
            <a:r>
              <a:rPr lang="en-US" altLang="zh-CN"/>
              <a:t> 2-hop</a:t>
            </a:r>
          </a:p>
          <a:p>
            <a:pPr marL="742950" lvl="1" indent="-285750">
              <a:buFont typeface="Arial" panose="020B0604020202020204" pitchFamily="34" charset="0"/>
              <a:buChar char="•"/>
            </a:pPr>
            <a:endParaRPr lang="en-US" altLang="zh-CN"/>
          </a:p>
          <a:p>
            <a:pPr marL="742950" lvl="1" indent="-285750">
              <a:buFont typeface="Arial" panose="020B0604020202020204" pitchFamily="34" charset="0"/>
              <a:buChar char="•"/>
            </a:pPr>
            <a:r>
              <a:rPr lang="en-US" altLang="zh-CN"/>
              <a:t>CWQ</a:t>
            </a:r>
            <a:r>
              <a:rPr lang="zh-CN" altLang="en-US"/>
              <a:t>：共</a:t>
            </a:r>
            <a:r>
              <a:rPr lang="en-US" altLang="zh-CN"/>
              <a:t> 34,689 </a:t>
            </a:r>
            <a:r>
              <a:rPr lang="zh-CN" altLang="en-US"/>
              <a:t>个复杂问题，测试集</a:t>
            </a:r>
            <a:r>
              <a:rPr lang="en-US" altLang="zh-CN"/>
              <a:t> 3,531 </a:t>
            </a:r>
            <a:r>
              <a:rPr lang="zh-CN" altLang="en-US"/>
              <a:t>个，最大推理深度为</a:t>
            </a:r>
            <a:r>
              <a:rPr lang="en-US" altLang="zh-CN"/>
              <a:t> 4-hop</a:t>
            </a:r>
          </a:p>
          <a:p>
            <a:pPr marL="742950" lvl="1" indent="-285750">
              <a:buFont typeface="Arial" panose="020B0604020202020204" pitchFamily="34" charset="0"/>
              <a:buChar char="•"/>
            </a:pPr>
            <a:endParaRPr lang="en-US" altLang="zh-CN"/>
          </a:p>
          <a:p>
            <a:pPr marL="742950" lvl="1" indent="-285750">
              <a:buFont typeface="Arial" panose="020B0604020202020204" pitchFamily="34" charset="0"/>
              <a:buChar char="•"/>
            </a:pPr>
            <a:r>
              <a:rPr lang="en-US" altLang="zh-CN"/>
              <a:t>GrailQA</a:t>
            </a:r>
            <a:r>
              <a:rPr lang="zh-CN" altLang="en-US"/>
              <a:t>：共</a:t>
            </a:r>
            <a:r>
              <a:rPr lang="en-US" altLang="zh-CN"/>
              <a:t> 64,331 </a:t>
            </a:r>
            <a:r>
              <a:rPr lang="zh-CN" altLang="en-US"/>
              <a:t>个问题，测试集</a:t>
            </a:r>
            <a:r>
              <a:rPr lang="en-US" altLang="zh-CN"/>
              <a:t> 13,231 </a:t>
            </a:r>
            <a:r>
              <a:rPr lang="zh-CN" altLang="en-US"/>
              <a:t>个，强调组合泛化能力</a:t>
            </a:r>
          </a:p>
          <a:p>
            <a:pPr marL="742950" lvl="1" indent="-285750">
              <a:buFont typeface="Arial" panose="020B0604020202020204" pitchFamily="34" charset="0"/>
              <a:buChar char="•"/>
            </a:pPr>
            <a:endParaRPr lang="zh-CN" altLang="en-US"/>
          </a:p>
          <a:p>
            <a:pPr marL="342900" indent="-342900">
              <a:buFont typeface="Arial" panose="020B0604020202020204" pitchFamily="34" charset="0"/>
              <a:buAutoNum type="arabicPeriod"/>
            </a:pPr>
            <a:r>
              <a:rPr lang="zh-CN" altLang="en-US"/>
              <a:t>评价指标：</a:t>
            </a:r>
          </a:p>
          <a:p>
            <a:pPr marL="342900" indent="-342900">
              <a:buFont typeface="Arial" panose="020B0604020202020204" pitchFamily="34" charset="0"/>
              <a:buAutoNum type="arabicPeriod"/>
            </a:pPr>
            <a:endParaRPr lang="zh-CN" altLang="en-US"/>
          </a:p>
          <a:p>
            <a:pPr marL="742950" lvl="1" indent="-285750">
              <a:buFont typeface="Arial" panose="020B0604020202020204" pitchFamily="34" charset="0"/>
              <a:buChar char="•"/>
            </a:pPr>
            <a:r>
              <a:rPr lang="en-US" altLang="zh-CN"/>
              <a:t>Hits@1 </a:t>
            </a:r>
            <a:r>
              <a:rPr lang="zh-CN" altLang="en-US"/>
              <a:t>：</a:t>
            </a:r>
            <a:r>
              <a:rPr lang="en-US" altLang="zh-CN"/>
              <a:t>Top1 </a:t>
            </a:r>
            <a:r>
              <a:rPr lang="zh-CN" altLang="en-US"/>
              <a:t>命中率</a:t>
            </a:r>
          </a:p>
          <a:p>
            <a:pPr marL="742950" lvl="1" indent="-285750">
              <a:buFont typeface="Arial" panose="020B0604020202020204" pitchFamily="34" charset="0"/>
              <a:buChar char="•"/>
            </a:pPr>
            <a:r>
              <a:rPr lang="en-US" altLang="zh-CN"/>
              <a:t>F1-score</a:t>
            </a:r>
            <a:r>
              <a:rPr lang="zh-CN" altLang="en-US"/>
              <a:t>：答案实体的精确率与召回率的调和平均</a:t>
            </a:r>
          </a:p>
          <a:p>
            <a:pPr marL="742950" lvl="1" indent="-285750">
              <a:buFont typeface="Arial" panose="020B0604020202020204" pitchFamily="34" charset="0"/>
              <a:buChar char="•"/>
            </a:pPr>
            <a:endParaRPr lang="zh-CN" altLang="en-US"/>
          </a:p>
          <a:p>
            <a:pPr marL="342900" lvl="0" indent="-342900">
              <a:buFont typeface="Arial" panose="020B0604020202020204" pitchFamily="34" charset="0"/>
              <a:buAutoNum type="arabicPeriod"/>
            </a:pPr>
            <a:r>
              <a:rPr lang="zh-CN" altLang="en-US"/>
              <a:t>规划模块：</a:t>
            </a:r>
          </a:p>
          <a:p>
            <a:pPr marL="342900" lvl="0" indent="-342900">
              <a:buFont typeface="Arial" panose="020B0604020202020204" pitchFamily="34" charset="0"/>
              <a:buAutoNum type="arabicPeriod"/>
            </a:pPr>
            <a:endParaRPr lang="zh-CN" altLang="en-US"/>
          </a:p>
          <a:p>
            <a:pPr marL="800100" lvl="1" indent="-342900">
              <a:buFont typeface="Arial" panose="020B0604020202020204" pitchFamily="34" charset="0"/>
              <a:buChar char="•"/>
            </a:pPr>
            <a:r>
              <a:rPr lang="en-US" altLang="zh-CN"/>
              <a:t>Llama-3.1-8B</a:t>
            </a:r>
            <a:r>
              <a:rPr lang="zh-CN" altLang="en-US"/>
              <a:t>，利用</a:t>
            </a:r>
            <a:r>
              <a:rPr lang="en-US" altLang="zh-CN"/>
              <a:t> GPT-4o </a:t>
            </a:r>
            <a:r>
              <a:rPr lang="zh-CN" altLang="en-US"/>
              <a:t>生成的</a:t>
            </a:r>
            <a:r>
              <a:rPr lang="en-US" altLang="zh-CN"/>
              <a:t> SPARQL </a:t>
            </a:r>
            <a:r>
              <a:rPr lang="zh-CN" altLang="en-US"/>
              <a:t>分解数据进行</a:t>
            </a:r>
            <a:r>
              <a:rPr lang="en-US" altLang="zh-CN"/>
              <a:t> SFT</a:t>
            </a:r>
            <a:r>
              <a:rPr lang="zh-CN" altLang="en-US"/>
              <a:t>，共</a:t>
            </a:r>
            <a:r>
              <a:rPr lang="en-US" altLang="zh-CN"/>
              <a:t> 74,802 </a:t>
            </a:r>
            <a:r>
              <a:rPr lang="zh-CN" altLang="en-US"/>
              <a:t>条样本</a:t>
            </a:r>
          </a:p>
          <a:p>
            <a:pPr marL="342900" lvl="0" indent="-342900">
              <a:buFont typeface="Arial" panose="020B0604020202020204" pitchFamily="34" charset="0"/>
              <a:buAutoNum type="arabicPeriod"/>
            </a:pPr>
            <a:endParaRPr lang="zh-CN" altLang="en-US"/>
          </a:p>
          <a:p>
            <a:pPr marL="342900" lvl="0" indent="-342900">
              <a:buFont typeface="Arial" panose="020B0604020202020204" pitchFamily="34" charset="0"/>
              <a:buAutoNum type="arabicPeriod"/>
            </a:pPr>
            <a:r>
              <a:rPr lang="zh-CN" altLang="en-US"/>
              <a:t>推理模型：</a:t>
            </a:r>
            <a:r>
              <a:rPr lang="en-US" altLang="zh-CN"/>
              <a:t>GPT-3.5 / GPT-4 </a:t>
            </a:r>
          </a:p>
          <a:p>
            <a:pPr marL="342900" lvl="0" indent="-342900">
              <a:buFont typeface="Arial" panose="020B0604020202020204" pitchFamily="34" charset="0"/>
              <a:buAutoNum type="arabicPeriod"/>
            </a:pPr>
            <a:endParaRPr lang="zh-CN" altLang="en-US"/>
          </a:p>
          <a:p>
            <a:pPr marL="342900" lvl="0" indent="-342900">
              <a:buFont typeface="Arial" panose="020B0604020202020204" pitchFamily="34" charset="0"/>
              <a:buAutoNum type="arabicPeriod"/>
            </a:pPr>
            <a:endParaRPr lang="zh-CN" altLang="en-US"/>
          </a:p>
          <a:p>
            <a:pPr marL="342900" lvl="0" indent="-342900">
              <a:buFont typeface="Arial" panose="020B0604020202020204" pitchFamily="34" charset="0"/>
              <a:buAutoNum type="arabicPeriod"/>
            </a:pPr>
            <a:endParaRPr lang="zh-CN" altLang="en-US"/>
          </a:p>
          <a:p>
            <a:pPr marL="742950" lvl="1" indent="-285750">
              <a:buFont typeface="Arial" panose="020B0604020202020204" pitchFamily="34" charset="0"/>
              <a:buChar char="•"/>
            </a:pPr>
            <a:endParaRPr lang="zh-CN" altLang="en-US"/>
          </a:p>
          <a:p>
            <a:pPr marL="285750" lvl="0" indent="-285750">
              <a:buFont typeface="Arial" panose="020B0604020202020204" pitchFamily="34" charset="0"/>
              <a:buChar char="•"/>
            </a:pPr>
            <a:endParaRPr lang="zh-CN" altLang="en-US"/>
          </a:p>
          <a:p>
            <a:pPr marL="342900" lvl="0" indent="-342900">
              <a:buFont typeface="Arial" panose="020B0604020202020204" pitchFamily="34" charset="0"/>
              <a:buAutoNum type="arabicPeriod"/>
            </a:pPr>
            <a:endParaRPr lang="zh-CN" alt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对比方法</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3" name="文本框 2"/>
          <p:cNvSpPr txBox="1"/>
          <p:nvPr/>
        </p:nvSpPr>
        <p:spPr>
          <a:xfrm>
            <a:off x="391160" y="894080"/>
            <a:ext cx="10634980" cy="4828540"/>
          </a:xfrm>
          <a:prstGeom prst="rect">
            <a:avLst/>
          </a:prstGeom>
          <a:noFill/>
        </p:spPr>
        <p:txBody>
          <a:bodyPr wrap="square" rtlCol="0">
            <a:noAutofit/>
          </a:bodyPr>
          <a:lstStyle/>
          <a:p>
            <a:r>
              <a:rPr lang="zh-CN" altLang="en-US"/>
              <a:t>作者将</a:t>
            </a:r>
            <a:r>
              <a:rPr lang="en-US" altLang="zh-CN"/>
              <a:t> PARoG </a:t>
            </a:r>
            <a:r>
              <a:rPr lang="zh-CN" altLang="en-US"/>
              <a:t>与</a:t>
            </a:r>
            <a:r>
              <a:rPr lang="en-US" altLang="zh-CN"/>
              <a:t> 17 </a:t>
            </a:r>
            <a:r>
              <a:rPr lang="zh-CN" altLang="en-US"/>
              <a:t>种方法进行比较，主要包括</a:t>
            </a:r>
            <a:r>
              <a:rPr lang="en-US" altLang="zh-CN"/>
              <a:t> 4 </a:t>
            </a:r>
            <a:r>
              <a:rPr lang="zh-CN" altLang="en-US"/>
              <a:t>类：</a:t>
            </a:r>
          </a:p>
          <a:p>
            <a:endParaRPr lang="zh-CN" altLang="en-US"/>
          </a:p>
          <a:p>
            <a:pPr marL="285750" indent="-285750">
              <a:buFont typeface="Arial" panose="020B0604020202020204" pitchFamily="34" charset="0"/>
              <a:buChar char="•"/>
            </a:pPr>
            <a:r>
              <a:rPr lang="en-US" altLang="zh-CN"/>
              <a:t>LLM Prompting </a:t>
            </a:r>
            <a:r>
              <a:rPr lang="zh-CN" altLang="en-US"/>
              <a:t>方法：</a:t>
            </a:r>
            <a:r>
              <a:rPr lang="en-US" altLang="zh-CN"/>
              <a:t>IO</a:t>
            </a:r>
            <a:r>
              <a:rPr lang="zh-CN" altLang="en-US"/>
              <a:t>、</a:t>
            </a:r>
            <a:r>
              <a:rPr lang="en-US" altLang="zh-CN"/>
              <a:t>CoT</a:t>
            </a:r>
            <a:r>
              <a:rPr lang="zh-CN" altLang="en-US"/>
              <a:t>、</a:t>
            </a:r>
            <a:r>
              <a:rPr lang="en-US" altLang="zh-CN"/>
              <a:t>Self-Consistency</a:t>
            </a:r>
          </a:p>
          <a:p>
            <a:endParaRPr lang="en-US" altLang="zh-CN"/>
          </a:p>
          <a:p>
            <a:pPr marL="285750" indent="-285750">
              <a:buFont typeface="Arial" panose="020B0604020202020204" pitchFamily="34" charset="0"/>
              <a:buChar char="•"/>
            </a:pPr>
            <a:r>
              <a:rPr lang="en-US" altLang="zh-CN"/>
              <a:t>LLM + KG </a:t>
            </a:r>
            <a:r>
              <a:rPr lang="zh-CN" altLang="en-US"/>
              <a:t>推理方法：</a:t>
            </a:r>
            <a:r>
              <a:rPr lang="en-US" altLang="zh-CN"/>
              <a:t>ToG</a:t>
            </a:r>
            <a:r>
              <a:rPr lang="zh-CN" altLang="en-US"/>
              <a:t>、</a:t>
            </a:r>
            <a:r>
              <a:rPr lang="en-US" altLang="zh-CN"/>
              <a:t>RoG</a:t>
            </a:r>
            <a:r>
              <a:rPr lang="zh-CN" altLang="en-US"/>
              <a:t>、</a:t>
            </a:r>
            <a:r>
              <a:rPr lang="en-US" altLang="zh-CN"/>
              <a:t>KG-Agent</a:t>
            </a:r>
            <a:r>
              <a:rPr lang="zh-CN" altLang="en-US"/>
              <a:t>、</a:t>
            </a:r>
            <a:r>
              <a:rPr lang="en-US" altLang="zh-CN"/>
              <a:t>StructGPT</a:t>
            </a:r>
            <a:r>
              <a:rPr lang="zh-CN" altLang="en-US"/>
              <a:t>、</a:t>
            </a:r>
            <a:r>
              <a:rPr lang="en-US" altLang="zh-CN"/>
              <a:t>PoG</a:t>
            </a:r>
            <a:r>
              <a:rPr lang="zh-CN" altLang="en-US"/>
              <a:t>、</a:t>
            </a:r>
            <a:r>
              <a:rPr lang="en-US" altLang="zh-CN"/>
              <a:t>ReKnowS</a:t>
            </a:r>
            <a:r>
              <a:rPr lang="zh-CN" altLang="en-US"/>
              <a:t>、</a:t>
            </a:r>
            <a:r>
              <a:rPr lang="en-US" altLang="zh-CN"/>
              <a:t>DoG </a:t>
            </a:r>
            <a:r>
              <a:rPr lang="zh-CN" altLang="en-US"/>
              <a:t>等</a:t>
            </a:r>
          </a:p>
          <a:p>
            <a:endParaRPr lang="en-US" altLang="zh-CN"/>
          </a:p>
          <a:p>
            <a:pPr marL="285750" indent="-285750">
              <a:buFont typeface="Arial" panose="020B0604020202020204" pitchFamily="34" charset="0"/>
              <a:buChar char="•"/>
            </a:pPr>
            <a:r>
              <a:rPr lang="zh-CN" altLang="en-US"/>
              <a:t>端到端微调的</a:t>
            </a:r>
            <a:r>
              <a:rPr lang="en-US" altLang="zh-CN"/>
              <a:t> KG-augmented LLM </a:t>
            </a:r>
            <a:r>
              <a:rPr lang="zh-CN" altLang="en-US"/>
              <a:t>方法：</a:t>
            </a:r>
            <a:r>
              <a:rPr lang="en-US" altLang="zh-CN"/>
              <a:t>RnG-KBQA</a:t>
            </a:r>
            <a:r>
              <a:rPr lang="zh-CN" altLang="en-US"/>
              <a:t>、</a:t>
            </a:r>
            <a:r>
              <a:rPr lang="en-US" altLang="zh-CN"/>
              <a:t>TIARA</a:t>
            </a:r>
            <a:r>
              <a:rPr lang="zh-CN" altLang="en-US"/>
              <a:t>、</a:t>
            </a:r>
            <a:r>
              <a:rPr lang="en-US" altLang="zh-CN"/>
              <a:t>FC-KBQA</a:t>
            </a:r>
            <a:r>
              <a:rPr lang="zh-CN" altLang="en-US"/>
              <a:t>、</a:t>
            </a:r>
            <a:r>
              <a:rPr lang="en-US" altLang="zh-CN"/>
              <a:t>Pangu</a:t>
            </a:r>
            <a:r>
              <a:rPr lang="zh-CN" altLang="en-US"/>
              <a:t>、</a:t>
            </a:r>
            <a:r>
              <a:rPr lang="en-US" altLang="zh-CN"/>
              <a:t>FlexKBQA</a:t>
            </a:r>
            <a:r>
              <a:rPr lang="zh-CN" altLang="en-US"/>
              <a:t>、</a:t>
            </a:r>
            <a:r>
              <a:rPr lang="en-US" altLang="zh-CN"/>
              <a:t>GAIN</a:t>
            </a:r>
          </a:p>
          <a:p>
            <a:pPr marL="285750" indent="-285750">
              <a:buFont typeface="Arial" panose="020B0604020202020204" pitchFamily="34" charset="0"/>
              <a:buChar char="•"/>
            </a:pPr>
            <a:endParaRPr lang="en-US" altLang="zh-CN"/>
          </a:p>
          <a:p>
            <a:pPr marL="285750" indent="-285750">
              <a:buFont typeface="Arial" panose="020B0604020202020204" pitchFamily="34" charset="0"/>
              <a:buChar char="•"/>
            </a:pPr>
            <a:r>
              <a:rPr lang="zh-CN" altLang="en-US"/>
              <a:t>图检索方法：</a:t>
            </a:r>
            <a:r>
              <a:rPr lang="en-US" altLang="zh-CN"/>
              <a:t>GNN-RAG</a:t>
            </a:r>
            <a:r>
              <a:rPr lang="zh-CN" altLang="en-US"/>
              <a:t>、</a:t>
            </a:r>
            <a:r>
              <a:rPr lang="en-US" altLang="zh-CN"/>
              <a:t>SubgraphRag</a:t>
            </a:r>
          </a:p>
          <a:p>
            <a:endParaRPr lang="zh-CN" alt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主要实验</a:t>
            </a:r>
            <a:r>
              <a:rPr kumimoji="1" lang="en-US" altLang="zh-CN" sz="2500" dirty="0"/>
              <a:t>1</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2" name="文本框 1"/>
          <p:cNvSpPr txBox="1"/>
          <p:nvPr/>
        </p:nvSpPr>
        <p:spPr>
          <a:xfrm>
            <a:off x="6479540" y="1167130"/>
            <a:ext cx="4839335" cy="368300"/>
          </a:xfrm>
          <a:prstGeom prst="rect">
            <a:avLst/>
          </a:prstGeom>
          <a:noFill/>
        </p:spPr>
        <p:txBody>
          <a:bodyPr wrap="square" rtlCol="0">
            <a:spAutoFit/>
          </a:bodyPr>
          <a:lstStyle/>
          <a:p>
            <a:r>
              <a:rPr lang="zh-CN" altLang="en-US"/>
              <a:t>指标都是</a:t>
            </a:r>
            <a:r>
              <a:rPr lang="en-US" altLang="zh-CN"/>
              <a:t> </a:t>
            </a:r>
            <a:r>
              <a:rPr lang="en-US" altLang="zh-CN">
                <a:sym typeface="+mn-ea"/>
              </a:rPr>
              <a:t>Hits@1</a:t>
            </a:r>
            <a:endParaRPr lang="zh-CN" altLang="en-US"/>
          </a:p>
        </p:txBody>
      </p:sp>
      <p:sp>
        <p:nvSpPr>
          <p:cNvPr id="7" name="文本框 6"/>
          <p:cNvSpPr txBox="1"/>
          <p:nvPr/>
        </p:nvSpPr>
        <p:spPr>
          <a:xfrm>
            <a:off x="6479540" y="1535430"/>
            <a:ext cx="4642485" cy="645160"/>
          </a:xfrm>
          <a:prstGeom prst="rect">
            <a:avLst/>
          </a:prstGeom>
          <a:noFill/>
        </p:spPr>
        <p:txBody>
          <a:bodyPr wrap="square" rtlCol="0">
            <a:spAutoFit/>
          </a:bodyPr>
          <a:lstStyle/>
          <a:p>
            <a:pPr indent="0">
              <a:buFont typeface="Arial" panose="020B0604020202020204" pitchFamily="34" charset="0"/>
              <a:buNone/>
            </a:pPr>
            <a:r>
              <a:rPr lang="en-US" altLang="zh-CN"/>
              <a:t>PARoG</a:t>
            </a:r>
            <a:r>
              <a:rPr lang="zh-CN" altLang="en-US"/>
              <a:t>在所有数据集和模型设置下均取得最优性能的同时在复杂推理任务上优势更明显</a:t>
            </a:r>
          </a:p>
        </p:txBody>
      </p:sp>
      <p:pic>
        <p:nvPicPr>
          <p:cNvPr id="9" name="图片 8"/>
          <p:cNvPicPr>
            <a:picLocks noChangeAspect="1"/>
          </p:cNvPicPr>
          <p:nvPr/>
        </p:nvPicPr>
        <p:blipFill>
          <a:blip r:embed="rId7"/>
          <a:stretch>
            <a:fillRect/>
          </a:stretch>
        </p:blipFill>
        <p:spPr>
          <a:xfrm>
            <a:off x="557530" y="1083945"/>
            <a:ext cx="5106035" cy="4873625"/>
          </a:xfrm>
          <a:prstGeom prst="rect">
            <a:avLst/>
          </a:prstGeom>
        </p:spPr>
      </p:pic>
      <p:pic>
        <p:nvPicPr>
          <p:cNvPr id="10" name="图片 9"/>
          <p:cNvPicPr>
            <a:picLocks noChangeAspect="1"/>
          </p:cNvPicPr>
          <p:nvPr/>
        </p:nvPicPr>
        <p:blipFill>
          <a:blip r:embed="rId8"/>
          <a:stretch>
            <a:fillRect/>
          </a:stretch>
        </p:blipFill>
        <p:spPr>
          <a:xfrm>
            <a:off x="6610985" y="2557780"/>
            <a:ext cx="4378960" cy="3691890"/>
          </a:xfrm>
          <a:prstGeom prst="rect">
            <a:avLst/>
          </a:prstGeo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主要实验</a:t>
            </a:r>
            <a:r>
              <a:rPr kumimoji="1" lang="en-US" altLang="zh-CN" sz="2500" dirty="0"/>
              <a:t>2</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7" name="文本框 6"/>
          <p:cNvSpPr txBox="1"/>
          <p:nvPr/>
        </p:nvSpPr>
        <p:spPr>
          <a:xfrm>
            <a:off x="7399020" y="1029970"/>
            <a:ext cx="4064000" cy="3291840"/>
          </a:xfrm>
          <a:prstGeom prst="rect">
            <a:avLst/>
          </a:prstGeom>
          <a:noFill/>
        </p:spPr>
        <p:txBody>
          <a:bodyPr wrap="square" rtlCol="0">
            <a:spAutoFit/>
          </a:bodyPr>
          <a:lstStyle/>
          <a:p>
            <a:r>
              <a:rPr lang="zh-CN" altLang="en-US" sz="1600" b="1"/>
              <a:t>评估维度：</a:t>
            </a:r>
          </a:p>
          <a:p>
            <a:pPr marL="285750" indent="-285750">
              <a:buFont typeface="Arial" panose="020B0604020202020204" pitchFamily="34" charset="0"/>
              <a:buChar char="•"/>
            </a:pPr>
            <a:r>
              <a:rPr lang="zh-CN" altLang="en-US" sz="1600" b="1"/>
              <a:t>整体准确率（</a:t>
            </a:r>
            <a:r>
              <a:rPr lang="en-US" altLang="zh-CN" sz="1600" b="1"/>
              <a:t>Overall</a:t>
            </a:r>
            <a:r>
              <a:rPr lang="zh-CN" altLang="en-US" sz="1600" b="1"/>
              <a:t>）</a:t>
            </a:r>
            <a:r>
              <a:rPr lang="zh-CN" altLang="en-US" sz="1600"/>
              <a:t>：全数据集的综合性能；</a:t>
            </a:r>
          </a:p>
          <a:p>
            <a:pPr indent="0">
              <a:buFont typeface="Arial" panose="020B0604020202020204" pitchFamily="34" charset="0"/>
              <a:buNone/>
            </a:pPr>
            <a:endParaRPr lang="zh-CN" altLang="en-US" sz="1600"/>
          </a:p>
          <a:p>
            <a:pPr marL="285750" indent="-285750">
              <a:buFont typeface="Arial" panose="020B0604020202020204" pitchFamily="34" charset="0"/>
              <a:buChar char="•"/>
            </a:pPr>
            <a:r>
              <a:rPr lang="zh-CN" altLang="en-US" sz="1600" b="1"/>
              <a:t>分布内准确率（</a:t>
            </a:r>
            <a:r>
              <a:rPr lang="en-US" altLang="zh-CN" sz="1600" b="1"/>
              <a:t>I.I.D.</a:t>
            </a:r>
            <a:r>
              <a:rPr lang="zh-CN" altLang="en-US" sz="1600" b="1"/>
              <a:t>）</a:t>
            </a:r>
            <a:r>
              <a:rPr lang="zh-CN" altLang="en-US" sz="1600"/>
              <a:t>：训练集与测试集分布一致的简单场景；</a:t>
            </a:r>
          </a:p>
          <a:p>
            <a:pPr marL="285750" indent="-285750">
              <a:buFont typeface="Arial" panose="020B0604020202020204" pitchFamily="34" charset="0"/>
              <a:buChar char="•"/>
            </a:pPr>
            <a:endParaRPr lang="zh-CN" altLang="en-US" sz="1600"/>
          </a:p>
          <a:p>
            <a:pPr marL="285750" indent="-285750">
              <a:buFont typeface="Arial" panose="020B0604020202020204" pitchFamily="34" charset="0"/>
              <a:buChar char="•"/>
            </a:pPr>
            <a:r>
              <a:rPr lang="zh-CN" altLang="en-US" sz="1600" b="1"/>
              <a:t>组合查询准确率（</a:t>
            </a:r>
            <a:r>
              <a:rPr lang="en-US" altLang="zh-CN" sz="1600" b="1"/>
              <a:t>Compositional</a:t>
            </a:r>
            <a:r>
              <a:rPr lang="zh-CN" altLang="en-US" sz="1600" b="1"/>
              <a:t>）</a:t>
            </a:r>
            <a:r>
              <a:rPr lang="zh-CN" altLang="en-US" sz="1600"/>
              <a:t>：需多步逻辑组合的复杂查询；</a:t>
            </a:r>
          </a:p>
          <a:p>
            <a:pPr marL="285750" indent="-285750">
              <a:buFont typeface="Arial" panose="020B0604020202020204" pitchFamily="34" charset="0"/>
              <a:buChar char="•"/>
            </a:pPr>
            <a:endParaRPr lang="zh-CN" altLang="en-US" sz="1600"/>
          </a:p>
          <a:p>
            <a:pPr marL="285750" indent="-285750">
              <a:buFont typeface="Arial" panose="020B0604020202020204" pitchFamily="34" charset="0"/>
              <a:buChar char="•"/>
            </a:pPr>
            <a:r>
              <a:rPr lang="zh-CN" altLang="en-US" sz="1600" b="1"/>
              <a:t>零样本准确率（</a:t>
            </a:r>
            <a:r>
              <a:rPr lang="en-US" altLang="zh-CN" sz="1600" b="1"/>
              <a:t>Zero-shot</a:t>
            </a:r>
            <a:r>
              <a:rPr lang="zh-CN" altLang="en-US" sz="1600" b="1"/>
              <a:t>）</a:t>
            </a:r>
            <a:r>
              <a:rPr lang="zh-CN" altLang="en-US" sz="1600"/>
              <a:t>：训练集中未见过的实体</a:t>
            </a:r>
            <a:r>
              <a:rPr lang="en-US" altLang="zh-CN" sz="1600"/>
              <a:t> / </a:t>
            </a:r>
            <a:r>
              <a:rPr lang="zh-CN" altLang="en-US" sz="1600"/>
              <a:t>关系组合，考验泛化能力。</a:t>
            </a:r>
          </a:p>
        </p:txBody>
      </p:sp>
      <p:sp>
        <p:nvSpPr>
          <p:cNvPr id="8" name="文本框 7"/>
          <p:cNvSpPr txBox="1"/>
          <p:nvPr/>
        </p:nvSpPr>
        <p:spPr>
          <a:xfrm>
            <a:off x="7545070" y="4479925"/>
            <a:ext cx="4064000" cy="1721485"/>
          </a:xfrm>
          <a:prstGeom prst="rect">
            <a:avLst/>
          </a:prstGeom>
          <a:noFill/>
        </p:spPr>
        <p:txBody>
          <a:bodyPr wrap="square" rtlCol="0">
            <a:noAutofit/>
          </a:bodyPr>
          <a:lstStyle/>
          <a:p>
            <a:r>
              <a:rPr lang="zh-CN" altLang="en-US" sz="1600" b="1"/>
              <a:t>结论：</a:t>
            </a:r>
          </a:p>
          <a:p>
            <a:pPr marL="285750" indent="-285750" algn="l">
              <a:buClrTx/>
              <a:buSzTx/>
              <a:buFont typeface="Arial" panose="020B0604020202020204" pitchFamily="34" charset="0"/>
              <a:buChar char="•"/>
            </a:pPr>
            <a:r>
              <a:rPr lang="en-US" altLang="zh-CN" sz="1600" b="1">
                <a:sym typeface="+mn-ea"/>
              </a:rPr>
              <a:t>PARoG</a:t>
            </a:r>
            <a:r>
              <a:rPr lang="zh-CN" altLang="en-US" sz="1600" b="1">
                <a:sym typeface="+mn-ea"/>
              </a:rPr>
              <a:t>整体性能领先</a:t>
            </a:r>
            <a:endParaRPr lang="zh-CN" altLang="en-US" sz="1600" b="1"/>
          </a:p>
          <a:p>
            <a:pPr marL="285750" indent="-285750" algn="l">
              <a:buClrTx/>
              <a:buSzTx/>
              <a:buFont typeface="Arial" panose="020B0604020202020204" pitchFamily="34" charset="0"/>
              <a:buChar char="•"/>
            </a:pPr>
            <a:r>
              <a:rPr lang="zh-CN" altLang="en-US" sz="1600" b="1">
                <a:sym typeface="+mn-ea"/>
              </a:rPr>
              <a:t>端到端方法很强，但依赖训练数据</a:t>
            </a:r>
            <a:endParaRPr lang="zh-CN" altLang="en-US" sz="1600" b="1"/>
          </a:p>
          <a:p>
            <a:pPr marL="285750" indent="-285750">
              <a:buFont typeface="Arial" panose="020B0604020202020204" pitchFamily="34" charset="0"/>
              <a:buChar char="•"/>
            </a:pPr>
            <a:r>
              <a:rPr lang="zh-CN" altLang="en-US" sz="1600" b="1"/>
              <a:t>复杂场景优势突出、泛化能力强</a:t>
            </a:r>
          </a:p>
        </p:txBody>
      </p:sp>
      <p:pic>
        <p:nvPicPr>
          <p:cNvPr id="3" name="图片 2"/>
          <p:cNvPicPr>
            <a:picLocks noChangeAspect="1"/>
          </p:cNvPicPr>
          <p:nvPr/>
        </p:nvPicPr>
        <p:blipFill>
          <a:blip r:embed="rId7"/>
          <a:stretch>
            <a:fillRect/>
          </a:stretch>
        </p:blipFill>
        <p:spPr>
          <a:xfrm>
            <a:off x="621665" y="1029970"/>
            <a:ext cx="6533515" cy="5170805"/>
          </a:xfrm>
          <a:prstGeom prst="rect">
            <a:avLst/>
          </a:prstGeom>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消融实验</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pic>
        <p:nvPicPr>
          <p:cNvPr id="7" name="图片 6"/>
          <p:cNvPicPr>
            <a:picLocks noChangeAspect="1"/>
          </p:cNvPicPr>
          <p:nvPr/>
        </p:nvPicPr>
        <p:blipFill>
          <a:blip r:embed="rId7"/>
          <a:stretch>
            <a:fillRect/>
          </a:stretch>
        </p:blipFill>
        <p:spPr>
          <a:xfrm>
            <a:off x="6595110" y="1107440"/>
            <a:ext cx="4324350" cy="1485900"/>
          </a:xfrm>
          <a:prstGeom prst="rect">
            <a:avLst/>
          </a:prstGeom>
        </p:spPr>
      </p:pic>
      <p:pic>
        <p:nvPicPr>
          <p:cNvPr id="8" name="图片 7"/>
          <p:cNvPicPr>
            <a:picLocks noChangeAspect="1"/>
          </p:cNvPicPr>
          <p:nvPr/>
        </p:nvPicPr>
        <p:blipFill>
          <a:blip r:embed="rId8"/>
          <a:stretch>
            <a:fillRect/>
          </a:stretch>
        </p:blipFill>
        <p:spPr>
          <a:xfrm>
            <a:off x="6595110" y="3502660"/>
            <a:ext cx="3644900" cy="1314450"/>
          </a:xfrm>
          <a:prstGeom prst="rect">
            <a:avLst/>
          </a:prstGeom>
        </p:spPr>
      </p:pic>
      <p:sp>
        <p:nvSpPr>
          <p:cNvPr id="9" name="文本框 8"/>
          <p:cNvSpPr txBox="1"/>
          <p:nvPr/>
        </p:nvSpPr>
        <p:spPr>
          <a:xfrm>
            <a:off x="461645" y="3381375"/>
            <a:ext cx="4064000" cy="306705"/>
          </a:xfrm>
          <a:prstGeom prst="rect">
            <a:avLst/>
          </a:prstGeom>
          <a:noFill/>
        </p:spPr>
        <p:txBody>
          <a:bodyPr wrap="square" rtlCol="0">
            <a:spAutoFit/>
          </a:bodyPr>
          <a:lstStyle/>
          <a:p>
            <a:r>
              <a:rPr lang="zh-CN" altLang="en-US" sz="1400" b="1"/>
              <a:t>自精炼模块（</a:t>
            </a:r>
            <a:r>
              <a:rPr lang="en-US" altLang="zh-CN" sz="1400" b="1"/>
              <a:t>Self-Refinement, SR</a:t>
            </a:r>
            <a:r>
              <a:rPr lang="zh-CN" altLang="en-US" sz="1400" b="1"/>
              <a:t>）消融实验</a:t>
            </a:r>
          </a:p>
        </p:txBody>
      </p:sp>
      <p:sp>
        <p:nvSpPr>
          <p:cNvPr id="11" name="文本框 10"/>
          <p:cNvSpPr txBox="1"/>
          <p:nvPr/>
        </p:nvSpPr>
        <p:spPr>
          <a:xfrm>
            <a:off x="331470" y="3736340"/>
            <a:ext cx="6096000" cy="337185"/>
          </a:xfrm>
          <a:prstGeom prst="rect">
            <a:avLst/>
          </a:prstGeom>
          <a:noFill/>
        </p:spPr>
        <p:txBody>
          <a:bodyPr wrap="square" rtlCol="0">
            <a:spAutoFit/>
          </a:bodyPr>
          <a:lstStyle/>
          <a:p>
            <a:pPr marL="285750" indent="-285750">
              <a:buFont typeface="Arial" panose="020B0604020202020204" pitchFamily="34" charset="0"/>
              <a:buChar char="•"/>
            </a:pPr>
            <a:r>
              <a:rPr lang="zh-CN" altLang="en-US" sz="1600" b="1">
                <a:sym typeface="+mn-ea"/>
              </a:rPr>
              <a:t>更复杂的数据集，提升更显著</a:t>
            </a:r>
            <a:endParaRPr lang="zh-CN" altLang="en-US" sz="1600" b="1"/>
          </a:p>
        </p:txBody>
      </p:sp>
      <p:sp>
        <p:nvSpPr>
          <p:cNvPr id="13" name="文本框 12"/>
          <p:cNvSpPr txBox="1"/>
          <p:nvPr/>
        </p:nvSpPr>
        <p:spPr>
          <a:xfrm>
            <a:off x="6595110" y="2593340"/>
            <a:ext cx="4064000" cy="583565"/>
          </a:xfrm>
          <a:prstGeom prst="rect">
            <a:avLst/>
          </a:prstGeom>
          <a:noFill/>
        </p:spPr>
        <p:txBody>
          <a:bodyPr wrap="square" rtlCol="0">
            <a:spAutoFit/>
          </a:bodyPr>
          <a:lstStyle/>
          <a:p>
            <a:pPr marL="285750" indent="-285750">
              <a:buFont typeface="Arial" panose="020B0604020202020204" pitchFamily="34" charset="0"/>
              <a:buChar char="•"/>
            </a:pPr>
            <a:r>
              <a:rPr lang="en-US" altLang="zh-CN" sz="1600" b="1"/>
              <a:t>SPARQL </a:t>
            </a:r>
            <a:r>
              <a:rPr lang="zh-CN" altLang="en-US" sz="1600" b="1"/>
              <a:t>监督式规划比纯</a:t>
            </a:r>
            <a:r>
              <a:rPr lang="en-US" altLang="zh-CN" sz="1600" b="1"/>
              <a:t> LLM </a:t>
            </a:r>
            <a:r>
              <a:rPr lang="zh-CN" altLang="en-US" sz="1600" b="1"/>
              <a:t>自由生成规划更高效、更精准，且参数效率更高。</a:t>
            </a:r>
          </a:p>
        </p:txBody>
      </p:sp>
      <p:sp>
        <p:nvSpPr>
          <p:cNvPr id="14" name="文本框 13"/>
          <p:cNvSpPr txBox="1"/>
          <p:nvPr/>
        </p:nvSpPr>
        <p:spPr>
          <a:xfrm>
            <a:off x="6595110" y="4867593"/>
            <a:ext cx="5080000" cy="337185"/>
          </a:xfrm>
          <a:prstGeom prst="rect">
            <a:avLst/>
          </a:prstGeom>
        </p:spPr>
        <p:txBody>
          <a:bodyPr>
            <a:spAutoFit/>
          </a:bodyPr>
          <a:lstStyle/>
          <a:p>
            <a:pPr marL="285750" indent="-285750">
              <a:buFont typeface="Arial" panose="020B0604020202020204" pitchFamily="34" charset="0"/>
              <a:buChar char="•"/>
            </a:pPr>
            <a:r>
              <a:rPr lang="zh-CN" altLang="en-US" sz="1600" b="1"/>
              <a:t>该范式能有效识别并修正前期规划或推理中的错误</a:t>
            </a:r>
          </a:p>
        </p:txBody>
      </p:sp>
      <p:pic>
        <p:nvPicPr>
          <p:cNvPr id="3" name="图片 2"/>
          <p:cNvPicPr>
            <a:picLocks noChangeAspect="1"/>
          </p:cNvPicPr>
          <p:nvPr/>
        </p:nvPicPr>
        <p:blipFill>
          <a:blip r:embed="rId9"/>
          <a:stretch>
            <a:fillRect/>
          </a:stretch>
        </p:blipFill>
        <p:spPr>
          <a:xfrm>
            <a:off x="556260" y="880110"/>
            <a:ext cx="3359150" cy="2381250"/>
          </a:xfrm>
          <a:prstGeom prst="rect">
            <a:avLst/>
          </a:prstGeom>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主要实验</a:t>
            </a:r>
            <a:r>
              <a:rPr kumimoji="1" lang="en-US" altLang="zh-CN" sz="2500" dirty="0"/>
              <a:t>3</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7" name="文本框 6"/>
          <p:cNvSpPr txBox="1"/>
          <p:nvPr/>
        </p:nvSpPr>
        <p:spPr>
          <a:xfrm>
            <a:off x="615950" y="3959225"/>
            <a:ext cx="7039610" cy="922020"/>
          </a:xfrm>
          <a:prstGeom prst="rect">
            <a:avLst/>
          </a:prstGeom>
          <a:noFill/>
        </p:spPr>
        <p:txBody>
          <a:bodyPr wrap="square" rtlCol="0">
            <a:spAutoFit/>
          </a:bodyPr>
          <a:lstStyle/>
          <a:p>
            <a:r>
              <a:rPr lang="zh-CN" altLang="en-US"/>
              <a:t>结论：</a:t>
            </a:r>
          </a:p>
          <a:p>
            <a:pPr marL="285750" indent="-285750">
              <a:buFont typeface="Arial" panose="020B0604020202020204" pitchFamily="34" charset="0"/>
              <a:buChar char="•"/>
            </a:pPr>
            <a:r>
              <a:rPr lang="zh-CN" altLang="en-US"/>
              <a:t>性能最优</a:t>
            </a:r>
          </a:p>
          <a:p>
            <a:pPr marL="285750" indent="-285750">
              <a:buFont typeface="Arial" panose="020B0604020202020204" pitchFamily="34" charset="0"/>
              <a:buChar char="•"/>
            </a:pPr>
            <a:r>
              <a:rPr lang="zh-CN" altLang="en-US"/>
              <a:t>成本最低：</a:t>
            </a:r>
            <a:r>
              <a:rPr lang="en-US" altLang="zh-CN"/>
              <a:t>LLM </a:t>
            </a:r>
            <a:r>
              <a:rPr lang="zh-CN" altLang="en-US"/>
              <a:t>调用次数最少，</a:t>
            </a:r>
            <a:r>
              <a:rPr lang="en-US" altLang="zh-CN"/>
              <a:t>Token </a:t>
            </a:r>
            <a:r>
              <a:rPr lang="zh-CN" altLang="en-US"/>
              <a:t>开销最少</a:t>
            </a:r>
          </a:p>
        </p:txBody>
      </p:sp>
      <p:pic>
        <p:nvPicPr>
          <p:cNvPr id="3" name="图片 2"/>
          <p:cNvPicPr>
            <a:picLocks noChangeAspect="1"/>
          </p:cNvPicPr>
          <p:nvPr/>
        </p:nvPicPr>
        <p:blipFill>
          <a:blip r:embed="rId7"/>
          <a:stretch>
            <a:fillRect/>
          </a:stretch>
        </p:blipFill>
        <p:spPr>
          <a:xfrm>
            <a:off x="775970" y="817245"/>
            <a:ext cx="8150860" cy="3008630"/>
          </a:xfrm>
          <a:prstGeom prst="rect">
            <a:avLst/>
          </a:prstGeom>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160" y="-7620"/>
            <a:ext cx="12212320" cy="690880"/>
          </a:xfrm>
          <a:prstGeom prst="rect">
            <a:avLst/>
          </a:prstGeom>
          <a:solidFill>
            <a:srgbClr val="6D2B8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占位符 1"/>
          <p:cNvSpPr>
            <a:spLocks noGrp="1"/>
          </p:cNvSpPr>
          <p:nvPr>
            <p:custDataLst>
              <p:tags r:id="rId1"/>
            </p:custDataLst>
          </p:nvPr>
        </p:nvSpPr>
        <p:spPr>
          <a:xfrm>
            <a:off x="892175" y="0"/>
            <a:ext cx="10426065" cy="683260"/>
          </a:xfrm>
          <a:prstGeom prst="rect">
            <a:avLst/>
          </a:prstGeom>
        </p:spPr>
        <p:txBody>
          <a:bodyPr anchor="ctr" anchorCtr="0"/>
          <a:lstStyle>
            <a:lvl1pPr marL="0" indent="0" algn="l" defTabSz="914400" rtl="0" eaLnBrk="1" latinLnBrk="0" hangingPunct="1">
              <a:lnSpc>
                <a:spcPct val="90000"/>
              </a:lnSpc>
              <a:spcBef>
                <a:spcPts val="1000"/>
              </a:spcBef>
              <a:buFont typeface="Arial" panose="020B0604020202020204" pitchFamily="34" charset="0"/>
              <a:buNone/>
              <a:defRPr sz="2000" b="0" kern="1200">
                <a:solidFill>
                  <a:schemeClr val="bg1"/>
                </a:solidFill>
                <a:latin typeface="微软雅黑" panose="020B0503020204020204" charset="-122"/>
                <a:ea typeface="微软雅黑" panose="020B0503020204020204" charset="-122"/>
                <a:cs typeface="微软雅黑" panose="020B0503020204020204" charset="-122"/>
              </a:defRPr>
            </a:lvl1pPr>
            <a:lvl2pPr marL="685800" indent="-228600" algn="ctr"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微软雅黑" panose="020B0503020204020204" charset="-122"/>
                <a:ea typeface="微软雅黑" panose="020B0503020204020204" charset="-122"/>
                <a:cs typeface="微软雅黑" panose="020B0503020204020204" charset="-122"/>
              </a:defRPr>
            </a:lvl2pPr>
            <a:lvl3pPr marL="1143000" indent="-228600" algn="ctr"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微软雅黑" panose="020B0503020204020204" charset="-122"/>
                <a:ea typeface="微软雅黑" panose="020B0503020204020204" charset="-122"/>
                <a:cs typeface="微软雅黑" panose="020B0503020204020204" charset="-122"/>
              </a:defRPr>
            </a:lvl3pPr>
            <a:lvl4pPr marL="16002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4pPr>
            <a:lvl5pPr marL="2057400" indent="-228600" algn="ctr"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sz="2500" dirty="0"/>
              <a:t>总结</a:t>
            </a:r>
          </a:p>
        </p:txBody>
      </p:sp>
      <p:pic>
        <p:nvPicPr>
          <p:cNvPr id="6" name="图片 5"/>
          <p:cNvPicPr>
            <a:picLocks noChangeAspect="1"/>
          </p:cNvPicPr>
          <p:nvPr>
            <p:custDataLst>
              <p:tags r:id="rId2"/>
            </p:custDataLst>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6">
                    <a14:imgEffect>
                      <a14:brightnessContrast bright="20000"/>
                    </a14:imgEffect>
                  </a14:imgLayer>
                </a14:imgProps>
              </a:ext>
              <a:ext uri="{28A0092B-C50C-407E-A947-70E740481C1C}">
                <a14:useLocalDpi xmlns:a14="http://schemas.microsoft.com/office/drawing/2010/main" val="0"/>
              </a:ext>
            </a:extLst>
          </a:blip>
          <a:stretch>
            <a:fillRect/>
          </a:stretch>
        </p:blipFill>
        <p:spPr>
          <a:xfrm>
            <a:off x="91440" y="31750"/>
            <a:ext cx="612140" cy="612140"/>
          </a:xfrm>
          <a:prstGeom prst="rect">
            <a:avLst/>
          </a:prstGeom>
        </p:spPr>
      </p:pic>
      <p:sp>
        <p:nvSpPr>
          <p:cNvPr id="2" name="文本框 1"/>
          <p:cNvSpPr txBox="1"/>
          <p:nvPr/>
        </p:nvSpPr>
        <p:spPr>
          <a:xfrm>
            <a:off x="404495" y="1169670"/>
            <a:ext cx="8844280" cy="4635500"/>
          </a:xfrm>
          <a:prstGeom prst="rect">
            <a:avLst/>
          </a:prstGeom>
          <a:noFill/>
        </p:spPr>
        <p:txBody>
          <a:bodyPr wrap="square" rtlCol="0">
            <a:noAutofit/>
          </a:bodyPr>
          <a:lstStyle/>
          <a:p>
            <a:pPr marL="285750" indent="-285750">
              <a:buFont typeface="Arial" panose="020B0604020202020204" pitchFamily="34" charset="0"/>
              <a:buChar char="•"/>
            </a:pPr>
            <a:r>
              <a:rPr lang="zh-CN" altLang="en-US"/>
              <a:t>核心创新：提出</a:t>
            </a:r>
            <a:r>
              <a:rPr lang="en-US" altLang="zh-CN"/>
              <a:t> Plan-Answer-Refine-on-Graph (PARoG) </a:t>
            </a:r>
            <a:r>
              <a:rPr lang="zh-CN" altLang="en-US"/>
              <a:t>框架，通过</a:t>
            </a:r>
            <a:r>
              <a:rPr lang="en-US" altLang="zh-CN"/>
              <a:t> SPARQL </a:t>
            </a:r>
            <a:r>
              <a:rPr lang="zh-CN" altLang="en-US"/>
              <a:t>引导结构化规划</a:t>
            </a:r>
            <a:r>
              <a:rPr lang="en-US" altLang="zh-CN"/>
              <a:t> </a:t>
            </a:r>
            <a:r>
              <a:rPr lang="zh-CN" altLang="en-US"/>
              <a:t>和</a:t>
            </a:r>
            <a:r>
              <a:rPr lang="en-US" altLang="zh-CN"/>
              <a:t> </a:t>
            </a:r>
            <a:r>
              <a:rPr lang="zh-CN" altLang="en-US"/>
              <a:t>答案自精炼，缓解</a:t>
            </a:r>
            <a:r>
              <a:rPr lang="en-US" altLang="zh-CN"/>
              <a:t> LLM-KG </a:t>
            </a:r>
            <a:r>
              <a:rPr lang="zh-CN" altLang="en-US"/>
              <a:t>推理中的搜索空间截断与错误放大问题。</a:t>
            </a:r>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zh-CN" altLang="en-US"/>
              <a:t>局限：依赖</a:t>
            </a:r>
            <a:r>
              <a:rPr lang="en-US" altLang="zh-CN"/>
              <a:t> KG </a:t>
            </a:r>
            <a:r>
              <a:rPr lang="zh-CN" altLang="en-US"/>
              <a:t>质量，需强教师模型生成规划数据，精炼机制为静态离线模式。</a:t>
            </a:r>
          </a:p>
          <a:p>
            <a:pPr marL="285750" indent="-285750">
              <a:buFont typeface="Arial" panose="020B0604020202020204" pitchFamily="34" charset="0"/>
              <a:buChar char="•"/>
            </a:pPr>
            <a:endParaRPr lang="zh-CN" altLang="en-US"/>
          </a:p>
          <a:p>
            <a:pPr marL="285750" indent="-285750">
              <a:buFont typeface="Arial" panose="020B0604020202020204" pitchFamily="34" charset="0"/>
              <a:buChar char="•"/>
            </a:pPr>
            <a:r>
              <a:rPr lang="zh-CN" altLang="en-US"/>
              <a:t>未来方向：探索动态在线精炼、多模态</a:t>
            </a:r>
            <a:r>
              <a:rPr lang="en-US" altLang="zh-CN"/>
              <a:t> KG</a:t>
            </a:r>
            <a:r>
              <a:rPr lang="zh-CN" altLang="en-US"/>
              <a:t>、自举式自改进，拓展结构化符号引导的泛化应用。</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6D2B85"/>
        </a:solidFill>
        <a:effectLst/>
      </p:bgPr>
    </p:bg>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491490" y="2236470"/>
            <a:ext cx="11209655" cy="1861185"/>
          </a:xfrm>
          <a:prstGeom prst="rect">
            <a:avLst/>
          </a:prstGeom>
          <a:noFill/>
        </p:spPr>
        <p:txBody>
          <a:bodyPr wrap="square" rtlCol="0">
            <a:spAutoFit/>
          </a:bodyPr>
          <a:lstStyle/>
          <a:p>
            <a:pPr algn="ctr"/>
            <a:r>
              <a:rPr lang="en-US" altLang="zh-CN" sz="11500" b="1" dirty="0">
                <a:solidFill>
                  <a:schemeClr val="bg1"/>
                </a:solidFill>
                <a:uFillTx/>
                <a:ea typeface="张海山草泥马体" panose="02000000000000000000" pitchFamily="2" charset="-122"/>
                <a:cs typeface="Sitka Heading" charset="0"/>
              </a:rPr>
              <a:t>Thanks</a:t>
            </a:r>
          </a:p>
        </p:txBody>
      </p:sp>
      <p:sp>
        <p:nvSpPr>
          <p:cNvPr id="6" name="文本框 5"/>
          <p:cNvSpPr txBox="1"/>
          <p:nvPr>
            <p:custDataLst>
              <p:tags r:id="rId2"/>
            </p:custDataLst>
          </p:nvPr>
        </p:nvSpPr>
        <p:spPr>
          <a:xfrm>
            <a:off x="4451350" y="5294630"/>
            <a:ext cx="3289300" cy="368300"/>
          </a:xfrm>
          <a:prstGeom prst="rect">
            <a:avLst/>
          </a:prstGeom>
          <a:noFill/>
        </p:spPr>
        <p:txBody>
          <a:bodyPr wrap="square" rtlCol="0">
            <a:spAutoFit/>
          </a:bodyPr>
          <a:lstStyle/>
          <a:p>
            <a:pPr algn="ctr"/>
            <a:r>
              <a:rPr lang="zh-CN" altLang="en-US" dirty="0">
                <a:solidFill>
                  <a:schemeClr val="bg1"/>
                </a:solidFill>
                <a:latin typeface="印品黑体" panose="00000500000000000000" pitchFamily="2" charset="-122"/>
                <a:ea typeface="印品黑体" panose="00000500000000000000" pitchFamily="2" charset="-122"/>
              </a:rPr>
              <a:t>报告人：高青召</a:t>
            </a:r>
          </a:p>
        </p:txBody>
      </p:sp>
      <p:sp>
        <p:nvSpPr>
          <p:cNvPr id="12" name="文本框 11"/>
          <p:cNvSpPr txBox="1"/>
          <p:nvPr>
            <p:custDataLst>
              <p:tags r:id="rId3"/>
            </p:custDataLst>
          </p:nvPr>
        </p:nvSpPr>
        <p:spPr>
          <a:xfrm>
            <a:off x="4451350" y="5802630"/>
            <a:ext cx="3289300" cy="368300"/>
          </a:xfrm>
          <a:prstGeom prst="rect">
            <a:avLst/>
          </a:prstGeom>
          <a:noFill/>
        </p:spPr>
        <p:txBody>
          <a:bodyPr wrap="square" rtlCol="0">
            <a:spAutoFit/>
          </a:bodyPr>
          <a:lstStyle/>
          <a:p>
            <a:pPr algn="ctr"/>
            <a:r>
              <a:rPr lang="en-US" altLang="zh-CN" dirty="0">
                <a:solidFill>
                  <a:schemeClr val="bg1"/>
                </a:solidFill>
                <a:latin typeface="印品黑体" panose="00000500000000000000" pitchFamily="2" charset="-122"/>
                <a:ea typeface="印品黑体" panose="00000500000000000000" pitchFamily="2" charset="-122"/>
              </a:rPr>
              <a:t>2026.04.01</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jb3VudCI6NjksImhkaWQiOiIyNTQyNjRmNDkxNzUzZDI3YzNmMGIxOTljNzliMTU2NCIsInVzZXJDb3VudCI6Njl9"/>
  <p:tag name="RESOURCE_RECORD_KEY" val="{&quot;10&quot;:[50026282],&quot;29&quot;:[20740297,20740292,20750895,50053008]}"/>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47.75,&quot;top&quot;:82.4,&quot;width&quot;:745.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47.75,&quot;top&quot;:82.4,&quot;width&quot;:745.5}"/>
</p:tagLst>
</file>

<file path=ppt/tags/tag24.xml><?xml version="1.0" encoding="utf-8"?>
<p:tagLst xmlns:p="http://schemas.openxmlformats.org/presentationml/2006/main">
  <p:tag name="KSO_WM_DIAGRAM_VIRTUALLY_FRAME" val="{&quot;height&quot;:388.45,&quot;left&quot;:47.75,&quot;top&quot;:82.4,&quot;width&quot;:745.5}"/>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47.75,&quot;top&quot;:82.4,&quot;width&quot;:745.5}"/>
</p:tagLst>
</file>

<file path=ppt/tags/tag30.xml><?xml version="1.0" encoding="utf-8"?>
<p:tagLst xmlns:p="http://schemas.openxmlformats.org/presentationml/2006/main">
  <p:tag name="KSO_WM_DIAGRAM_VIRTUALLY_FRAME" val="{&quot;height&quot;:388.45,&quot;left&quot;:47.75,&quot;top&quot;:82.4,&quot;width&quot;:745.5}"/>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47.75,&quot;top&quot;:82.4,&quot;width&quot;:745.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47.75,&quot;top&quot;:82.4,&quot;width&quot;:745.5}"/>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47.75,&quot;top&quot;:82.4,&quot;width&quot;:745.5}"/>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47.75,&quot;top&quot;:82.4,&quot;width&quot;:745.5}"/>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47.75,&quot;top&quot;:82.4,&quot;width&quot;:745.5}"/>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0.xml><?xml version="1.0" encoding="utf-8"?>
<p:tagLst xmlns:p="http://schemas.openxmlformats.org/presentationml/2006/main">
  <p:tag name="KSO_WM_DIAGRAM_VIRTUALLY_FRAME" val="{&quot;height&quot;:388.45,&quot;left&quot;:47.75,&quot;top&quot;:82.4,&quot;width&quot;:745.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TotalTime>
  <Words>10273</Words>
  <Application>Microsoft Office PowerPoint</Application>
  <PresentationFormat>宽屏</PresentationFormat>
  <Paragraphs>771</Paragraphs>
  <Slides>40</Slides>
  <Notes>40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40</vt:i4>
      </vt:variant>
    </vt:vector>
  </HeadingPairs>
  <TitlesOfParts>
    <vt:vector size="50" baseType="lpstr">
      <vt:lpstr>等线</vt:lpstr>
      <vt:lpstr>等线 Light</vt:lpstr>
      <vt:lpstr>印品黑体</vt:lpstr>
      <vt:lpstr>张海山草泥马体</vt:lpstr>
      <vt:lpstr>Arial</vt:lpstr>
      <vt:lpstr>Calibri</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Trent</dc:creator>
  <cp:lastModifiedBy>青召 高</cp:lastModifiedBy>
  <cp:revision>1515</cp:revision>
  <dcterms:created xsi:type="dcterms:W3CDTF">2026-03-28T08:06:00Z</dcterms:created>
  <dcterms:modified xsi:type="dcterms:W3CDTF">2026-04-01T08:07:47Z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KSOTemplateUUID">
    <vt:lpwstr>v1.0_mb_309qU2p8cyERvITLY45YNg==</vt:lpwstr>
  </property>
  <property fmtid="{D5CDD505-2E9C-101B-9397-08002B2CF9AE}" pid="4" name="ICV">
    <vt:lpwstr>F3FE0A50FD3F4395927089AF84814FC1_13</vt:lpwstr>
  </property>
</Properties>
</file>