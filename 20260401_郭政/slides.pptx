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notesSlides/notesSlide1.xml" ContentType="application/vnd.openxmlformats-officedocument.presentationml.notesSlide+xml"/>
  <Override PartName="/ppt/tags/tag66.xml" ContentType="application/vnd.openxmlformats-officedocument.presentationml.tags+xml"/>
  <Override PartName="/ppt/notesSlides/notesSlide2.xml" ContentType="application/vnd.openxmlformats-officedocument.presentationml.notesSlide+xml"/>
  <Override PartName="/ppt/tags/tag67.xml" ContentType="application/vnd.openxmlformats-officedocument.presentationml.tags+xml"/>
  <Override PartName="/ppt/notesSlides/notesSlide3.xml" ContentType="application/vnd.openxmlformats-officedocument.presentationml.notesSlide+xml"/>
  <Override PartName="/ppt/tags/tag68.xml" ContentType="application/vnd.openxmlformats-officedocument.presentationml.tags+xml"/>
  <Override PartName="/ppt/notesSlides/notesSlide4.xml" ContentType="application/vnd.openxmlformats-officedocument.presentationml.notesSlide+xml"/>
  <Override PartName="/ppt/tags/tag69.xml" ContentType="application/vnd.openxmlformats-officedocument.presentationml.tags+xml"/>
  <Override PartName="/ppt/notesSlides/notesSlide5.xml" ContentType="application/vnd.openxmlformats-officedocument.presentationml.notesSlide+xml"/>
  <Override PartName="/ppt/tags/tag70.xml" ContentType="application/vnd.openxmlformats-officedocument.presentationml.tags+xml"/>
  <Override PartName="/ppt/notesSlides/notesSlide6.xml" ContentType="application/vnd.openxmlformats-officedocument.presentationml.notesSlide+xml"/>
  <Override PartName="/ppt/tags/tag71.xml" ContentType="application/vnd.openxmlformats-officedocument.presentationml.tags+xml"/>
  <Override PartName="/ppt/notesSlides/notesSlide7.xml" ContentType="application/vnd.openxmlformats-officedocument.presentationml.notesSlide+xml"/>
  <Override PartName="/ppt/tags/tag72.xml" ContentType="application/vnd.openxmlformats-officedocument.presentationml.tags+xml"/>
  <Override PartName="/ppt/notesSlides/notesSlide8.xml" ContentType="application/vnd.openxmlformats-officedocument.presentationml.notesSlide+xml"/>
  <Override PartName="/ppt/tags/tag73.xml" ContentType="application/vnd.openxmlformats-officedocument.presentationml.tags+xml"/>
  <Override PartName="/ppt/notesSlides/notesSlide9.xml" ContentType="application/vnd.openxmlformats-officedocument.presentationml.notesSlide+xml"/>
  <Override PartName="/ppt/tags/tag74.xml" ContentType="application/vnd.openxmlformats-officedocument.presentationml.tags+xml"/>
  <Override PartName="/ppt/notesSlides/notesSlide10.xml" ContentType="application/vnd.openxmlformats-officedocument.presentationml.notesSlide+xml"/>
  <Override PartName="/ppt/tags/tag75.xml" ContentType="application/vnd.openxmlformats-officedocument.presentationml.tags+xml"/>
  <Override PartName="/ppt/notesSlides/notesSlide11.xml" ContentType="application/vnd.openxmlformats-officedocument.presentationml.notesSlide+xml"/>
  <Override PartName="/ppt/tags/tag76.xml" ContentType="application/vnd.openxmlformats-officedocument.presentationml.tags+xml"/>
  <Override PartName="/ppt/notesSlides/notesSlide12.xml" ContentType="application/vnd.openxmlformats-officedocument.presentationml.notesSlide+xml"/>
  <Override PartName="/ppt/tags/tag77.xml" ContentType="application/vnd.openxmlformats-officedocument.presentationml.tags+xml"/>
  <Override PartName="/ppt/notesSlides/notesSlide13.xml" ContentType="application/vnd.openxmlformats-officedocument.presentationml.notesSlide+xml"/>
  <Override PartName="/ppt/tags/tag78.xml" ContentType="application/vnd.openxmlformats-officedocument.presentationml.tags+xml"/>
  <Override PartName="/ppt/notesSlides/notesSlide14.xml" ContentType="application/vnd.openxmlformats-officedocument.presentationml.notesSlide+xml"/>
  <Override PartName="/ppt/tags/tag79.xml" ContentType="application/vnd.openxmlformats-officedocument.presentationml.tags+xml"/>
  <Override PartName="/ppt/notesSlides/notesSlide15.xml" ContentType="application/vnd.openxmlformats-officedocument.presentationml.notesSlide+xml"/>
  <Override PartName="/ppt/tags/tag80.xml" ContentType="application/vnd.openxmlformats-officedocument.presentationml.tags+xml"/>
  <Override PartName="/ppt/notesSlides/notesSlide16.xml" ContentType="application/vnd.openxmlformats-officedocument.presentationml.notesSlide+xml"/>
  <Override PartName="/ppt/tags/tag81.xml" ContentType="application/vnd.openxmlformats-officedocument.presentationml.tags+xml"/>
  <Override PartName="/ppt/notesSlides/notesSlide17.xml" ContentType="application/vnd.openxmlformats-officedocument.presentationml.notesSlide+xml"/>
  <Override PartName="/ppt/tags/tag82.xml" ContentType="application/vnd.openxmlformats-officedocument.presentationml.tags+xml"/>
  <Override PartName="/ppt/notesSlides/notesSlide18.xml" ContentType="application/vnd.openxmlformats-officedocument.presentationml.notesSlide+xml"/>
  <Override PartName="/ppt/tags/tag83.xml" ContentType="application/vnd.openxmlformats-officedocument.presentationml.tags+xml"/>
  <Override PartName="/ppt/notesSlides/notesSlide19.xml" ContentType="application/vnd.openxmlformats-officedocument.presentationml.notesSlide+xml"/>
  <Override PartName="/ppt/tags/tag84.xml" ContentType="application/vnd.openxmlformats-officedocument.presentationml.tags+xml"/>
  <Override PartName="/ppt/notesSlides/notesSlide20.xml" ContentType="application/vnd.openxmlformats-officedocument.presentationml.notesSlide+xml"/>
  <Override PartName="/ppt/tags/tag85.xml" ContentType="application/vnd.openxmlformats-officedocument.presentationml.tags+xml"/>
  <Override PartName="/ppt/notesSlides/notesSlide21.xml" ContentType="application/vnd.openxmlformats-officedocument.presentationml.notesSlide+xml"/>
  <Override PartName="/ppt/tags/tag86.xml" ContentType="application/vnd.openxmlformats-officedocument.presentationml.tags+xml"/>
  <Override PartName="/ppt/notesSlides/notesSlide22.xml" ContentType="application/vnd.openxmlformats-officedocument.presentationml.notesSlide+xml"/>
  <Override PartName="/ppt/tags/tag87.xml" ContentType="application/vnd.openxmlformats-officedocument.presentationml.tags+xml"/>
  <Override PartName="/ppt/notesSlides/notesSlide23.xml" ContentType="application/vnd.openxmlformats-officedocument.presentationml.notesSlide+xml"/>
  <Override PartName="/ppt/tags/tag88.xml" ContentType="application/vnd.openxmlformats-officedocument.presentationml.tags+xml"/>
  <Override PartName="/ppt/notesSlides/notesSlide24.xml" ContentType="application/vnd.openxmlformats-officedocument.presentationml.notesSlide+xml"/>
  <Override PartName="/ppt/tags/tag89.xml" ContentType="application/vnd.openxmlformats-officedocument.presentationml.tags+xml"/>
  <Override PartName="/ppt/notesSlides/notesSlide25.xml" ContentType="application/vnd.openxmlformats-officedocument.presentationml.notesSlide+xml"/>
  <Override PartName="/ppt/tags/tag90.xml" ContentType="application/vnd.openxmlformats-officedocument.presentationml.tags+xml"/>
  <Override PartName="/ppt/notesSlides/notesSlide26.xml" ContentType="application/vnd.openxmlformats-officedocument.presentationml.notesSlide+xml"/>
  <Override PartName="/ppt/tags/tag91.xml" ContentType="application/vnd.openxmlformats-officedocument.presentationml.tags+xml"/>
  <Override PartName="/ppt/notesSlides/notesSlide27.xml" ContentType="application/vnd.openxmlformats-officedocument.presentationml.notesSlide+xml"/>
  <Override PartName="/ppt/tags/tag92.xml" ContentType="application/vnd.openxmlformats-officedocument.presentationml.tags+xml"/>
  <Override PartName="/ppt/notesSlides/notesSlide28.xml" ContentType="application/vnd.openxmlformats-officedocument.presentationml.notesSlide+xml"/>
  <Override PartName="/ppt/tags/tag93.xml" ContentType="application/vnd.openxmlformats-officedocument.presentationml.tags+xml"/>
  <Override PartName="/ppt/notesSlides/notesSlide29.xml" ContentType="application/vnd.openxmlformats-officedocument.presentationml.notesSlide+xml"/>
  <Override PartName="/ppt/tags/tag94.xml" ContentType="application/vnd.openxmlformats-officedocument.presentationml.tags+xml"/>
  <Override PartName="/ppt/notesSlides/notesSlide30.xml" ContentType="application/vnd.openxmlformats-officedocument.presentationml.notesSlide+xml"/>
  <Override PartName="/ppt/tags/tag95.xml" ContentType="application/vnd.openxmlformats-officedocument.presentationml.tags+xml"/>
  <Override PartName="/ppt/notesSlides/notesSlide31.xml" ContentType="application/vnd.openxmlformats-officedocument.presentationml.notesSlide+xml"/>
  <Override PartName="/ppt/tags/tag9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36"/>
  </p:notesMasterIdLst>
  <p:sldIdLst>
    <p:sldId id="322" r:id="rId3"/>
    <p:sldId id="320" r:id="rId4"/>
    <p:sldId id="321" r:id="rId5"/>
    <p:sldId id="256" r:id="rId6"/>
    <p:sldId id="257" r:id="rId7"/>
    <p:sldId id="293" r:id="rId8"/>
    <p:sldId id="258" r:id="rId9"/>
    <p:sldId id="291" r:id="rId10"/>
    <p:sldId id="292" r:id="rId11"/>
    <p:sldId id="294" r:id="rId12"/>
    <p:sldId id="259" r:id="rId13"/>
    <p:sldId id="301" r:id="rId14"/>
    <p:sldId id="279" r:id="rId15"/>
    <p:sldId id="283" r:id="rId16"/>
    <p:sldId id="299" r:id="rId17"/>
    <p:sldId id="302" r:id="rId18"/>
    <p:sldId id="303" r:id="rId19"/>
    <p:sldId id="304" r:id="rId20"/>
    <p:sldId id="305" r:id="rId21"/>
    <p:sldId id="306" r:id="rId22"/>
    <p:sldId id="318" r:id="rId23"/>
    <p:sldId id="307" r:id="rId24"/>
    <p:sldId id="308" r:id="rId25"/>
    <p:sldId id="309" r:id="rId26"/>
    <p:sldId id="310" r:id="rId27"/>
    <p:sldId id="311" r:id="rId28"/>
    <p:sldId id="312" r:id="rId29"/>
    <p:sldId id="314" r:id="rId30"/>
    <p:sldId id="315" r:id="rId31"/>
    <p:sldId id="316" r:id="rId32"/>
    <p:sldId id="317" r:id="rId33"/>
    <p:sldId id="319" r:id="rId34"/>
    <p:sldId id="290" r:id="rId3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54"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7467B"/>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843" autoAdjust="0"/>
    <p:restoredTop sz="64046" autoAdjust="0"/>
  </p:normalViewPr>
  <p:slideViewPr>
    <p:cSldViewPr snapToGrid="0" showGuides="1">
      <p:cViewPr varScale="1">
        <p:scale>
          <a:sx n="98" d="100"/>
          <a:sy n="98" d="100"/>
        </p:scale>
        <p:origin x="2580" y="78"/>
      </p:cViewPr>
      <p:guideLst>
        <p:guide orient="horz" pos="2160"/>
        <p:guide pos="3854"/>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E1E92C-B3DC-48DF-836A-8A407634AAA1}" type="datetimeFigureOut">
              <a:rPr lang="zh-CN" altLang="en-US" smtClean="0"/>
              <a:t>2026/4/1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F2ADFF-6A68-4D4C-8DF4-C6AAACA87F83}" type="slidenum">
              <a:rPr lang="zh-CN" altLang="en-US" smtClean="0"/>
              <a:t>‹#›</a:t>
            </a:fld>
            <a:endParaRPr lang="zh-CN" altLang="en-US"/>
          </a:p>
        </p:txBody>
      </p:sp>
    </p:spTree>
    <p:extLst>
      <p:ext uri="{BB962C8B-B14F-4D97-AF65-F5344CB8AC3E}">
        <p14:creationId xmlns:p14="http://schemas.microsoft.com/office/powerpoint/2010/main" val="1200761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092634-CD5A-D9E4-77CE-B60A4542CCF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858567B-D911-D8A7-847B-345D55F9A4A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2517A97-2CCD-8A4B-A047-49A203BBF64D}"/>
              </a:ext>
            </a:extLst>
          </p:cNvPr>
          <p:cNvSpPr>
            <a:spLocks noGrp="1"/>
          </p:cNvSpPr>
          <p:nvPr>
            <p:ph type="body" idx="1"/>
          </p:nvPr>
        </p:nvSpPr>
        <p:spPr/>
        <p:txBody>
          <a:bodyPr/>
          <a:lstStyle/>
          <a:p>
            <a:r>
              <a:rPr lang="en-US" altLang="zh-CN" sz="1200" b="1" i="0" kern="1200" dirty="0">
                <a:solidFill>
                  <a:schemeClr val="tx1"/>
                </a:solidFill>
                <a:effectLst/>
                <a:latin typeface="+mn-lt"/>
                <a:ea typeface="+mn-ea"/>
                <a:cs typeface="+mn-cs"/>
              </a:rPr>
              <a:t>UIUC</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领衔， </a:t>
            </a:r>
            <a:r>
              <a:rPr lang="en-US" altLang="zh-CN" sz="1200" b="1" i="0" kern="1200" dirty="0">
                <a:solidFill>
                  <a:schemeClr val="tx1"/>
                </a:solidFill>
                <a:effectLst/>
                <a:latin typeface="+mn-lt"/>
                <a:ea typeface="+mn-ea"/>
                <a:cs typeface="+mn-cs"/>
              </a:rPr>
              <a:t>Meta</a:t>
            </a:r>
            <a:r>
              <a:rPr lang="zh-CN" altLang="en-US" sz="1200" b="1" i="0" kern="1200" dirty="0">
                <a:solidFill>
                  <a:schemeClr val="tx1"/>
                </a:solidFill>
                <a:effectLst/>
                <a:latin typeface="+mn-lt"/>
                <a:ea typeface="+mn-ea"/>
                <a:cs typeface="+mn-cs"/>
              </a:rPr>
              <a:t>、</a:t>
            </a:r>
            <a:r>
              <a:rPr lang="en-US" altLang="zh-CN" sz="1200" b="1" i="0" kern="1200" dirty="0">
                <a:solidFill>
                  <a:schemeClr val="tx1"/>
                </a:solidFill>
                <a:effectLst/>
                <a:latin typeface="+mn-lt"/>
                <a:ea typeface="+mn-ea"/>
                <a:cs typeface="+mn-cs"/>
              </a:rPr>
              <a:t>Amazon</a:t>
            </a:r>
            <a:r>
              <a:rPr lang="zh-CN" altLang="en-US" sz="1200" b="1" i="0" kern="1200" dirty="0">
                <a:solidFill>
                  <a:schemeClr val="tx1"/>
                </a:solidFill>
                <a:effectLst/>
                <a:latin typeface="+mn-lt"/>
                <a:ea typeface="+mn-ea"/>
                <a:cs typeface="+mn-cs"/>
              </a:rPr>
              <a:t>、</a:t>
            </a:r>
            <a:r>
              <a:rPr lang="en-US" altLang="zh-CN" sz="1200" b="1" i="0" kern="1200" dirty="0">
                <a:solidFill>
                  <a:schemeClr val="tx1"/>
                </a:solidFill>
                <a:effectLst/>
                <a:latin typeface="+mn-lt"/>
                <a:ea typeface="+mn-ea"/>
                <a:cs typeface="+mn-cs"/>
              </a:rPr>
              <a:t>Google DeepMind</a:t>
            </a:r>
            <a:r>
              <a:rPr lang="zh-CN" altLang="en-US" sz="1200" b="1" i="0" kern="1200" dirty="0">
                <a:solidFill>
                  <a:schemeClr val="tx1"/>
                </a:solidFill>
                <a:effectLst/>
                <a:latin typeface="+mn-lt"/>
                <a:ea typeface="+mn-ea"/>
                <a:cs typeface="+mn-cs"/>
              </a:rPr>
              <a:t>、</a:t>
            </a:r>
            <a:r>
              <a:rPr lang="en-US" altLang="zh-CN" sz="1200" b="1" i="0" kern="1200" dirty="0">
                <a:solidFill>
                  <a:schemeClr val="tx1"/>
                </a:solidFill>
                <a:effectLst/>
                <a:latin typeface="+mn-lt"/>
                <a:ea typeface="+mn-ea"/>
                <a:cs typeface="+mn-cs"/>
              </a:rPr>
              <a:t>UCSD</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以及 </a:t>
            </a:r>
            <a:r>
              <a:rPr lang="en-US" altLang="zh-CN" sz="1200" b="1" i="0" kern="1200" dirty="0">
                <a:solidFill>
                  <a:schemeClr val="tx1"/>
                </a:solidFill>
                <a:effectLst/>
                <a:latin typeface="+mn-lt"/>
                <a:ea typeface="+mn-ea"/>
                <a:cs typeface="+mn-cs"/>
              </a:rPr>
              <a:t>Yale</a:t>
            </a:r>
            <a:r>
              <a:rPr lang="en-US" altLang="zh-CN" sz="1200" b="0" i="0" kern="1200" dirty="0">
                <a:solidFill>
                  <a:schemeClr val="tx1"/>
                </a:solidFill>
                <a:effectLst/>
                <a:latin typeface="+mn-lt"/>
                <a:ea typeface="+mn-ea"/>
                <a:cs typeface="+mn-cs"/>
              </a:rPr>
              <a:t> </a:t>
            </a:r>
          </a:p>
          <a:p>
            <a:r>
              <a:rPr lang="en-US" altLang="zh-CN" dirty="0"/>
              <a:t>¹ </a:t>
            </a:r>
            <a:r>
              <a:rPr lang="zh-CN" altLang="en-US" dirty="0"/>
              <a:t>伊利诺伊大学厄巴纳 </a:t>
            </a:r>
            <a:r>
              <a:rPr lang="en-US" altLang="zh-CN" dirty="0"/>
              <a:t>- </a:t>
            </a:r>
            <a:r>
              <a:rPr lang="zh-CN" altLang="en-US" dirty="0"/>
              <a:t>香槟分校；</a:t>
            </a:r>
            <a:r>
              <a:rPr lang="en-US" altLang="zh-CN" dirty="0"/>
              <a:t>² </a:t>
            </a:r>
            <a:r>
              <a:rPr lang="zh-CN" altLang="en-US" dirty="0"/>
              <a:t>元宇宙平台公司（</a:t>
            </a:r>
            <a:r>
              <a:rPr lang="en-US" altLang="zh-CN" dirty="0"/>
              <a:t>Meta</a:t>
            </a:r>
            <a:r>
              <a:rPr lang="zh-CN" altLang="en-US" dirty="0"/>
              <a:t>）；</a:t>
            </a:r>
            <a:r>
              <a:rPr lang="en-US" altLang="zh-CN" dirty="0"/>
              <a:t>³ </a:t>
            </a:r>
            <a:r>
              <a:rPr lang="zh-CN" altLang="en-US" dirty="0"/>
              <a:t>亚马逊公司；⁴谷歌深度思维公司；⁵加利福尼亚大学圣地亚哥分校；⁶耶鲁大学</a:t>
            </a:r>
            <a:br>
              <a:rPr lang="en-US" altLang="zh-CN" sz="1200" b="0" i="0" kern="1200" dirty="0">
                <a:solidFill>
                  <a:schemeClr val="tx1"/>
                </a:solidFill>
                <a:effectLst/>
                <a:latin typeface="+mn-lt"/>
                <a:ea typeface="+mn-ea"/>
                <a:cs typeface="+mn-cs"/>
              </a:rPr>
            </a:br>
            <a:br>
              <a:rPr lang="en-US" altLang="zh-CN" sz="1200" b="0" i="0" kern="1200" dirty="0">
                <a:solidFill>
                  <a:schemeClr val="tx1"/>
                </a:solidFill>
                <a:effectLst/>
                <a:latin typeface="+mn-lt"/>
                <a:ea typeface="+mn-ea"/>
                <a:cs typeface="+mn-cs"/>
              </a:rPr>
            </a:br>
            <a:br>
              <a:rPr lang="en-US" altLang="zh-CN" sz="1200" b="0" i="0" kern="1200" dirty="0">
                <a:solidFill>
                  <a:schemeClr val="tx1"/>
                </a:solidFill>
                <a:effectLst/>
                <a:latin typeface="+mn-lt"/>
                <a:ea typeface="+mn-ea"/>
                <a:cs typeface="+mn-cs"/>
              </a:rPr>
            </a:br>
            <a:r>
              <a:rPr lang="en-US" altLang="zh-CN" sz="1200" b="0" i="0" kern="1200" dirty="0">
                <a:solidFill>
                  <a:schemeClr val="tx1"/>
                </a:solidFill>
                <a:effectLst/>
                <a:latin typeface="+mn-lt"/>
                <a:ea typeface="+mn-ea"/>
                <a:cs typeface="+mn-cs"/>
              </a:rPr>
              <a:t>agent</a:t>
            </a:r>
            <a:r>
              <a:rPr lang="zh-CN" altLang="en-US" sz="1200" b="0" i="0" kern="1200" dirty="0">
                <a:solidFill>
                  <a:schemeClr val="tx1"/>
                </a:solidFill>
                <a:effectLst/>
                <a:latin typeface="+mn-lt"/>
                <a:ea typeface="+mn-ea"/>
                <a:cs typeface="+mn-cs"/>
              </a:rPr>
              <a:t>简单的说就是让</a:t>
            </a:r>
            <a:r>
              <a:rPr lang="en-US" altLang="zh-CN" sz="1200" b="0" i="0" kern="1200" dirty="0">
                <a:solidFill>
                  <a:schemeClr val="tx1"/>
                </a:solidFill>
                <a:effectLst/>
                <a:latin typeface="+mn-lt"/>
                <a:ea typeface="+mn-ea"/>
                <a:cs typeface="+mn-cs"/>
              </a:rPr>
              <a:t>ai</a:t>
            </a:r>
            <a:r>
              <a:rPr lang="zh-CN" altLang="en-US" sz="1200" b="0" i="0" kern="1200" dirty="0">
                <a:solidFill>
                  <a:schemeClr val="tx1"/>
                </a:solidFill>
                <a:effectLst/>
                <a:latin typeface="+mn-lt"/>
                <a:ea typeface="+mn-ea"/>
                <a:cs typeface="+mn-cs"/>
              </a:rPr>
              <a:t>使用各种工具解决用户提出的问题，因此这篇综述将</a:t>
            </a:r>
            <a:r>
              <a:rPr lang="en-US" altLang="zh-CN" sz="1200" b="0" i="0" kern="1200" dirty="0">
                <a:solidFill>
                  <a:schemeClr val="tx1"/>
                </a:solidFill>
                <a:effectLst/>
                <a:latin typeface="+mn-lt"/>
                <a:ea typeface="+mn-ea"/>
                <a:cs typeface="+mn-cs"/>
              </a:rPr>
              <a:t>agent</a:t>
            </a:r>
            <a:r>
              <a:rPr lang="zh-CN" altLang="en-US" sz="1200" b="0" i="0" kern="1200" dirty="0">
                <a:solidFill>
                  <a:schemeClr val="tx1"/>
                </a:solidFill>
                <a:effectLst/>
                <a:latin typeface="+mn-lt"/>
                <a:ea typeface="+mn-ea"/>
                <a:cs typeface="+mn-cs"/>
              </a:rPr>
              <a:t>分解为三个层次，并且说明了三个层次相关的大体方向，其中，我汇报的两篇主要集中为规划推理这个模块</a:t>
            </a:r>
            <a:endParaRPr lang="zh-CN" altLang="en-US" dirty="0"/>
          </a:p>
        </p:txBody>
      </p:sp>
      <p:sp>
        <p:nvSpPr>
          <p:cNvPr id="4" name="灯片编号占位符 3">
            <a:extLst>
              <a:ext uri="{FF2B5EF4-FFF2-40B4-BE49-F238E27FC236}">
                <a16:creationId xmlns:a16="http://schemas.microsoft.com/office/drawing/2014/main" id="{F183BA78-D9BE-331D-6414-BD122B9E467F}"/>
              </a:ext>
            </a:extLst>
          </p:cNvPr>
          <p:cNvSpPr>
            <a:spLocks noGrp="1"/>
          </p:cNvSpPr>
          <p:nvPr>
            <p:ph type="sldNum" sz="quarter" idx="5"/>
          </p:nvPr>
        </p:nvSpPr>
        <p:spPr/>
        <p:txBody>
          <a:bodyPr/>
          <a:lstStyle/>
          <a:p>
            <a:fld id="{3FF2ADFF-6A68-4D4C-8DF4-C6AAACA87F83}" type="slidenum">
              <a:rPr lang="zh-CN" altLang="en-US" smtClean="0"/>
              <a:t>2</a:t>
            </a:fld>
            <a:endParaRPr lang="zh-CN" altLang="en-US"/>
          </a:p>
        </p:txBody>
      </p:sp>
    </p:spTree>
    <p:extLst>
      <p:ext uri="{BB962C8B-B14F-4D97-AF65-F5344CB8AC3E}">
        <p14:creationId xmlns:p14="http://schemas.microsoft.com/office/powerpoint/2010/main" val="5201642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30E45-4CC1-7D3A-E619-9DD1F117F17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46A5B56-39CD-4AE3-6CE5-FD1E4E43018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7AB944F-744A-4856-8D75-4031992E0EA3}"/>
              </a:ext>
            </a:extLst>
          </p:cNvPr>
          <p:cNvSpPr>
            <a:spLocks noGrp="1"/>
          </p:cNvSpPr>
          <p:nvPr>
            <p:ph type="body" idx="1"/>
          </p:nvPr>
        </p:nvSpPr>
        <p:spPr/>
        <p:txBody>
          <a:bodyPr/>
          <a:lstStyle/>
          <a:p>
            <a:r>
              <a:rPr lang="zh-CN" altLang="en-US" dirty="0"/>
              <a:t>基础层论文很多，但是单独到规划推理，则论文不太好找。</a:t>
            </a:r>
            <a:endParaRPr lang="en-US" altLang="zh-CN" dirty="0"/>
          </a:p>
          <a:p>
            <a:endParaRPr lang="en-US" altLang="zh-CN" dirty="0"/>
          </a:p>
          <a:p>
            <a:r>
              <a:rPr lang="zh-CN" altLang="en-US"/>
              <a:t>规划推理模块，当前找的论文主要集中再这两个工作上，直接对模型本题进行训练，或者构建一个规划器</a:t>
            </a:r>
            <a:endParaRPr lang="zh-CN" altLang="en-US" dirty="0"/>
          </a:p>
        </p:txBody>
      </p:sp>
      <p:sp>
        <p:nvSpPr>
          <p:cNvPr id="4" name="灯片编号占位符 3">
            <a:extLst>
              <a:ext uri="{FF2B5EF4-FFF2-40B4-BE49-F238E27FC236}">
                <a16:creationId xmlns:a16="http://schemas.microsoft.com/office/drawing/2014/main" id="{68A77AE2-0BCA-8C08-1DD4-9294AA0DA6D6}"/>
              </a:ext>
            </a:extLst>
          </p:cNvPr>
          <p:cNvSpPr>
            <a:spLocks noGrp="1"/>
          </p:cNvSpPr>
          <p:nvPr>
            <p:ph type="sldNum" sz="quarter" idx="5"/>
          </p:nvPr>
        </p:nvSpPr>
        <p:spPr/>
        <p:txBody>
          <a:bodyPr/>
          <a:lstStyle/>
          <a:p>
            <a:fld id="{3FF2ADFF-6A68-4D4C-8DF4-C6AAACA87F83}" type="slidenum">
              <a:rPr lang="zh-CN" altLang="en-US" smtClean="0"/>
              <a:t>3</a:t>
            </a:fld>
            <a:endParaRPr lang="zh-CN" altLang="en-US"/>
          </a:p>
        </p:txBody>
      </p:sp>
    </p:spTree>
    <p:extLst>
      <p:ext uri="{BB962C8B-B14F-4D97-AF65-F5344CB8AC3E}">
        <p14:creationId xmlns:p14="http://schemas.microsoft.com/office/powerpoint/2010/main" val="37215129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t>正确的问题已是答案的一半：全无监督的大语言模型推理激励方法</a:t>
            </a: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latin typeface="Times New Roman" panose="02020603050405020304" pitchFamily="18" charset="0"/>
              <a:ea typeface="+mn-ea"/>
              <a:cs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Times New Roman" panose="02020603050405020304" pitchFamily="18" charset="0"/>
                <a:ea typeface="+mn-ea"/>
                <a:cs typeface="+mn-ea"/>
              </a:rPr>
              <a:t>单位：天津大学（</a:t>
            </a:r>
            <a:r>
              <a:rPr lang="zh-CN" altLang="en-US" dirty="0"/>
              <a:t>上海交通大学，新加坡国立大学，</a:t>
            </a:r>
            <a:r>
              <a:rPr lang="en-US" altLang="zh-CN" dirty="0"/>
              <a:t> </a:t>
            </a:r>
            <a:r>
              <a:rPr lang="zh-CN" altLang="en-US" dirty="0"/>
              <a:t>腾讯人工智能实验室）</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latin typeface="Times New Roman" panose="02020603050405020304" pitchFamily="18" charset="0"/>
              <a:ea typeface="+mn-ea"/>
              <a:cs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Times New Roman" panose="02020603050405020304" pitchFamily="18" charset="0"/>
                <a:ea typeface="+mn-ea"/>
                <a:cs typeface="+mn-ea"/>
              </a:rPr>
              <a:t>期刊：</a:t>
            </a:r>
            <a:r>
              <a:rPr lang="en-US" altLang="zh-CN" sz="1200" dirty="0" err="1">
                <a:latin typeface="Times New Roman" panose="02020603050405020304" pitchFamily="18" charset="0"/>
                <a:ea typeface="+mn-ea"/>
                <a:cs typeface="+mn-ea"/>
              </a:rPr>
              <a:t>NeurIPS</a:t>
            </a:r>
            <a:endParaRPr lang="en-US" altLang="zh-CN" sz="1200" dirty="0">
              <a:latin typeface="Times New Roman" panose="02020603050405020304" pitchFamily="18" charset="0"/>
              <a:ea typeface="+mn-ea"/>
              <a:cs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latin typeface="Times New Roman" panose="02020603050405020304" pitchFamily="18" charset="0"/>
              <a:ea typeface="+mn-ea"/>
              <a:cs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Times New Roman" panose="02020603050405020304" pitchFamily="18" charset="0"/>
                <a:ea typeface="+mn-ea"/>
                <a:cs typeface="+mn-ea"/>
              </a:rPr>
              <a:t>如何以全无监督的方式激励大语言模型的推理能力</a:t>
            </a:r>
          </a:p>
          <a:p>
            <a:endParaRPr lang="zh-CN" altLang="en-US" dirty="0"/>
          </a:p>
        </p:txBody>
      </p:sp>
      <p:sp>
        <p:nvSpPr>
          <p:cNvPr id="4" name="灯片编号占位符 3"/>
          <p:cNvSpPr>
            <a:spLocks noGrp="1"/>
          </p:cNvSpPr>
          <p:nvPr>
            <p:ph type="sldNum" sz="quarter" idx="5"/>
          </p:nvPr>
        </p:nvSpPr>
        <p:spPr/>
        <p:txBody>
          <a:bodyPr/>
          <a:lstStyle/>
          <a:p>
            <a:fld id="{3FF2ADFF-6A68-4D4C-8DF4-C6AAACA87F83}" type="slidenum">
              <a:rPr lang="zh-CN" altLang="en-US" smtClean="0"/>
              <a:t>4</a:t>
            </a:fld>
            <a:endParaRPr lang="zh-CN" altLang="en-US"/>
          </a:p>
        </p:txBody>
      </p:sp>
    </p:spTree>
    <p:extLst>
      <p:ext uri="{BB962C8B-B14F-4D97-AF65-F5344CB8AC3E}">
        <p14:creationId xmlns:p14="http://schemas.microsoft.com/office/powerpoint/2010/main" val="16009130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现有方法需要制作外部数据（推理链路，数据标注），在</a:t>
            </a:r>
            <a:r>
              <a:rPr lang="en-US" altLang="zh-CN" dirty="0"/>
              <a:t>RL</a:t>
            </a:r>
            <a:r>
              <a:rPr lang="zh-CN" altLang="en-US" dirty="0"/>
              <a:t>之前依赖</a:t>
            </a:r>
            <a:r>
              <a:rPr lang="en-US" altLang="zh-CN" dirty="0"/>
              <a:t>SFT</a:t>
            </a:r>
          </a:p>
          <a:p>
            <a:endParaRPr lang="en-US" altLang="zh-CN" dirty="0"/>
          </a:p>
          <a:p>
            <a:r>
              <a:rPr lang="en-US" altLang="zh-CN" dirty="0"/>
              <a:t>RFT = Rejection Fine-Tuning</a:t>
            </a:r>
            <a:r>
              <a:rPr lang="zh-CN" altLang="en-US" dirty="0"/>
              <a:t>（拒绝采样微调）：让模型根据任务生成多个规划，保留最好的规划进行监督学习。</a:t>
            </a:r>
            <a:endParaRPr lang="en-US" altLang="zh-CN" dirty="0"/>
          </a:p>
          <a:p>
            <a:endParaRPr lang="en-US" altLang="zh-CN" dirty="0"/>
          </a:p>
          <a:p>
            <a:r>
              <a:rPr lang="zh-CN" altLang="en-US" dirty="0"/>
              <a:t>即使有开放性的数据据，仍需要对其格式进行调整，而且在强化学习时，需要设计奖励模型和规则，这些规则的设计和构建需要花费时间成本</a:t>
            </a:r>
            <a:endParaRPr lang="en-US" altLang="zh-CN" dirty="0"/>
          </a:p>
          <a:p>
            <a:endParaRPr lang="en-US" altLang="zh-CN" dirty="0"/>
          </a:p>
          <a:p>
            <a:r>
              <a:rPr lang="zh-CN" altLang="en-US" dirty="0"/>
              <a:t>如果有些问题开放性的数据集较少，即使模型生成了自训练数据，还需要验证自生成数据集的正确性。</a:t>
            </a:r>
            <a:endParaRPr lang="en-US" altLang="zh-CN" dirty="0"/>
          </a:p>
          <a:p>
            <a:r>
              <a:rPr lang="zh-CN" altLang="en-US" dirty="0"/>
              <a:t>举例：</a:t>
            </a:r>
          </a:p>
          <a:p>
            <a:r>
              <a:rPr lang="zh-CN" altLang="en-US" dirty="0"/>
              <a:t>数学题：要专家写完整推理过程</a:t>
            </a:r>
          </a:p>
          <a:p>
            <a:r>
              <a:rPr lang="zh-CN" altLang="en-US" dirty="0"/>
              <a:t>编程：要写正确代码 </a:t>
            </a:r>
            <a:r>
              <a:rPr lang="en-US" altLang="zh-CN" dirty="0"/>
              <a:t>+ </a:t>
            </a:r>
            <a:r>
              <a:rPr lang="zh-CN" altLang="en-US" dirty="0"/>
              <a:t>测试</a:t>
            </a:r>
          </a:p>
          <a:p>
            <a:r>
              <a:rPr lang="zh-CN" altLang="en-US" dirty="0"/>
              <a:t>多领域知识：需要各领域专家</a:t>
            </a:r>
          </a:p>
          <a:p>
            <a:endParaRPr lang="en-US" altLang="zh-CN" dirty="0"/>
          </a:p>
          <a:p>
            <a:endParaRPr lang="zh-CN" altLang="en-US" dirty="0"/>
          </a:p>
        </p:txBody>
      </p:sp>
      <p:sp>
        <p:nvSpPr>
          <p:cNvPr id="4" name="灯片编号占位符 3"/>
          <p:cNvSpPr>
            <a:spLocks noGrp="1"/>
          </p:cNvSpPr>
          <p:nvPr>
            <p:ph type="sldNum" sz="quarter" idx="5"/>
          </p:nvPr>
        </p:nvSpPr>
        <p:spPr/>
        <p:txBody>
          <a:bodyPr/>
          <a:lstStyle/>
          <a:p>
            <a:fld id="{3FF2ADFF-6A68-4D4C-8DF4-C6AAACA87F83}" type="slidenum">
              <a:rPr lang="zh-CN" altLang="en-US" smtClean="0"/>
              <a:t>5</a:t>
            </a:fld>
            <a:endParaRPr lang="zh-CN" altLang="en-US"/>
          </a:p>
        </p:txBody>
      </p:sp>
    </p:spTree>
    <p:extLst>
      <p:ext uri="{BB962C8B-B14F-4D97-AF65-F5344CB8AC3E}">
        <p14:creationId xmlns:p14="http://schemas.microsoft.com/office/powerpoint/2010/main" val="3884548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916F2-A106-7C93-9A97-CEBB41E155A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9F54325-F045-8804-9040-EE7AA346D58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B20BE7E-0FE3-8228-6D2B-B8771FBB05F1}"/>
              </a:ext>
            </a:extLst>
          </p:cNvPr>
          <p:cNvSpPr>
            <a:spLocks noGrp="1"/>
          </p:cNvSpPr>
          <p:nvPr>
            <p:ph type="body" idx="1"/>
          </p:nvPr>
        </p:nvSpPr>
        <p:spPr/>
        <p:txBody>
          <a:bodyPr/>
          <a:lstStyle/>
          <a:p>
            <a:r>
              <a:rPr lang="en-US" altLang="zh-CN" dirty="0"/>
              <a:t>EMPO</a:t>
            </a:r>
            <a:r>
              <a:rPr lang="zh-CN" altLang="en-US" dirty="0"/>
              <a:t>不需要外部数据，不在</a:t>
            </a:r>
            <a:r>
              <a:rPr lang="en-US" altLang="zh-CN" dirty="0"/>
              <a:t>RL</a:t>
            </a:r>
            <a:r>
              <a:rPr lang="zh-CN" altLang="en-US" dirty="0"/>
              <a:t>之前进行</a:t>
            </a:r>
            <a:r>
              <a:rPr lang="en-US" altLang="zh-CN" dirty="0"/>
              <a:t>SFT</a:t>
            </a:r>
            <a:endParaRPr lang="zh-CN" altLang="en-US" dirty="0"/>
          </a:p>
        </p:txBody>
      </p:sp>
      <p:sp>
        <p:nvSpPr>
          <p:cNvPr id="4" name="灯片编号占位符 3">
            <a:extLst>
              <a:ext uri="{FF2B5EF4-FFF2-40B4-BE49-F238E27FC236}">
                <a16:creationId xmlns:a16="http://schemas.microsoft.com/office/drawing/2014/main" id="{A80D3253-829B-4D90-4D47-FA64DD09501D}"/>
              </a:ext>
            </a:extLst>
          </p:cNvPr>
          <p:cNvSpPr>
            <a:spLocks noGrp="1"/>
          </p:cNvSpPr>
          <p:nvPr>
            <p:ph type="sldNum" sz="quarter" idx="5"/>
          </p:nvPr>
        </p:nvSpPr>
        <p:spPr/>
        <p:txBody>
          <a:bodyPr/>
          <a:lstStyle/>
          <a:p>
            <a:fld id="{3FF2ADFF-6A68-4D4C-8DF4-C6AAACA87F83}" type="slidenum">
              <a:rPr lang="zh-CN" altLang="en-US" smtClean="0"/>
              <a:t>6</a:t>
            </a:fld>
            <a:endParaRPr lang="zh-CN" altLang="en-US"/>
          </a:p>
        </p:txBody>
      </p:sp>
    </p:spTree>
    <p:extLst>
      <p:ext uri="{BB962C8B-B14F-4D97-AF65-F5344CB8AC3E}">
        <p14:creationId xmlns:p14="http://schemas.microsoft.com/office/powerpoint/2010/main" val="30822706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lphaLcParenBoth"/>
            </a:pPr>
            <a:r>
              <a:rPr lang="zh-CN" altLang="en-US" dirty="0"/>
              <a:t>给出来</a:t>
            </a:r>
            <a:r>
              <a:rPr lang="en-US" altLang="zh-CN" dirty="0" err="1"/>
              <a:t>ppo,grpo,empo</a:t>
            </a:r>
            <a:r>
              <a:rPr lang="zh-CN" altLang="en-US" dirty="0"/>
              <a:t>三种方法的笼统概念，</a:t>
            </a:r>
            <a:r>
              <a:rPr lang="en-US" altLang="zh-CN" dirty="0"/>
              <a:t>(b)</a:t>
            </a:r>
            <a:r>
              <a:rPr lang="zh-CN" altLang="en-US" dirty="0"/>
              <a:t>给出了</a:t>
            </a:r>
            <a:r>
              <a:rPr lang="en-US" altLang="zh-CN" dirty="0"/>
              <a:t>EMPO</a:t>
            </a:r>
            <a:r>
              <a:rPr lang="zh-CN" altLang="en-US" dirty="0"/>
              <a:t>的熵最小化策略优化</a:t>
            </a:r>
            <a:endParaRPr lang="en-US" altLang="zh-CN" dirty="0"/>
          </a:p>
          <a:p>
            <a:pPr marL="0" indent="0">
              <a:buNone/>
            </a:pPr>
            <a:endParaRPr lang="en-US" altLang="zh-CN" dirty="0"/>
          </a:p>
          <a:p>
            <a:pPr marL="171450" indent="-171450">
              <a:buFont typeface="Arial" panose="020B0604020202020204" pitchFamily="34" charset="0"/>
              <a:buChar char="•"/>
            </a:pPr>
            <a:r>
              <a:rPr lang="en-US" altLang="zh-CN" dirty="0"/>
              <a:t>Reference Model</a:t>
            </a:r>
            <a:r>
              <a:rPr lang="zh-CN" altLang="en-US" dirty="0"/>
              <a:t>（参考模型）：通常是</a:t>
            </a:r>
            <a:r>
              <a:rPr lang="zh-CN" altLang="en-US" sz="1200" b="1" kern="1200" dirty="0">
                <a:solidFill>
                  <a:schemeClr val="tx1"/>
                </a:solidFill>
                <a:effectLst/>
                <a:latin typeface="+mn-lt"/>
                <a:ea typeface="+mn-ea"/>
                <a:cs typeface="+mn-cs"/>
              </a:rPr>
              <a:t>策略模型更新前的旧版本</a:t>
            </a:r>
            <a:r>
              <a:rPr lang="zh-CN" altLang="en-US" dirty="0"/>
              <a:t>，或者是一个固定的预训练模型。</a:t>
            </a:r>
            <a:endParaRPr lang="en-US" altLang="zh-CN" dirty="0"/>
          </a:p>
          <a:p>
            <a:pPr marL="171450" indent="-171450">
              <a:buFont typeface="Arial" panose="020B0604020202020204" pitchFamily="34" charset="0"/>
              <a:buChar char="•"/>
            </a:pPr>
            <a:r>
              <a:rPr lang="en-US" altLang="zh-CN" dirty="0"/>
              <a:t>Reward Model or Pre-defined Rules</a:t>
            </a:r>
            <a:r>
              <a:rPr lang="zh-CN" altLang="en-US" dirty="0"/>
              <a:t>（奖励模型 </a:t>
            </a:r>
            <a:r>
              <a:rPr lang="en-US" altLang="zh-CN" dirty="0"/>
              <a:t>/ </a:t>
            </a:r>
            <a:r>
              <a:rPr lang="zh-CN" altLang="en-US" dirty="0"/>
              <a:t>预定义规则）：一个专门训练的小模型，用来给 </a:t>
            </a:r>
            <a:r>
              <a:rPr lang="en-US" altLang="zh-CN" dirty="0"/>
              <a:t>LLM </a:t>
            </a:r>
            <a:r>
              <a:rPr lang="zh-CN" altLang="en-US" dirty="0"/>
              <a:t>的输出打分（比如 “这个回答质量高 </a:t>
            </a:r>
            <a:r>
              <a:rPr lang="en-US" altLang="zh-CN" dirty="0"/>
              <a:t>/ </a:t>
            </a:r>
            <a:r>
              <a:rPr lang="zh-CN" altLang="en-US" dirty="0"/>
              <a:t>低”“这个推理对 </a:t>
            </a:r>
            <a:r>
              <a:rPr lang="en-US" altLang="zh-CN" dirty="0"/>
              <a:t>/ </a:t>
            </a:r>
            <a:r>
              <a:rPr lang="zh-CN" altLang="en-US" dirty="0"/>
              <a:t>错”）。</a:t>
            </a:r>
            <a:endParaRPr lang="en-US" altLang="zh-CN" dirty="0"/>
          </a:p>
          <a:p>
            <a:pPr marL="171450" indent="-171450">
              <a:buFont typeface="Arial" panose="020B0604020202020204" pitchFamily="34" charset="0"/>
              <a:buChar char="•"/>
            </a:pPr>
            <a:r>
              <a:rPr lang="en-US" altLang="zh-CN" dirty="0"/>
              <a:t>Value Model</a:t>
            </a:r>
            <a:r>
              <a:rPr lang="zh-CN" altLang="en-US" dirty="0"/>
              <a:t>（价值模型）：一个用来估计 “当前状态（问题）下，策略的长期价值” 的模型。</a:t>
            </a:r>
            <a:endParaRPr lang="en-US" altLang="zh-CN" dirty="0"/>
          </a:p>
          <a:p>
            <a:pPr marL="0" indent="0">
              <a:buNone/>
            </a:pPr>
            <a:r>
              <a:rPr lang="en-US" altLang="zh-CN" dirty="0"/>
              <a:t>PPO</a:t>
            </a:r>
            <a:r>
              <a:rPr lang="zh-CN" altLang="en-US" dirty="0"/>
              <a:t>需要这三个模块，指定规则来计算奖励</a:t>
            </a:r>
            <a:r>
              <a:rPr lang="en-US" altLang="zh-CN" dirty="0"/>
              <a:t>(Reward Model or Pre-defined Rules</a:t>
            </a:r>
            <a:r>
              <a:rPr lang="zh-CN" altLang="en-US" dirty="0"/>
              <a:t>，比如简单的如果回答正确就为</a:t>
            </a:r>
            <a:r>
              <a:rPr lang="en-US" altLang="zh-CN" dirty="0"/>
              <a:t>1,</a:t>
            </a:r>
            <a:r>
              <a:rPr lang="zh-CN" altLang="en-US" dirty="0"/>
              <a:t>错误就为</a:t>
            </a:r>
            <a:r>
              <a:rPr lang="en-US" altLang="zh-CN"/>
              <a:t>0),</a:t>
            </a:r>
            <a:r>
              <a:rPr lang="zh-CN" altLang="en-US" dirty="0"/>
              <a:t>得到优势</a:t>
            </a:r>
            <a:r>
              <a:rPr lang="en-US" altLang="zh-CN" dirty="0"/>
              <a:t>A=R−V(s)</a:t>
            </a:r>
            <a:r>
              <a:rPr lang="zh-CN" altLang="en-US" dirty="0"/>
              <a:t>（</a:t>
            </a:r>
            <a:r>
              <a:rPr lang="en-US" altLang="zh-CN" dirty="0"/>
              <a:t>Value Model</a:t>
            </a:r>
            <a:r>
              <a:rPr lang="zh-CN" altLang="en-US" dirty="0"/>
              <a:t>）实际得到的汇报减去预期汇报，如果实际比语气好久奖励，如果比预期差就惩罚（</a:t>
            </a:r>
            <a:r>
              <a:rPr lang="en-US" altLang="zh-CN" dirty="0"/>
              <a:t>Reference Model</a:t>
            </a:r>
            <a:r>
              <a:rPr lang="zh-CN" altLang="en-US" dirty="0"/>
              <a:t>防止更新过大，就是</a:t>
            </a:r>
            <a:r>
              <a:rPr lang="en-US" altLang="zh-CN" dirty="0"/>
              <a:t>KL</a:t>
            </a:r>
            <a:r>
              <a:rPr lang="zh-CN" altLang="en-US" dirty="0"/>
              <a:t>那部分）</a:t>
            </a:r>
            <a:endParaRPr lang="en-US" altLang="zh-CN" dirty="0"/>
          </a:p>
          <a:p>
            <a:pPr marL="0" indent="0">
              <a:buNone/>
            </a:pPr>
            <a:r>
              <a:rPr lang="en-US" altLang="zh-CN" dirty="0"/>
              <a:t>GRPO</a:t>
            </a:r>
            <a:r>
              <a:rPr lang="zh-CN" altLang="en-US" dirty="0"/>
              <a:t>则不依赖</a:t>
            </a:r>
            <a:r>
              <a:rPr lang="en-US" altLang="zh-CN" dirty="0"/>
              <a:t>Value Model</a:t>
            </a:r>
            <a:r>
              <a:rPr lang="zh-CN" altLang="en-US" dirty="0"/>
              <a:t>，优势值是通过</a:t>
            </a:r>
            <a:r>
              <a:rPr lang="zh-CN" altLang="en-US" sz="1200" b="1" kern="1200" dirty="0">
                <a:solidFill>
                  <a:schemeClr val="tx1"/>
                </a:solidFill>
                <a:effectLst/>
                <a:latin typeface="+mn-lt"/>
                <a:ea typeface="+mn-ea"/>
                <a:cs typeface="+mn-cs"/>
              </a:rPr>
              <a:t>组内归一化</a:t>
            </a:r>
            <a:r>
              <a:rPr lang="zh-CN" altLang="en-US" dirty="0"/>
              <a:t>直接从奖励，不需要价值模型来做基线，直接用组内均值作为基线。有些方法会移除</a:t>
            </a:r>
            <a:r>
              <a:rPr lang="en-US" altLang="zh-CN" dirty="0"/>
              <a:t>KL </a:t>
            </a:r>
            <a:r>
              <a:rPr lang="zh-CN" altLang="en-US" dirty="0"/>
              <a:t>约束（</a:t>
            </a:r>
            <a:r>
              <a:rPr lang="en-US" altLang="zh-CN" dirty="0"/>
              <a:t>Reference model</a:t>
            </a:r>
            <a:r>
              <a:rPr lang="zh-CN" altLang="en-US" dirty="0"/>
              <a:t>），但在上面给出的仍然使用来保持稳定性</a:t>
            </a:r>
            <a:r>
              <a:rPr lang="en-US" altLang="zh-CN" dirty="0"/>
              <a:t>,</a:t>
            </a:r>
            <a:r>
              <a:rPr lang="zh-CN" altLang="en-US" dirty="0"/>
              <a:t>奖励通过</a:t>
            </a:r>
            <a:r>
              <a:rPr lang="zh-CN" altLang="en-US" b="1" dirty="0"/>
              <a:t>（回答奖励</a:t>
            </a:r>
            <a:r>
              <a:rPr lang="en-US" altLang="zh-CN" b="1" dirty="0"/>
              <a:t>-</a:t>
            </a:r>
            <a:r>
              <a:rPr lang="zh-CN" altLang="en-US" b="1" dirty="0"/>
              <a:t>平均奖励）</a:t>
            </a:r>
            <a:r>
              <a:rPr lang="en-US" altLang="zh-CN" b="1" dirty="0"/>
              <a:t>/</a:t>
            </a:r>
            <a:r>
              <a:rPr lang="zh-CN" altLang="en-US" b="1" dirty="0"/>
              <a:t>标准差得到</a:t>
            </a:r>
            <a:r>
              <a:rPr lang="en-US" altLang="zh-CN" b="1" dirty="0"/>
              <a:t>A=R−V(s)</a:t>
            </a:r>
            <a:r>
              <a:rPr lang="zh-CN" altLang="en-US" dirty="0"/>
              <a:t>。</a:t>
            </a:r>
            <a:endParaRPr lang="en-US" altLang="zh-CN" dirty="0"/>
          </a:p>
          <a:p>
            <a:pPr marL="0" indent="0">
              <a:buNone/>
            </a:pPr>
            <a:r>
              <a:rPr lang="en-US" altLang="zh-CN" dirty="0"/>
              <a:t>EMPO</a:t>
            </a:r>
            <a:r>
              <a:rPr lang="zh-CN" altLang="en-US" dirty="0"/>
              <a:t>（深蓝色），奖励是模型生成结果聚类得到的（不需要 </a:t>
            </a:r>
            <a:r>
              <a:rPr lang="en-US" altLang="zh-CN" dirty="0"/>
              <a:t>Reward Model / Pre-defined Rules</a:t>
            </a:r>
            <a:r>
              <a:rPr lang="zh-CN" altLang="en-US" dirty="0"/>
              <a:t>）</a:t>
            </a:r>
            <a:r>
              <a:rPr lang="en-US" altLang="zh-CN" dirty="0"/>
              <a:t>,</a:t>
            </a:r>
            <a:r>
              <a:rPr lang="zh-CN" altLang="en-US" dirty="0"/>
              <a:t>优势则是归一化得到的，但需要保证大模型训练稳定性</a:t>
            </a:r>
            <a:endParaRPr lang="en-US" altLang="zh-CN" dirty="0"/>
          </a:p>
          <a:p>
            <a:pPr marL="0" indent="0">
              <a:buNone/>
            </a:pPr>
            <a:endParaRPr lang="en-US" altLang="zh-CN" dirty="0"/>
          </a:p>
          <a:p>
            <a:pPr marL="0" indent="0">
              <a:buNone/>
            </a:pPr>
            <a:r>
              <a:rPr lang="zh-CN" altLang="en-US" dirty="0"/>
              <a:t>给出问题</a:t>
            </a:r>
            <a:r>
              <a:rPr lang="en-US" altLang="zh-CN" dirty="0"/>
              <a:t>q</a:t>
            </a:r>
            <a:r>
              <a:rPr lang="zh-CN" altLang="en-US" dirty="0"/>
              <a:t>，随后策略模型生成出一系列的回答</a:t>
            </a:r>
            <a:r>
              <a:rPr lang="en-US" altLang="zh-CN" dirty="0"/>
              <a:t>O</a:t>
            </a:r>
            <a:r>
              <a:rPr lang="zh-CN" altLang="en-US" dirty="0"/>
              <a:t>，根据不同的规则计算出奖励，最后通过归一化或 </a:t>
            </a:r>
            <a:r>
              <a:rPr lang="en-US" altLang="zh-CN" dirty="0"/>
              <a:t>GAE</a:t>
            </a:r>
            <a:r>
              <a:rPr lang="zh-CN" altLang="en-US" dirty="0"/>
              <a:t>（广义优势估计）等方法得到优势值，根据优势值确定模型更倾向学习哪个结果。</a:t>
            </a:r>
            <a:endParaRPr lang="en-US" altLang="zh-CN" dirty="0"/>
          </a:p>
          <a:p>
            <a:pPr marL="0" indent="0">
              <a:buNone/>
            </a:pPr>
            <a:endParaRPr lang="en-US" altLang="zh-CN" dirty="0"/>
          </a:p>
          <a:p>
            <a:pPr marL="0" indent="0">
              <a:buNone/>
            </a:pPr>
            <a:r>
              <a:rPr lang="en-US" altLang="zh-CN" dirty="0"/>
              <a:t>EMPO</a:t>
            </a:r>
            <a:r>
              <a:rPr lang="zh-CN" altLang="en-US" dirty="0"/>
              <a:t>，将模型的回答根据语义进行聚类，然后根据比例选择出答案是巴黎。</a:t>
            </a:r>
          </a:p>
        </p:txBody>
      </p:sp>
      <p:sp>
        <p:nvSpPr>
          <p:cNvPr id="4" name="灯片编号占位符 3"/>
          <p:cNvSpPr>
            <a:spLocks noGrp="1"/>
          </p:cNvSpPr>
          <p:nvPr>
            <p:ph type="sldNum" sz="quarter" idx="5"/>
          </p:nvPr>
        </p:nvSpPr>
        <p:spPr/>
        <p:txBody>
          <a:bodyPr/>
          <a:lstStyle/>
          <a:p>
            <a:fld id="{3FF2ADFF-6A68-4D4C-8DF4-C6AAACA87F83}" type="slidenum">
              <a:rPr lang="zh-CN" altLang="en-US" smtClean="0"/>
              <a:t>7</a:t>
            </a:fld>
            <a:endParaRPr lang="zh-CN" altLang="en-US"/>
          </a:p>
        </p:txBody>
      </p:sp>
    </p:spTree>
    <p:extLst>
      <p:ext uri="{BB962C8B-B14F-4D97-AF65-F5344CB8AC3E}">
        <p14:creationId xmlns:p14="http://schemas.microsoft.com/office/powerpoint/2010/main" val="24490196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8B7833-06B9-C48C-AD40-9F2EEAD80CF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3D3C426-2554-BC9E-3310-E7348AC6F53A}"/>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3899698F-5D5C-2ED5-CF3E-BD8A55E6D653}"/>
                  </a:ext>
                </a:extLst>
              </p:cNvPr>
              <p:cNvSpPr>
                <a:spLocks noGrp="1"/>
              </p:cNvSpPr>
              <p:nvPr>
                <p:ph type="body" idx="1"/>
              </p:nvPr>
            </p:nvSpPr>
            <p:spPr/>
            <p:txBody>
              <a:bodyPr/>
              <a:lstStyle/>
              <a:p>
                <a:r>
                  <a:rPr lang="zh-CN" altLang="en-US" dirty="0"/>
                  <a:t>（</a:t>
                </a:r>
                <a:r>
                  <a:rPr lang="en-US" altLang="zh-CN" dirty="0"/>
                  <a:t>2</a:t>
                </a:r>
                <a:r>
                  <a:rPr lang="zh-CN" altLang="en-US" dirty="0"/>
                  <a:t>）再根据语义等价性对输出序列进行聚类 </a:t>
                </a:r>
                <a:r>
                  <a:rPr lang="en-US" altLang="zh-CN" dirty="0"/>
                  <a:t>—— </a:t>
                </a:r>
                <a:r>
                  <a:rPr lang="zh-CN" altLang="en-US" dirty="0"/>
                  <a:t>即若两个输出表达的含义相同（双向蕴含），则将其归为语义空间中的同一聚类。</a:t>
                </a:r>
                <a:endParaRPr lang="en-US" altLang="zh-CN" dirty="0"/>
              </a:p>
              <a:p>
                <a:r>
                  <a:rPr lang="en-US" altLang="zh-CN" dirty="0" err="1"/>
                  <a:t>C_j</a:t>
                </a:r>
                <a:r>
                  <a:rPr lang="zh-CN" altLang="en-US" dirty="0"/>
                  <a:t>表示第</a:t>
                </a:r>
                <a:r>
                  <a:rPr lang="en-US" altLang="zh-CN" dirty="0"/>
                  <a:t>j</a:t>
                </a:r>
                <a:r>
                  <a:rPr lang="zh-CN" altLang="en-US" dirty="0"/>
                  <a:t>个聚类，</a:t>
                </a:r>
                <a:r>
                  <a:rPr lang="en-US" altLang="zh-CN" dirty="0"/>
                  <a:t>|</a:t>
                </a:r>
                <a:r>
                  <a:rPr lang="en-US" altLang="zh-CN" dirty="0" err="1"/>
                  <a:t>c_j</a:t>
                </a:r>
                <a:r>
                  <a:rPr lang="en-US" altLang="zh-CN" dirty="0"/>
                  <a:t>|</a:t>
                </a:r>
                <a:r>
                  <a:rPr lang="zh-CN" altLang="en-US" dirty="0"/>
                  <a:t>表示聚类中模型输出的数量，</a:t>
                </a:r>
                <a:r>
                  <a:rPr lang="en-US" altLang="zh-CN" dirty="0"/>
                  <a:t>G</a:t>
                </a:r>
                <a:r>
                  <a:rPr lang="zh-CN" altLang="en-US" dirty="0"/>
                  <a:t>表示总的模型输出答案。</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Times New Roman" panose="02020603050405020304" pitchFamily="18" charset="0"/>
                    <a:ea typeface="+mn-ea"/>
                    <a:cs typeface="+mn-ea"/>
                  </a:rPr>
                  <a:t>最终，给定问题</a:t>
                </a:r>
                <a:r>
                  <a:rPr lang="en-US" altLang="zh-CN" sz="1200" dirty="0">
                    <a:latin typeface="Times New Roman" panose="02020603050405020304" pitchFamily="18" charset="0"/>
                    <a:ea typeface="+mn-ea"/>
                    <a:cs typeface="+mn-ea"/>
                  </a:rPr>
                  <a:t>q</a:t>
                </a:r>
                <a:r>
                  <a:rPr lang="zh-CN" altLang="en-US" sz="1200" dirty="0">
                    <a:latin typeface="Times New Roman" panose="02020603050405020304" pitchFamily="18" charset="0"/>
                    <a:ea typeface="+mn-ea"/>
                    <a:cs typeface="+mn-ea"/>
                  </a:rPr>
                  <a:t>，模型输出语义分布的语义熵（</a:t>
                </a:r>
                <a:r>
                  <a:rPr lang="en-US" altLang="zh-CN" sz="1200" dirty="0">
                    <a:latin typeface="Times New Roman" panose="02020603050405020304" pitchFamily="18" charset="0"/>
                    <a:ea typeface="+mn-ea"/>
                    <a:cs typeface="+mn-ea"/>
                  </a:rPr>
                  <a:t>H</a:t>
                </a:r>
                <a:r>
                  <a:rPr lang="zh-CN" altLang="en-US" sz="1200" dirty="0">
                    <a:latin typeface="Times New Roman" panose="02020603050405020304" pitchFamily="18" charset="0"/>
                    <a:ea typeface="+mn-ea"/>
                    <a:cs typeface="+mn-ea"/>
                  </a:rPr>
                  <a:t>），</a:t>
                </a:r>
                <a:r>
                  <a:rPr lang="zh-CN" altLang="en-US" dirty="0"/>
                  <a:t>如果回答分散在很多不同语义簇上，</a:t>
                </a:r>
                <a14:m>
                  <m:oMath xmlns:m="http://schemas.openxmlformats.org/officeDocument/2006/math">
                    <m:r>
                      <a:rPr lang="zh-CN" altLang="en-US" sz="1200" i="1" kern="1200">
                        <a:solidFill>
                          <a:schemeClr val="tx1"/>
                        </a:solidFill>
                        <a:latin typeface="Cambria Math" panose="02040503050406030204" pitchFamily="18" charset="0"/>
                        <a:ea typeface="+mn-ea"/>
                        <a:cs typeface="+mn-cs"/>
                      </a:rPr>
                      <m:t>𝐻</m:t>
                    </m:r>
                  </m:oMath>
                </a14:m>
                <a:r>
                  <a:rPr lang="zh-CN" altLang="en-US" dirty="0"/>
                  <a:t> 就高；如果大部分回答都集中到一个簇，</a:t>
                </a:r>
                <a14:m>
                  <m:oMath xmlns:m="http://schemas.openxmlformats.org/officeDocument/2006/math">
                    <m:r>
                      <a:rPr lang="zh-CN" altLang="en-US" sz="1200" i="1" kern="1200">
                        <a:solidFill>
                          <a:schemeClr val="tx1"/>
                        </a:solidFill>
                        <a:latin typeface="Cambria Math" panose="02040503050406030204" pitchFamily="18" charset="0"/>
                        <a:ea typeface="+mn-ea"/>
                        <a:cs typeface="+mn-cs"/>
                      </a:rPr>
                      <m:t>𝐻</m:t>
                    </m:r>
                  </m:oMath>
                </a14:m>
                <a:r>
                  <a:rPr lang="zh-CN" altLang="en-US" dirty="0"/>
                  <a:t> 就低。强化学习的目标就是降低这个</a:t>
                </a:r>
                <a:r>
                  <a:rPr lang="en-US" altLang="zh-CN" dirty="0"/>
                  <a:t>H</a:t>
                </a:r>
                <a:r>
                  <a:rPr lang="zh-CN" altLang="en-US" dirty="0"/>
                  <a:t>值。公式由作者根据香农熵拓展而来。</a:t>
                </a:r>
                <a:endParaRPr lang="en-US" altLang="zh-CN" sz="1200" dirty="0">
                  <a:latin typeface="Times New Roman" panose="02020603050405020304" pitchFamily="18" charset="0"/>
                  <a:ea typeface="+mn-ea"/>
                  <a:cs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r>
                  <a:rPr lang="zh-CN" altLang="en-US" dirty="0"/>
                  <a:t>上述小型语言模型（</a:t>
                </a:r>
                <a:r>
                  <a:rPr lang="en-US" altLang="zh-CN" dirty="0"/>
                  <a:t>SLM</a:t>
                </a:r>
                <a:r>
                  <a:rPr lang="zh-CN" altLang="en-US" dirty="0"/>
                  <a:t>）不会为给定查询提供关于推理正确性或质量的显式 </a:t>
                </a:r>
                <a:r>
                  <a:rPr lang="en-US" altLang="zh-CN" dirty="0"/>
                  <a:t>/ </a:t>
                </a:r>
                <a:r>
                  <a:rPr lang="zh-CN" altLang="en-US" dirty="0"/>
                  <a:t>直接监督信号。</a:t>
                </a:r>
                <a:r>
                  <a:rPr lang="en-US" altLang="zh-CN" dirty="0"/>
                  <a:t>EMPO </a:t>
                </a:r>
                <a:r>
                  <a:rPr lang="zh-CN" altLang="en-US" dirty="0"/>
                  <a:t>的 “无监督” 本质，指其独立于标注的 </a:t>
                </a:r>
                <a:r>
                  <a:rPr lang="en-US" altLang="zh-CN" dirty="0"/>
                  <a:t>&lt; </a:t>
                </a:r>
                <a:r>
                  <a:rPr lang="zh-CN" altLang="en-US" dirty="0"/>
                  <a:t>查询 </a:t>
                </a:r>
                <a:r>
                  <a:rPr lang="en-US" altLang="zh-CN" dirty="0"/>
                  <a:t>- </a:t>
                </a:r>
                <a:r>
                  <a:rPr lang="zh-CN" altLang="en-US" dirty="0"/>
                  <a:t>正确答案 </a:t>
                </a:r>
                <a:r>
                  <a:rPr lang="en-US" altLang="zh-CN" dirty="0"/>
                  <a:t>&gt; </a:t>
                </a:r>
                <a:r>
                  <a:rPr lang="zh-CN" altLang="en-US" dirty="0"/>
                  <a:t>对或 </a:t>
                </a:r>
                <a:r>
                  <a:rPr lang="en-US" altLang="zh-CN" dirty="0"/>
                  <a:t>&lt; </a:t>
                </a:r>
                <a:r>
                  <a:rPr lang="zh-CN" altLang="en-US" dirty="0"/>
                  <a:t>查询 </a:t>
                </a:r>
                <a:r>
                  <a:rPr lang="en-US" altLang="zh-CN" dirty="0"/>
                  <a:t>- </a:t>
                </a:r>
                <a:r>
                  <a:rPr lang="zh-CN" altLang="en-US" dirty="0"/>
                  <a:t>有效推理轨迹 </a:t>
                </a:r>
                <a:r>
                  <a:rPr lang="en-US" altLang="zh-CN" dirty="0"/>
                  <a:t>&gt; </a:t>
                </a:r>
                <a:r>
                  <a:rPr lang="zh-CN" altLang="en-US" dirty="0"/>
                  <a:t>对进行推理任务的学习，相关进一步讨论见附录 </a:t>
                </a:r>
                <a:r>
                  <a:rPr lang="en-US" altLang="zh-CN" dirty="0"/>
                  <a:t>J</a:t>
                </a:r>
                <a:r>
                  <a:rPr lang="zh-CN" altLang="en-US" dirty="0"/>
                  <a:t>。</a:t>
                </a:r>
                <a:endParaRPr lang="en-US" altLang="zh-CN" dirty="0"/>
              </a:p>
              <a:p>
                <a:endParaRPr lang="en-US" altLang="zh-CN" dirty="0"/>
              </a:p>
              <a:p>
                <a:r>
                  <a:rPr lang="zh-CN" altLang="en-US" dirty="0"/>
                  <a:t>计算机视觉领域的研究表明，预训练后持续最小化无标注样本上的熵，可显著提升机器学习模型的分类准确率，弥补领域差距。</a:t>
                </a:r>
              </a:p>
              <a:p>
                <a:r>
                  <a:rPr lang="zh-CN" altLang="en-US" dirty="0"/>
                  <a:t>一个稳健的模型不仅要能很好地拟合标注数据，还需对无标注数据做出置信度高、结果一致的预测。该原则促使模型避免模糊的预测结果，做出明确的判断，从而提升泛化能力。</a:t>
                </a:r>
              </a:p>
              <a:p>
                <a:endParaRPr lang="zh-CN" altLang="en-US" dirty="0"/>
              </a:p>
            </p:txBody>
          </p:sp>
        </mc:Choice>
        <mc:Fallback xmlns="">
          <p:sp>
            <p:nvSpPr>
              <p:cNvPr id="3" name="备注占位符 2">
                <a:extLst>
                  <a:ext uri="{FF2B5EF4-FFF2-40B4-BE49-F238E27FC236}">
                    <a16:creationId xmlns:a16="http://schemas.microsoft.com/office/drawing/2014/main" id="{3899698F-5D5C-2ED5-CF3E-BD8A55E6D653}"/>
                  </a:ext>
                </a:extLst>
              </p:cNvPr>
              <p:cNvSpPr>
                <a:spLocks noGrp="1"/>
              </p:cNvSpPr>
              <p:nvPr>
                <p:ph type="body" idx="1"/>
              </p:nvPr>
            </p:nvSpPr>
            <p:spPr/>
            <p:txBody>
              <a:bodyPr/>
              <a:lstStyle/>
              <a:p>
                <a:r>
                  <a:rPr lang="zh-CN" altLang="en-US" dirty="0"/>
                  <a:t>（</a:t>
                </a:r>
                <a:r>
                  <a:rPr lang="en-US" altLang="zh-CN" dirty="0"/>
                  <a:t>2</a:t>
                </a:r>
                <a:r>
                  <a:rPr lang="zh-CN" altLang="en-US" dirty="0"/>
                  <a:t>）再根据语义等价性对输出序列进行聚类 </a:t>
                </a:r>
                <a:r>
                  <a:rPr lang="en-US" altLang="zh-CN" dirty="0"/>
                  <a:t>—— </a:t>
                </a:r>
                <a:r>
                  <a:rPr lang="zh-CN" altLang="en-US" dirty="0"/>
                  <a:t>即若两个输出表达的含义相同（双向蕴含），则将其归为语义空间中的同一聚类。</a:t>
                </a:r>
                <a:endParaRPr lang="en-US" altLang="zh-CN" dirty="0"/>
              </a:p>
              <a:p>
                <a:r>
                  <a:rPr lang="en-US" altLang="zh-CN" dirty="0" err="1"/>
                  <a:t>C_j</a:t>
                </a:r>
                <a:r>
                  <a:rPr lang="zh-CN" altLang="en-US" dirty="0"/>
                  <a:t>表示第</a:t>
                </a:r>
                <a:r>
                  <a:rPr lang="en-US" altLang="zh-CN" dirty="0"/>
                  <a:t>j</a:t>
                </a:r>
                <a:r>
                  <a:rPr lang="zh-CN" altLang="en-US" dirty="0"/>
                  <a:t>个聚类，</a:t>
                </a:r>
                <a:r>
                  <a:rPr lang="en-US" altLang="zh-CN" dirty="0"/>
                  <a:t>|</a:t>
                </a:r>
                <a:r>
                  <a:rPr lang="en-US" altLang="zh-CN" dirty="0" err="1"/>
                  <a:t>c_j</a:t>
                </a:r>
                <a:r>
                  <a:rPr lang="en-US" altLang="zh-CN" dirty="0"/>
                  <a:t>|</a:t>
                </a:r>
                <a:r>
                  <a:rPr lang="zh-CN" altLang="en-US" dirty="0"/>
                  <a:t>表示聚类中模型输出的数量，</a:t>
                </a:r>
                <a:r>
                  <a:rPr lang="en-US" altLang="zh-CN" dirty="0"/>
                  <a:t>G</a:t>
                </a:r>
                <a:r>
                  <a:rPr lang="zh-CN" altLang="en-US" dirty="0"/>
                  <a:t>表示总的模型输出答案。</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Times New Roman" panose="02020603050405020304" pitchFamily="18" charset="0"/>
                    <a:ea typeface="+mn-ea"/>
                    <a:cs typeface="+mn-ea"/>
                  </a:rPr>
                  <a:t>最终，给定问题</a:t>
                </a:r>
                <a:r>
                  <a:rPr lang="en-US" altLang="zh-CN" sz="1200" dirty="0">
                    <a:latin typeface="Times New Roman" panose="02020603050405020304" pitchFamily="18" charset="0"/>
                    <a:ea typeface="+mn-ea"/>
                    <a:cs typeface="+mn-ea"/>
                  </a:rPr>
                  <a:t>q</a:t>
                </a:r>
                <a:r>
                  <a:rPr lang="zh-CN" altLang="en-US" sz="1200" dirty="0">
                    <a:latin typeface="Times New Roman" panose="02020603050405020304" pitchFamily="18" charset="0"/>
                    <a:ea typeface="+mn-ea"/>
                    <a:cs typeface="+mn-ea"/>
                  </a:rPr>
                  <a:t>，模型输出语义分布的语义熵（</a:t>
                </a:r>
                <a:r>
                  <a:rPr lang="en-US" altLang="zh-CN" sz="1200" dirty="0">
                    <a:latin typeface="Times New Roman" panose="02020603050405020304" pitchFamily="18" charset="0"/>
                    <a:ea typeface="+mn-ea"/>
                    <a:cs typeface="+mn-ea"/>
                  </a:rPr>
                  <a:t>H</a:t>
                </a:r>
                <a:r>
                  <a:rPr lang="zh-CN" altLang="en-US" sz="1200" dirty="0">
                    <a:latin typeface="Times New Roman" panose="02020603050405020304" pitchFamily="18" charset="0"/>
                    <a:ea typeface="+mn-ea"/>
                    <a:cs typeface="+mn-ea"/>
                  </a:rPr>
                  <a:t>），</a:t>
                </a:r>
                <a:r>
                  <a:rPr lang="zh-CN" altLang="en-US" dirty="0"/>
                  <a:t>如果回答分散在很多不同语义簇上，</a:t>
                </a:r>
                <a:r>
                  <a:rPr lang="zh-CN" altLang="en-US" sz="1200" i="0" kern="1200">
                    <a:solidFill>
                      <a:schemeClr val="tx1"/>
                    </a:solidFill>
                    <a:latin typeface="+mn-lt"/>
                    <a:ea typeface="+mn-ea"/>
                    <a:cs typeface="+mn-cs"/>
                  </a:rPr>
                  <a:t>𝐻</a:t>
                </a:r>
                <a:r>
                  <a:rPr lang="zh-CN" altLang="en-US" dirty="0"/>
                  <a:t> 就高；如果大部分回答都集中到一个簇，</a:t>
                </a:r>
                <a:r>
                  <a:rPr lang="zh-CN" altLang="en-US" sz="1200" i="0" kern="1200">
                    <a:solidFill>
                      <a:schemeClr val="tx1"/>
                    </a:solidFill>
                    <a:latin typeface="+mn-lt"/>
                    <a:ea typeface="+mn-ea"/>
                    <a:cs typeface="+mn-cs"/>
                  </a:rPr>
                  <a:t>𝐻</a:t>
                </a:r>
                <a:r>
                  <a:rPr lang="zh-CN" altLang="en-US" dirty="0"/>
                  <a:t> 就低。强化学习的目标就是降低这个</a:t>
                </a:r>
                <a:r>
                  <a:rPr lang="en-US" altLang="zh-CN" dirty="0"/>
                  <a:t>H</a:t>
                </a:r>
                <a:r>
                  <a:rPr lang="zh-CN" altLang="en-US" dirty="0"/>
                  <a:t>值。</a:t>
                </a:r>
                <a:endParaRPr lang="en-US" altLang="zh-CN" sz="1200" dirty="0">
                  <a:latin typeface="Times New Roman" panose="02020603050405020304" pitchFamily="18" charset="0"/>
                  <a:ea typeface="+mn-ea"/>
                  <a:cs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r>
                  <a:rPr lang="zh-CN" altLang="en-US" dirty="0"/>
                  <a:t>上述小型语言模型（</a:t>
                </a:r>
                <a:r>
                  <a:rPr lang="en-US" altLang="zh-CN" dirty="0"/>
                  <a:t>SLM</a:t>
                </a:r>
                <a:r>
                  <a:rPr lang="zh-CN" altLang="en-US" dirty="0"/>
                  <a:t>）不会为给定查询提供关于推理正确性或质量的显式 </a:t>
                </a:r>
                <a:r>
                  <a:rPr lang="en-US" altLang="zh-CN" dirty="0"/>
                  <a:t>/ </a:t>
                </a:r>
                <a:r>
                  <a:rPr lang="zh-CN" altLang="en-US" dirty="0"/>
                  <a:t>直接监督信号。</a:t>
                </a:r>
                <a:r>
                  <a:rPr lang="en-US" altLang="zh-CN" dirty="0"/>
                  <a:t>EMPO </a:t>
                </a:r>
                <a:r>
                  <a:rPr lang="zh-CN" altLang="en-US" dirty="0"/>
                  <a:t>的 “无监督” 本质，指其独立于标注的 </a:t>
                </a:r>
                <a:r>
                  <a:rPr lang="en-US" altLang="zh-CN" dirty="0"/>
                  <a:t>&lt; </a:t>
                </a:r>
                <a:r>
                  <a:rPr lang="zh-CN" altLang="en-US" dirty="0"/>
                  <a:t>查询 </a:t>
                </a:r>
                <a:r>
                  <a:rPr lang="en-US" altLang="zh-CN" dirty="0"/>
                  <a:t>- </a:t>
                </a:r>
                <a:r>
                  <a:rPr lang="zh-CN" altLang="en-US" dirty="0"/>
                  <a:t>正确答案 </a:t>
                </a:r>
                <a:r>
                  <a:rPr lang="en-US" altLang="zh-CN" dirty="0"/>
                  <a:t>&gt; </a:t>
                </a:r>
                <a:r>
                  <a:rPr lang="zh-CN" altLang="en-US" dirty="0"/>
                  <a:t>对或 </a:t>
                </a:r>
                <a:r>
                  <a:rPr lang="en-US" altLang="zh-CN" dirty="0"/>
                  <a:t>&lt; </a:t>
                </a:r>
                <a:r>
                  <a:rPr lang="zh-CN" altLang="en-US" dirty="0"/>
                  <a:t>查询 </a:t>
                </a:r>
                <a:r>
                  <a:rPr lang="en-US" altLang="zh-CN" dirty="0"/>
                  <a:t>- </a:t>
                </a:r>
                <a:r>
                  <a:rPr lang="zh-CN" altLang="en-US" dirty="0"/>
                  <a:t>有效推理轨迹 </a:t>
                </a:r>
                <a:r>
                  <a:rPr lang="en-US" altLang="zh-CN" dirty="0"/>
                  <a:t>&gt; </a:t>
                </a:r>
                <a:r>
                  <a:rPr lang="zh-CN" altLang="en-US" dirty="0"/>
                  <a:t>对进行推理任务的学习，相关进一步讨论见附录 </a:t>
                </a:r>
                <a:r>
                  <a:rPr lang="en-US" altLang="zh-CN" dirty="0"/>
                  <a:t>J</a:t>
                </a:r>
                <a:r>
                  <a:rPr lang="zh-CN" altLang="en-US" dirty="0"/>
                  <a:t>。</a:t>
                </a:r>
                <a:endParaRPr lang="en-US" altLang="zh-CN" dirty="0"/>
              </a:p>
              <a:p>
                <a:endParaRPr lang="en-US" altLang="zh-CN" dirty="0"/>
              </a:p>
              <a:p>
                <a:r>
                  <a:rPr lang="zh-CN" altLang="en-US" dirty="0"/>
                  <a:t>计算机视觉领域的研究表明，预训练后持续最小化无标注样本上的熵，可显著提升机器学习模型的分类准确率，弥补领域差距。</a:t>
                </a:r>
              </a:p>
              <a:p>
                <a:r>
                  <a:rPr lang="zh-CN" altLang="en-US" dirty="0"/>
                  <a:t>一个稳健的模型不仅要能很好地拟合标注数据，还需对无标注数据做出置信度高、结果一致的预测。该原则促使模型避免模糊的预测结果，做出明确的判断，从而提升泛化能力。</a:t>
                </a:r>
              </a:p>
              <a:p>
                <a:endParaRPr lang="zh-CN" altLang="en-US" dirty="0"/>
              </a:p>
            </p:txBody>
          </p:sp>
        </mc:Fallback>
      </mc:AlternateContent>
      <p:sp>
        <p:nvSpPr>
          <p:cNvPr id="4" name="灯片编号占位符 3">
            <a:extLst>
              <a:ext uri="{FF2B5EF4-FFF2-40B4-BE49-F238E27FC236}">
                <a16:creationId xmlns:a16="http://schemas.microsoft.com/office/drawing/2014/main" id="{2F6EAB45-5AD1-8EF8-FEDE-599B180989D9}"/>
              </a:ext>
            </a:extLst>
          </p:cNvPr>
          <p:cNvSpPr>
            <a:spLocks noGrp="1"/>
          </p:cNvSpPr>
          <p:nvPr>
            <p:ph type="sldNum" sz="quarter" idx="5"/>
          </p:nvPr>
        </p:nvSpPr>
        <p:spPr/>
        <p:txBody>
          <a:bodyPr/>
          <a:lstStyle/>
          <a:p>
            <a:fld id="{3FF2ADFF-6A68-4D4C-8DF4-C6AAACA87F83}" type="slidenum">
              <a:rPr lang="zh-CN" altLang="en-US" smtClean="0"/>
              <a:t>8</a:t>
            </a:fld>
            <a:endParaRPr lang="zh-CN" altLang="en-US"/>
          </a:p>
        </p:txBody>
      </p:sp>
    </p:spTree>
    <p:extLst>
      <p:ext uri="{BB962C8B-B14F-4D97-AF65-F5344CB8AC3E}">
        <p14:creationId xmlns:p14="http://schemas.microsoft.com/office/powerpoint/2010/main" val="471678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8AFBC-77C4-796C-D2AD-43A2B4C85AA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826E3AB-5424-7BF1-4BA9-7CC671E948AC}"/>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0AE4706F-DAD8-1D7F-58F0-83DF2258278D}"/>
                  </a:ext>
                </a:extLst>
              </p:cNvPr>
              <p:cNvSpPr>
                <a:spLocks noGrp="1"/>
              </p:cNvSpPr>
              <p:nvPr>
                <p:ph type="body" idx="1"/>
              </p:nvPr>
            </p:nvSpPr>
            <p:spPr/>
            <p:txBody>
              <a:bodyPr/>
              <a:lstStyle/>
              <a:p>
                <a:r>
                  <a:rPr lang="zh-CN" altLang="en-US" dirty="0"/>
                  <a:t>表达高概率语义的输出将获得更高的优势值，从而在训练中被模型优先学习。</a:t>
                </a:r>
                <a:endParaRPr lang="en-US" altLang="zh-CN" dirty="0"/>
              </a:p>
              <a:p>
                <a:r>
                  <a:rPr lang="zh-CN" altLang="en-US" dirty="0"/>
                  <a:t>论文中紧接着解释了其中的关键量：𝛽</a:t>
                </a:r>
                <a:r>
                  <a:rPr lang="en-US" altLang="zh-CN" dirty="0"/>
                  <a:t>β </a:t>
                </a:r>
                <a:r>
                  <a:rPr lang="zh-CN" altLang="en-US" dirty="0"/>
                  <a:t>是控制策略不要偏离参考模型太远的超参数；𝜖</a:t>
                </a:r>
                <a:r>
                  <a:rPr lang="en-US" altLang="zh-CN" dirty="0"/>
                  <a:t>ϵ </a:t>
                </a:r>
                <a:r>
                  <a:rPr lang="zh-CN" altLang="en-US" dirty="0"/>
                  <a:t>用来裁剪过大的更新；𝐺</a:t>
                </a:r>
                <a:r>
                  <a:rPr lang="en-US" altLang="zh-CN" dirty="0"/>
                  <a:t>G </a:t>
                </a:r>
                <a:r>
                  <a:rPr lang="zh-CN" altLang="en-US" dirty="0"/>
                  <a:t>是每个问题采样的回答数；𝐴𝑖</a:t>
                </a:r>
                <a:r>
                  <a:rPr lang="en-US" altLang="zh-CN" dirty="0"/>
                  <a:t>Ai	​ </a:t>
                </a:r>
                <a:r>
                  <a:rPr lang="zh-CN" altLang="en-US" dirty="0"/>
                  <a:t>是对第 𝑖</a:t>
                </a:r>
                <a:r>
                  <a:rPr lang="en-US" altLang="zh-CN" dirty="0" err="1"/>
                  <a:t>i</a:t>
                </a:r>
                <a:r>
                  <a:rPr lang="en-US" altLang="zh-CN" dirty="0"/>
                  <a:t> </a:t>
                </a:r>
                <a:r>
                  <a:rPr lang="zh-CN" altLang="en-US" dirty="0"/>
                  <a:t>个回答的 </a:t>
                </a:r>
                <a:r>
                  <a:rPr lang="en-US" altLang="zh-CN" dirty="0"/>
                  <a:t>advantage</a:t>
                </a:r>
                <a:r>
                  <a:rPr lang="zh-CN" altLang="en-US" dirty="0"/>
                  <a:t>（优势）值。</a:t>
                </a:r>
                <a:endParaRPr lang="en-US" altLang="zh-CN" dirty="0"/>
              </a:p>
              <a:p>
                <a:r>
                  <a:rPr lang="zh-CN" altLang="en-US" dirty="0"/>
                  <a:t>对每个问题 𝑞</a:t>
                </a:r>
                <a:r>
                  <a:rPr lang="en-US" altLang="zh-CN" dirty="0"/>
                  <a:t>q</a:t>
                </a:r>
                <a:r>
                  <a:rPr lang="zh-CN" altLang="en-US" dirty="0"/>
                  <a:t>，从当前策略模型 𝜋𝜃</a:t>
                </a:r>
                <a:r>
                  <a:rPr lang="en-US" altLang="zh-CN" dirty="0"/>
                  <a:t>πθ</a:t>
                </a:r>
                <a:r>
                  <a:rPr lang="zh-CN" altLang="en-US" dirty="0"/>
                  <a:t>里采样 𝐺</a:t>
                </a:r>
                <a:r>
                  <a:rPr lang="en-US" altLang="zh-CN" dirty="0"/>
                  <a:t>G </a:t>
                </a:r>
                <a:r>
                  <a:rPr lang="zh-CN" altLang="en-US" dirty="0"/>
                  <a:t>个回答 𝑜</a:t>
                </a:r>
                <a:r>
                  <a:rPr lang="en-US" altLang="zh-CN" dirty="0"/>
                  <a:t>1,…,</a:t>
                </a:r>
                <a:r>
                  <a:rPr lang="zh-CN" altLang="en-US" dirty="0"/>
                  <a:t>𝑜𝐺</a:t>
                </a:r>
                <a:r>
                  <a:rPr lang="en-US" altLang="zh-CN" dirty="0"/>
                  <a:t>o1​,…,</a:t>
                </a:r>
                <a:r>
                  <a:rPr lang="en-US" altLang="zh-CN" dirty="0" err="1"/>
                  <a:t>oG</a:t>
                </a:r>
                <a:r>
                  <a:rPr lang="en-US" altLang="zh-CN" dirty="0"/>
                  <a:t>​</a:t>
                </a:r>
                <a:r>
                  <a:rPr lang="zh-CN" altLang="en-US" dirty="0"/>
                  <a:t>，然后根据每个回答的“好坏”给它一个优势值 𝐴𝑖</a:t>
                </a:r>
                <a:r>
                  <a:rPr lang="en-US" altLang="zh-CN" dirty="0"/>
                  <a:t>Ai​</a:t>
                </a:r>
                <a:r>
                  <a:rPr lang="zh-CN" altLang="en-US" dirty="0"/>
                  <a:t>，最后鼓励模型增加高优势回答的概率，同时限制训练不要太激进。</a:t>
                </a:r>
                <a:endParaRPr lang="en-US" altLang="zh-CN" dirty="0"/>
              </a:p>
              <a:p>
                <a:endParaRPr lang="en-US" altLang="zh-CN" dirty="0"/>
              </a:p>
              <a:p>
                <a:r>
                  <a:rPr lang="en-US" altLang="zh-CN" dirty="0"/>
                  <a:t>EMPO </a:t>
                </a:r>
                <a:r>
                  <a:rPr lang="zh-CN" altLang="en-US" dirty="0"/>
                  <a:t>沿用了 </a:t>
                </a:r>
                <a:r>
                  <a:rPr lang="en-US" altLang="zh-CN" dirty="0"/>
                  <a:t>GRPO </a:t>
                </a:r>
                <a:r>
                  <a:rPr lang="zh-CN" altLang="en-US" dirty="0"/>
                  <a:t>的“组采样 </a:t>
                </a:r>
                <a:r>
                  <a:rPr lang="en-US" altLang="zh-CN" dirty="0"/>
                  <a:t>+ advantage </a:t>
                </a:r>
                <a:r>
                  <a:rPr lang="zh-CN" altLang="en-US" dirty="0"/>
                  <a:t>标准化”框架，但把奖励定义成了语义簇概率。也就是说，它不再问“这个回答对不对”，而是问：这个回答属于的语义簇，在同题多个回答中是不是更常见？如果更常见，就给更高奖励。</a:t>
                </a:r>
                <a:r>
                  <a:rPr lang="en-US" altLang="zh-CN" dirty="0"/>
                  <a:t>GRPO</a:t>
                </a:r>
                <a:r>
                  <a:rPr lang="zh-CN" altLang="en-US" dirty="0"/>
                  <a:t>通过奖励模型等模块计算出来的但</a:t>
                </a:r>
                <a:r>
                  <a:rPr lang="en-US" altLang="zh-CN" dirty="0"/>
                  <a:t>EMPO</a:t>
                </a:r>
                <a:r>
                  <a:rPr lang="zh-CN" altLang="en-US" dirty="0"/>
                  <a:t>是直接用语义簇的概率表示的</a:t>
                </a:r>
                <a:endParaRPr lang="en-US" altLang="zh-CN" dirty="0"/>
              </a:p>
              <a:p>
                <a:endParaRPr lang="en-US" altLang="zh-CN" dirty="0"/>
              </a:p>
              <a:p>
                <a:r>
                  <a:rPr lang="zh-CN" altLang="en-US" dirty="0"/>
                  <a:t>第 𝑖</a:t>
                </a:r>
                <a:r>
                  <a:rPr lang="en-US" altLang="zh-CN" dirty="0"/>
                  <a:t> </a:t>
                </a:r>
                <a:r>
                  <a:rPr lang="zh-CN" altLang="en-US" dirty="0"/>
                  <a:t>个回答 𝑜𝑖</a:t>
                </a:r>
                <a:r>
                  <a:rPr lang="en-US" altLang="zh-CN" dirty="0"/>
                  <a:t>​ </a:t>
                </a:r>
                <a:r>
                  <a:rPr lang="zh-CN" altLang="en-US" dirty="0"/>
                  <a:t>的奖励，等于它所属语义簇 𝑐𝑗</a:t>
                </a:r>
                <a:r>
                  <a:rPr lang="en-US" altLang="zh-CN" dirty="0"/>
                  <a:t>​ </a:t>
                </a:r>
                <a:r>
                  <a:rPr lang="zh-CN" altLang="en-US" dirty="0"/>
                  <a:t>的概率。如果 𝑜𝑖</a:t>
                </a:r>
                <a:r>
                  <a:rPr lang="en-US" altLang="zh-CN" dirty="0"/>
                  <a:t>​ </a:t>
                </a:r>
                <a:r>
                  <a:rPr lang="zh-CN" altLang="en-US" dirty="0"/>
                  <a:t>落在当前最大的语义簇里，它的奖励就高；如果落在小众簇里，奖励就低。</a:t>
                </a:r>
              </a:p>
            </p:txBody>
          </p:sp>
        </mc:Choice>
        <mc:Fallback xmlns="">
          <p:sp>
            <p:nvSpPr>
              <p:cNvPr id="3" name="备注占位符 2">
                <a:extLst>
                  <a:ext uri="{FF2B5EF4-FFF2-40B4-BE49-F238E27FC236}">
                    <a16:creationId xmlns:a16="http://schemas.microsoft.com/office/drawing/2014/main" id="{0AE4706F-DAD8-1D7F-58F0-83DF2258278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latin typeface="Times New Roman" panose="02020603050405020304" pitchFamily="18" charset="0"/>
                    <a:ea typeface="+mn-ea"/>
                    <a:cs typeface="+mn-ea"/>
                  </a:rPr>
                  <a:t>N</a:t>
                </a:r>
                <a:r>
                  <a:rPr lang="zh-CN" altLang="en-US" sz="1200" dirty="0">
                    <a:latin typeface="Times New Roman" panose="02020603050405020304" pitchFamily="18" charset="0"/>
                    <a:ea typeface="+mn-ea"/>
                    <a:cs typeface="+mn-ea"/>
                  </a:rPr>
                  <a:t>为数据集中数据总数，</a:t>
                </a:r>
                <a:r>
                  <a:rPr lang="en-US" altLang="zh-CN" sz="1200" i="0">
                    <a:latin typeface="Cambria Math" panose="02040503050406030204" pitchFamily="18" charset="0"/>
                    <a:ea typeface="+mn-ea"/>
                    <a:cs typeface="+mn-ea"/>
                  </a:rPr>
                  <a:t>|ner_</a:t>
                </a:r>
                <a:r>
                  <a:rPr lang="en-US" altLang="zh-CN" sz="1200" b="0" i="0">
                    <a:latin typeface="Cambria Math" panose="02040503050406030204" pitchFamily="18" charset="0"/>
                    <a:ea typeface="+mn-ea"/>
                    <a:cs typeface="+mn-ea"/>
                  </a:rPr>
                  <a:t>𝑖 |</a:t>
                </a:r>
                <a:r>
                  <a:rPr lang="zh-CN" altLang="en-US" sz="1200" dirty="0">
                    <a:latin typeface="Times New Roman" panose="02020603050405020304" pitchFamily="18" charset="0"/>
                    <a:ea typeface="+mn-ea"/>
                    <a:cs typeface="+mn-ea"/>
                  </a:rPr>
                  <a:t>为第</a:t>
                </a:r>
                <a:r>
                  <a:rPr lang="en-US" altLang="zh-CN" sz="1200" dirty="0" err="1">
                    <a:latin typeface="Times New Roman" panose="02020603050405020304" pitchFamily="18" charset="0"/>
                    <a:ea typeface="+mn-ea"/>
                    <a:cs typeface="+mn-ea"/>
                  </a:rPr>
                  <a:t>i</a:t>
                </a:r>
                <a:r>
                  <a:rPr lang="zh-CN" altLang="en-US" sz="1200" dirty="0">
                    <a:latin typeface="Times New Roman" panose="02020603050405020304" pitchFamily="18" charset="0"/>
                    <a:ea typeface="+mn-ea"/>
                    <a:cs typeface="+mn-ea"/>
                  </a:rPr>
                  <a:t>个响应中提取的实体数量，</a:t>
                </a:r>
                <a:r>
                  <a:rPr lang="en-US" altLang="zh-CN" sz="1200" i="0" dirty="0">
                    <a:latin typeface="Cambria Math" panose="02040503050406030204" pitchFamily="18" charset="0"/>
                    <a:ea typeface="+mn-ea"/>
                    <a:cs typeface="+mn-ea"/>
                  </a:rPr>
                  <a:t>count</a:t>
                </a:r>
                <a:r>
                  <a:rPr lang="en-US" altLang="zh-CN" sz="1200" dirty="0">
                    <a:latin typeface="Times New Roman" panose="02020603050405020304" pitchFamily="18" charset="0"/>
                    <a:ea typeface="+mn-ea"/>
                    <a:cs typeface="+mn-ea"/>
                  </a:rPr>
                  <a:t>(e)</a:t>
                </a:r>
                <a:r>
                  <a:rPr lang="zh-CN" altLang="en-US" sz="1200" dirty="0">
                    <a:latin typeface="Times New Roman" panose="02020603050405020304" pitchFamily="18" charset="0"/>
                    <a:ea typeface="+mn-ea"/>
                    <a:cs typeface="+mn-ea"/>
                  </a:rPr>
                  <a:t>表示实体</a:t>
                </a:r>
                <a:r>
                  <a:rPr lang="en-US" altLang="zh-CN" sz="1200" dirty="0">
                    <a:latin typeface="Times New Roman" panose="02020603050405020304" pitchFamily="18" charset="0"/>
                    <a:ea typeface="+mn-ea"/>
                    <a:cs typeface="+mn-ea"/>
                  </a:rPr>
                  <a:t>e</a:t>
                </a:r>
                <a:r>
                  <a:rPr lang="zh-CN" altLang="en-US" sz="1200" dirty="0">
                    <a:latin typeface="Times New Roman" panose="02020603050405020304" pitchFamily="18" charset="0"/>
                    <a:ea typeface="+mn-ea"/>
                    <a:cs typeface="+mn-ea"/>
                  </a:rPr>
                  <a:t>在整个语库中出现的次数。</a:t>
                </a:r>
                <a:endParaRPr lang="en-US" altLang="zh-CN" sz="1200" dirty="0">
                  <a:latin typeface="Times New Roman" panose="02020603050405020304" pitchFamily="18" charset="0"/>
                  <a:ea typeface="+mn-ea"/>
                  <a:cs typeface="+mn-ea"/>
                </a:endParaRPr>
              </a:p>
              <a:p>
                <a:pPr indent="0" fontAlgn="auto">
                  <a:lnSpc>
                    <a:spcPct val="150000"/>
                  </a:lnSpc>
                  <a:buFont typeface="Arial" panose="020B0604020202020204" pitchFamily="34" charset="0"/>
                  <a:buNone/>
                </a:pPr>
                <a:r>
                  <a:rPr lang="en-US" altLang="zh-CN" sz="1200" dirty="0" err="1">
                    <a:latin typeface="Times New Roman" panose="02020603050405020304" pitchFamily="18" charset="0"/>
                    <a:ea typeface="+mn-ea"/>
                    <a:cs typeface="+mn-ea"/>
                  </a:rPr>
                  <a:t>AvgEntityCount</a:t>
                </a:r>
                <a:r>
                  <a:rPr lang="zh-CN" altLang="en-US" sz="1200" dirty="0">
                    <a:latin typeface="Times New Roman" panose="02020603050405020304" pitchFamily="18" charset="0"/>
                    <a:ea typeface="+mn-ea"/>
                    <a:cs typeface="+mn-ea"/>
                  </a:rPr>
                  <a:t>（平均实体数量）：每个响应包含的平均实体数。值越高表明每个响应涉及更多实体，意味着语义密度更大。</a:t>
                </a:r>
              </a:p>
              <a:p>
                <a:pPr indent="0" fontAlgn="auto">
                  <a:lnSpc>
                    <a:spcPct val="150000"/>
                  </a:lnSpc>
                  <a:buFont typeface="Arial" panose="020B0604020202020204" pitchFamily="34" charset="0"/>
                  <a:buNone/>
                </a:pPr>
                <a:r>
                  <a:rPr lang="en-US" altLang="zh-CN" sz="1200" dirty="0" err="1">
                    <a:latin typeface="Times New Roman" panose="02020603050405020304" pitchFamily="18" charset="0"/>
                    <a:ea typeface="+mn-ea"/>
                    <a:cs typeface="+mn-ea"/>
                  </a:rPr>
                  <a:t>AvgEntityRarity</a:t>
                </a:r>
                <a:r>
                  <a:rPr lang="zh-CN" altLang="en-US" sz="1200" dirty="0">
                    <a:latin typeface="Times New Roman" panose="02020603050405020304" pitchFamily="18" charset="0"/>
                    <a:ea typeface="+mn-ea"/>
                    <a:cs typeface="+mn-ea"/>
                  </a:rPr>
                  <a:t>（平均实体稀缺性）：每个响应中实体的平均语料库频率，反映它们在数据集中的稀缺程度。值越低表明存在更稀有、长尾的实体。（实体在语料库中出现的少，说明这个数据库实体种类很多，则</a:t>
                </a:r>
                <a:r>
                  <a:rPr lang="en-US" altLang="zh-CN" sz="1200" dirty="0">
                    <a:latin typeface="Times New Roman" panose="02020603050405020304" pitchFamily="18" charset="0"/>
                    <a:ea typeface="+mn-ea"/>
                    <a:cs typeface="+mn-ea"/>
                  </a:rPr>
                  <a:t>count(e)</a:t>
                </a:r>
                <a:r>
                  <a:rPr lang="zh-CN" altLang="en-US" sz="1200" dirty="0">
                    <a:latin typeface="Times New Roman" panose="02020603050405020304" pitchFamily="18" charset="0"/>
                    <a:ea typeface="+mn-ea"/>
                    <a:cs typeface="+mn-ea"/>
                  </a:rPr>
                  <a:t>就越低）</a:t>
                </a:r>
              </a:p>
              <a:p>
                <a:pPr indent="0" fontAlgn="auto">
                  <a:lnSpc>
                    <a:spcPct val="150000"/>
                  </a:lnSpc>
                  <a:buFont typeface="Arial" panose="020B0604020202020204" pitchFamily="34" charset="0"/>
                  <a:buNone/>
                </a:pPr>
                <a:r>
                  <a:rPr lang="en-US" altLang="zh-CN" sz="1200" dirty="0" err="1">
                    <a:latin typeface="Times New Roman" panose="02020603050405020304" pitchFamily="18" charset="0"/>
                    <a:ea typeface="+mn-ea"/>
                    <a:cs typeface="+mn-ea"/>
                  </a:rPr>
                  <a:t>RarityScore</a:t>
                </a:r>
                <a:r>
                  <a:rPr lang="zh-CN" altLang="en-US" sz="1200" dirty="0">
                    <a:latin typeface="Times New Roman" panose="02020603050405020304" pitchFamily="18" charset="0"/>
                    <a:ea typeface="+mn-ea"/>
                    <a:cs typeface="+mn-ea"/>
                  </a:rPr>
                  <a:t>（稀缺性分数）：定义为实体丰富度与实体频率之比。分数越高表示响应包含更多稀有实体，暗示任务难度更大且幻觉可能性更高。为确保跨不同规模数据集的鲁棒性，该分数通过对数惩罚进行归一化。（例如实体数目很多，但都只出现一次的话，则</a:t>
                </a:r>
                <a:r>
                  <a:rPr lang="en-US" altLang="zh-CN" sz="1200" dirty="0" err="1">
                    <a:latin typeface="Times New Roman" panose="02020603050405020304" pitchFamily="18" charset="0"/>
                    <a:ea typeface="+mn-ea"/>
                    <a:cs typeface="+mn-ea"/>
                  </a:rPr>
                  <a:t>RarityScore</a:t>
                </a:r>
                <a:r>
                  <a:rPr lang="zh-CN" altLang="en-US" sz="1200" dirty="0">
                    <a:latin typeface="Times New Roman" panose="02020603050405020304" pitchFamily="18" charset="0"/>
                    <a:ea typeface="+mn-ea"/>
                    <a:cs typeface="+mn-ea"/>
                  </a:rPr>
                  <a:t>分数会很高。）</a:t>
                </a:r>
                <a:endParaRPr lang="en-US" altLang="zh-CN" sz="1200" dirty="0">
                  <a:latin typeface="Times New Roman" panose="02020603050405020304" pitchFamily="18" charset="0"/>
                  <a:ea typeface="+mn-ea"/>
                  <a:cs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latin typeface="Times New Roman" panose="02020603050405020304" pitchFamily="18" charset="0"/>
                  <a:ea typeface="+mn-ea"/>
                  <a:cs typeface="+mn-ea"/>
                </a:endParaRPr>
              </a:p>
              <a:p>
                <a:endParaRPr lang="zh-CN" altLang="en-US" dirty="0"/>
              </a:p>
            </p:txBody>
          </p:sp>
        </mc:Fallback>
      </mc:AlternateContent>
      <p:sp>
        <p:nvSpPr>
          <p:cNvPr id="4" name="灯片编号占位符 3">
            <a:extLst>
              <a:ext uri="{FF2B5EF4-FFF2-40B4-BE49-F238E27FC236}">
                <a16:creationId xmlns:a16="http://schemas.microsoft.com/office/drawing/2014/main" id="{646D653C-D09D-E949-0F32-760BE3A8C4A7}"/>
              </a:ext>
            </a:extLst>
          </p:cNvPr>
          <p:cNvSpPr>
            <a:spLocks noGrp="1"/>
          </p:cNvSpPr>
          <p:nvPr>
            <p:ph type="sldNum" sz="quarter" idx="5"/>
          </p:nvPr>
        </p:nvSpPr>
        <p:spPr/>
        <p:txBody>
          <a:bodyPr/>
          <a:lstStyle/>
          <a:p>
            <a:fld id="{3FF2ADFF-6A68-4D4C-8DF4-C6AAACA87F83}" type="slidenum">
              <a:rPr lang="zh-CN" altLang="en-US" smtClean="0"/>
              <a:t>9</a:t>
            </a:fld>
            <a:endParaRPr lang="zh-CN" altLang="en-US"/>
          </a:p>
        </p:txBody>
      </p:sp>
    </p:spTree>
    <p:extLst>
      <p:ext uri="{BB962C8B-B14F-4D97-AF65-F5344CB8AC3E}">
        <p14:creationId xmlns:p14="http://schemas.microsoft.com/office/powerpoint/2010/main" val="11855790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0A37F-B26F-9048-ADF3-00AA595E777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49F2034-D425-FA04-ABAE-41FCEC34E40E}"/>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25FD2B7B-F78E-6A4E-6910-90FD46BB69DE}"/>
                  </a:ext>
                </a:extLst>
              </p:cNvPr>
              <p:cNvSpPr>
                <a:spLocks noGrp="1"/>
              </p:cNvSpPr>
              <p:nvPr>
                <p:ph type="body" idx="1"/>
              </p:nvPr>
            </p:nvSpPr>
            <p:spPr/>
            <p:txBody>
              <a:bodyPr/>
              <a:lstStyle/>
              <a:p>
                <a:r>
                  <a:rPr lang="zh-CN" altLang="en-US" dirty="0"/>
                  <a:t>熵大于</a:t>
                </a:r>
                <a:r>
                  <a:rPr lang="en-US" altLang="zh-CN" dirty="0"/>
                  <a:t>​</a:t>
                </a:r>
                <a:r>
                  <a:rPr lang="zh-CN" altLang="en-US" dirty="0"/>
                  <a:t>的问题会被过滤，因其会导致模型生成高度不可靠的答案；</a:t>
                </a:r>
                <a:endParaRPr lang="en-US" altLang="zh-CN" dirty="0"/>
              </a:p>
              <a:p>
                <a:r>
                  <a:rPr lang="zh-CN" altLang="en-US" dirty="0"/>
                  <a:t>同时过滤低熵答案，以维持模型输出的多样性，进一步避免奖励欺骗。</a:t>
                </a:r>
                <a:endParaRPr lang="en-US" altLang="zh-CN" dirty="0"/>
              </a:p>
              <a:p>
                <a:r>
                  <a:rPr lang="zh-CN" altLang="en-US" dirty="0"/>
                  <a:t>本文移除了 </a:t>
                </a:r>
                <a:r>
                  <a:rPr lang="en-US" altLang="zh-CN" dirty="0"/>
                  <a:t>KL </a:t>
                </a:r>
                <a:r>
                  <a:rPr lang="zh-CN" altLang="en-US" dirty="0"/>
                  <a:t>散度约束以提升模型性能；</a:t>
                </a:r>
                <a:endParaRPr lang="en-US" altLang="zh-CN" dirty="0"/>
              </a:p>
              <a:p>
                <a:r>
                  <a:rPr lang="en-US" altLang="zh-CN" dirty="0"/>
                  <a:t>ϵ</a:t>
                </a:r>
                <a:r>
                  <a:rPr lang="zh-CN" altLang="en-US" dirty="0"/>
                  <a:t>用于裁剪极端高低的优势值，这是提升训练稳定性的通用做法。</a:t>
                </a:r>
                <a:endParaRPr lang="en-US" altLang="zh-CN" dirty="0"/>
              </a:p>
              <a:p>
                <a:r>
                  <a:rPr lang="en-US" altLang="zh-CN" dirty="0"/>
                  <a:t>Clip</a:t>
                </a:r>
                <a:r>
                  <a:rPr lang="zh-CN" altLang="en-US" dirty="0"/>
                  <a:t>是限制新策略和旧策略防止更新太快，</a:t>
                </a:r>
                <a:r>
                  <a:rPr lang="en-US" altLang="zh-CN" dirty="0"/>
                  <a:t>A</a:t>
                </a:r>
                <a:r>
                  <a:rPr lang="zh-CN" altLang="en-US" dirty="0"/>
                  <a:t>表示样本比平均好还是差，但如果好的太多更新太多，就用</a:t>
                </a:r>
                <a:r>
                  <a:rPr lang="en-US" altLang="zh-CN" dirty="0"/>
                  <a:t>clip</a:t>
                </a:r>
                <a:r>
                  <a:rPr lang="zh-CN" altLang="en-US" dirty="0"/>
                  <a:t>截断一下，这里其实不是</a:t>
                </a:r>
                <a:r>
                  <a:rPr lang="en-US" altLang="zh-CN" dirty="0"/>
                  <a:t>1</a:t>
                </a:r>
                <a:r>
                  <a:rPr lang="zh-CN" altLang="en-US" dirty="0"/>
                  <a:t>，只是作者写压缩了。</a:t>
                </a:r>
                <a:r>
                  <a:rPr lang="en-US" altLang="zh-CN" dirty="0"/>
                  <a:t>r</a:t>
                </a:r>
                <a:r>
                  <a:rPr lang="zh-CN" altLang="en-US" dirty="0"/>
                  <a:t>为新策略的概率除以旧策略的概率的，</a:t>
                </a:r>
                <a:r>
                  <a:rPr lang="en-US" altLang="zh-CN" dirty="0"/>
                  <a:t>EMPO</a:t>
                </a:r>
                <a:r>
                  <a:rPr lang="zh-CN" altLang="en-US" dirty="0"/>
                  <a:t>并没有</a:t>
                </a:r>
                <a:r>
                  <a:rPr lang="en-US" altLang="zh-CN" dirty="0"/>
                  <a:t>KL</a:t>
                </a:r>
                <a:r>
                  <a:rPr lang="zh-CN" altLang="en-US" dirty="0"/>
                  <a:t>函数，按照论文中说这样性能会好，而且阈值和</a:t>
                </a:r>
                <a:r>
                  <a:rPr lang="en-US" altLang="zh-CN" dirty="0"/>
                  <a:t>clip</a:t>
                </a:r>
                <a:r>
                  <a:rPr lang="zh-CN" altLang="en-US" dirty="0"/>
                  <a:t>机制也做了保障了。</a:t>
                </a:r>
                <a:endParaRPr lang="en-US" altLang="zh-CN" dirty="0"/>
              </a:p>
              <a:p>
                <a:r>
                  <a:rPr lang="en-US" altLang="zh-CN" dirty="0"/>
                  <a:t>Clip</a:t>
                </a:r>
                <a:r>
                  <a:rPr lang="zh-CN" altLang="en-US" dirty="0"/>
                  <a:t>可以看作新策略概率</a:t>
                </a:r>
                <a:r>
                  <a:rPr lang="en-US" altLang="zh-CN" dirty="0"/>
                  <a:t>*log(</a:t>
                </a:r>
                <a:r>
                  <a:rPr lang="zh-CN" altLang="en-US" dirty="0"/>
                  <a:t>新策略概率</a:t>
                </a:r>
                <a:r>
                  <a:rPr lang="en-US" altLang="zh-CN" dirty="0"/>
                  <a:t>/</a:t>
                </a:r>
                <a:r>
                  <a:rPr lang="zh-CN" altLang="en-US" dirty="0"/>
                  <a:t>旧策略概率</a:t>
                </a:r>
                <a:r>
                  <a:rPr lang="en-US" altLang="zh-CN" dirty="0"/>
                  <a:t>)</a:t>
                </a:r>
              </a:p>
              <a:p>
                <a:endParaRPr lang="en-US" altLang="zh-CN" dirty="0"/>
              </a:p>
              <a:p>
                <a:r>
                  <a:rPr lang="el-GR" altLang="zh-CN" dirty="0"/>
                  <a:t>δ</a:t>
                </a:r>
                <a:r>
                  <a:rPr lang="zh-CN" altLang="en-US" dirty="0"/>
                  <a:t>阈值</a:t>
                </a:r>
                <a:r>
                  <a:rPr lang="en-US" altLang="zh-CN" dirty="0"/>
                  <a:t>:</a:t>
                </a:r>
                <a:r>
                  <a:rPr lang="zh-CN" altLang="en-US" dirty="0"/>
                  <a:t>如果一个问题上采样答案特别分散，说明模型几乎没有形成稳定判断。这时语义簇概率本身就不可靠，拿它做奖励容易把噪声当信号。如果一个问题上模型已经高度一致，再继续优化它，收益很小；更糟的是，可能让模型在本来就“自信”的地方变得过度自信。</a:t>
                </a:r>
                <a:endParaRPr lang="en-US" altLang="zh-CN" dirty="0"/>
              </a:p>
              <a:p>
                <a:endParaRPr lang="zh-CN" altLang="en-US" dirty="0"/>
              </a:p>
            </p:txBody>
          </p:sp>
        </mc:Choice>
        <mc:Fallback xmlns="">
          <p:sp>
            <p:nvSpPr>
              <p:cNvPr id="3" name="备注占位符 2">
                <a:extLst>
                  <a:ext uri="{FF2B5EF4-FFF2-40B4-BE49-F238E27FC236}">
                    <a16:creationId xmlns:a16="http://schemas.microsoft.com/office/drawing/2014/main" id="{25FD2B7B-F78E-6A4E-6910-90FD46BB69D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latin typeface="Times New Roman" panose="02020603050405020304" pitchFamily="18" charset="0"/>
                    <a:ea typeface="+mn-ea"/>
                    <a:cs typeface="+mn-ea"/>
                  </a:rPr>
                  <a:t>N</a:t>
                </a:r>
                <a:r>
                  <a:rPr lang="zh-CN" altLang="en-US" sz="1200" dirty="0">
                    <a:latin typeface="Times New Roman" panose="02020603050405020304" pitchFamily="18" charset="0"/>
                    <a:ea typeface="+mn-ea"/>
                    <a:cs typeface="+mn-ea"/>
                  </a:rPr>
                  <a:t>为数据集中数据总数，</a:t>
                </a:r>
                <a:r>
                  <a:rPr lang="en-US" altLang="zh-CN" sz="1200" i="0">
                    <a:latin typeface="Cambria Math" panose="02040503050406030204" pitchFamily="18" charset="0"/>
                    <a:ea typeface="+mn-ea"/>
                    <a:cs typeface="+mn-ea"/>
                  </a:rPr>
                  <a:t>|ner_</a:t>
                </a:r>
                <a:r>
                  <a:rPr lang="en-US" altLang="zh-CN" sz="1200" b="0" i="0">
                    <a:latin typeface="Cambria Math" panose="02040503050406030204" pitchFamily="18" charset="0"/>
                    <a:ea typeface="+mn-ea"/>
                    <a:cs typeface="+mn-ea"/>
                  </a:rPr>
                  <a:t>𝑖 |</a:t>
                </a:r>
                <a:r>
                  <a:rPr lang="zh-CN" altLang="en-US" sz="1200" dirty="0">
                    <a:latin typeface="Times New Roman" panose="02020603050405020304" pitchFamily="18" charset="0"/>
                    <a:ea typeface="+mn-ea"/>
                    <a:cs typeface="+mn-ea"/>
                  </a:rPr>
                  <a:t>为第</a:t>
                </a:r>
                <a:r>
                  <a:rPr lang="en-US" altLang="zh-CN" sz="1200" dirty="0" err="1">
                    <a:latin typeface="Times New Roman" panose="02020603050405020304" pitchFamily="18" charset="0"/>
                    <a:ea typeface="+mn-ea"/>
                    <a:cs typeface="+mn-ea"/>
                  </a:rPr>
                  <a:t>i</a:t>
                </a:r>
                <a:r>
                  <a:rPr lang="zh-CN" altLang="en-US" sz="1200" dirty="0">
                    <a:latin typeface="Times New Roman" panose="02020603050405020304" pitchFamily="18" charset="0"/>
                    <a:ea typeface="+mn-ea"/>
                    <a:cs typeface="+mn-ea"/>
                  </a:rPr>
                  <a:t>个响应中提取的实体数量，</a:t>
                </a:r>
                <a:r>
                  <a:rPr lang="en-US" altLang="zh-CN" sz="1200" i="0" dirty="0">
                    <a:latin typeface="Cambria Math" panose="02040503050406030204" pitchFamily="18" charset="0"/>
                    <a:ea typeface="+mn-ea"/>
                    <a:cs typeface="+mn-ea"/>
                  </a:rPr>
                  <a:t>count</a:t>
                </a:r>
                <a:r>
                  <a:rPr lang="en-US" altLang="zh-CN" sz="1200" dirty="0">
                    <a:latin typeface="Times New Roman" panose="02020603050405020304" pitchFamily="18" charset="0"/>
                    <a:ea typeface="+mn-ea"/>
                    <a:cs typeface="+mn-ea"/>
                  </a:rPr>
                  <a:t>(e)</a:t>
                </a:r>
                <a:r>
                  <a:rPr lang="zh-CN" altLang="en-US" sz="1200" dirty="0">
                    <a:latin typeface="Times New Roman" panose="02020603050405020304" pitchFamily="18" charset="0"/>
                    <a:ea typeface="+mn-ea"/>
                    <a:cs typeface="+mn-ea"/>
                  </a:rPr>
                  <a:t>表示实体</a:t>
                </a:r>
                <a:r>
                  <a:rPr lang="en-US" altLang="zh-CN" sz="1200" dirty="0">
                    <a:latin typeface="Times New Roman" panose="02020603050405020304" pitchFamily="18" charset="0"/>
                    <a:ea typeface="+mn-ea"/>
                    <a:cs typeface="+mn-ea"/>
                  </a:rPr>
                  <a:t>e</a:t>
                </a:r>
                <a:r>
                  <a:rPr lang="zh-CN" altLang="en-US" sz="1200" dirty="0">
                    <a:latin typeface="Times New Roman" panose="02020603050405020304" pitchFamily="18" charset="0"/>
                    <a:ea typeface="+mn-ea"/>
                    <a:cs typeface="+mn-ea"/>
                  </a:rPr>
                  <a:t>在整个语库中出现的次数。</a:t>
                </a:r>
                <a:endParaRPr lang="en-US" altLang="zh-CN" sz="1200" dirty="0">
                  <a:latin typeface="Times New Roman" panose="02020603050405020304" pitchFamily="18" charset="0"/>
                  <a:ea typeface="+mn-ea"/>
                  <a:cs typeface="+mn-ea"/>
                </a:endParaRPr>
              </a:p>
              <a:p>
                <a:pPr indent="0" fontAlgn="auto">
                  <a:lnSpc>
                    <a:spcPct val="150000"/>
                  </a:lnSpc>
                  <a:buFont typeface="Arial" panose="020B0604020202020204" pitchFamily="34" charset="0"/>
                  <a:buNone/>
                </a:pPr>
                <a:r>
                  <a:rPr lang="en-US" altLang="zh-CN" sz="1200" dirty="0" err="1">
                    <a:latin typeface="Times New Roman" panose="02020603050405020304" pitchFamily="18" charset="0"/>
                    <a:ea typeface="+mn-ea"/>
                    <a:cs typeface="+mn-ea"/>
                  </a:rPr>
                  <a:t>AvgEntityCount</a:t>
                </a:r>
                <a:r>
                  <a:rPr lang="zh-CN" altLang="en-US" sz="1200" dirty="0">
                    <a:latin typeface="Times New Roman" panose="02020603050405020304" pitchFamily="18" charset="0"/>
                    <a:ea typeface="+mn-ea"/>
                    <a:cs typeface="+mn-ea"/>
                  </a:rPr>
                  <a:t>（平均实体数量）：每个响应包含的平均实体数。值越高表明每个响应涉及更多实体，意味着语义密度更大。</a:t>
                </a:r>
              </a:p>
              <a:p>
                <a:pPr indent="0" fontAlgn="auto">
                  <a:lnSpc>
                    <a:spcPct val="150000"/>
                  </a:lnSpc>
                  <a:buFont typeface="Arial" panose="020B0604020202020204" pitchFamily="34" charset="0"/>
                  <a:buNone/>
                </a:pPr>
                <a:r>
                  <a:rPr lang="en-US" altLang="zh-CN" sz="1200" dirty="0" err="1">
                    <a:latin typeface="Times New Roman" panose="02020603050405020304" pitchFamily="18" charset="0"/>
                    <a:ea typeface="+mn-ea"/>
                    <a:cs typeface="+mn-ea"/>
                  </a:rPr>
                  <a:t>AvgEntityRarity</a:t>
                </a:r>
                <a:r>
                  <a:rPr lang="zh-CN" altLang="en-US" sz="1200" dirty="0">
                    <a:latin typeface="Times New Roman" panose="02020603050405020304" pitchFamily="18" charset="0"/>
                    <a:ea typeface="+mn-ea"/>
                    <a:cs typeface="+mn-ea"/>
                  </a:rPr>
                  <a:t>（平均实体稀缺性）：每个响应中实体的平均语料库频率，反映它们在数据集中的稀缺程度。值越低表明存在更稀有、长尾的实体。（实体在语料库中出现的少，说明这个数据库实体种类很多，则</a:t>
                </a:r>
                <a:r>
                  <a:rPr lang="en-US" altLang="zh-CN" sz="1200" dirty="0">
                    <a:latin typeface="Times New Roman" panose="02020603050405020304" pitchFamily="18" charset="0"/>
                    <a:ea typeface="+mn-ea"/>
                    <a:cs typeface="+mn-ea"/>
                  </a:rPr>
                  <a:t>count(e)</a:t>
                </a:r>
                <a:r>
                  <a:rPr lang="zh-CN" altLang="en-US" sz="1200" dirty="0">
                    <a:latin typeface="Times New Roman" panose="02020603050405020304" pitchFamily="18" charset="0"/>
                    <a:ea typeface="+mn-ea"/>
                    <a:cs typeface="+mn-ea"/>
                  </a:rPr>
                  <a:t>就越低）</a:t>
                </a:r>
              </a:p>
              <a:p>
                <a:pPr indent="0" fontAlgn="auto">
                  <a:lnSpc>
                    <a:spcPct val="150000"/>
                  </a:lnSpc>
                  <a:buFont typeface="Arial" panose="020B0604020202020204" pitchFamily="34" charset="0"/>
                  <a:buNone/>
                </a:pPr>
                <a:r>
                  <a:rPr lang="en-US" altLang="zh-CN" sz="1200" dirty="0" err="1">
                    <a:latin typeface="Times New Roman" panose="02020603050405020304" pitchFamily="18" charset="0"/>
                    <a:ea typeface="+mn-ea"/>
                    <a:cs typeface="+mn-ea"/>
                  </a:rPr>
                  <a:t>RarityScore</a:t>
                </a:r>
                <a:r>
                  <a:rPr lang="zh-CN" altLang="en-US" sz="1200" dirty="0">
                    <a:latin typeface="Times New Roman" panose="02020603050405020304" pitchFamily="18" charset="0"/>
                    <a:ea typeface="+mn-ea"/>
                    <a:cs typeface="+mn-ea"/>
                  </a:rPr>
                  <a:t>（稀缺性分数）：定义为实体丰富度与实体频率之比。分数越高表示响应包含更多稀有实体，暗示任务难度更大且幻觉可能性更高。为确保跨不同规模数据集的鲁棒性，该分数通过对数惩罚进行归一化。（例如实体数目很多，但都只出现一次的话，则</a:t>
                </a:r>
                <a:r>
                  <a:rPr lang="en-US" altLang="zh-CN" sz="1200" dirty="0" err="1">
                    <a:latin typeface="Times New Roman" panose="02020603050405020304" pitchFamily="18" charset="0"/>
                    <a:ea typeface="+mn-ea"/>
                    <a:cs typeface="+mn-ea"/>
                  </a:rPr>
                  <a:t>RarityScore</a:t>
                </a:r>
                <a:r>
                  <a:rPr lang="zh-CN" altLang="en-US" sz="1200" dirty="0">
                    <a:latin typeface="Times New Roman" panose="02020603050405020304" pitchFamily="18" charset="0"/>
                    <a:ea typeface="+mn-ea"/>
                    <a:cs typeface="+mn-ea"/>
                  </a:rPr>
                  <a:t>分数会很高。）</a:t>
                </a:r>
                <a:endParaRPr lang="en-US" altLang="zh-CN" sz="1200" dirty="0">
                  <a:latin typeface="Times New Roman" panose="02020603050405020304" pitchFamily="18" charset="0"/>
                  <a:ea typeface="+mn-ea"/>
                  <a:cs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latin typeface="Times New Roman" panose="02020603050405020304" pitchFamily="18" charset="0"/>
                  <a:ea typeface="+mn-ea"/>
                  <a:cs typeface="+mn-ea"/>
                </a:endParaRPr>
              </a:p>
              <a:p>
                <a:endParaRPr lang="zh-CN" altLang="en-US" dirty="0"/>
              </a:p>
            </p:txBody>
          </p:sp>
        </mc:Fallback>
      </mc:AlternateContent>
      <p:sp>
        <p:nvSpPr>
          <p:cNvPr id="4" name="灯片编号占位符 3">
            <a:extLst>
              <a:ext uri="{FF2B5EF4-FFF2-40B4-BE49-F238E27FC236}">
                <a16:creationId xmlns:a16="http://schemas.microsoft.com/office/drawing/2014/main" id="{079BB340-92F6-008C-DDCF-BAC342E235C5}"/>
              </a:ext>
            </a:extLst>
          </p:cNvPr>
          <p:cNvSpPr>
            <a:spLocks noGrp="1"/>
          </p:cNvSpPr>
          <p:nvPr>
            <p:ph type="sldNum" sz="quarter" idx="5"/>
          </p:nvPr>
        </p:nvSpPr>
        <p:spPr/>
        <p:txBody>
          <a:bodyPr/>
          <a:lstStyle/>
          <a:p>
            <a:fld id="{3FF2ADFF-6A68-4D4C-8DF4-C6AAACA87F83}" type="slidenum">
              <a:rPr lang="zh-CN" altLang="en-US" smtClean="0"/>
              <a:t>10</a:t>
            </a:fld>
            <a:endParaRPr lang="zh-CN" altLang="en-US"/>
          </a:p>
        </p:txBody>
      </p:sp>
    </p:spTree>
    <p:extLst>
      <p:ext uri="{BB962C8B-B14F-4D97-AF65-F5344CB8AC3E}">
        <p14:creationId xmlns:p14="http://schemas.microsoft.com/office/powerpoint/2010/main" val="32042445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在封闭式数学推理和开放式自然推理两类数据集上开展实验，验证 </a:t>
            </a:r>
            <a:r>
              <a:rPr lang="en-US" altLang="zh-CN" dirty="0"/>
              <a:t>EMPO </a:t>
            </a:r>
            <a:r>
              <a:rPr lang="zh-CN" altLang="en-US" dirty="0"/>
              <a:t>仅通过全无监督强化学习，即可取得与有监督微调、强化学习方法相当的性能。</a:t>
            </a:r>
            <a:endParaRPr lang="en-US" altLang="zh-CN" dirty="0"/>
          </a:p>
          <a:p>
            <a:r>
              <a:rPr lang="zh-CN" altLang="en-US" dirty="0"/>
              <a:t>开放式自然推理中，提示词来自于数据集中的提示词，为提升训练效率，过滤掉提示语或参考答案过长的问题；同时借鉴 的方法，将 </a:t>
            </a:r>
            <a:r>
              <a:rPr lang="en-US" altLang="zh-CN" dirty="0"/>
              <a:t>Llama3.3-70B-Instruct</a:t>
            </a:r>
            <a:r>
              <a:rPr lang="zh-CN" altLang="en-US" dirty="0"/>
              <a:t>模型的响应长度作为难度评估指标，过滤掉响应长度超过 </a:t>
            </a:r>
            <a:r>
              <a:rPr lang="en-US" altLang="zh-CN" dirty="0"/>
              <a:t>4096 </a:t>
            </a:r>
            <a:r>
              <a:rPr lang="zh-CN" altLang="en-US" dirty="0"/>
              <a:t>个 </a:t>
            </a:r>
            <a:r>
              <a:rPr lang="en-US" altLang="zh-CN" dirty="0"/>
              <a:t>token </a:t>
            </a:r>
            <a:r>
              <a:rPr lang="zh-CN" altLang="en-US" dirty="0"/>
              <a:t>的样本（剩余样本更简单，可提升训练过程的稳定性），最终的训练子集包含 </a:t>
            </a:r>
            <a:r>
              <a:rPr lang="en-US" altLang="zh-CN" dirty="0"/>
              <a:t>18000 </a:t>
            </a:r>
            <a:r>
              <a:rPr lang="zh-CN" altLang="en-US" dirty="0"/>
              <a:t>个问题。</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3FF2ADFF-6A68-4D4C-8DF4-C6AAACA87F83}" type="slidenum">
              <a:rPr lang="zh-CN" altLang="en-US" smtClean="0"/>
              <a:t>11</a:t>
            </a:fld>
            <a:endParaRPr lang="zh-CN" altLang="en-US"/>
          </a:p>
        </p:txBody>
      </p:sp>
    </p:spTree>
    <p:extLst>
      <p:ext uri="{BB962C8B-B14F-4D97-AF65-F5344CB8AC3E}">
        <p14:creationId xmlns:p14="http://schemas.microsoft.com/office/powerpoint/2010/main" val="10183775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41627-D238-B08C-A43A-302021809D0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0992582-1374-B1FA-9732-68A1405354C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43E31E1-5481-AD03-5CF5-7F36C460C206}"/>
              </a:ext>
            </a:extLst>
          </p:cNvPr>
          <p:cNvSpPr>
            <a:spLocks noGrp="1"/>
          </p:cNvSpPr>
          <p:nvPr>
            <p:ph type="body" idx="1"/>
          </p:nvPr>
        </p:nvSpPr>
        <p:spPr/>
        <p:txBody>
          <a:bodyPr/>
          <a:lstStyle/>
          <a:p>
            <a:r>
              <a:rPr lang="en-US" altLang="zh-CN" dirty="0"/>
              <a:t>SFT</a:t>
            </a:r>
            <a:r>
              <a:rPr lang="zh-CN" altLang="en-US" dirty="0"/>
              <a:t>：基于 </a:t>
            </a:r>
            <a:r>
              <a:rPr lang="en-US" altLang="zh-CN" dirty="0"/>
              <a:t>Open-Instruct [38] </a:t>
            </a:r>
            <a:r>
              <a:rPr lang="zh-CN" altLang="en-US" dirty="0"/>
              <a:t>进行有监督微调，学习率固定为</a:t>
            </a:r>
            <a:r>
              <a:rPr lang="en-US" altLang="zh-CN" dirty="0"/>
              <a:t>1×10 −6 </a:t>
            </a:r>
            <a:r>
              <a:rPr lang="zh-CN" altLang="en-US" dirty="0"/>
              <a:t>，全局批次大小为 </a:t>
            </a:r>
            <a:r>
              <a:rPr lang="en-US" altLang="zh-CN" dirty="0"/>
              <a:t>128</a:t>
            </a:r>
            <a:r>
              <a:rPr lang="zh-CN" altLang="en-US" dirty="0"/>
              <a:t>，训练 </a:t>
            </a:r>
            <a:r>
              <a:rPr lang="en-US" altLang="zh-CN" dirty="0"/>
              <a:t>1 </a:t>
            </a:r>
            <a:r>
              <a:rPr lang="zh-CN" altLang="en-US" dirty="0"/>
              <a:t>个 </a:t>
            </a:r>
            <a:r>
              <a:rPr lang="en-US" altLang="zh-CN" dirty="0"/>
              <a:t>epoch</a:t>
            </a:r>
            <a:r>
              <a:rPr lang="zh-CN" altLang="en-US" dirty="0"/>
              <a:t>，最大序列长度为 </a:t>
            </a:r>
            <a:r>
              <a:rPr lang="en-US" altLang="zh-CN" dirty="0"/>
              <a:t>2048</a:t>
            </a:r>
            <a:r>
              <a:rPr lang="zh-CN" altLang="en-US" dirty="0"/>
              <a:t>；</a:t>
            </a:r>
            <a:endParaRPr lang="en-US" altLang="zh-CN" dirty="0"/>
          </a:p>
          <a:p>
            <a:endParaRPr lang="en-US" altLang="zh-CN" dirty="0"/>
          </a:p>
          <a:p>
            <a:r>
              <a:rPr lang="en-US" altLang="zh-CN" dirty="0"/>
              <a:t>GRPO</a:t>
            </a:r>
            <a:r>
              <a:rPr lang="zh-CN" altLang="en-US" dirty="0"/>
              <a:t>：基于 </a:t>
            </a:r>
            <a:r>
              <a:rPr lang="en-US" altLang="zh-CN" dirty="0" err="1"/>
              <a:t>verl</a:t>
            </a:r>
            <a:r>
              <a:rPr lang="en-US" altLang="zh-CN" dirty="0"/>
              <a:t> </a:t>
            </a:r>
            <a:r>
              <a:rPr lang="zh-CN" altLang="en-US" dirty="0"/>
              <a:t>实现，数学推理和自然推理任务中，每个提示语分别采样 </a:t>
            </a:r>
            <a:r>
              <a:rPr lang="en-US" altLang="zh-CN" dirty="0"/>
              <a:t>16 </a:t>
            </a:r>
            <a:r>
              <a:rPr lang="zh-CN" altLang="en-US" dirty="0"/>
              <a:t>条和 </a:t>
            </a:r>
            <a:r>
              <a:rPr lang="en-US" altLang="zh-CN" dirty="0"/>
              <a:t>12 </a:t>
            </a:r>
            <a:r>
              <a:rPr lang="zh-CN" altLang="en-US" dirty="0"/>
              <a:t>条响应；通义千问 </a:t>
            </a:r>
            <a:r>
              <a:rPr lang="en-US" altLang="zh-CN" dirty="0"/>
              <a:t>2.5 - </a:t>
            </a:r>
            <a:r>
              <a:rPr lang="zh-CN" altLang="en-US" dirty="0"/>
              <a:t>数学模型系列训练 </a:t>
            </a:r>
            <a:r>
              <a:rPr lang="en-US" altLang="zh-CN" dirty="0"/>
              <a:t>300 </a:t>
            </a:r>
            <a:r>
              <a:rPr lang="zh-CN" altLang="en-US" dirty="0"/>
              <a:t>步，最大生成长度为 </a:t>
            </a:r>
            <a:r>
              <a:rPr lang="en-US" altLang="zh-CN" dirty="0"/>
              <a:t>3096</a:t>
            </a:r>
            <a:r>
              <a:rPr lang="zh-CN" altLang="en-US" dirty="0"/>
              <a:t>；</a:t>
            </a:r>
            <a:r>
              <a:rPr lang="en-US" altLang="zh-CN" dirty="0" err="1"/>
              <a:t>OctoThinker</a:t>
            </a:r>
            <a:r>
              <a:rPr lang="en-US" altLang="zh-CN" dirty="0"/>
              <a:t> </a:t>
            </a:r>
            <a:r>
              <a:rPr lang="zh-CN" altLang="en-US" dirty="0"/>
              <a:t>模型系列训练 </a:t>
            </a:r>
            <a:r>
              <a:rPr lang="en-US" altLang="zh-CN" dirty="0"/>
              <a:t>100 </a:t>
            </a:r>
            <a:r>
              <a:rPr lang="zh-CN" altLang="en-US" dirty="0"/>
              <a:t>步，最大生成长度为 </a:t>
            </a:r>
            <a:r>
              <a:rPr lang="en-US" altLang="zh-CN" dirty="0"/>
              <a:t>16K</a:t>
            </a:r>
            <a:r>
              <a:rPr lang="zh-CN" altLang="en-US" dirty="0"/>
              <a:t>；训练提示语批次大小为 </a:t>
            </a:r>
            <a:r>
              <a:rPr lang="en-US" altLang="zh-CN" dirty="0"/>
              <a:t>256</a:t>
            </a:r>
            <a:r>
              <a:rPr lang="zh-CN" altLang="en-US" dirty="0"/>
              <a:t>，小批次大小为 </a:t>
            </a:r>
            <a:r>
              <a:rPr lang="en-US" altLang="zh-CN" dirty="0"/>
              <a:t>32</a:t>
            </a:r>
            <a:r>
              <a:rPr lang="zh-CN" altLang="en-US" dirty="0"/>
              <a:t>。具体而言，采用 </a:t>
            </a:r>
            <a:r>
              <a:rPr lang="en-US" altLang="zh-CN" dirty="0"/>
              <a:t>GSPO [40] </a:t>
            </a:r>
            <a:r>
              <a:rPr lang="zh-CN" altLang="en-US" dirty="0"/>
              <a:t>提出的基于序列似然的重要性比裁剪，实现稳定的离策略强化学习训练；借鉴 </a:t>
            </a:r>
            <a:r>
              <a:rPr lang="en-US" altLang="zh-CN" dirty="0"/>
              <a:t>[41]</a:t>
            </a:r>
            <a:r>
              <a:rPr lang="zh-CN" altLang="en-US" dirty="0"/>
              <a:t>，仅使用基于准确率的规则奖励，不采用格式奖励 </a:t>
            </a:r>
            <a:r>
              <a:rPr lang="en-US" altLang="zh-CN" dirty="0"/>
              <a:t>—— </a:t>
            </a:r>
            <a:r>
              <a:rPr lang="zh-CN" altLang="en-US" dirty="0"/>
              <a:t>若响应中</a:t>
            </a:r>
            <a:r>
              <a:rPr lang="en-US" altLang="zh-CN" dirty="0"/>
              <a:t>\boxed{}</a:t>
            </a:r>
            <a:r>
              <a:rPr lang="zh-CN" altLang="en-US" dirty="0"/>
              <a:t>内包含正确的最终答案，奖励为 </a:t>
            </a:r>
            <a:r>
              <a:rPr lang="en-US" altLang="zh-CN" dirty="0"/>
              <a:t>1.0</a:t>
            </a:r>
            <a:r>
              <a:rPr lang="zh-CN" altLang="en-US" dirty="0"/>
              <a:t>，否则为 </a:t>
            </a:r>
            <a:r>
              <a:rPr lang="en-US" altLang="zh-CN" dirty="0"/>
              <a:t>0.0</a:t>
            </a:r>
            <a:r>
              <a:rPr lang="zh-CN" altLang="en-US" dirty="0"/>
              <a:t>；</a:t>
            </a:r>
            <a:endParaRPr lang="en-US" altLang="zh-CN" dirty="0"/>
          </a:p>
          <a:p>
            <a:endParaRPr lang="en-US" altLang="zh-CN" dirty="0"/>
          </a:p>
          <a:p>
            <a:r>
              <a:rPr lang="en-US" altLang="zh-CN" dirty="0"/>
              <a:t>Online-DPO</a:t>
            </a:r>
            <a:r>
              <a:rPr lang="zh-CN" altLang="en-US" dirty="0"/>
              <a:t>：近期的在线直接偏好优化方法，首先采样一组响应，再验证并选取奖励最高和最低的响应构成偏好对。本文直接引用 </a:t>
            </a:r>
            <a:r>
              <a:rPr lang="en-US" altLang="zh-CN" dirty="0"/>
              <a:t>[31] </a:t>
            </a:r>
            <a:r>
              <a:rPr lang="zh-CN" altLang="en-US" dirty="0"/>
              <a:t>的实验结果，该研究中模型训练 </a:t>
            </a:r>
            <a:r>
              <a:rPr lang="en-US" altLang="zh-CN" dirty="0"/>
              <a:t>7 </a:t>
            </a:r>
            <a:r>
              <a:rPr lang="zh-CN" altLang="en-US" dirty="0"/>
              <a:t>轮，每轮包含 </a:t>
            </a:r>
            <a:r>
              <a:rPr lang="en-US" altLang="zh-CN" dirty="0"/>
              <a:t>2 </a:t>
            </a:r>
            <a:r>
              <a:rPr lang="zh-CN" altLang="en-US" dirty="0"/>
              <a:t>个训练 </a:t>
            </a:r>
            <a:r>
              <a:rPr lang="en-US" altLang="zh-CN" dirty="0"/>
              <a:t>epoch </a:t>
            </a:r>
            <a:r>
              <a:rPr lang="zh-CN" altLang="en-US" dirty="0"/>
              <a:t>和 </a:t>
            </a:r>
            <a:r>
              <a:rPr lang="en-US" altLang="zh-CN" dirty="0"/>
              <a:t>20000 </a:t>
            </a:r>
            <a:r>
              <a:rPr lang="zh-CN" altLang="en-US" dirty="0"/>
              <a:t>个训练样本，总计 </a:t>
            </a:r>
            <a:r>
              <a:rPr lang="en-US" altLang="zh-CN" dirty="0"/>
              <a:t>140000 </a:t>
            </a:r>
            <a:r>
              <a:rPr lang="zh-CN" altLang="en-US" dirty="0"/>
              <a:t>个训练样本；</a:t>
            </a:r>
            <a:endParaRPr lang="en-US" altLang="zh-CN" dirty="0"/>
          </a:p>
          <a:p>
            <a:endParaRPr lang="en-US" altLang="zh-CN" dirty="0"/>
          </a:p>
          <a:p>
            <a:r>
              <a:rPr lang="en-US" altLang="zh-CN" dirty="0"/>
              <a:t>EMPO</a:t>
            </a:r>
            <a:r>
              <a:rPr lang="zh-CN" altLang="en-US" dirty="0"/>
              <a:t>：多数超参数（如生成数量、最大生成长度、批次大小、学习率）与 </a:t>
            </a:r>
            <a:r>
              <a:rPr lang="en-US" altLang="zh-CN" dirty="0"/>
              <a:t>GRPO </a:t>
            </a:r>
            <a:r>
              <a:rPr lang="zh-CN" altLang="en-US" dirty="0"/>
              <a:t>保持一致。数学推理任务中，通过一组正则表达式将输出合并为语义聚类；更通用的开放式自然推理任务中，借鉴 </a:t>
            </a:r>
            <a:r>
              <a:rPr lang="en-US" altLang="zh-CN" dirty="0"/>
              <a:t>[23,26] </a:t>
            </a:r>
            <a:r>
              <a:rPr lang="zh-CN" altLang="en-US" dirty="0"/>
              <a:t>的方法，利用通用验证器 </a:t>
            </a:r>
            <a:r>
              <a:rPr lang="en-US" altLang="zh-CN" dirty="0"/>
              <a:t>[7]</a:t>
            </a:r>
            <a:r>
              <a:rPr lang="zh-CN" altLang="en-US" dirty="0"/>
              <a:t>（一个 </a:t>
            </a:r>
            <a:r>
              <a:rPr lang="en-US" altLang="zh-CN" dirty="0"/>
              <a:t>15 </a:t>
            </a:r>
            <a:r>
              <a:rPr lang="zh-CN" altLang="en-US" dirty="0"/>
              <a:t>亿参数的轻量小型语言模型）判断两个输出的语义是否相同。具体而言，若两个模型输出的最终预测（</a:t>
            </a:r>
            <a:r>
              <a:rPr lang="en-US" altLang="zh-CN" dirty="0"/>
              <a:t>\boxed{}</a:t>
            </a:r>
            <a:r>
              <a:rPr lang="zh-CN" altLang="en-US" dirty="0"/>
              <a:t>内的内容）双向蕴含，则忽略其推理轨迹，将其归为同一语义聚类。更多细节见附录 </a:t>
            </a:r>
            <a:r>
              <a:rPr lang="en-US" altLang="zh-CN" dirty="0"/>
              <a:t>E</a:t>
            </a:r>
            <a:r>
              <a:rPr lang="zh-CN" altLang="en-US" dirty="0"/>
              <a:t>。</a:t>
            </a:r>
            <a:br>
              <a:rPr lang="en-US" altLang="zh-CN" dirty="0"/>
            </a:br>
            <a:br>
              <a:rPr lang="en-US" altLang="zh-CN" dirty="0"/>
            </a:br>
            <a:r>
              <a:rPr lang="en-US" altLang="zh-CN" dirty="0"/>
              <a:t>GPQA:</a:t>
            </a:r>
            <a:r>
              <a:rPr lang="zh-CN" altLang="en-US" dirty="0"/>
              <a:t>选择题</a:t>
            </a:r>
          </a:p>
        </p:txBody>
      </p:sp>
      <p:sp>
        <p:nvSpPr>
          <p:cNvPr id="4" name="灯片编号占位符 3">
            <a:extLst>
              <a:ext uri="{FF2B5EF4-FFF2-40B4-BE49-F238E27FC236}">
                <a16:creationId xmlns:a16="http://schemas.microsoft.com/office/drawing/2014/main" id="{874FCB15-7B9E-B87D-FDB8-F34413271A26}"/>
              </a:ext>
            </a:extLst>
          </p:cNvPr>
          <p:cNvSpPr>
            <a:spLocks noGrp="1"/>
          </p:cNvSpPr>
          <p:nvPr>
            <p:ph type="sldNum" sz="quarter" idx="5"/>
          </p:nvPr>
        </p:nvSpPr>
        <p:spPr/>
        <p:txBody>
          <a:bodyPr/>
          <a:lstStyle/>
          <a:p>
            <a:fld id="{3FF2ADFF-6A68-4D4C-8DF4-C6AAACA87F83}" type="slidenum">
              <a:rPr lang="zh-CN" altLang="en-US" smtClean="0"/>
              <a:t>12</a:t>
            </a:fld>
            <a:endParaRPr lang="zh-CN" altLang="en-US"/>
          </a:p>
        </p:txBody>
      </p:sp>
    </p:spTree>
    <p:extLst>
      <p:ext uri="{BB962C8B-B14F-4D97-AF65-F5344CB8AC3E}">
        <p14:creationId xmlns:p14="http://schemas.microsoft.com/office/powerpoint/2010/main" val="1532324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以</a:t>
            </a:r>
            <a:r>
              <a:rPr lang="en-US" altLang="zh-CN" dirty="0"/>
              <a:t>Pass@1 </a:t>
            </a:r>
            <a:r>
              <a:rPr lang="zh-CN" altLang="en-US" dirty="0"/>
              <a:t>准确率作为结果</a:t>
            </a:r>
            <a:endParaRPr lang="en-US" altLang="zh-CN" dirty="0"/>
          </a:p>
          <a:p>
            <a:r>
              <a:rPr lang="en-US" altLang="zh-CN" dirty="0"/>
              <a:t>EMPO</a:t>
            </a:r>
            <a:r>
              <a:rPr lang="zh-CN" altLang="en-US" dirty="0"/>
              <a:t>仅通过全无监督强化学习训练（</a:t>
            </a:r>
            <a:r>
              <a:rPr lang="en-US" altLang="zh-CN" dirty="0"/>
              <a:t>42.6% </a:t>
            </a:r>
            <a:r>
              <a:rPr lang="zh-CN" altLang="en-US" dirty="0"/>
              <a:t>和 </a:t>
            </a:r>
            <a:r>
              <a:rPr lang="en-US" altLang="zh-CN" dirty="0"/>
              <a:t>51.6%</a:t>
            </a:r>
            <a:r>
              <a:rPr lang="zh-CN" altLang="en-US" dirty="0"/>
              <a:t>）已接近</a:t>
            </a:r>
            <a:r>
              <a:rPr lang="en-US" altLang="zh-CN" dirty="0"/>
              <a:t>GRPO</a:t>
            </a:r>
            <a:r>
              <a:rPr lang="zh-CN" altLang="en-US" dirty="0"/>
              <a:t>（</a:t>
            </a:r>
            <a:r>
              <a:rPr lang="en-US" altLang="zh-CN" dirty="0"/>
              <a:t>42.8% </a:t>
            </a:r>
            <a:r>
              <a:rPr lang="zh-CN" altLang="en-US" dirty="0"/>
              <a:t>和 </a:t>
            </a:r>
            <a:r>
              <a:rPr lang="en-US" altLang="zh-CN" dirty="0"/>
              <a:t>51.7%</a:t>
            </a:r>
            <a:r>
              <a:rPr lang="zh-CN" altLang="en-US" dirty="0"/>
              <a:t>），而后者依赖私有数据集和多阶段的迭代有监督微调和强化学习。</a:t>
            </a:r>
            <a:endParaRPr lang="en-US" altLang="zh-CN" dirty="0"/>
          </a:p>
          <a:p>
            <a:r>
              <a:rPr lang="zh-CN" altLang="en-US" dirty="0"/>
              <a:t>给出</a:t>
            </a:r>
            <a:r>
              <a:rPr lang="en-US" altLang="zh-CN" sz="1200" b="1" kern="1200" dirty="0">
                <a:solidFill>
                  <a:schemeClr val="tx1"/>
                </a:solidFill>
                <a:effectLst/>
                <a:latin typeface="+mn-lt"/>
                <a:ea typeface="+mn-ea"/>
                <a:cs typeface="+mn-cs"/>
              </a:rPr>
              <a:t>Llama-3.1-70B-Instruct</a:t>
            </a:r>
            <a:r>
              <a:rPr lang="en-US" altLang="zh-CN" dirty="0"/>
              <a:t> </a:t>
            </a:r>
            <a:r>
              <a:rPr lang="zh-CN" altLang="en-US" dirty="0"/>
              <a:t>和 </a:t>
            </a:r>
            <a:r>
              <a:rPr lang="en-US" altLang="zh-CN" sz="1200" b="1" kern="1200" dirty="0">
                <a:solidFill>
                  <a:schemeClr val="tx1"/>
                </a:solidFill>
                <a:effectLst/>
                <a:latin typeface="+mn-lt"/>
                <a:ea typeface="+mn-ea"/>
                <a:cs typeface="+mn-cs"/>
              </a:rPr>
              <a:t>Eurus-2-B-Prime</a:t>
            </a:r>
            <a:r>
              <a:rPr lang="en-US" altLang="zh-CN" dirty="0"/>
              <a:t> </a:t>
            </a:r>
            <a:r>
              <a:rPr lang="zh-CN" altLang="en-US" dirty="0"/>
              <a:t>（当前业界性能领先的大模型），作用是作为性能上限参考：代表在强监督（依赖问题 </a:t>
            </a:r>
            <a:r>
              <a:rPr lang="en-US" altLang="zh-CN" dirty="0"/>
              <a:t>q</a:t>
            </a:r>
            <a:r>
              <a:rPr lang="zh-CN" altLang="en-US" dirty="0"/>
              <a:t>、推理轨迹 </a:t>
            </a:r>
            <a:r>
              <a:rPr lang="en-US" altLang="zh-CN" dirty="0"/>
              <a:t>r </a:t>
            </a:r>
            <a:r>
              <a:rPr lang="zh-CN" altLang="en-US" dirty="0"/>
              <a:t>和标准答案 </a:t>
            </a:r>
            <a:r>
              <a:rPr lang="en-US" altLang="zh-CN" dirty="0"/>
              <a:t>a</a:t>
            </a:r>
            <a:r>
              <a:rPr lang="zh-CN" altLang="en-US" dirty="0"/>
              <a:t>）条件下，数学推理能力的顶尖水平。作为对比基准：帮助读者直观感受 </a:t>
            </a:r>
            <a:r>
              <a:rPr lang="en-US" altLang="zh-CN" dirty="0"/>
              <a:t>Qwen2.5 </a:t>
            </a:r>
            <a:r>
              <a:rPr lang="zh-CN" altLang="en-US" dirty="0"/>
              <a:t>系列模型（尤其是 </a:t>
            </a:r>
            <a:r>
              <a:rPr lang="en-US" altLang="zh-CN" dirty="0"/>
              <a:t>EMPO </a:t>
            </a:r>
            <a:r>
              <a:rPr lang="zh-CN" altLang="en-US" dirty="0"/>
              <a:t>方法）在无监督 </a:t>
            </a:r>
            <a:r>
              <a:rPr lang="en-US" altLang="zh-CN" dirty="0"/>
              <a:t>/ </a:t>
            </a:r>
            <a:r>
              <a:rPr lang="zh-CN" altLang="en-US" dirty="0"/>
              <a:t>弱监督条件下，能达到何等接近业界顶尖的性能。</a:t>
            </a:r>
            <a:endParaRPr lang="en-US" altLang="zh-CN" dirty="0"/>
          </a:p>
          <a:p>
            <a:r>
              <a:rPr lang="en-US" altLang="zh-CN" dirty="0"/>
              <a:t>Rand</a:t>
            </a:r>
            <a:r>
              <a:rPr lang="zh-CN" altLang="en-US" dirty="0"/>
              <a:t>：随机给奖励信号，不是随便训都有效</a:t>
            </a:r>
            <a:br>
              <a:rPr lang="en-US" altLang="zh-CN" dirty="0"/>
            </a:br>
            <a:endParaRPr lang="en-US" altLang="zh-CN" dirty="0"/>
          </a:p>
          <a:p>
            <a:r>
              <a:rPr lang="en-US" altLang="zh-CN" dirty="0"/>
              <a:t>MATH</a:t>
            </a:r>
            <a:r>
              <a:rPr lang="zh-CN" altLang="en-US" dirty="0"/>
              <a:t>：作为基础难度的竞赛题，用于检验 </a:t>
            </a:r>
            <a:r>
              <a:rPr lang="en-US" altLang="zh-CN" dirty="0"/>
              <a:t>EMPO </a:t>
            </a:r>
            <a:r>
              <a:rPr lang="zh-CN" altLang="en-US" dirty="0"/>
              <a:t>对常规数学推理的提升效果。</a:t>
            </a:r>
            <a:br>
              <a:rPr lang="en-US" altLang="zh-CN" dirty="0"/>
            </a:br>
            <a:r>
              <a:rPr lang="en-US" altLang="zh-CN" dirty="0"/>
              <a:t>Minerva Math</a:t>
            </a:r>
            <a:r>
              <a:rPr lang="zh-CN" altLang="en-US" dirty="0"/>
              <a:t>：补充 </a:t>
            </a:r>
            <a:r>
              <a:rPr lang="en-US" altLang="zh-CN" dirty="0"/>
              <a:t>MATH </a:t>
            </a:r>
            <a:r>
              <a:rPr lang="zh-CN" altLang="en-US" dirty="0"/>
              <a:t>的纯数学范畴，检验 </a:t>
            </a:r>
            <a:r>
              <a:rPr lang="en-US" altLang="zh-CN" dirty="0"/>
              <a:t>EMPO </a:t>
            </a:r>
            <a:r>
              <a:rPr lang="zh-CN" altLang="en-US" dirty="0"/>
              <a:t>在跨 </a:t>
            </a:r>
            <a:r>
              <a:rPr lang="en-US" altLang="zh-CN" dirty="0"/>
              <a:t>STEM </a:t>
            </a:r>
            <a:r>
              <a:rPr lang="zh-CN" altLang="en-US" dirty="0"/>
              <a:t>领域数学推理中的泛化性。</a:t>
            </a:r>
            <a:br>
              <a:rPr lang="en-US" altLang="zh-CN" dirty="0"/>
            </a:br>
            <a:r>
              <a:rPr lang="en-US" altLang="zh-CN" dirty="0"/>
              <a:t>AMC23</a:t>
            </a:r>
            <a:r>
              <a:rPr lang="zh-CN" altLang="en-US" dirty="0"/>
              <a:t>：作为标准化竞赛基准，验证 </a:t>
            </a:r>
            <a:r>
              <a:rPr lang="en-US" altLang="zh-CN" dirty="0"/>
              <a:t>EMPO </a:t>
            </a:r>
            <a:r>
              <a:rPr lang="zh-CN" altLang="en-US" dirty="0"/>
              <a:t>在</a:t>
            </a:r>
            <a:r>
              <a:rPr lang="zh-CN" altLang="en-US" sz="1200" b="1" kern="1200" dirty="0">
                <a:solidFill>
                  <a:schemeClr val="tx1"/>
                </a:solidFill>
                <a:effectLst/>
                <a:latin typeface="+mn-lt"/>
                <a:ea typeface="+mn-ea"/>
                <a:cs typeface="+mn-cs"/>
              </a:rPr>
              <a:t>限时类、技巧性数学任务</a:t>
            </a:r>
            <a:r>
              <a:rPr lang="zh-CN" altLang="en-US" dirty="0"/>
              <a:t>中的表现。</a:t>
            </a:r>
            <a:br>
              <a:rPr lang="en-US" altLang="zh-CN" dirty="0"/>
            </a:br>
            <a:r>
              <a:rPr lang="en-US" altLang="zh-CN" dirty="0"/>
              <a:t>AIME24</a:t>
            </a:r>
            <a:r>
              <a:rPr lang="zh-CN" altLang="en-US" dirty="0"/>
              <a:t>：作为高难度标杆，验证 </a:t>
            </a:r>
            <a:r>
              <a:rPr lang="en-US" altLang="zh-CN" dirty="0"/>
              <a:t>EMPO </a:t>
            </a:r>
            <a:r>
              <a:rPr lang="zh-CN" altLang="en-US" dirty="0"/>
              <a:t>能否激发基础模型的</a:t>
            </a:r>
            <a:r>
              <a:rPr lang="zh-CN" altLang="en-US" sz="1200" b="1" kern="1200" dirty="0">
                <a:solidFill>
                  <a:schemeClr val="tx1"/>
                </a:solidFill>
                <a:effectLst/>
                <a:latin typeface="+mn-lt"/>
                <a:ea typeface="+mn-ea"/>
                <a:cs typeface="+mn-cs"/>
              </a:rPr>
              <a:t>极限推理潜力</a:t>
            </a:r>
            <a:r>
              <a:rPr lang="zh-CN" altLang="en-US" dirty="0"/>
              <a:t>。</a:t>
            </a:r>
            <a:br>
              <a:rPr lang="en-US" altLang="zh-CN" dirty="0"/>
            </a:br>
            <a:r>
              <a:rPr lang="en-US" altLang="zh-CN" dirty="0" err="1"/>
              <a:t>OlympaidBench</a:t>
            </a:r>
            <a:r>
              <a:rPr lang="zh-CN" altLang="en-US" dirty="0"/>
              <a:t>：验证 </a:t>
            </a:r>
            <a:r>
              <a:rPr lang="en-US" altLang="zh-CN" dirty="0"/>
              <a:t>EMPO </a:t>
            </a:r>
            <a:r>
              <a:rPr lang="zh-CN" altLang="en-US" dirty="0"/>
              <a:t>在</a:t>
            </a:r>
            <a:r>
              <a:rPr lang="zh-CN" altLang="en-US" sz="1200" b="1" kern="1200" dirty="0">
                <a:solidFill>
                  <a:schemeClr val="tx1"/>
                </a:solidFill>
                <a:effectLst/>
                <a:latin typeface="+mn-lt"/>
                <a:ea typeface="+mn-ea"/>
                <a:cs typeface="+mn-cs"/>
              </a:rPr>
              <a:t>超难、多模态数学推理任务</a:t>
            </a:r>
            <a:r>
              <a:rPr lang="zh-CN" altLang="en-US" dirty="0"/>
              <a:t>中的上限。</a:t>
            </a:r>
            <a:br>
              <a:rPr lang="en-US" altLang="zh-CN" dirty="0"/>
            </a:br>
            <a:br>
              <a:rPr lang="en-US" altLang="zh-CN" dirty="0"/>
            </a:br>
            <a:br>
              <a:rPr lang="en-US" altLang="zh-CN" dirty="0"/>
            </a:br>
            <a:endParaRPr lang="zh-CN" altLang="en-US" dirty="0"/>
          </a:p>
        </p:txBody>
      </p:sp>
      <p:sp>
        <p:nvSpPr>
          <p:cNvPr id="4" name="灯片编号占位符 3"/>
          <p:cNvSpPr>
            <a:spLocks noGrp="1"/>
          </p:cNvSpPr>
          <p:nvPr>
            <p:ph type="sldNum" sz="quarter" idx="5"/>
          </p:nvPr>
        </p:nvSpPr>
        <p:spPr/>
        <p:txBody>
          <a:bodyPr/>
          <a:lstStyle/>
          <a:p>
            <a:fld id="{3FF2ADFF-6A68-4D4C-8DF4-C6AAACA87F83}" type="slidenum">
              <a:rPr lang="zh-CN" altLang="en-US" smtClean="0"/>
              <a:t>13</a:t>
            </a:fld>
            <a:endParaRPr lang="zh-CN" altLang="en-US"/>
          </a:p>
        </p:txBody>
      </p:sp>
    </p:spTree>
    <p:extLst>
      <p:ext uri="{BB962C8B-B14F-4D97-AF65-F5344CB8AC3E}">
        <p14:creationId xmlns:p14="http://schemas.microsoft.com/office/powerpoint/2010/main" val="33098815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CN" altLang="en-US" dirty="0"/>
              <a:t>以</a:t>
            </a:r>
            <a:r>
              <a:rPr lang="en-US" altLang="zh-CN" dirty="0"/>
              <a:t>Pass@1 </a:t>
            </a:r>
            <a:r>
              <a:rPr lang="zh-CN" altLang="en-US" dirty="0"/>
              <a:t>准确率作为结果</a:t>
            </a:r>
            <a:endParaRPr lang="en-US" altLang="zh-CN" dirty="0"/>
          </a:p>
          <a:p>
            <a:pPr marL="0" indent="0">
              <a:buFont typeface="Arial" panose="020B0604020202020204" pitchFamily="34" charset="0"/>
              <a:buNone/>
            </a:pPr>
            <a:endParaRPr lang="en-US" altLang="zh-CN" dirty="0"/>
          </a:p>
          <a:p>
            <a:pPr marL="0" indent="0">
              <a:buFont typeface="Arial" panose="020B0604020202020204" pitchFamily="34" charset="0"/>
              <a:buNone/>
            </a:pPr>
            <a:r>
              <a:rPr lang="en-US" altLang="zh-CN" dirty="0"/>
              <a:t>Supervision</a:t>
            </a:r>
            <a:r>
              <a:rPr lang="zh-CN" altLang="en-US" dirty="0"/>
              <a:t>表示训练需要什么</a:t>
            </a:r>
            <a:r>
              <a:rPr lang="en-US" altLang="zh-CN" dirty="0"/>
              <a:t>q</a:t>
            </a:r>
            <a:r>
              <a:rPr lang="zh-CN" altLang="en-US" dirty="0"/>
              <a:t>问题，</a:t>
            </a:r>
            <a:r>
              <a:rPr lang="en-US" altLang="zh-CN" dirty="0"/>
              <a:t>r</a:t>
            </a:r>
            <a:r>
              <a:rPr lang="zh-CN" altLang="en-US" dirty="0"/>
              <a:t>表示推理过程，</a:t>
            </a:r>
            <a:r>
              <a:rPr lang="en-US" altLang="zh-CN" dirty="0"/>
              <a:t>a</a:t>
            </a:r>
            <a:r>
              <a:rPr lang="zh-CN" altLang="en-US" dirty="0"/>
              <a:t>表示标准答案</a:t>
            </a:r>
            <a:endParaRPr lang="en-US" altLang="zh-CN" dirty="0"/>
          </a:p>
          <a:p>
            <a:pPr marL="0" indent="0">
              <a:buFont typeface="Arial" panose="020B0604020202020204" pitchFamily="34" charset="0"/>
              <a:buNone/>
            </a:pPr>
            <a:endParaRPr lang="en-US" altLang="zh-CN" dirty="0"/>
          </a:p>
          <a:p>
            <a:pPr marL="0" indent="0">
              <a:buFont typeface="Arial" panose="020B0604020202020204" pitchFamily="34" charset="0"/>
              <a:buNone/>
            </a:pPr>
            <a:r>
              <a:rPr lang="en-US" altLang="zh-CN" dirty="0"/>
              <a:t>MMLU-Pro</a:t>
            </a:r>
            <a:r>
              <a:rPr lang="zh-CN" altLang="en-US" dirty="0"/>
              <a:t>：作为</a:t>
            </a:r>
            <a:r>
              <a:rPr lang="zh-CN" altLang="en-US" sz="1200" b="1" kern="1200" dirty="0">
                <a:solidFill>
                  <a:schemeClr val="tx1"/>
                </a:solidFill>
                <a:effectLst/>
                <a:latin typeface="+mn-lt"/>
                <a:ea typeface="+mn-ea"/>
                <a:cs typeface="+mn-cs"/>
              </a:rPr>
              <a:t>通用跨学科推理基准</a:t>
            </a:r>
            <a:r>
              <a:rPr lang="zh-CN" altLang="en-US" dirty="0"/>
              <a:t>，检验 </a:t>
            </a:r>
            <a:r>
              <a:rPr lang="en-US" altLang="zh-CN" dirty="0"/>
              <a:t>EMPO </a:t>
            </a:r>
            <a:r>
              <a:rPr lang="zh-CN" altLang="en-US" dirty="0"/>
              <a:t>在无标准答案的开放式任务中的泛化效果。</a:t>
            </a:r>
            <a:endParaRPr lang="en-US" altLang="zh-CN" dirty="0"/>
          </a:p>
          <a:p>
            <a:pPr marL="0" indent="0">
              <a:buFont typeface="Arial" panose="020B0604020202020204" pitchFamily="34" charset="0"/>
              <a:buNone/>
            </a:pPr>
            <a:r>
              <a:rPr lang="en-US" altLang="zh-CN" dirty="0"/>
              <a:t>GPQA</a:t>
            </a:r>
            <a:r>
              <a:rPr lang="zh-CN" altLang="en-US" dirty="0"/>
              <a:t>：验证 </a:t>
            </a:r>
            <a:r>
              <a:rPr lang="en-US" altLang="zh-CN" dirty="0"/>
              <a:t>EMPO </a:t>
            </a:r>
            <a:r>
              <a:rPr lang="zh-CN" altLang="en-US" dirty="0"/>
              <a:t>在 “知识密集型、高复杂度” 开放式推理任务中的有效性。</a:t>
            </a:r>
          </a:p>
        </p:txBody>
      </p:sp>
      <p:sp>
        <p:nvSpPr>
          <p:cNvPr id="4" name="灯片编号占位符 3"/>
          <p:cNvSpPr>
            <a:spLocks noGrp="1"/>
          </p:cNvSpPr>
          <p:nvPr>
            <p:ph type="sldNum" sz="quarter" idx="5"/>
          </p:nvPr>
        </p:nvSpPr>
        <p:spPr/>
        <p:txBody>
          <a:bodyPr/>
          <a:lstStyle/>
          <a:p>
            <a:fld id="{3FF2ADFF-6A68-4D4C-8DF4-C6AAACA87F83}" type="slidenum">
              <a:rPr lang="zh-CN" altLang="en-US" smtClean="0"/>
              <a:t>14</a:t>
            </a:fld>
            <a:endParaRPr lang="zh-CN" altLang="en-US"/>
          </a:p>
        </p:txBody>
      </p:sp>
    </p:spTree>
    <p:extLst>
      <p:ext uri="{BB962C8B-B14F-4D97-AF65-F5344CB8AC3E}">
        <p14:creationId xmlns:p14="http://schemas.microsoft.com/office/powerpoint/2010/main" val="2439319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AF7696-AC33-0171-D06B-39681C28AFA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C070092-618B-3A0A-8079-61E99DE742D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F1D139F-8418-E891-E063-09858C99A6ED}"/>
              </a:ext>
            </a:extLst>
          </p:cNvPr>
          <p:cNvSpPr>
            <a:spLocks noGrp="1"/>
          </p:cNvSpPr>
          <p:nvPr>
            <p:ph type="body" idx="1"/>
          </p:nvPr>
        </p:nvSpPr>
        <p:spPr/>
        <p:txBody>
          <a:bodyPr/>
          <a:lstStyle/>
          <a:p>
            <a:pPr marL="0" indent="0">
              <a:buFont typeface="Arial" panose="020B0604020202020204" pitchFamily="34" charset="0"/>
              <a:buNone/>
            </a:pPr>
            <a:r>
              <a:rPr lang="zh-CN" altLang="en-US" dirty="0"/>
              <a:t>语义熵持续降低，准确率不断提升。</a:t>
            </a:r>
            <a:endParaRPr lang="en-US" altLang="zh-CN" dirty="0"/>
          </a:p>
          <a:p>
            <a:pPr marL="0" indent="0">
              <a:buFont typeface="Arial" panose="020B0604020202020204" pitchFamily="34" charset="0"/>
              <a:buNone/>
            </a:pPr>
            <a:r>
              <a:rPr lang="zh-CN" altLang="en-US" dirty="0"/>
              <a:t>说明随着训练的进行，说明模型的输出越集中于少数几个语义聚类，置信度越高，推理越稳定。</a:t>
            </a:r>
            <a:endParaRPr lang="en-US" altLang="zh-CN" dirty="0"/>
          </a:p>
          <a:p>
            <a:pPr marL="0" indent="0">
              <a:buFont typeface="Arial" panose="020B0604020202020204" pitchFamily="34" charset="0"/>
              <a:buNone/>
            </a:pPr>
            <a:r>
              <a:rPr lang="zh-CN" altLang="en-US" dirty="0"/>
              <a:t>奖励越高，说明该输出属于一个高概率的语义聚类，即模型对这个答案的置信度越高。</a:t>
            </a:r>
            <a:endParaRPr lang="en-US" altLang="zh-CN" dirty="0"/>
          </a:p>
          <a:p>
            <a:pPr marL="0" indent="0">
              <a:buFont typeface="Arial" panose="020B0604020202020204" pitchFamily="34" charset="0"/>
              <a:buNone/>
            </a:pPr>
            <a:endParaRPr lang="en-US" altLang="zh-CN" dirty="0"/>
          </a:p>
          <a:p>
            <a:pPr marL="0" indent="0">
              <a:buFont typeface="Arial" panose="020B0604020202020204" pitchFamily="34" charset="0"/>
              <a:buNone/>
            </a:pPr>
            <a:r>
              <a:rPr lang="zh-CN" altLang="en-US" dirty="0"/>
              <a:t>左图：总语义熵下降；中图：无监督奖励上升；右图：训练集准确率上升</a:t>
            </a:r>
            <a:endParaRPr lang="en-US" altLang="zh-CN" dirty="0"/>
          </a:p>
        </p:txBody>
      </p:sp>
      <p:sp>
        <p:nvSpPr>
          <p:cNvPr id="4" name="灯片编号占位符 3">
            <a:extLst>
              <a:ext uri="{FF2B5EF4-FFF2-40B4-BE49-F238E27FC236}">
                <a16:creationId xmlns:a16="http://schemas.microsoft.com/office/drawing/2014/main" id="{237822FF-B2A9-4002-2AD0-8462F0E5839B}"/>
              </a:ext>
            </a:extLst>
          </p:cNvPr>
          <p:cNvSpPr>
            <a:spLocks noGrp="1"/>
          </p:cNvSpPr>
          <p:nvPr>
            <p:ph type="sldNum" sz="quarter" idx="5"/>
          </p:nvPr>
        </p:nvSpPr>
        <p:spPr/>
        <p:txBody>
          <a:bodyPr/>
          <a:lstStyle/>
          <a:p>
            <a:fld id="{3FF2ADFF-6A68-4D4C-8DF4-C6AAACA87F83}" type="slidenum">
              <a:rPr lang="zh-CN" altLang="en-US" smtClean="0"/>
              <a:t>15</a:t>
            </a:fld>
            <a:endParaRPr lang="zh-CN" altLang="en-US"/>
          </a:p>
        </p:txBody>
      </p:sp>
    </p:spTree>
    <p:extLst>
      <p:ext uri="{BB962C8B-B14F-4D97-AF65-F5344CB8AC3E}">
        <p14:creationId xmlns:p14="http://schemas.microsoft.com/office/powerpoint/2010/main" val="31996062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948E1-EA99-A6EA-124E-465C985A9E1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C501020-674D-18E3-2296-5D36F7BEFDA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EACC942-6E8E-17CF-1D36-2E7EC512F19E}"/>
              </a:ext>
            </a:extLst>
          </p:cNvPr>
          <p:cNvSpPr>
            <a:spLocks noGrp="1"/>
          </p:cNvSpPr>
          <p:nvPr>
            <p:ph type="body" idx="1"/>
          </p:nvPr>
        </p:nvSpPr>
        <p:spPr/>
        <p:txBody>
          <a:bodyPr/>
          <a:lstStyle/>
          <a:p>
            <a:pPr marL="0" indent="0">
              <a:buFont typeface="Arial" panose="020B0604020202020204" pitchFamily="34" charset="0"/>
              <a:buNone/>
            </a:pPr>
            <a:r>
              <a:rPr lang="zh-CN" altLang="en-US" dirty="0"/>
              <a:t>根据清华的那篇论文上说，不同的模型适合的无监督训练步数存在些许差异，一般效果在</a:t>
            </a:r>
            <a:r>
              <a:rPr lang="en-US" altLang="zh-CN" dirty="0"/>
              <a:t>250-300</a:t>
            </a:r>
            <a:r>
              <a:rPr lang="zh-CN" altLang="en-US" dirty="0"/>
              <a:t>步的时候最好，超过时性能会瞬间下降，如果模型的能力强，无监督训练的这个步骤会提高一些</a:t>
            </a:r>
            <a:endParaRPr lang="en-US" altLang="zh-CN" dirty="0"/>
          </a:p>
          <a:p>
            <a:pPr marL="0" indent="0">
              <a:buFont typeface="Arial" panose="020B0604020202020204" pitchFamily="34" charset="0"/>
              <a:buNone/>
            </a:pPr>
            <a:r>
              <a:rPr lang="en-US" altLang="zh-CN" dirty="0"/>
              <a:t>Zero:</a:t>
            </a:r>
            <a:r>
              <a:rPr lang="zh-CN" altLang="en-US"/>
              <a:t>强化学习的一种</a:t>
            </a:r>
            <a:endParaRPr lang="en-US" altLang="zh-CN" dirty="0"/>
          </a:p>
        </p:txBody>
      </p:sp>
      <p:sp>
        <p:nvSpPr>
          <p:cNvPr id="4" name="灯片编号占位符 3">
            <a:extLst>
              <a:ext uri="{FF2B5EF4-FFF2-40B4-BE49-F238E27FC236}">
                <a16:creationId xmlns:a16="http://schemas.microsoft.com/office/drawing/2014/main" id="{88CC7212-37FE-EA9E-ACB7-48FD2DCF66A2}"/>
              </a:ext>
            </a:extLst>
          </p:cNvPr>
          <p:cNvSpPr>
            <a:spLocks noGrp="1"/>
          </p:cNvSpPr>
          <p:nvPr>
            <p:ph type="sldNum" sz="quarter" idx="5"/>
          </p:nvPr>
        </p:nvSpPr>
        <p:spPr/>
        <p:txBody>
          <a:bodyPr/>
          <a:lstStyle/>
          <a:p>
            <a:fld id="{3FF2ADFF-6A68-4D4C-8DF4-C6AAACA87F83}" type="slidenum">
              <a:rPr lang="zh-CN" altLang="en-US" smtClean="0"/>
              <a:t>16</a:t>
            </a:fld>
            <a:endParaRPr lang="zh-CN" altLang="en-US"/>
          </a:p>
        </p:txBody>
      </p:sp>
    </p:spTree>
    <p:extLst>
      <p:ext uri="{BB962C8B-B14F-4D97-AF65-F5344CB8AC3E}">
        <p14:creationId xmlns:p14="http://schemas.microsoft.com/office/powerpoint/2010/main" val="15245085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AA3A2B-E8FC-729B-ECA1-CBFA2FB2351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BA1732A-82C0-013F-F851-949640B486B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F4D176A-DBCB-6952-7D3E-9DBA384AB75D}"/>
              </a:ext>
            </a:extLst>
          </p:cNvPr>
          <p:cNvSpPr>
            <a:spLocks noGrp="1"/>
          </p:cNvSpPr>
          <p:nvPr>
            <p:ph type="body" idx="1"/>
          </p:nvPr>
        </p:nvSpPr>
        <p:spPr/>
        <p:txBody>
          <a:bodyPr/>
          <a:lstStyle/>
          <a:p>
            <a:pPr marL="0" indent="0">
              <a:buFont typeface="Arial" panose="020B0604020202020204" pitchFamily="34" charset="0"/>
              <a:buNone/>
            </a:pPr>
            <a:r>
              <a:rPr lang="zh-CN" altLang="en-US" dirty="0"/>
              <a:t>核心推理能力在预训练阶段已形成：基础模型本身就具备生成正确答案的能力，只是概率极低。</a:t>
            </a:r>
            <a:endParaRPr lang="en-US" altLang="zh-CN" dirty="0"/>
          </a:p>
          <a:p>
            <a:pPr marL="0" indent="0">
              <a:buFont typeface="Arial" panose="020B0604020202020204" pitchFamily="34" charset="0"/>
              <a:buNone/>
            </a:pPr>
            <a:r>
              <a:rPr lang="en-US" altLang="zh-CN" dirty="0"/>
              <a:t>RL </a:t>
            </a:r>
            <a:r>
              <a:rPr lang="zh-CN" altLang="en-US" dirty="0"/>
              <a:t>的作用是优化采样效率：</a:t>
            </a:r>
            <a:r>
              <a:rPr lang="en-US" altLang="zh-CN" dirty="0"/>
              <a:t>EMPO </a:t>
            </a:r>
            <a:r>
              <a:rPr lang="zh-CN" altLang="en-US" dirty="0"/>
              <a:t>和 </a:t>
            </a:r>
            <a:r>
              <a:rPr lang="en-US" altLang="zh-CN" dirty="0"/>
              <a:t>GRPO </a:t>
            </a:r>
            <a:r>
              <a:rPr lang="zh-CN" altLang="en-US" dirty="0"/>
              <a:t>等 </a:t>
            </a:r>
            <a:r>
              <a:rPr lang="en-US" altLang="zh-CN" dirty="0"/>
              <a:t>RL </a:t>
            </a:r>
            <a:r>
              <a:rPr lang="zh-CN" altLang="en-US" dirty="0"/>
              <a:t>方法并没有为模型赋予全新的推理技能，而是通过优化策略，让模型能更高效地从预训练习得的众多推理路径中，优先选择正确的路径。</a:t>
            </a:r>
            <a:endParaRPr lang="en-US" altLang="zh-CN" dirty="0"/>
          </a:p>
          <a:p>
            <a:pPr marL="0" indent="0">
              <a:buFont typeface="Arial" panose="020B0604020202020204" pitchFamily="34" charset="0"/>
              <a:buNone/>
            </a:pPr>
            <a:endParaRPr lang="en-US" altLang="zh-CN" dirty="0"/>
          </a:p>
          <a:p>
            <a:pPr marL="0" indent="0">
              <a:buFont typeface="Arial" panose="020B0604020202020204" pitchFamily="34" charset="0"/>
              <a:buNone/>
            </a:pPr>
            <a:r>
              <a:rPr lang="en-US" altLang="zh-CN" dirty="0"/>
              <a:t>LLM </a:t>
            </a:r>
            <a:r>
              <a:rPr lang="zh-CN" altLang="en-US" dirty="0"/>
              <a:t>推理优化研究：核心挑战是激发和引导预训练阶段已具备的能力，而非创造新能力。</a:t>
            </a:r>
            <a:endParaRPr lang="en-US" altLang="zh-CN" dirty="0"/>
          </a:p>
        </p:txBody>
      </p:sp>
      <p:sp>
        <p:nvSpPr>
          <p:cNvPr id="4" name="灯片编号占位符 3">
            <a:extLst>
              <a:ext uri="{FF2B5EF4-FFF2-40B4-BE49-F238E27FC236}">
                <a16:creationId xmlns:a16="http://schemas.microsoft.com/office/drawing/2014/main" id="{985D4E84-B9DF-73E5-2040-6CEC36B6F52B}"/>
              </a:ext>
            </a:extLst>
          </p:cNvPr>
          <p:cNvSpPr>
            <a:spLocks noGrp="1"/>
          </p:cNvSpPr>
          <p:nvPr>
            <p:ph type="sldNum" sz="quarter" idx="5"/>
          </p:nvPr>
        </p:nvSpPr>
        <p:spPr/>
        <p:txBody>
          <a:bodyPr/>
          <a:lstStyle/>
          <a:p>
            <a:fld id="{3FF2ADFF-6A68-4D4C-8DF4-C6AAACA87F83}" type="slidenum">
              <a:rPr lang="zh-CN" altLang="en-US" smtClean="0"/>
              <a:t>17</a:t>
            </a:fld>
            <a:endParaRPr lang="zh-CN" altLang="en-US"/>
          </a:p>
        </p:txBody>
      </p:sp>
    </p:spTree>
    <p:extLst>
      <p:ext uri="{BB962C8B-B14F-4D97-AF65-F5344CB8AC3E}">
        <p14:creationId xmlns:p14="http://schemas.microsoft.com/office/powerpoint/2010/main" val="4649883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05989A-FCF5-A08D-6BC0-16A8708969C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79A982A-98B7-EBE3-5D91-F05C20BB529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A756EAD-A057-ED23-F22B-368F66DA5A5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t>元规划优化（</a:t>
            </a:r>
            <a:r>
              <a:rPr lang="en-US" altLang="zh-CN" sz="1200" dirty="0"/>
              <a:t>MPO</a:t>
            </a:r>
            <a:r>
              <a:rPr lang="zh-CN" altLang="en-US" sz="1200" dirty="0"/>
              <a:t>）：通过元规划优化提升大语言模型智能体性能</a:t>
            </a: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latin typeface="Times New Roman" panose="02020603050405020304" pitchFamily="18" charset="0"/>
              <a:ea typeface="+mn-ea"/>
              <a:cs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Times New Roman" panose="02020603050405020304" pitchFamily="18" charset="0"/>
                <a:ea typeface="+mn-ea"/>
                <a:cs typeface="+mn-ea"/>
              </a:rPr>
              <a:t>单位：北京大学计算机学院，计算语言学教育部重点实验室</a:t>
            </a:r>
            <a:r>
              <a:rPr lang="en-US" altLang="zh-CN" sz="1200" dirty="0">
                <a:latin typeface="Times New Roman" panose="02020603050405020304" pitchFamily="18" charset="0"/>
                <a:ea typeface="+mn-ea"/>
                <a:cs typeface="+mn-ea"/>
              </a:rPr>
              <a:t>(</a:t>
            </a:r>
            <a:r>
              <a:rPr lang="zh-CN" altLang="en-US" sz="1200" dirty="0">
                <a:latin typeface="Times New Roman" panose="02020603050405020304" pitchFamily="18" charset="0"/>
                <a:ea typeface="+mn-ea"/>
                <a:cs typeface="+mn-ea"/>
              </a:rPr>
              <a:t>华盛顿大学</a:t>
            </a:r>
            <a:r>
              <a:rPr lang="en-US" altLang="zh-CN" sz="1200" dirty="0">
                <a:latin typeface="Times New Roman" panose="02020603050405020304" pitchFamily="18" charset="0"/>
                <a:ea typeface="+mn-ea"/>
                <a:cs typeface="+mn-ea"/>
              </a:rPr>
              <a:t>,</a:t>
            </a:r>
            <a:r>
              <a:rPr lang="zh-CN" altLang="en-US" sz="1200" dirty="0">
                <a:latin typeface="Times New Roman" panose="02020603050405020304" pitchFamily="18" charset="0"/>
                <a:ea typeface="+mn-ea"/>
                <a:cs typeface="+mn-ea"/>
              </a:rPr>
              <a:t>微软公司</a:t>
            </a:r>
            <a:r>
              <a:rPr lang="en-US" altLang="zh-CN" sz="1200" dirty="0">
                <a:latin typeface="Times New Roman" panose="02020603050405020304" pitchFamily="18" charset="0"/>
                <a:ea typeface="+mn-ea"/>
                <a:cs typeface="+mn-ea"/>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latin typeface="Times New Roman" panose="02020603050405020304" pitchFamily="18" charset="0"/>
              <a:ea typeface="+mn-ea"/>
              <a:cs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Times New Roman" panose="02020603050405020304" pitchFamily="18" charset="0"/>
                <a:ea typeface="+mn-ea"/>
                <a:cs typeface="+mn-ea"/>
              </a:rPr>
              <a:t>期刊：</a:t>
            </a:r>
            <a:r>
              <a:rPr lang="en-US" altLang="zh-CN" sz="1200" dirty="0">
                <a:latin typeface="Times New Roman" panose="02020603050405020304" pitchFamily="18" charset="0"/>
                <a:ea typeface="+mn-ea"/>
                <a:cs typeface="+mn-ea"/>
              </a:rPr>
              <a:t>ACL</a:t>
            </a:r>
          </a:p>
        </p:txBody>
      </p:sp>
      <p:sp>
        <p:nvSpPr>
          <p:cNvPr id="4" name="灯片编号占位符 3">
            <a:extLst>
              <a:ext uri="{FF2B5EF4-FFF2-40B4-BE49-F238E27FC236}">
                <a16:creationId xmlns:a16="http://schemas.microsoft.com/office/drawing/2014/main" id="{02E9BB3E-034A-D2CD-F477-17B6CC928968}"/>
              </a:ext>
            </a:extLst>
          </p:cNvPr>
          <p:cNvSpPr>
            <a:spLocks noGrp="1"/>
          </p:cNvSpPr>
          <p:nvPr>
            <p:ph type="sldNum" sz="quarter" idx="5"/>
          </p:nvPr>
        </p:nvSpPr>
        <p:spPr/>
        <p:txBody>
          <a:bodyPr/>
          <a:lstStyle/>
          <a:p>
            <a:fld id="{3FF2ADFF-6A68-4D4C-8DF4-C6AAACA87F83}" type="slidenum">
              <a:rPr lang="zh-CN" altLang="en-US" smtClean="0"/>
              <a:t>18</a:t>
            </a:fld>
            <a:endParaRPr lang="zh-CN" altLang="en-US"/>
          </a:p>
        </p:txBody>
      </p:sp>
    </p:spTree>
    <p:extLst>
      <p:ext uri="{BB962C8B-B14F-4D97-AF65-F5344CB8AC3E}">
        <p14:creationId xmlns:p14="http://schemas.microsoft.com/office/powerpoint/2010/main" val="33909329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CB8D2-6A07-392D-DD26-19C133C8632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BB02092-0D2A-E7A9-BDD6-4D40CDA1088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6629E6F-5431-14C6-05A1-3D8A6EB1FED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887E0DC-EFDC-78BD-BB3E-56CBAF713027}"/>
              </a:ext>
            </a:extLst>
          </p:cNvPr>
          <p:cNvSpPr>
            <a:spLocks noGrp="1"/>
          </p:cNvSpPr>
          <p:nvPr>
            <p:ph type="sldNum" sz="quarter" idx="5"/>
          </p:nvPr>
        </p:nvSpPr>
        <p:spPr/>
        <p:txBody>
          <a:bodyPr/>
          <a:lstStyle/>
          <a:p>
            <a:fld id="{3FF2ADFF-6A68-4D4C-8DF4-C6AAACA87F83}" type="slidenum">
              <a:rPr lang="zh-CN" altLang="en-US" smtClean="0"/>
              <a:t>19</a:t>
            </a:fld>
            <a:endParaRPr lang="zh-CN" altLang="en-US"/>
          </a:p>
        </p:txBody>
      </p:sp>
    </p:spTree>
    <p:extLst>
      <p:ext uri="{BB962C8B-B14F-4D97-AF65-F5344CB8AC3E}">
        <p14:creationId xmlns:p14="http://schemas.microsoft.com/office/powerpoint/2010/main" val="35415997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3DEC67-1877-76C0-4ABE-1A9285612DD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006B342-4921-9676-A689-756F0C39D45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89B3F11-7EFA-3EFA-56B8-8F67EFE14EA5}"/>
              </a:ext>
            </a:extLst>
          </p:cNvPr>
          <p:cNvSpPr>
            <a:spLocks noGrp="1"/>
          </p:cNvSpPr>
          <p:nvPr>
            <p:ph type="body" idx="1"/>
          </p:nvPr>
        </p:nvSpPr>
        <p:spPr/>
        <p:txBody>
          <a:bodyPr/>
          <a:lstStyle/>
          <a:p>
            <a:r>
              <a:rPr lang="zh-CN" altLang="en-US" dirty="0"/>
              <a:t>元规划框架包含两个部分：</a:t>
            </a:r>
            <a:endParaRPr lang="en-US" altLang="zh-CN" dirty="0"/>
          </a:p>
          <a:p>
            <a:r>
              <a:rPr lang="zh-CN" altLang="en-US" dirty="0"/>
              <a:t>元规划器生成高层规划</a:t>
            </a:r>
            <a:br>
              <a:rPr lang="en-US" altLang="zh-CN" dirty="0"/>
            </a:br>
            <a:r>
              <a:rPr lang="zh-CN" altLang="en-US" dirty="0"/>
              <a:t>智能体提供反馈</a:t>
            </a:r>
          </a:p>
        </p:txBody>
      </p:sp>
      <p:sp>
        <p:nvSpPr>
          <p:cNvPr id="4" name="灯片编号占位符 3">
            <a:extLst>
              <a:ext uri="{FF2B5EF4-FFF2-40B4-BE49-F238E27FC236}">
                <a16:creationId xmlns:a16="http://schemas.microsoft.com/office/drawing/2014/main" id="{9E32334F-FB1C-9388-31B0-A8D96E6C22B1}"/>
              </a:ext>
            </a:extLst>
          </p:cNvPr>
          <p:cNvSpPr>
            <a:spLocks noGrp="1"/>
          </p:cNvSpPr>
          <p:nvPr>
            <p:ph type="sldNum" sz="quarter" idx="5"/>
          </p:nvPr>
        </p:nvSpPr>
        <p:spPr/>
        <p:txBody>
          <a:bodyPr/>
          <a:lstStyle/>
          <a:p>
            <a:fld id="{3FF2ADFF-6A68-4D4C-8DF4-C6AAACA87F83}" type="slidenum">
              <a:rPr lang="zh-CN" altLang="en-US" smtClean="0"/>
              <a:t>20</a:t>
            </a:fld>
            <a:endParaRPr lang="zh-CN" altLang="en-US"/>
          </a:p>
        </p:txBody>
      </p:sp>
    </p:spTree>
    <p:extLst>
      <p:ext uri="{BB962C8B-B14F-4D97-AF65-F5344CB8AC3E}">
        <p14:creationId xmlns:p14="http://schemas.microsoft.com/office/powerpoint/2010/main" val="23470792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B6A89C-B312-9E4D-0B2E-757742D473C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C56ED43-A66A-E4DC-7E1B-0F1D59A6BCC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4E18D9E-3B03-FF49-B6FF-27114E867B5C}"/>
              </a:ext>
            </a:extLst>
          </p:cNvPr>
          <p:cNvSpPr>
            <a:spLocks noGrp="1"/>
          </p:cNvSpPr>
          <p:nvPr>
            <p:ph type="body" idx="1"/>
          </p:nvPr>
        </p:nvSpPr>
        <p:spPr/>
        <p:txBody>
          <a:bodyPr/>
          <a:lstStyle/>
          <a:p>
            <a:r>
              <a:rPr lang="zh-CN" altLang="en-US" dirty="0"/>
              <a:t>与</a:t>
            </a:r>
            <a:r>
              <a:rPr lang="en-US" altLang="zh-CN" dirty="0"/>
              <a:t>React</a:t>
            </a:r>
            <a:r>
              <a:rPr lang="zh-CN" altLang="en-US" dirty="0"/>
              <a:t>框架相比较，元规划方法像是把任务先进行分解不行动，之后将分解出来的动作给智能体，让智能体反馈并执行。</a:t>
            </a:r>
            <a:endParaRPr lang="en-US" altLang="zh-CN" dirty="0"/>
          </a:p>
          <a:p>
            <a:endParaRPr lang="en-US" altLang="zh-CN" dirty="0"/>
          </a:p>
          <a:p>
            <a:r>
              <a:rPr lang="zh-CN" altLang="en-US" dirty="0"/>
              <a:t>你在房间中央。你的任务是把一块手表放进保险箱。</a:t>
            </a:r>
            <a:br>
              <a:rPr lang="en-US" altLang="zh-CN" dirty="0"/>
            </a:br>
            <a:r>
              <a:rPr lang="en-US" altLang="zh-CN" dirty="0"/>
              <a:t>React:</a:t>
            </a:r>
            <a:r>
              <a:rPr lang="zh-CN" altLang="en-US" dirty="0"/>
              <a:t>找柜子，不断试错找手表</a:t>
            </a:r>
            <a:br>
              <a:rPr lang="en-US" altLang="zh-CN" dirty="0"/>
            </a:br>
            <a:r>
              <a:rPr lang="zh-CN" altLang="en-US" dirty="0"/>
              <a:t>元规划：则是用笼统的任务先描述要如何行动</a:t>
            </a:r>
            <a:br>
              <a:rPr lang="en-US" altLang="zh-CN" dirty="0"/>
            </a:br>
            <a:endParaRPr lang="en-US" altLang="zh-CN" dirty="0"/>
          </a:p>
          <a:p>
            <a:r>
              <a:rPr lang="zh-CN" altLang="en-US" dirty="0"/>
              <a:t>图片中可能</a:t>
            </a:r>
            <a:r>
              <a:rPr lang="en-US" altLang="zh-CN" dirty="0"/>
              <a:t>react</a:t>
            </a:r>
            <a:r>
              <a:rPr lang="zh-CN" altLang="en-US" dirty="0"/>
              <a:t>规划的多了，智能体就变成了查看柜子了</a:t>
            </a:r>
            <a:endParaRPr lang="en-US" altLang="zh-CN" dirty="0"/>
          </a:p>
          <a:p>
            <a:r>
              <a:rPr lang="zh-CN" altLang="en-US" dirty="0"/>
              <a:t>如果将智能体的规划看作问题，（行动，环境）循环，则</a:t>
            </a:r>
            <a:r>
              <a:rPr lang="en-US" altLang="zh-CN" dirty="0"/>
              <a:t>react</a:t>
            </a:r>
            <a:r>
              <a:rPr lang="zh-CN" altLang="en-US" dirty="0"/>
              <a:t>为：问题，（思考，行动，环境）循环，元规划为：问题，规划，（行动，环境）</a:t>
            </a:r>
          </a:p>
        </p:txBody>
      </p:sp>
      <p:sp>
        <p:nvSpPr>
          <p:cNvPr id="4" name="灯片编号占位符 3">
            <a:extLst>
              <a:ext uri="{FF2B5EF4-FFF2-40B4-BE49-F238E27FC236}">
                <a16:creationId xmlns:a16="http://schemas.microsoft.com/office/drawing/2014/main" id="{94C05BE2-2DF9-E57E-572A-827F5B804B7E}"/>
              </a:ext>
            </a:extLst>
          </p:cNvPr>
          <p:cNvSpPr>
            <a:spLocks noGrp="1"/>
          </p:cNvSpPr>
          <p:nvPr>
            <p:ph type="sldNum" sz="quarter" idx="5"/>
          </p:nvPr>
        </p:nvSpPr>
        <p:spPr/>
        <p:txBody>
          <a:bodyPr/>
          <a:lstStyle/>
          <a:p>
            <a:fld id="{3FF2ADFF-6A68-4D4C-8DF4-C6AAACA87F83}" type="slidenum">
              <a:rPr lang="zh-CN" altLang="en-US" smtClean="0"/>
              <a:t>21</a:t>
            </a:fld>
            <a:endParaRPr lang="zh-CN" altLang="en-US"/>
          </a:p>
        </p:txBody>
      </p:sp>
    </p:spTree>
    <p:extLst>
      <p:ext uri="{BB962C8B-B14F-4D97-AF65-F5344CB8AC3E}">
        <p14:creationId xmlns:p14="http://schemas.microsoft.com/office/powerpoint/2010/main" val="14511835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5C8BE-EEF3-73FF-01BD-040B30BA5A6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021690B-5A16-0DDB-0A44-87F9BD6F11B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C5DB53E-093E-3537-0315-A39E581C1079}"/>
              </a:ext>
            </a:extLst>
          </p:cNvPr>
          <p:cNvSpPr>
            <a:spLocks noGrp="1"/>
          </p:cNvSpPr>
          <p:nvPr>
            <p:ph type="body" idx="1"/>
          </p:nvPr>
        </p:nvSpPr>
        <p:spPr/>
        <p:txBody>
          <a:bodyPr/>
          <a:lstStyle/>
          <a:p>
            <a:pPr marL="0" indent="0">
              <a:buNone/>
            </a:pPr>
            <a:r>
              <a:rPr lang="zh-CN" altLang="en-US" dirty="0"/>
              <a:t>通过监督微调的方法初始化专家元规划得到元规划器：这一步骤用到的数据集式借助</a:t>
            </a:r>
            <a:r>
              <a:rPr lang="en-US" altLang="zh-CN" dirty="0"/>
              <a:t>GPT</a:t>
            </a:r>
            <a:r>
              <a:rPr lang="zh-CN" altLang="en-US" dirty="0"/>
              <a:t>模型生成的少量人工核查的，</a:t>
            </a:r>
            <a:r>
              <a:rPr lang="zh-CN" altLang="en-US" sz="1200" b="0" i="0" kern="1200" dirty="0">
                <a:solidFill>
                  <a:schemeClr val="tx1"/>
                </a:solidFill>
                <a:effectLst/>
                <a:latin typeface="+mn-lt"/>
                <a:ea typeface="+mn-ea"/>
                <a:cs typeface="+mn-cs"/>
              </a:rPr>
              <a:t>解决 “从零训练元规划器无基础策略” 的问题，是后续优化的前提。</a:t>
            </a:r>
            <a:endParaRPr lang="en-US" altLang="zh-CN" dirty="0"/>
          </a:p>
          <a:p>
            <a:pPr marL="0" indent="0">
              <a:buNone/>
            </a:pPr>
            <a:endParaRPr lang="en-US" altLang="zh-CN" dirty="0"/>
          </a:p>
          <a:p>
            <a:pPr marL="0" indent="0">
              <a:buNone/>
            </a:pPr>
            <a:r>
              <a:rPr lang="zh-CN" altLang="en-US" dirty="0"/>
              <a:t>运用元规划器生成多种任务规划：提供对比样本池，只有生成多个差异化元规划，才能筛选出高质量（优选）和低质量（弃选）的规划对，支撑偏好学习。</a:t>
            </a:r>
            <a:endParaRPr lang="en-US" altLang="zh-CN" dirty="0"/>
          </a:p>
          <a:p>
            <a:pPr marL="0" indent="0">
              <a:buNone/>
            </a:pPr>
            <a:endParaRPr lang="en-US" altLang="zh-CN" dirty="0"/>
          </a:p>
          <a:p>
            <a:pPr marL="0" indent="0">
              <a:buNone/>
            </a:pPr>
            <a:r>
              <a:rPr lang="zh-CN" altLang="en-US" dirty="0"/>
              <a:t>运用蒙特卡洛采样评估元规划：将元规划嵌入到智能体提示词中，让智能体生成轨迹，根据任务轨迹的任务完成率计算评分</a:t>
            </a:r>
            <a:endParaRPr lang="en-US" altLang="zh-CN" dirty="0"/>
          </a:p>
          <a:p>
            <a:pPr marL="0" indent="0">
              <a:buNone/>
            </a:pPr>
            <a:endParaRPr lang="en-US" altLang="zh-CN" dirty="0"/>
          </a:p>
          <a:p>
            <a:pPr marL="0" indent="0">
              <a:buNone/>
            </a:pPr>
            <a:r>
              <a:rPr lang="zh-CN" altLang="en-US" dirty="0"/>
              <a:t>对元规划器进行训练：让元规划器提高生成优选元规划的概率，降低生成弃选元规划的概率。之后跳转</a:t>
            </a:r>
            <a:r>
              <a:rPr lang="en-US" altLang="zh-CN" dirty="0"/>
              <a:t>2</a:t>
            </a:r>
            <a:r>
              <a:rPr lang="zh-CN" altLang="en-US" dirty="0"/>
              <a:t>进行循环直至收敛</a:t>
            </a:r>
          </a:p>
        </p:txBody>
      </p:sp>
      <p:sp>
        <p:nvSpPr>
          <p:cNvPr id="4" name="灯片编号占位符 3">
            <a:extLst>
              <a:ext uri="{FF2B5EF4-FFF2-40B4-BE49-F238E27FC236}">
                <a16:creationId xmlns:a16="http://schemas.microsoft.com/office/drawing/2014/main" id="{4E5C2C14-D419-2D5A-22C3-767CF5F43868}"/>
              </a:ext>
            </a:extLst>
          </p:cNvPr>
          <p:cNvSpPr>
            <a:spLocks noGrp="1"/>
          </p:cNvSpPr>
          <p:nvPr>
            <p:ph type="sldNum" sz="quarter" idx="5"/>
          </p:nvPr>
        </p:nvSpPr>
        <p:spPr/>
        <p:txBody>
          <a:bodyPr/>
          <a:lstStyle/>
          <a:p>
            <a:fld id="{3FF2ADFF-6A68-4D4C-8DF4-C6AAACA87F83}" type="slidenum">
              <a:rPr lang="zh-CN" altLang="en-US" smtClean="0"/>
              <a:t>22</a:t>
            </a:fld>
            <a:endParaRPr lang="zh-CN" altLang="en-US"/>
          </a:p>
        </p:txBody>
      </p:sp>
    </p:spTree>
    <p:extLst>
      <p:ext uri="{BB962C8B-B14F-4D97-AF65-F5344CB8AC3E}">
        <p14:creationId xmlns:p14="http://schemas.microsoft.com/office/powerpoint/2010/main" val="35274155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A3B41C-2F3E-80A1-3B8A-28C3AAEF513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9375E96-DB10-E61C-77DF-4DED5D5FA7E9}"/>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03DB8D6E-87B8-E72F-3C06-D194ACF5B58B}"/>
                  </a:ext>
                </a:extLst>
              </p:cNvPr>
              <p:cNvSpPr>
                <a:spLocks noGrp="1"/>
              </p:cNvSpPr>
              <p:nvPr>
                <p:ph type="body" idx="1"/>
              </p:nvPr>
            </p:nvSpPr>
            <p:spPr/>
            <p:txBody>
              <a:bodyPr/>
              <a:lstStyle/>
              <a:p>
                <a:r>
                  <a:rPr lang="zh-CN" altLang="en-US" dirty="0"/>
                  <a:t>生成规划的模板如右图所示，不同的数据集使用不同的前面模板，但是后面的规划的格式是固定的，最终用于规划器训练的则是后面的格式，并不将专家轨迹用于微调</a:t>
                </a:r>
                <a:endParaRPr lang="en-US" altLang="zh-CN" dirty="0"/>
              </a:p>
              <a:p>
                <a:endParaRPr lang="en-US" altLang="zh-CN" dirty="0"/>
              </a:p>
              <a:p>
                <a:r>
                  <a:rPr lang="en-US" altLang="zh-CN" dirty="0"/>
                  <a:t>D</a:t>
                </a:r>
                <a:r>
                  <a:rPr lang="zh-CN" altLang="en-US" dirty="0"/>
                  <a:t>是未变成微调数据集的原始数据集集，</a:t>
                </a:r>
                <a:r>
                  <a:rPr lang="en-US" altLang="zh-CN" dirty="0" err="1"/>
                  <a:t>i</a:t>
                </a:r>
                <a:r>
                  <a:rPr lang="zh-CN" altLang="en-US" dirty="0"/>
                  <a:t>表示第</a:t>
                </a:r>
                <a:r>
                  <a:rPr lang="en-US" altLang="zh-CN" dirty="0" err="1"/>
                  <a:t>i</a:t>
                </a:r>
                <a:r>
                  <a:rPr lang="zh-CN" altLang="en-US" dirty="0"/>
                  <a:t>个样本即</a:t>
                </a:r>
                <a:r>
                  <a:rPr lang="en-US" altLang="zh-CN" dirty="0"/>
                  <a:t>u</a:t>
                </a:r>
                <a:r>
                  <a:rPr lang="zh-CN" altLang="en-US" dirty="0"/>
                  <a:t>对应的元规划</a:t>
                </a:r>
                <a:r>
                  <a:rPr lang="en-US" altLang="zh-CN" dirty="0"/>
                  <a:t>p:</a:t>
                </a:r>
                <a:r>
                  <a:rPr lang="zh-CN" altLang="en-US" dirty="0"/>
                  <a:t>明确了训练数据的格式为 “输入 </a:t>
                </a:r>
                <a:r>
                  <a:rPr lang="en-US" altLang="zh-CN" dirty="0"/>
                  <a:t>- </a:t>
                </a:r>
                <a:r>
                  <a:rPr lang="zh-CN" altLang="en-US" dirty="0"/>
                  <a:t>输出” 配对，符合有监督微调的基本要求。</a:t>
                </a:r>
                <a:endParaRPr lang="en-US" altLang="zh-CN" dirty="0"/>
              </a:p>
              <a:p>
                <a:r>
                  <a:rPr lang="en-US" altLang="zh-CN" dirty="0"/>
                  <a:t>Ds​</a:t>
                </a:r>
                <a:r>
                  <a:rPr lang="zh-CN" altLang="en-US" dirty="0"/>
                  <a:t>：</a:t>
                </a:r>
                <a:r>
                  <a:rPr lang="en-US" altLang="zh-CN" dirty="0"/>
                  <a:t>SFT </a:t>
                </a:r>
                <a:r>
                  <a:rPr lang="zh-CN" altLang="en-US" dirty="0"/>
                  <a:t>初始化数据集。     </a:t>
                </a:r>
                <a14:m>
                  <m:oMath xmlns:m="http://schemas.openxmlformats.org/officeDocument/2006/math">
                    <m:sSup>
                      <m:sSupPr>
                        <m:ctrlPr>
                          <a:rPr lang="ar-AE" altLang="zh-CN" sz="1200" i="1" kern="1200">
                            <a:solidFill>
                              <a:schemeClr val="tx1"/>
                            </a:solidFill>
                            <a:latin typeface="Cambria Math" panose="02040503050406030204" pitchFamily="18" charset="0"/>
                            <a:ea typeface="+mn-ea"/>
                            <a:cs typeface="+mn-cs"/>
                          </a:rPr>
                        </m:ctrlPr>
                      </m:sSupPr>
                      <m:e>
                        <m:d>
                          <m:dPr>
                            <m:sepChr m:val=","/>
                            <m:ctrlPr>
                              <a:rPr lang="ar-AE" altLang="zh-CN" sz="1200" i="1" kern="1200">
                                <a:solidFill>
                                  <a:schemeClr val="tx1"/>
                                </a:solidFill>
                                <a:latin typeface="Cambria Math" panose="02040503050406030204" pitchFamily="18" charset="0"/>
                                <a:ea typeface="+mn-ea"/>
                                <a:cs typeface="+mn-cs"/>
                              </a:rPr>
                            </m:ctrlPr>
                          </m:dPr>
                          <m:e>
                            <m:r>
                              <a:rPr lang="zh-CN" altLang="ar-AE" sz="1200" i="1" kern="1200">
                                <a:solidFill>
                                  <a:schemeClr val="tx1"/>
                                </a:solidFill>
                                <a:latin typeface="Cambria Math" panose="02040503050406030204" pitchFamily="18" charset="0"/>
                                <a:ea typeface="+mn-ea"/>
                                <a:cs typeface="+mn-cs"/>
                              </a:rPr>
                              <m:t>𝑢</m:t>
                            </m:r>
                          </m:e>
                          <m:e>
                            <m:r>
                              <a:rPr lang="zh-CN" altLang="ar-AE" sz="1200" i="1" kern="1200">
                                <a:solidFill>
                                  <a:schemeClr val="tx1"/>
                                </a:solidFill>
                                <a:latin typeface="Cambria Math" panose="02040503050406030204" pitchFamily="18" charset="0"/>
                                <a:ea typeface="+mn-ea"/>
                                <a:cs typeface="+mn-cs"/>
                              </a:rPr>
                              <m:t>𝑝</m:t>
                            </m:r>
                          </m:e>
                        </m:d>
                      </m:e>
                      <m:sup>
                        <m:d>
                          <m:dPr>
                            <m:ctrlPr>
                              <a:rPr lang="ar-AE" altLang="zh-CN" sz="1200" i="1" kern="1200">
                                <a:solidFill>
                                  <a:schemeClr val="tx1"/>
                                </a:solidFill>
                                <a:latin typeface="Cambria Math" panose="02040503050406030204" pitchFamily="18" charset="0"/>
                                <a:ea typeface="+mn-ea"/>
                                <a:cs typeface="+mn-cs"/>
                              </a:rPr>
                            </m:ctrlPr>
                          </m:dPr>
                          <m:e>
                            <m:r>
                              <a:rPr lang="zh-CN" altLang="ar-AE" sz="1200" i="1" kern="1200">
                                <a:solidFill>
                                  <a:schemeClr val="tx1"/>
                                </a:solidFill>
                                <a:latin typeface="Cambria Math" panose="02040503050406030204" pitchFamily="18" charset="0"/>
                                <a:ea typeface="+mn-ea"/>
                                <a:cs typeface="+mn-cs"/>
                              </a:rPr>
                              <m:t>𝑖</m:t>
                            </m:r>
                          </m:e>
                        </m:d>
                      </m:sup>
                    </m:sSup>
                  </m:oMath>
                </a14:m>
                <a:r>
                  <a:rPr lang="zh-CN" altLang="ar-AE" dirty="0"/>
                  <a:t>：</a:t>
                </a:r>
                <a:r>
                  <a:rPr lang="zh-CN" altLang="en-US" dirty="0"/>
                  <a:t>第 </a:t>
                </a:r>
                <a14:m>
                  <m:oMath xmlns:m="http://schemas.openxmlformats.org/officeDocument/2006/math">
                    <m:r>
                      <a:rPr lang="zh-CN" altLang="en-US" sz="1200" i="1" kern="1200">
                        <a:solidFill>
                          <a:schemeClr val="tx1"/>
                        </a:solidFill>
                        <a:latin typeface="Cambria Math" panose="02040503050406030204" pitchFamily="18" charset="0"/>
                        <a:ea typeface="+mn-ea"/>
                        <a:cs typeface="+mn-cs"/>
                      </a:rPr>
                      <m:t>𝑖</m:t>
                    </m:r>
                  </m:oMath>
                </a14:m>
                <a:r>
                  <a:rPr lang="zh-CN" altLang="en-US" dirty="0"/>
                  <a:t>个训练样本。</a:t>
                </a:r>
                <a14:m>
                  <m:oMath xmlns:m="http://schemas.openxmlformats.org/officeDocument/2006/math">
                    <m:r>
                      <a:rPr lang="en-US" altLang="zh-CN" sz="1200" b="0" i="0" kern="1200" smtClean="0">
                        <a:solidFill>
                          <a:schemeClr val="tx1"/>
                        </a:solidFill>
                        <a:latin typeface="Cambria Math" panose="02040503050406030204" pitchFamily="18" charset="0"/>
                        <a:ea typeface="+mn-ea"/>
                        <a:cs typeface="+mn-cs"/>
                      </a:rPr>
                      <m:t>    </m:t>
                    </m:r>
                    <m:r>
                      <a:rPr lang="zh-CN" altLang="en-US" sz="1200" i="1" kern="1200">
                        <a:solidFill>
                          <a:schemeClr val="tx1"/>
                        </a:solidFill>
                        <a:latin typeface="Cambria Math" panose="02040503050406030204" pitchFamily="18" charset="0"/>
                        <a:ea typeface="+mn-ea"/>
                        <a:cs typeface="+mn-cs"/>
                      </a:rPr>
                      <m:t>𝑢</m:t>
                    </m:r>
                  </m:oMath>
                </a14:m>
                <a:r>
                  <a:rPr lang="zh-CN" altLang="en-US" dirty="0"/>
                  <a:t>：任务指令</a:t>
                </a:r>
                <a14:m>
                  <m:oMath xmlns:m="http://schemas.openxmlformats.org/officeDocument/2006/math">
                    <m:r>
                      <a:rPr lang="en-US" altLang="zh-CN" sz="1200" b="0" i="0" kern="1200" smtClean="0">
                        <a:solidFill>
                          <a:schemeClr val="tx1"/>
                        </a:solidFill>
                        <a:latin typeface="Cambria Math" panose="02040503050406030204" pitchFamily="18" charset="0"/>
                        <a:ea typeface="+mn-ea"/>
                        <a:cs typeface="+mn-cs"/>
                      </a:rPr>
                      <m:t>      </m:t>
                    </m:r>
                    <m:r>
                      <a:rPr lang="zh-CN" altLang="en-US" sz="1200" i="1" kern="1200">
                        <a:solidFill>
                          <a:schemeClr val="tx1"/>
                        </a:solidFill>
                        <a:latin typeface="Cambria Math" panose="02040503050406030204" pitchFamily="18" charset="0"/>
                        <a:ea typeface="+mn-ea"/>
                        <a:cs typeface="+mn-cs"/>
                      </a:rPr>
                      <m:t>𝑝</m:t>
                    </m:r>
                  </m:oMath>
                </a14:m>
                <a:r>
                  <a:rPr lang="zh-CN" altLang="en-US" dirty="0"/>
                  <a:t>：对应的高质量 </a:t>
                </a:r>
                <a:r>
                  <a:rPr lang="en-US" altLang="zh-CN" dirty="0"/>
                  <a:t>meta plan</a:t>
                </a:r>
                <a14:m>
                  <m:oMath xmlns:m="http://schemas.openxmlformats.org/officeDocument/2006/math">
                    <m:r>
                      <a:rPr lang="en-US" altLang="zh-CN" sz="1200" b="0" i="0" kern="1200" smtClean="0">
                        <a:solidFill>
                          <a:schemeClr val="tx1"/>
                        </a:solidFill>
                        <a:latin typeface="Cambria Math" panose="02040503050406030204" pitchFamily="18" charset="0"/>
                        <a:ea typeface="+mn-ea"/>
                        <a:cs typeface="+mn-cs"/>
                      </a:rPr>
                      <m:t>      </m:t>
                    </m:r>
                    <m:r>
                      <a:rPr lang="en-US" altLang="zh-CN" sz="1200" kern="1200">
                        <a:solidFill>
                          <a:schemeClr val="tx1"/>
                        </a:solidFill>
                        <a:latin typeface="Cambria Math" panose="02040503050406030204" pitchFamily="18" charset="0"/>
                        <a:ea typeface="+mn-ea"/>
                        <a:cs typeface="+mn-cs"/>
                      </a:rPr>
                      <m:t>∣</m:t>
                    </m:r>
                    <m:sSub>
                      <m:sSubPr>
                        <m:ctrlPr>
                          <a:rPr lang="ar-AE" altLang="zh-CN" sz="1200" i="1" kern="1200">
                            <a:solidFill>
                              <a:schemeClr val="tx1"/>
                            </a:solidFill>
                            <a:latin typeface="Cambria Math" panose="02040503050406030204" pitchFamily="18" charset="0"/>
                            <a:ea typeface="+mn-ea"/>
                            <a:cs typeface="+mn-cs"/>
                          </a:rPr>
                        </m:ctrlPr>
                      </m:sSubPr>
                      <m:e>
                        <m:r>
                          <a:rPr lang="zh-CN" altLang="ar-AE" sz="1200" i="1" kern="1200">
                            <a:solidFill>
                              <a:schemeClr val="tx1"/>
                            </a:solidFill>
                            <a:latin typeface="Cambria Math" panose="02040503050406030204" pitchFamily="18" charset="0"/>
                            <a:ea typeface="+mn-ea"/>
                            <a:cs typeface="+mn-cs"/>
                          </a:rPr>
                          <m:t>𝐷</m:t>
                        </m:r>
                      </m:e>
                      <m:sub>
                        <m:r>
                          <a:rPr lang="zh-CN" altLang="ar-AE" sz="1200" i="1" kern="1200">
                            <a:solidFill>
                              <a:schemeClr val="tx1"/>
                            </a:solidFill>
                            <a:latin typeface="Cambria Math" panose="02040503050406030204" pitchFamily="18" charset="0"/>
                            <a:ea typeface="+mn-ea"/>
                            <a:cs typeface="+mn-cs"/>
                          </a:rPr>
                          <m:t>𝑠</m:t>
                        </m:r>
                      </m:sub>
                    </m:sSub>
                    <m:r>
                      <a:rPr lang="ar-AE" altLang="zh-CN" sz="1200" i="0" kern="1200">
                        <a:solidFill>
                          <a:schemeClr val="tx1"/>
                        </a:solidFill>
                        <a:latin typeface="Cambria Math" panose="02040503050406030204" pitchFamily="18" charset="0"/>
                        <a:ea typeface="+mn-ea"/>
                        <a:cs typeface="+mn-cs"/>
                      </a:rPr>
                      <m:t>∣</m:t>
                    </m:r>
                  </m:oMath>
                </a14:m>
                <a:r>
                  <a:rPr lang="zh-CN" altLang="ar-AE" dirty="0"/>
                  <a:t>：</a:t>
                </a:r>
                <a:r>
                  <a:rPr lang="zh-CN" altLang="en-US" dirty="0"/>
                  <a:t>数据集大小，也就是样本总数。    </a:t>
                </a:r>
                <a14:m>
                  <m:oMath xmlns:m="http://schemas.openxmlformats.org/officeDocument/2006/math">
                    <m:sSubSup>
                      <m:sSubSupPr>
                        <m:ctrlPr>
                          <a:rPr lang="ar-AE" altLang="zh-CN" sz="1200" i="1" kern="1200">
                            <a:solidFill>
                              <a:schemeClr val="tx1"/>
                            </a:solidFill>
                            <a:latin typeface="Cambria Math" panose="02040503050406030204" pitchFamily="18" charset="0"/>
                            <a:ea typeface="+mn-ea"/>
                            <a:cs typeface="+mn-cs"/>
                          </a:rPr>
                        </m:ctrlPr>
                      </m:sSubSupPr>
                      <m:e>
                        <m:d>
                          <m:dPr>
                            <m:begChr m:val="{"/>
                            <m:endChr m:val="}"/>
                            <m:ctrlPr>
                              <a:rPr lang="ar-AE" altLang="zh-CN" sz="1200" i="1" kern="1200">
                                <a:solidFill>
                                  <a:schemeClr val="tx1"/>
                                </a:solidFill>
                                <a:latin typeface="Cambria Math" panose="02040503050406030204" pitchFamily="18" charset="0"/>
                                <a:ea typeface="+mn-ea"/>
                                <a:cs typeface="+mn-cs"/>
                              </a:rPr>
                            </m:ctrlPr>
                          </m:dPr>
                          <m:e>
                            <m:r>
                              <a:rPr lang="ar-AE" altLang="zh-CN" sz="1200" i="0" kern="1200">
                                <a:solidFill>
                                  <a:schemeClr val="tx1"/>
                                </a:solidFill>
                                <a:latin typeface="Cambria Math" panose="02040503050406030204" pitchFamily="18" charset="0"/>
                                <a:ea typeface="+mn-ea"/>
                                <a:cs typeface="+mn-cs"/>
                              </a:rPr>
                              <m:t>⋅</m:t>
                            </m:r>
                          </m:e>
                        </m:d>
                      </m:e>
                      <m:sub>
                        <m:r>
                          <a:rPr lang="zh-CN" altLang="ar-AE" sz="1200" i="1" kern="1200">
                            <a:solidFill>
                              <a:schemeClr val="tx1"/>
                            </a:solidFill>
                            <a:latin typeface="Cambria Math" panose="02040503050406030204" pitchFamily="18" charset="0"/>
                            <a:ea typeface="+mn-ea"/>
                            <a:cs typeface="+mn-cs"/>
                          </a:rPr>
                          <m:t>𝑖</m:t>
                        </m:r>
                        <m:r>
                          <a:rPr lang="ar-AE" altLang="zh-CN" sz="1200" i="0" kern="1200">
                            <a:solidFill>
                              <a:schemeClr val="tx1"/>
                            </a:solidFill>
                            <a:latin typeface="Cambria Math" panose="02040503050406030204" pitchFamily="18" charset="0"/>
                            <a:ea typeface="+mn-ea"/>
                            <a:cs typeface="+mn-cs"/>
                          </a:rPr>
                          <m:t>=</m:t>
                        </m:r>
                        <m:r>
                          <a:rPr lang="ar-AE" altLang="zh-CN" sz="1200" i="0" kern="1200">
                            <a:solidFill>
                              <a:schemeClr val="tx1"/>
                            </a:solidFill>
                            <a:latin typeface="Cambria Math" panose="02040503050406030204" pitchFamily="18" charset="0"/>
                            <a:ea typeface="+mn-ea"/>
                            <a:cs typeface="+mn-cs"/>
                          </a:rPr>
                          <m:t>1</m:t>
                        </m:r>
                      </m:sub>
                      <m:sup>
                        <m:r>
                          <a:rPr lang="ar-AE" altLang="zh-CN" sz="1200" i="0" kern="1200">
                            <a:solidFill>
                              <a:schemeClr val="tx1"/>
                            </a:solidFill>
                            <a:latin typeface="Cambria Math" panose="02040503050406030204" pitchFamily="18" charset="0"/>
                            <a:ea typeface="+mn-ea"/>
                            <a:cs typeface="+mn-cs"/>
                          </a:rPr>
                          <m:t>∣</m:t>
                        </m:r>
                        <m:sSub>
                          <m:sSubPr>
                            <m:ctrlPr>
                              <a:rPr lang="ar-AE" altLang="zh-CN" sz="1200" i="1" kern="1200">
                                <a:solidFill>
                                  <a:schemeClr val="tx1"/>
                                </a:solidFill>
                                <a:latin typeface="Cambria Math" panose="02040503050406030204" pitchFamily="18" charset="0"/>
                                <a:ea typeface="+mn-ea"/>
                                <a:cs typeface="+mn-cs"/>
                              </a:rPr>
                            </m:ctrlPr>
                          </m:sSubPr>
                          <m:e>
                            <m:r>
                              <a:rPr lang="zh-CN" altLang="ar-AE" sz="1200" i="1" kern="1200">
                                <a:solidFill>
                                  <a:schemeClr val="tx1"/>
                                </a:solidFill>
                                <a:latin typeface="Cambria Math" panose="02040503050406030204" pitchFamily="18" charset="0"/>
                                <a:ea typeface="+mn-ea"/>
                                <a:cs typeface="+mn-cs"/>
                              </a:rPr>
                              <m:t>𝐷</m:t>
                            </m:r>
                          </m:e>
                          <m:sub>
                            <m:r>
                              <a:rPr lang="zh-CN" altLang="ar-AE" sz="1200" i="1" kern="1200">
                                <a:solidFill>
                                  <a:schemeClr val="tx1"/>
                                </a:solidFill>
                                <a:latin typeface="Cambria Math" panose="02040503050406030204" pitchFamily="18" charset="0"/>
                                <a:ea typeface="+mn-ea"/>
                                <a:cs typeface="+mn-cs"/>
                              </a:rPr>
                              <m:t>𝑠</m:t>
                            </m:r>
                          </m:sub>
                        </m:sSub>
                        <m:r>
                          <a:rPr lang="ar-AE" altLang="zh-CN" sz="1200" i="0" kern="1200">
                            <a:solidFill>
                              <a:schemeClr val="tx1"/>
                            </a:solidFill>
                            <a:latin typeface="Cambria Math" panose="02040503050406030204" pitchFamily="18" charset="0"/>
                            <a:ea typeface="+mn-ea"/>
                            <a:cs typeface="+mn-cs"/>
                          </a:rPr>
                          <m:t>∣</m:t>
                        </m:r>
                      </m:sup>
                    </m:sSubSup>
                  </m:oMath>
                </a14:m>
                <a:r>
                  <a:rPr lang="zh-CN" altLang="ar-AE" dirty="0"/>
                  <a:t>：</a:t>
                </a:r>
                <a:r>
                  <a:rPr lang="zh-CN" altLang="en-US" dirty="0"/>
                  <a:t>表示把所有样本收集成一个集合。</a:t>
                </a:r>
                <a:endParaRPr lang="en-US" altLang="zh-CN" dirty="0"/>
              </a:p>
              <a:p>
                <a:r>
                  <a:rPr lang="zh-CN" altLang="en-US" dirty="0"/>
                  <a:t>希望 </a:t>
                </a:r>
                <a:r>
                  <a:rPr lang="en-US" altLang="zh-CN" dirty="0"/>
                  <a:t>meta planner </a:t>
                </a:r>
                <a:r>
                  <a:rPr lang="zh-CN" altLang="en-US" dirty="0"/>
                  <a:t>在给定任务 𝑢</a:t>
                </a:r>
                <a:r>
                  <a:rPr lang="en-US" altLang="zh-CN" dirty="0"/>
                  <a:t>u </a:t>
                </a:r>
                <a:r>
                  <a:rPr lang="zh-CN" altLang="en-US" dirty="0"/>
                  <a:t>时，能够生成训练集中对应的正确 </a:t>
                </a:r>
                <a:r>
                  <a:rPr lang="en-US" altLang="zh-CN" dirty="0"/>
                  <a:t>meta plan </a:t>
                </a:r>
                <a:r>
                  <a:rPr lang="zh-CN" altLang="en-US" dirty="0"/>
                  <a:t>𝑝</a:t>
                </a:r>
                <a:r>
                  <a:rPr lang="en-US" altLang="zh-CN" dirty="0"/>
                  <a:t>p</a:t>
                </a:r>
                <a:r>
                  <a:rPr lang="zh-CN" altLang="en-US" dirty="0"/>
                  <a:t>。</a:t>
                </a:r>
                <a:endParaRPr lang="en-US" altLang="zh-CN" dirty="0"/>
              </a:p>
              <a:p>
                <a:endParaRPr lang="en-US" altLang="zh-CN" dirty="0"/>
              </a:p>
              <a:p>
                <a:endParaRPr lang="en-US" altLang="zh-CN" dirty="0"/>
              </a:p>
            </p:txBody>
          </p:sp>
        </mc:Choice>
        <mc:Fallback xmlns="">
          <p:sp>
            <p:nvSpPr>
              <p:cNvPr id="3" name="备注占位符 2">
                <a:extLst>
                  <a:ext uri="{FF2B5EF4-FFF2-40B4-BE49-F238E27FC236}">
                    <a16:creationId xmlns:a16="http://schemas.microsoft.com/office/drawing/2014/main" id="{03DB8D6E-87B8-E72F-3C06-D194ACF5B58B}"/>
                  </a:ext>
                </a:extLst>
              </p:cNvPr>
              <p:cNvSpPr>
                <a:spLocks noGrp="1"/>
              </p:cNvSpPr>
              <p:nvPr>
                <p:ph type="body" idx="1"/>
              </p:nvPr>
            </p:nvSpPr>
            <p:spPr/>
            <p:txBody>
              <a:bodyPr/>
              <a:lstStyle/>
              <a:p>
                <a:r>
                  <a:rPr lang="zh-CN" altLang="en-US" dirty="0"/>
                  <a:t>生成规划的模板如右图所示，不同的数据集使用不同的前面模板，但是后面的规划的格式是固定的，最终用于规划器训练的则是后面的格式，并不将专家轨迹用于微调</a:t>
                </a:r>
                <a:endParaRPr lang="en-US" altLang="zh-CN" dirty="0"/>
              </a:p>
              <a:p>
                <a:endParaRPr lang="en-US" altLang="zh-CN" dirty="0"/>
              </a:p>
              <a:p>
                <a:r>
                  <a:rPr lang="en-US" altLang="zh-CN" dirty="0"/>
                  <a:t>D</a:t>
                </a:r>
                <a:r>
                  <a:rPr lang="zh-CN" altLang="en-US" dirty="0"/>
                  <a:t>是未变成微调数据集的原始数据集集，</a:t>
                </a:r>
                <a:r>
                  <a:rPr lang="en-US" altLang="zh-CN" dirty="0" err="1"/>
                  <a:t>i</a:t>
                </a:r>
                <a:r>
                  <a:rPr lang="zh-CN" altLang="en-US" dirty="0"/>
                  <a:t>表示第</a:t>
                </a:r>
                <a:r>
                  <a:rPr lang="en-US" altLang="zh-CN" dirty="0" err="1"/>
                  <a:t>i</a:t>
                </a:r>
                <a:r>
                  <a:rPr lang="zh-CN" altLang="en-US" dirty="0"/>
                  <a:t>个样本即</a:t>
                </a:r>
                <a:r>
                  <a:rPr lang="en-US" altLang="zh-CN" dirty="0"/>
                  <a:t>u</a:t>
                </a:r>
                <a:r>
                  <a:rPr lang="zh-CN" altLang="en-US" dirty="0"/>
                  <a:t>对应的元规划</a:t>
                </a:r>
                <a:r>
                  <a:rPr lang="en-US" altLang="zh-CN" dirty="0"/>
                  <a:t>p:</a:t>
                </a:r>
                <a:r>
                  <a:rPr lang="zh-CN" altLang="en-US" dirty="0"/>
                  <a:t>明确了训练数据的格式为 “输入 </a:t>
                </a:r>
                <a:r>
                  <a:rPr lang="en-US" altLang="zh-CN" dirty="0"/>
                  <a:t>- </a:t>
                </a:r>
                <a:r>
                  <a:rPr lang="zh-CN" altLang="en-US" dirty="0"/>
                  <a:t>输出” 配对，符合有监督微调的基本要求。</a:t>
                </a:r>
                <a:endParaRPr lang="en-US" altLang="zh-CN" dirty="0"/>
              </a:p>
              <a:p>
                <a:r>
                  <a:rPr lang="en-US" altLang="zh-CN" dirty="0"/>
                  <a:t>Ds​</a:t>
                </a:r>
                <a:r>
                  <a:rPr lang="zh-CN" altLang="en-US" dirty="0"/>
                  <a:t>：</a:t>
                </a:r>
                <a:r>
                  <a:rPr lang="en-US" altLang="zh-CN" dirty="0"/>
                  <a:t>SFT </a:t>
                </a:r>
                <a:r>
                  <a:rPr lang="zh-CN" altLang="en-US" dirty="0"/>
                  <a:t>初始化数据集。     </a:t>
                </a:r>
                <a:r>
                  <a:rPr lang="ar-AE" altLang="zh-CN" sz="1200" i="0" kern="1200">
                    <a:solidFill>
                      <a:schemeClr val="tx1"/>
                    </a:solidFill>
                    <a:latin typeface="+mn-lt"/>
                    <a:ea typeface="+mn-ea"/>
                    <a:cs typeface="+mn-cs"/>
                  </a:rPr>
                  <a:t>(</a:t>
                </a:r>
                <a:r>
                  <a:rPr lang="zh-CN" altLang="ar-AE" sz="1200" i="0" kern="1200">
                    <a:solidFill>
                      <a:schemeClr val="tx1"/>
                    </a:solidFill>
                    <a:latin typeface="+mn-lt"/>
                    <a:ea typeface="+mn-ea"/>
                    <a:cs typeface="+mn-cs"/>
                  </a:rPr>
                  <a:t>𝑢ⓜ,𝑝)</a:t>
                </a:r>
                <a:r>
                  <a:rPr lang="ar-AE" altLang="zh-CN" sz="1200" i="0" kern="1200">
                    <a:solidFill>
                      <a:schemeClr val="tx1"/>
                    </a:solidFill>
                    <a:latin typeface="+mn-lt"/>
                    <a:ea typeface="+mn-ea"/>
                    <a:cs typeface="+mn-cs"/>
                  </a:rPr>
                  <a:t>^((</a:t>
                </a:r>
                <a:r>
                  <a:rPr lang="zh-CN" altLang="ar-AE" sz="1200" i="0" kern="1200">
                    <a:solidFill>
                      <a:schemeClr val="tx1"/>
                    </a:solidFill>
                    <a:latin typeface="+mn-lt"/>
                    <a:ea typeface="+mn-ea"/>
                    <a:cs typeface="+mn-cs"/>
                  </a:rPr>
                  <a:t>𝑖)</a:t>
                </a:r>
                <a:r>
                  <a:rPr lang="ar-AE" altLang="zh-CN" sz="1200" i="0" kern="1200">
                    <a:solidFill>
                      <a:schemeClr val="tx1"/>
                    </a:solidFill>
                    <a:latin typeface="+mn-lt"/>
                    <a:ea typeface="+mn-ea"/>
                    <a:cs typeface="+mn-cs"/>
                  </a:rPr>
                  <a:t> )</a:t>
                </a:r>
                <a:r>
                  <a:rPr lang="zh-CN" altLang="ar-AE" dirty="0"/>
                  <a:t>：</a:t>
                </a:r>
                <a:r>
                  <a:rPr lang="zh-CN" altLang="en-US" dirty="0"/>
                  <a:t>第 </a:t>
                </a:r>
                <a:r>
                  <a:rPr lang="zh-CN" altLang="en-US" sz="1200" i="0" kern="1200">
                    <a:solidFill>
                      <a:schemeClr val="tx1"/>
                    </a:solidFill>
                    <a:latin typeface="+mn-lt"/>
                    <a:ea typeface="+mn-ea"/>
                    <a:cs typeface="+mn-cs"/>
                  </a:rPr>
                  <a:t>𝑖</a:t>
                </a:r>
                <a:r>
                  <a:rPr lang="zh-CN" altLang="en-US" dirty="0"/>
                  <a:t>个训练样本。</a:t>
                </a:r>
                <a:r>
                  <a:rPr lang="en-US" altLang="zh-CN" sz="1200" b="0" i="0" kern="1200">
                    <a:solidFill>
                      <a:schemeClr val="tx1"/>
                    </a:solidFill>
                    <a:latin typeface="Cambria Math" panose="02040503050406030204" pitchFamily="18" charset="0"/>
                    <a:ea typeface="+mn-ea"/>
                    <a:cs typeface="+mn-cs"/>
                  </a:rPr>
                  <a:t>    </a:t>
                </a:r>
                <a:r>
                  <a:rPr lang="zh-CN" altLang="en-US" sz="1200" i="0" kern="1200">
                    <a:solidFill>
                      <a:schemeClr val="tx1"/>
                    </a:solidFill>
                    <a:latin typeface="+mn-lt"/>
                    <a:ea typeface="+mn-ea"/>
                    <a:cs typeface="+mn-cs"/>
                  </a:rPr>
                  <a:t>𝑢</a:t>
                </a:r>
                <a:r>
                  <a:rPr lang="zh-CN" altLang="en-US" dirty="0"/>
                  <a:t>：任务指令</a:t>
                </a:r>
                <a:r>
                  <a:rPr lang="en-US" altLang="zh-CN" sz="1200" b="0" i="0" kern="1200">
                    <a:solidFill>
                      <a:schemeClr val="tx1"/>
                    </a:solidFill>
                    <a:latin typeface="Cambria Math" panose="02040503050406030204" pitchFamily="18" charset="0"/>
                    <a:ea typeface="+mn-ea"/>
                    <a:cs typeface="+mn-cs"/>
                  </a:rPr>
                  <a:t>      </a:t>
                </a:r>
                <a:r>
                  <a:rPr lang="zh-CN" altLang="en-US" sz="1200" i="0" kern="1200">
                    <a:solidFill>
                      <a:schemeClr val="tx1"/>
                    </a:solidFill>
                    <a:latin typeface="+mn-lt"/>
                    <a:ea typeface="+mn-ea"/>
                    <a:cs typeface="+mn-cs"/>
                  </a:rPr>
                  <a:t>𝑝</a:t>
                </a:r>
                <a:r>
                  <a:rPr lang="zh-CN" altLang="en-US" dirty="0"/>
                  <a:t>：对应的高质量 </a:t>
                </a:r>
                <a:r>
                  <a:rPr lang="en-US" altLang="zh-CN" dirty="0"/>
                  <a:t>meta plan</a:t>
                </a:r>
                <a:r>
                  <a:rPr lang="en-US" altLang="zh-CN" sz="1200" b="0" i="0" kern="1200">
                    <a:solidFill>
                      <a:schemeClr val="tx1"/>
                    </a:solidFill>
                    <a:latin typeface="Cambria Math" panose="02040503050406030204" pitchFamily="18" charset="0"/>
                    <a:ea typeface="+mn-ea"/>
                    <a:cs typeface="+mn-cs"/>
                  </a:rPr>
                  <a:t>      </a:t>
                </a:r>
                <a:r>
                  <a:rPr lang="en-US" altLang="zh-CN" sz="1200" i="0" kern="1200">
                    <a:solidFill>
                      <a:schemeClr val="tx1"/>
                    </a:solidFill>
                    <a:latin typeface="+mn-lt"/>
                    <a:ea typeface="+mn-ea"/>
                    <a:cs typeface="+mn-cs"/>
                  </a:rPr>
                  <a:t>∣</a:t>
                </a:r>
                <a:r>
                  <a:rPr lang="zh-CN" altLang="ar-AE" sz="1200" i="0" kern="1200">
                    <a:solidFill>
                      <a:schemeClr val="tx1"/>
                    </a:solidFill>
                    <a:latin typeface="+mn-lt"/>
                    <a:ea typeface="+mn-ea"/>
                    <a:cs typeface="+mn-cs"/>
                  </a:rPr>
                  <a:t>𝐷</a:t>
                </a:r>
                <a:r>
                  <a:rPr lang="ar-AE" altLang="zh-CN" sz="1200" i="0" kern="1200">
                    <a:solidFill>
                      <a:schemeClr val="tx1"/>
                    </a:solidFill>
                    <a:latin typeface="+mn-lt"/>
                    <a:ea typeface="+mn-ea"/>
                    <a:cs typeface="+mn-cs"/>
                  </a:rPr>
                  <a:t>_</a:t>
                </a:r>
                <a:r>
                  <a:rPr lang="zh-CN" altLang="ar-AE" sz="1200" i="0" kern="1200">
                    <a:solidFill>
                      <a:schemeClr val="tx1"/>
                    </a:solidFill>
                    <a:latin typeface="+mn-lt"/>
                    <a:ea typeface="+mn-ea"/>
                    <a:cs typeface="+mn-cs"/>
                  </a:rPr>
                  <a:t>𝑠</a:t>
                </a:r>
                <a:r>
                  <a:rPr lang="ar-AE" altLang="zh-CN" sz="1200" i="0" kern="1200">
                    <a:solidFill>
                      <a:schemeClr val="tx1"/>
                    </a:solidFill>
                    <a:latin typeface="+mn-lt"/>
                    <a:ea typeface="+mn-ea"/>
                    <a:cs typeface="+mn-cs"/>
                  </a:rPr>
                  <a:t>∣</a:t>
                </a:r>
                <a:r>
                  <a:rPr lang="zh-CN" altLang="ar-AE" dirty="0"/>
                  <a:t>：</a:t>
                </a:r>
                <a:r>
                  <a:rPr lang="zh-CN" altLang="en-US" dirty="0"/>
                  <a:t>数据集大小，也就是样本总数。    </a:t>
                </a:r>
                <a:r>
                  <a:rPr lang="ar-AE" altLang="zh-CN" sz="1200" i="0" kern="1200">
                    <a:solidFill>
                      <a:schemeClr val="tx1"/>
                    </a:solidFill>
                    <a:latin typeface="+mn-lt"/>
                    <a:ea typeface="+mn-ea"/>
                    <a:cs typeface="+mn-cs"/>
                  </a:rPr>
                  <a:t>{⋅}_(</a:t>
                </a:r>
                <a:r>
                  <a:rPr lang="zh-CN" altLang="ar-AE" sz="1200" i="0" kern="1200">
                    <a:solidFill>
                      <a:schemeClr val="tx1"/>
                    </a:solidFill>
                    <a:latin typeface="+mn-lt"/>
                    <a:ea typeface="+mn-ea"/>
                    <a:cs typeface="+mn-cs"/>
                  </a:rPr>
                  <a:t>𝑖</a:t>
                </a:r>
                <a:r>
                  <a:rPr lang="ar-AE" altLang="zh-CN" sz="1200" i="0" kern="1200">
                    <a:solidFill>
                      <a:schemeClr val="tx1"/>
                    </a:solidFill>
                    <a:latin typeface="+mn-lt"/>
                    <a:ea typeface="+mn-ea"/>
                    <a:cs typeface="+mn-cs"/>
                  </a:rPr>
                  <a:t>=1)^(∣</a:t>
                </a:r>
                <a:r>
                  <a:rPr lang="zh-CN" altLang="ar-AE" sz="1200" i="0" kern="1200">
                    <a:solidFill>
                      <a:schemeClr val="tx1"/>
                    </a:solidFill>
                    <a:latin typeface="+mn-lt"/>
                    <a:ea typeface="+mn-ea"/>
                    <a:cs typeface="+mn-cs"/>
                  </a:rPr>
                  <a:t>𝐷</a:t>
                </a:r>
                <a:r>
                  <a:rPr lang="ar-AE" altLang="zh-CN" sz="1200" i="0" kern="1200">
                    <a:solidFill>
                      <a:schemeClr val="tx1"/>
                    </a:solidFill>
                    <a:latin typeface="+mn-lt"/>
                    <a:ea typeface="+mn-ea"/>
                    <a:cs typeface="+mn-cs"/>
                  </a:rPr>
                  <a:t>_</a:t>
                </a:r>
                <a:r>
                  <a:rPr lang="zh-CN" altLang="ar-AE" sz="1200" i="0" kern="1200">
                    <a:solidFill>
                      <a:schemeClr val="tx1"/>
                    </a:solidFill>
                    <a:latin typeface="+mn-lt"/>
                    <a:ea typeface="+mn-ea"/>
                    <a:cs typeface="+mn-cs"/>
                  </a:rPr>
                  <a:t>𝑠</a:t>
                </a:r>
                <a:r>
                  <a:rPr lang="ar-AE" altLang="zh-CN" sz="1200" i="0" kern="1200">
                    <a:solidFill>
                      <a:schemeClr val="tx1"/>
                    </a:solidFill>
                    <a:latin typeface="+mn-lt"/>
                    <a:ea typeface="+mn-ea"/>
                    <a:cs typeface="+mn-cs"/>
                  </a:rPr>
                  <a:t>∣)</a:t>
                </a:r>
                <a:r>
                  <a:rPr lang="zh-CN" altLang="ar-AE" dirty="0"/>
                  <a:t>：</a:t>
                </a:r>
                <a:r>
                  <a:rPr lang="zh-CN" altLang="en-US" dirty="0"/>
                  <a:t>表示把所有样本收集成一个集合。</a:t>
                </a:r>
                <a:endParaRPr lang="en-US" altLang="zh-CN" dirty="0"/>
              </a:p>
              <a:p>
                <a:endParaRPr lang="en-US" altLang="zh-CN" dirty="0"/>
              </a:p>
              <a:p>
                <a:endParaRPr lang="en-US" altLang="zh-CN" dirty="0"/>
              </a:p>
            </p:txBody>
          </p:sp>
        </mc:Fallback>
      </mc:AlternateContent>
      <p:sp>
        <p:nvSpPr>
          <p:cNvPr id="4" name="灯片编号占位符 3">
            <a:extLst>
              <a:ext uri="{FF2B5EF4-FFF2-40B4-BE49-F238E27FC236}">
                <a16:creationId xmlns:a16="http://schemas.microsoft.com/office/drawing/2014/main" id="{08138140-B24A-5351-588D-2415137476A7}"/>
              </a:ext>
            </a:extLst>
          </p:cNvPr>
          <p:cNvSpPr>
            <a:spLocks noGrp="1"/>
          </p:cNvSpPr>
          <p:nvPr>
            <p:ph type="sldNum" sz="quarter" idx="5"/>
          </p:nvPr>
        </p:nvSpPr>
        <p:spPr/>
        <p:txBody>
          <a:bodyPr/>
          <a:lstStyle/>
          <a:p>
            <a:fld id="{3FF2ADFF-6A68-4D4C-8DF4-C6AAACA87F83}" type="slidenum">
              <a:rPr lang="zh-CN" altLang="en-US" smtClean="0"/>
              <a:t>23</a:t>
            </a:fld>
            <a:endParaRPr lang="zh-CN" altLang="en-US"/>
          </a:p>
        </p:txBody>
      </p:sp>
    </p:spTree>
    <p:extLst>
      <p:ext uri="{BB962C8B-B14F-4D97-AF65-F5344CB8AC3E}">
        <p14:creationId xmlns:p14="http://schemas.microsoft.com/office/powerpoint/2010/main" val="42650095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42437-6FFB-DBDC-EFC2-BA8B623B0E3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44710C8-1E1A-3D19-B5AB-642AEFE014BF}"/>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63DD7C6B-60A2-727C-6B15-849EA3F7F600}"/>
                  </a:ext>
                </a:extLst>
              </p:cNvPr>
              <p:cNvSpPr>
                <a:spLocks noGrp="1"/>
              </p:cNvSpPr>
              <p:nvPr>
                <p:ph type="body" idx="1"/>
              </p:nvPr>
            </p:nvSpPr>
            <p:spPr/>
            <p:txBody>
              <a:bodyPr/>
              <a:lstStyle/>
              <a:p>
                <a:r>
                  <a:rPr lang="zh-CN" altLang="en-US" dirty="0"/>
                  <a:t>选用 </a:t>
                </a:r>
                <a:r>
                  <a:rPr lang="en-US" altLang="zh-CN" dirty="0"/>
                  <a:t>Llama-3.1-8B-Instruct</a:t>
                </a:r>
                <a:r>
                  <a:rPr lang="zh-CN" altLang="en-US" dirty="0"/>
                  <a:t>作为智能体评估元规划质量。</a:t>
                </a:r>
                <a:endParaRPr lang="en-US" altLang="zh-CN" dirty="0"/>
              </a:p>
              <a:p>
                <a:r>
                  <a:rPr lang="zh-CN" altLang="en-US" dirty="0"/>
                  <a:t>对于同一个任务 𝑢和同一个 </a:t>
                </a:r>
                <a:r>
                  <a:rPr lang="en-US" altLang="zh-CN" dirty="0"/>
                  <a:t>meta plan </a:t>
                </a:r>
                <a:r>
                  <a:rPr lang="zh-CN" altLang="en-US" dirty="0"/>
                  <a:t>𝑝，让 </a:t>
                </a:r>
                <a:r>
                  <a:rPr lang="en-US" altLang="zh-CN" dirty="0"/>
                  <a:t>agent </a:t>
                </a:r>
                <a:r>
                  <a:rPr lang="zh-CN" altLang="en-US" dirty="0"/>
                  <a:t>执行 𝑁</a:t>
                </a:r>
                <a:r>
                  <a:rPr lang="en-US" altLang="zh-CN" dirty="0"/>
                  <a:t> </a:t>
                </a:r>
                <a:r>
                  <a:rPr lang="zh-CN" altLang="en-US" dirty="0"/>
                  <a:t>次，得到 𝑁条轨迹样本，集合为</a:t>
                </a:r>
                <a:r>
                  <a:rPr lang="en-US" altLang="zh-CN" dirty="0"/>
                  <a:t>e</a:t>
                </a:r>
              </a:p>
              <a:p>
                <a:r>
                  <a:rPr lang="zh-CN" altLang="en-US" dirty="0"/>
                  <a:t>一个好的 </a:t>
                </a:r>
                <a:r>
                  <a:rPr lang="en-US" altLang="zh-CN" dirty="0"/>
                  <a:t>meta plan</a:t>
                </a:r>
                <a:r>
                  <a:rPr lang="zh-CN" altLang="en-US" dirty="0"/>
                  <a:t>，应该能帮助 </a:t>
                </a:r>
                <a:r>
                  <a:rPr lang="en-US" altLang="zh-CN" dirty="0"/>
                  <a:t>agent </a:t>
                </a:r>
                <a:r>
                  <a:rPr lang="zh-CN" altLang="en-US" dirty="0"/>
                  <a:t>更容易完成任务。</a:t>
                </a:r>
                <a:endParaRPr lang="en-US" altLang="zh-CN" dirty="0"/>
              </a:p>
              <a:p>
                <a:r>
                  <a:rPr lang="zh-CN" altLang="en-US" dirty="0"/>
                  <a:t>因此作者把：</a:t>
                </a:r>
                <a:r>
                  <a:rPr lang="en-US" altLang="zh-CN" dirty="0"/>
                  <a:t>agent </a:t>
                </a:r>
                <a:r>
                  <a:rPr lang="zh-CN" altLang="en-US" dirty="0"/>
                  <a:t>在该 </a:t>
                </a:r>
                <a:r>
                  <a:rPr lang="en-US" altLang="zh-CN" dirty="0"/>
                  <a:t>meta plan </a:t>
                </a:r>
                <a:r>
                  <a:rPr lang="zh-CN" altLang="en-US" dirty="0"/>
                  <a:t>指导下，多次执行任务得到的平均回报定义为这个 </a:t>
                </a:r>
                <a:r>
                  <a:rPr lang="en-US" altLang="zh-CN" dirty="0"/>
                  <a:t>meta plan </a:t>
                </a:r>
                <a:r>
                  <a:rPr lang="zh-CN" altLang="en-US" dirty="0"/>
                  <a:t>的质量。</a:t>
                </a:r>
                <a:endParaRPr lang="en-US" altLang="zh-CN" dirty="0"/>
              </a:p>
              <a:p>
                <a14:m>
                  <m:oMath xmlns:m="http://schemas.openxmlformats.org/officeDocument/2006/math">
                    <m:sSup>
                      <m:sSupPr>
                        <m:ctrlPr>
                          <a:rPr lang="ar-AE" altLang="zh-CN" sz="1200" kern="1200" smtClean="0">
                            <a:solidFill>
                              <a:schemeClr val="tx1"/>
                            </a:solidFill>
                            <a:latin typeface="+mn-lt"/>
                            <a:ea typeface="+mn-ea"/>
                            <a:cs typeface="+mn-cs"/>
                          </a:rPr>
                        </m:ctrlPr>
                      </m:sSupPr>
                      <m:e>
                        <m:r>
                          <a:rPr lang="zh-CN" altLang="ar-AE" sz="1200" i="1" kern="1200">
                            <a:solidFill>
                              <a:schemeClr val="tx1"/>
                            </a:solidFill>
                            <a:latin typeface="+mn-lt"/>
                            <a:ea typeface="+mn-ea"/>
                            <a:cs typeface="+mn-cs"/>
                          </a:rPr>
                          <m:t>𝑒</m:t>
                        </m:r>
                      </m:e>
                      <m:sup>
                        <m:d>
                          <m:dPr>
                            <m:ctrlPr>
                              <a:rPr lang="ar-AE" altLang="zh-CN" sz="1200" i="1" kern="1200">
                                <a:solidFill>
                                  <a:schemeClr val="tx1"/>
                                </a:solidFill>
                                <a:latin typeface="+mn-lt"/>
                                <a:ea typeface="+mn-ea"/>
                                <a:cs typeface="+mn-cs"/>
                              </a:rPr>
                            </m:ctrlPr>
                          </m:dPr>
                          <m:e>
                            <m:r>
                              <a:rPr lang="zh-CN" altLang="ar-AE" sz="1200" i="1" kern="1200">
                                <a:solidFill>
                                  <a:schemeClr val="tx1"/>
                                </a:solidFill>
                                <a:latin typeface="+mn-lt"/>
                                <a:ea typeface="+mn-ea"/>
                                <a:cs typeface="+mn-cs"/>
                              </a:rPr>
                              <m:t>𝑖</m:t>
                            </m:r>
                          </m:e>
                        </m:d>
                      </m:sup>
                    </m:sSup>
                  </m:oMath>
                </a14:m>
                <a:r>
                  <a:rPr lang="zh-CN" altLang="ar-AE" dirty="0"/>
                  <a:t>：</a:t>
                </a:r>
                <a:r>
                  <a:rPr lang="zh-CN" altLang="en-US" dirty="0"/>
                  <a:t>第 </a:t>
                </a:r>
                <a14:m>
                  <m:oMath xmlns:m="http://schemas.openxmlformats.org/officeDocument/2006/math">
                    <m:r>
                      <a:rPr lang="zh-CN" altLang="en-US" sz="1200" i="1" kern="1200">
                        <a:solidFill>
                          <a:schemeClr val="tx1"/>
                        </a:solidFill>
                        <a:latin typeface="+mn-lt"/>
                        <a:ea typeface="+mn-ea"/>
                        <a:cs typeface="+mn-cs"/>
                      </a:rPr>
                      <m:t>𝑖</m:t>
                    </m:r>
                  </m:oMath>
                </a14:m>
                <a:r>
                  <a:rPr lang="zh-CN" altLang="en-US" dirty="0"/>
                  <a:t>次执行得到的轨迹。</a:t>
                </a:r>
              </a:p>
              <a:p>
                <a14:m>
                  <m:oMath xmlns:m="http://schemas.openxmlformats.org/officeDocument/2006/math">
                    <m:r>
                      <a:rPr lang="zh-CN" altLang="en-US" sz="1200" i="1" kern="1200">
                        <a:solidFill>
                          <a:schemeClr val="tx1"/>
                        </a:solidFill>
                        <a:latin typeface="+mn-lt"/>
                        <a:ea typeface="+mn-ea"/>
                        <a:cs typeface="+mn-cs"/>
                      </a:rPr>
                      <m:t>𝑁</m:t>
                    </m:r>
                  </m:oMath>
                </a14:m>
                <a:r>
                  <a:rPr lang="zh-CN" altLang="en-US" dirty="0"/>
                  <a:t>：采样次数，也就是 </a:t>
                </a:r>
                <a:r>
                  <a:rPr lang="en-US" altLang="zh-CN" dirty="0"/>
                  <a:t>rollout </a:t>
                </a:r>
                <a:r>
                  <a:rPr lang="zh-CN" altLang="en-US" dirty="0"/>
                  <a:t>次数。</a:t>
                </a:r>
              </a:p>
              <a:p>
                <a14:m>
                  <m:oMath xmlns:m="http://schemas.openxmlformats.org/officeDocument/2006/math">
                    <m:d>
                      <m:dPr>
                        <m:begChr m:val="{"/>
                        <m:endChr m:val="}"/>
                        <m:sepChr m:val=","/>
                        <m:ctrlPr>
                          <a:rPr lang="ar-AE" altLang="zh-CN" sz="1200" kern="1200">
                            <a:solidFill>
                              <a:schemeClr val="tx1"/>
                            </a:solidFill>
                            <a:latin typeface="+mn-lt"/>
                            <a:ea typeface="+mn-ea"/>
                            <a:cs typeface="+mn-cs"/>
                          </a:rPr>
                        </m:ctrlPr>
                      </m:dPr>
                      <m:e>
                        <m:sSup>
                          <m:sSupPr>
                            <m:ctrlPr>
                              <a:rPr lang="ar-AE" altLang="zh-CN" sz="1200" i="1" kern="1200">
                                <a:solidFill>
                                  <a:schemeClr val="tx1"/>
                                </a:solidFill>
                                <a:latin typeface="+mn-lt"/>
                                <a:ea typeface="+mn-ea"/>
                                <a:cs typeface="+mn-cs"/>
                              </a:rPr>
                            </m:ctrlPr>
                          </m:sSupPr>
                          <m:e>
                            <m:r>
                              <a:rPr lang="zh-CN" altLang="ar-AE" sz="1200" i="1" kern="1200">
                                <a:solidFill>
                                  <a:schemeClr val="tx1"/>
                                </a:solidFill>
                                <a:latin typeface="+mn-lt"/>
                                <a:ea typeface="+mn-ea"/>
                                <a:cs typeface="+mn-cs"/>
                              </a:rPr>
                              <m:t>𝑒</m:t>
                            </m:r>
                          </m:e>
                          <m:sup>
                            <m:d>
                              <m:dPr>
                                <m:ctrlPr>
                                  <a:rPr lang="ar-AE" altLang="zh-CN" sz="1200" i="1" kern="1200">
                                    <a:solidFill>
                                      <a:schemeClr val="tx1"/>
                                    </a:solidFill>
                                    <a:latin typeface="+mn-lt"/>
                                    <a:ea typeface="+mn-ea"/>
                                    <a:cs typeface="+mn-cs"/>
                                  </a:rPr>
                                </m:ctrlPr>
                              </m:dPr>
                              <m:e>
                                <m:r>
                                  <a:rPr lang="zh-CN" altLang="ar-AE" sz="1200" i="1" kern="1200">
                                    <a:solidFill>
                                      <a:schemeClr val="tx1"/>
                                    </a:solidFill>
                                    <a:latin typeface="+mn-lt"/>
                                    <a:ea typeface="+mn-ea"/>
                                    <a:cs typeface="+mn-cs"/>
                                  </a:rPr>
                                  <m:t>𝑖</m:t>
                                </m:r>
                              </m:e>
                            </m:d>
                          </m:sup>
                        </m:sSup>
                      </m:e>
                      <m:e>
                        <m:r>
                          <a:rPr lang="ar-AE" altLang="zh-CN" sz="1200" i="0" kern="1200">
                            <a:solidFill>
                              <a:schemeClr val="tx1"/>
                            </a:solidFill>
                            <a:latin typeface="+mn-lt"/>
                            <a:ea typeface="+mn-ea"/>
                            <a:cs typeface="+mn-cs"/>
                          </a:rPr>
                          <m:t>∣</m:t>
                        </m:r>
                      </m:e>
                      <m:e>
                        <m:r>
                          <a:rPr lang="zh-CN" altLang="ar-AE" sz="1200" i="1" kern="1200">
                            <a:solidFill>
                              <a:schemeClr val="tx1"/>
                            </a:solidFill>
                            <a:latin typeface="+mn-lt"/>
                            <a:ea typeface="+mn-ea"/>
                            <a:cs typeface="+mn-cs"/>
                          </a:rPr>
                          <m:t>𝑖</m:t>
                        </m:r>
                        <m:r>
                          <a:rPr lang="ar-AE" altLang="zh-CN" sz="1200" i="0" kern="1200">
                            <a:solidFill>
                              <a:schemeClr val="tx1"/>
                            </a:solidFill>
                            <a:latin typeface="+mn-lt"/>
                            <a:ea typeface="+mn-ea"/>
                            <a:cs typeface="+mn-cs"/>
                          </a:rPr>
                          <m:t>=</m:t>
                        </m:r>
                        <m:r>
                          <a:rPr lang="ar-AE" altLang="zh-CN" sz="1200" i="0" kern="1200">
                            <a:solidFill>
                              <a:schemeClr val="tx1"/>
                            </a:solidFill>
                            <a:latin typeface="+mn-lt"/>
                            <a:ea typeface="+mn-ea"/>
                            <a:cs typeface="+mn-cs"/>
                          </a:rPr>
                          <m:t>1</m:t>
                        </m:r>
                        <m:r>
                          <a:rPr lang="ar-AE" altLang="zh-CN" sz="1200" i="0" kern="1200">
                            <a:solidFill>
                              <a:schemeClr val="tx1"/>
                            </a:solidFill>
                            <a:latin typeface="+mn-lt"/>
                            <a:ea typeface="+mn-ea"/>
                            <a:cs typeface="+mn-cs"/>
                          </a:rPr>
                          <m:t>…</m:t>
                        </m:r>
                        <m:r>
                          <a:rPr lang="zh-CN" altLang="ar-AE" sz="1200" i="1" kern="1200">
                            <a:solidFill>
                              <a:schemeClr val="tx1"/>
                            </a:solidFill>
                            <a:latin typeface="+mn-lt"/>
                            <a:ea typeface="+mn-ea"/>
                            <a:cs typeface="+mn-cs"/>
                          </a:rPr>
                          <m:t>𝑁</m:t>
                        </m:r>
                      </m:e>
                    </m:d>
                  </m:oMath>
                </a14:m>
                <a:r>
                  <a:rPr lang="zh-CN" altLang="ar-AE" dirty="0"/>
                  <a:t>：</a:t>
                </a:r>
                <a:r>
                  <a:rPr lang="zh-CN" altLang="en-US" dirty="0"/>
                  <a:t>这 </a:t>
                </a:r>
                <a14:m>
                  <m:oMath xmlns:m="http://schemas.openxmlformats.org/officeDocument/2006/math">
                    <m:r>
                      <a:rPr lang="zh-CN" altLang="en-US" sz="1200" i="1" kern="1200">
                        <a:solidFill>
                          <a:schemeClr val="tx1"/>
                        </a:solidFill>
                        <a:latin typeface="+mn-lt"/>
                        <a:ea typeface="+mn-ea"/>
                        <a:cs typeface="+mn-cs"/>
                      </a:rPr>
                      <m:t>𝑁</m:t>
                    </m:r>
                  </m:oMath>
                </a14:m>
                <a:r>
                  <a:rPr lang="zh-CN" altLang="en-US" dirty="0"/>
                  <a:t>条采样轨迹的集合。</a:t>
                </a:r>
              </a:p>
              <a:p>
                <a14:m>
                  <m:oMath xmlns:m="http://schemas.openxmlformats.org/officeDocument/2006/math">
                    <m:r>
                      <a:rPr lang="zh-CN" altLang="en-US" sz="1200" kern="1200">
                        <a:solidFill>
                          <a:schemeClr val="tx1"/>
                        </a:solidFill>
                        <a:latin typeface="+mn-lt"/>
                        <a:ea typeface="+mn-ea"/>
                        <a:cs typeface="+mn-cs"/>
                      </a:rPr>
                      <m:t>∼</m:t>
                    </m:r>
                  </m:oMath>
                </a14:m>
                <a:r>
                  <a:rPr lang="zh-CN" altLang="en-US" dirty="0"/>
                  <a:t>：表示“从某个分布中采样得到”。</a:t>
                </a:r>
              </a:p>
              <a:p>
                <a14:m>
                  <m:oMath xmlns:m="http://schemas.openxmlformats.org/officeDocument/2006/math">
                    <m:sSub>
                      <m:sSubPr>
                        <m:ctrlPr>
                          <a:rPr lang="ar-AE" altLang="zh-CN" sz="1200" kern="1200">
                            <a:solidFill>
                              <a:schemeClr val="tx1"/>
                            </a:solidFill>
                            <a:latin typeface="+mn-lt"/>
                            <a:ea typeface="+mn-ea"/>
                            <a:cs typeface="+mn-cs"/>
                          </a:rPr>
                        </m:ctrlPr>
                      </m:sSubPr>
                      <m:e>
                        <m:r>
                          <a:rPr lang="zh-CN" altLang="ar-AE" sz="1200" i="1" kern="1200">
                            <a:solidFill>
                              <a:schemeClr val="tx1"/>
                            </a:solidFill>
                            <a:latin typeface="+mn-lt"/>
                            <a:ea typeface="+mn-ea"/>
                            <a:cs typeface="+mn-cs"/>
                          </a:rPr>
                          <m:t>𝜋</m:t>
                        </m:r>
                      </m:e>
                      <m:sub>
                        <m:r>
                          <a:rPr lang="zh-CN" altLang="ar-AE" sz="1200" i="1" kern="1200">
                            <a:solidFill>
                              <a:schemeClr val="tx1"/>
                            </a:solidFill>
                            <a:latin typeface="+mn-lt"/>
                            <a:ea typeface="+mn-ea"/>
                            <a:cs typeface="+mn-cs"/>
                          </a:rPr>
                          <m:t>𝜃</m:t>
                        </m:r>
                      </m:sub>
                    </m:sSub>
                    <m:d>
                      <m:dPr>
                        <m:sepChr m:val=","/>
                        <m:ctrlPr>
                          <a:rPr lang="ar-AE" altLang="zh-CN" sz="1200" i="1" kern="1200">
                            <a:solidFill>
                              <a:schemeClr val="tx1"/>
                            </a:solidFill>
                            <a:latin typeface="+mn-lt"/>
                            <a:ea typeface="+mn-ea"/>
                            <a:cs typeface="+mn-cs"/>
                          </a:rPr>
                        </m:ctrlPr>
                      </m:dPr>
                      <m:e>
                        <m:r>
                          <a:rPr lang="zh-CN" altLang="ar-AE" sz="1200" i="1" kern="1200">
                            <a:solidFill>
                              <a:schemeClr val="tx1"/>
                            </a:solidFill>
                            <a:latin typeface="+mn-lt"/>
                            <a:ea typeface="+mn-ea"/>
                            <a:cs typeface="+mn-cs"/>
                          </a:rPr>
                          <m:t>𝑒</m:t>
                        </m:r>
                      </m:e>
                      <m:e>
                        <m:r>
                          <a:rPr lang="ar-AE" altLang="zh-CN" sz="1200" i="0" kern="1200">
                            <a:solidFill>
                              <a:schemeClr val="tx1"/>
                            </a:solidFill>
                            <a:latin typeface="+mn-lt"/>
                            <a:ea typeface="+mn-ea"/>
                            <a:cs typeface="+mn-cs"/>
                          </a:rPr>
                          <m:t>∣</m:t>
                        </m:r>
                        <m:r>
                          <a:rPr lang="zh-CN" altLang="ar-AE" sz="1200" i="1" kern="1200">
                            <a:solidFill>
                              <a:schemeClr val="tx1"/>
                            </a:solidFill>
                            <a:latin typeface="+mn-lt"/>
                            <a:ea typeface="+mn-ea"/>
                            <a:cs typeface="+mn-cs"/>
                          </a:rPr>
                          <m:t>𝑢𝑝</m:t>
                        </m:r>
                      </m:e>
                    </m:d>
                  </m:oMath>
                </a14:m>
                <a:r>
                  <a:rPr lang="zh-CN" altLang="ar-AE" dirty="0"/>
                  <a:t>：</a:t>
                </a:r>
                <a:r>
                  <a:rPr lang="zh-CN" altLang="en-US" dirty="0"/>
                  <a:t>给定任务和 </a:t>
                </a:r>
                <a:r>
                  <a:rPr lang="en-US" altLang="zh-CN" dirty="0"/>
                  <a:t>meta plan </a:t>
                </a:r>
                <a:r>
                  <a:rPr lang="zh-CN" altLang="en-US" dirty="0"/>
                  <a:t>时，</a:t>
                </a:r>
                <a:r>
                  <a:rPr lang="en-US" altLang="zh-CN" dirty="0"/>
                  <a:t>agent </a:t>
                </a:r>
                <a:r>
                  <a:rPr lang="zh-CN" altLang="en-US" dirty="0"/>
                  <a:t>生成轨迹的分布。</a:t>
                </a:r>
              </a:p>
              <a:p>
                <a:endParaRPr lang="en-US" altLang="zh-CN" dirty="0"/>
              </a:p>
              <a:p>
                <a14:m>
                  <m:oMath xmlns:m="http://schemas.openxmlformats.org/officeDocument/2006/math">
                    <m:r>
                      <a:rPr lang="zh-CN" altLang="ar-AE" sz="1200" i="1" kern="1200" smtClean="0">
                        <a:solidFill>
                          <a:schemeClr val="tx1"/>
                        </a:solidFill>
                        <a:latin typeface="+mn-lt"/>
                        <a:ea typeface="+mn-ea"/>
                        <a:cs typeface="+mn-cs"/>
                      </a:rPr>
                      <m:t>𝑄</m:t>
                    </m:r>
                    <m:d>
                      <m:dPr>
                        <m:ctrlPr>
                          <a:rPr lang="ar-AE" altLang="zh-CN" sz="1200" i="1" kern="1200">
                            <a:solidFill>
                              <a:schemeClr val="tx1"/>
                            </a:solidFill>
                            <a:latin typeface="+mn-lt"/>
                            <a:ea typeface="+mn-ea"/>
                            <a:cs typeface="+mn-cs"/>
                          </a:rPr>
                        </m:ctrlPr>
                      </m:dPr>
                      <m:e>
                        <m:r>
                          <a:rPr lang="zh-CN" altLang="ar-AE" sz="1200" i="1" kern="1200">
                            <a:solidFill>
                              <a:schemeClr val="tx1"/>
                            </a:solidFill>
                            <a:latin typeface="+mn-lt"/>
                            <a:ea typeface="+mn-ea"/>
                            <a:cs typeface="+mn-cs"/>
                          </a:rPr>
                          <m:t>𝑝</m:t>
                        </m:r>
                      </m:e>
                    </m:d>
                  </m:oMath>
                </a14:m>
                <a:r>
                  <a:rPr lang="zh-CN" altLang="ar-AE" dirty="0"/>
                  <a:t>：</a:t>
                </a:r>
                <a:r>
                  <a:rPr lang="en-US" altLang="zh-CN" dirty="0"/>
                  <a:t>meta plan </a:t>
                </a:r>
                <a14:m>
                  <m:oMath xmlns:m="http://schemas.openxmlformats.org/officeDocument/2006/math">
                    <m:r>
                      <a:rPr lang="zh-CN" altLang="en-US" sz="1200" i="1" kern="1200">
                        <a:solidFill>
                          <a:schemeClr val="tx1"/>
                        </a:solidFill>
                        <a:latin typeface="+mn-lt"/>
                        <a:ea typeface="+mn-ea"/>
                        <a:cs typeface="+mn-cs"/>
                      </a:rPr>
                      <m:t>𝑝</m:t>
                    </m:r>
                  </m:oMath>
                </a14:m>
                <a:r>
                  <a:rPr lang="zh-CN" altLang="en-US" dirty="0"/>
                  <a:t>的质量分数。</a:t>
                </a:r>
              </a:p>
              <a:p>
                <a14:m>
                  <m:oMath xmlns:m="http://schemas.openxmlformats.org/officeDocument/2006/math">
                    <m:r>
                      <a:rPr lang="zh-CN" altLang="en-US" sz="1200" i="1" kern="1200">
                        <a:solidFill>
                          <a:schemeClr val="tx1"/>
                        </a:solidFill>
                        <a:latin typeface="+mn-lt"/>
                        <a:ea typeface="+mn-ea"/>
                        <a:cs typeface="+mn-cs"/>
                      </a:rPr>
                      <m:t>𝑁</m:t>
                    </m:r>
                  </m:oMath>
                </a14:m>
                <a:r>
                  <a:rPr lang="zh-CN" altLang="en-US" dirty="0"/>
                  <a:t>：执行采样次数。</a:t>
                </a:r>
              </a:p>
              <a:p>
                <a14:m>
                  <m:oMath xmlns:m="http://schemas.openxmlformats.org/officeDocument/2006/math">
                    <m:sSup>
                      <m:sSupPr>
                        <m:ctrlPr>
                          <a:rPr lang="ar-AE" altLang="zh-CN" sz="1200" kern="1200">
                            <a:solidFill>
                              <a:schemeClr val="tx1"/>
                            </a:solidFill>
                            <a:latin typeface="+mn-lt"/>
                            <a:ea typeface="+mn-ea"/>
                            <a:cs typeface="+mn-cs"/>
                          </a:rPr>
                        </m:ctrlPr>
                      </m:sSupPr>
                      <m:e>
                        <m:r>
                          <a:rPr lang="zh-CN" altLang="ar-AE" sz="1200" i="1" kern="1200">
                            <a:solidFill>
                              <a:schemeClr val="tx1"/>
                            </a:solidFill>
                            <a:latin typeface="+mn-lt"/>
                            <a:ea typeface="+mn-ea"/>
                            <a:cs typeface="+mn-cs"/>
                          </a:rPr>
                          <m:t>𝑒</m:t>
                        </m:r>
                      </m:e>
                      <m:sup>
                        <m:d>
                          <m:dPr>
                            <m:ctrlPr>
                              <a:rPr lang="ar-AE" altLang="zh-CN" sz="1200" i="1" kern="1200">
                                <a:solidFill>
                                  <a:schemeClr val="tx1"/>
                                </a:solidFill>
                                <a:latin typeface="+mn-lt"/>
                                <a:ea typeface="+mn-ea"/>
                                <a:cs typeface="+mn-cs"/>
                              </a:rPr>
                            </m:ctrlPr>
                          </m:dPr>
                          <m:e>
                            <m:r>
                              <a:rPr lang="zh-CN" altLang="ar-AE" sz="1200" i="1" kern="1200">
                                <a:solidFill>
                                  <a:schemeClr val="tx1"/>
                                </a:solidFill>
                                <a:latin typeface="+mn-lt"/>
                                <a:ea typeface="+mn-ea"/>
                                <a:cs typeface="+mn-cs"/>
                              </a:rPr>
                              <m:t>𝑖</m:t>
                            </m:r>
                          </m:e>
                        </m:d>
                      </m:sup>
                    </m:sSup>
                  </m:oMath>
                </a14:m>
                <a:r>
                  <a:rPr lang="zh-CN" altLang="ar-AE" dirty="0"/>
                  <a:t>：</a:t>
                </a:r>
                <a:r>
                  <a:rPr lang="zh-CN" altLang="en-US" dirty="0"/>
                  <a:t>第 </a:t>
                </a:r>
                <a14:m>
                  <m:oMath xmlns:m="http://schemas.openxmlformats.org/officeDocument/2006/math">
                    <m:r>
                      <a:rPr lang="zh-CN" altLang="en-US" sz="1200" i="1" kern="1200">
                        <a:solidFill>
                          <a:schemeClr val="tx1"/>
                        </a:solidFill>
                        <a:latin typeface="+mn-lt"/>
                        <a:ea typeface="+mn-ea"/>
                        <a:cs typeface="+mn-cs"/>
                      </a:rPr>
                      <m:t>𝑖</m:t>
                    </m:r>
                  </m:oMath>
                </a14:m>
                <a:r>
                  <a:rPr lang="zh-CN" altLang="en-US" dirty="0"/>
                  <a:t>次采样得到的轨迹。</a:t>
                </a:r>
              </a:p>
              <a:p>
                <a14:m>
                  <m:oMath xmlns:m="http://schemas.openxmlformats.org/officeDocument/2006/math">
                    <m:r>
                      <a:rPr lang="zh-CN" altLang="en-US" sz="1200" i="1" kern="1200">
                        <a:solidFill>
                          <a:schemeClr val="tx1"/>
                        </a:solidFill>
                        <a:latin typeface="+mn-lt"/>
                        <a:ea typeface="+mn-ea"/>
                        <a:cs typeface="+mn-cs"/>
                      </a:rPr>
                      <m:t>𝑟</m:t>
                    </m:r>
                    <m:d>
                      <m:dPr>
                        <m:sepChr m:val=","/>
                        <m:ctrlPr>
                          <a:rPr lang="ar-AE" altLang="zh-CN" sz="1200" i="1" kern="1200">
                            <a:solidFill>
                              <a:schemeClr val="tx1"/>
                            </a:solidFill>
                            <a:latin typeface="+mn-lt"/>
                            <a:ea typeface="+mn-ea"/>
                            <a:cs typeface="+mn-cs"/>
                          </a:rPr>
                        </m:ctrlPr>
                      </m:dPr>
                      <m:e>
                        <m:r>
                          <a:rPr lang="zh-CN" altLang="ar-AE" sz="1200" i="1" kern="1200">
                            <a:solidFill>
                              <a:schemeClr val="tx1"/>
                            </a:solidFill>
                            <a:latin typeface="+mn-lt"/>
                            <a:ea typeface="+mn-ea"/>
                            <a:cs typeface="+mn-cs"/>
                          </a:rPr>
                          <m:t>𝑢</m:t>
                        </m:r>
                      </m:e>
                      <m:e>
                        <m:sSup>
                          <m:sSupPr>
                            <m:ctrlPr>
                              <a:rPr lang="ar-AE" altLang="zh-CN" sz="1200" i="1" kern="1200">
                                <a:solidFill>
                                  <a:schemeClr val="tx1"/>
                                </a:solidFill>
                                <a:latin typeface="+mn-lt"/>
                                <a:ea typeface="+mn-ea"/>
                                <a:cs typeface="+mn-cs"/>
                              </a:rPr>
                            </m:ctrlPr>
                          </m:sSupPr>
                          <m:e>
                            <m:r>
                              <a:rPr lang="zh-CN" altLang="ar-AE" sz="1200" i="1" kern="1200">
                                <a:solidFill>
                                  <a:schemeClr val="tx1"/>
                                </a:solidFill>
                                <a:latin typeface="+mn-lt"/>
                                <a:ea typeface="+mn-ea"/>
                                <a:cs typeface="+mn-cs"/>
                              </a:rPr>
                              <m:t>𝑒</m:t>
                            </m:r>
                          </m:e>
                          <m:sup>
                            <m:d>
                              <m:dPr>
                                <m:ctrlPr>
                                  <a:rPr lang="ar-AE" altLang="zh-CN" sz="1200" i="1" kern="1200">
                                    <a:solidFill>
                                      <a:schemeClr val="tx1"/>
                                    </a:solidFill>
                                    <a:latin typeface="+mn-lt"/>
                                    <a:ea typeface="+mn-ea"/>
                                    <a:cs typeface="+mn-cs"/>
                                  </a:rPr>
                                </m:ctrlPr>
                              </m:dPr>
                              <m:e>
                                <m:r>
                                  <a:rPr lang="zh-CN" altLang="ar-AE" sz="1200" i="1" kern="1200">
                                    <a:solidFill>
                                      <a:schemeClr val="tx1"/>
                                    </a:solidFill>
                                    <a:latin typeface="+mn-lt"/>
                                    <a:ea typeface="+mn-ea"/>
                                    <a:cs typeface="+mn-cs"/>
                                  </a:rPr>
                                  <m:t>𝑖</m:t>
                                </m:r>
                              </m:e>
                            </m:d>
                          </m:sup>
                        </m:sSup>
                      </m:e>
                    </m:d>
                  </m:oMath>
                </a14:m>
                <a:r>
                  <a:rPr lang="zh-CN" altLang="ar-AE" dirty="0"/>
                  <a:t>：</a:t>
                </a:r>
                <a:r>
                  <a:rPr lang="zh-CN" altLang="en-US" dirty="0"/>
                  <a:t>任务 </a:t>
                </a:r>
                <a14:m>
                  <m:oMath xmlns:m="http://schemas.openxmlformats.org/officeDocument/2006/math">
                    <m:r>
                      <a:rPr lang="zh-CN" altLang="en-US" sz="1200" i="1" kern="1200">
                        <a:solidFill>
                          <a:schemeClr val="tx1"/>
                        </a:solidFill>
                        <a:latin typeface="+mn-lt"/>
                        <a:ea typeface="+mn-ea"/>
                        <a:cs typeface="+mn-cs"/>
                      </a:rPr>
                      <m:t>𝑢</m:t>
                    </m:r>
                  </m:oMath>
                </a14:m>
                <a:r>
                  <a:rPr lang="zh-CN" altLang="en-US" dirty="0"/>
                  <a:t>下，轨迹 </a:t>
                </a:r>
                <a14:m>
                  <m:oMath xmlns:m="http://schemas.openxmlformats.org/officeDocument/2006/math">
                    <m:sSup>
                      <m:sSupPr>
                        <m:ctrlPr>
                          <a:rPr lang="ar-AE" altLang="zh-CN" sz="1200" kern="1200">
                            <a:solidFill>
                              <a:schemeClr val="tx1"/>
                            </a:solidFill>
                            <a:latin typeface="+mn-lt"/>
                            <a:ea typeface="+mn-ea"/>
                            <a:cs typeface="+mn-cs"/>
                          </a:rPr>
                        </m:ctrlPr>
                      </m:sSupPr>
                      <m:e>
                        <m:r>
                          <a:rPr lang="zh-CN" altLang="ar-AE" sz="1200" i="1" kern="1200">
                            <a:solidFill>
                              <a:schemeClr val="tx1"/>
                            </a:solidFill>
                            <a:latin typeface="+mn-lt"/>
                            <a:ea typeface="+mn-ea"/>
                            <a:cs typeface="+mn-cs"/>
                          </a:rPr>
                          <m:t>𝑒</m:t>
                        </m:r>
                      </m:e>
                      <m:sup>
                        <m:d>
                          <m:dPr>
                            <m:ctrlPr>
                              <a:rPr lang="ar-AE" altLang="zh-CN" sz="1200" i="1" kern="1200">
                                <a:solidFill>
                                  <a:schemeClr val="tx1"/>
                                </a:solidFill>
                                <a:latin typeface="+mn-lt"/>
                                <a:ea typeface="+mn-ea"/>
                                <a:cs typeface="+mn-cs"/>
                              </a:rPr>
                            </m:ctrlPr>
                          </m:dPr>
                          <m:e>
                            <m:r>
                              <a:rPr lang="zh-CN" altLang="ar-AE" sz="1200" i="1" kern="1200">
                                <a:solidFill>
                                  <a:schemeClr val="tx1"/>
                                </a:solidFill>
                                <a:latin typeface="+mn-lt"/>
                                <a:ea typeface="+mn-ea"/>
                                <a:cs typeface="+mn-cs"/>
                              </a:rPr>
                              <m:t>𝑖</m:t>
                            </m:r>
                          </m:e>
                        </m:d>
                      </m:sup>
                    </m:sSup>
                  </m:oMath>
                </a14:m>
                <a:r>
                  <a:rPr lang="zh-CN" altLang="en-US" dirty="0"/>
                  <a:t>获得的最终奖励。</a:t>
                </a:r>
              </a:p>
              <a:p>
                <a14:m>
                  <m:oMath xmlns:m="http://schemas.openxmlformats.org/officeDocument/2006/math">
                    <m:r>
                      <a:rPr lang="zh-CN" altLang="en-US" sz="1200" kern="1200">
                        <a:solidFill>
                          <a:schemeClr val="tx1"/>
                        </a:solidFill>
                        <a:latin typeface="+mn-lt"/>
                        <a:ea typeface="+mn-ea"/>
                        <a:cs typeface="+mn-cs"/>
                      </a:rPr>
                      <m:t>∑</m:t>
                    </m:r>
                    <m:r>
                      <a:rPr lang="zh-CN" altLang="en-US" sz="1200" i="1" kern="1200">
                        <a:solidFill>
                          <a:schemeClr val="tx1"/>
                        </a:solidFill>
                        <a:latin typeface="+mn-lt"/>
                        <a:ea typeface="+mn-ea"/>
                        <a:cs typeface="+mn-cs"/>
                      </a:rPr>
                      <m:t>𝑖</m:t>
                    </m:r>
                    <m:r>
                      <a:rPr lang="en-US" altLang="zh-CN" sz="1200" i="0" kern="1200">
                        <a:solidFill>
                          <a:schemeClr val="tx1"/>
                        </a:solidFill>
                        <a:latin typeface="+mn-lt"/>
                        <a:ea typeface="+mn-ea"/>
                        <a:cs typeface="+mn-cs"/>
                      </a:rPr>
                      <m:t>=</m:t>
                    </m:r>
                    <m:r>
                      <a:rPr lang="en-US" altLang="zh-CN" sz="1200" i="0" kern="1200">
                        <a:solidFill>
                          <a:schemeClr val="tx1"/>
                        </a:solidFill>
                        <a:latin typeface="+mn-lt"/>
                        <a:ea typeface="+mn-ea"/>
                        <a:cs typeface="+mn-cs"/>
                      </a:rPr>
                      <m:t>1</m:t>
                    </m:r>
                    <m:r>
                      <a:rPr lang="zh-CN" altLang="en-US" sz="1200" i="1" kern="1200">
                        <a:solidFill>
                          <a:schemeClr val="tx1"/>
                        </a:solidFill>
                        <a:latin typeface="+mn-lt"/>
                        <a:ea typeface="+mn-ea"/>
                        <a:cs typeface="+mn-cs"/>
                      </a:rPr>
                      <m:t>𝑁</m:t>
                    </m:r>
                  </m:oMath>
                </a14:m>
                <a:r>
                  <a:rPr lang="zh-CN" altLang="en-US" dirty="0"/>
                  <a:t>：对 </a:t>
                </a:r>
                <a14:m>
                  <m:oMath xmlns:m="http://schemas.openxmlformats.org/officeDocument/2006/math">
                    <m:r>
                      <a:rPr lang="zh-CN" altLang="en-US" sz="1200" i="1" kern="1200">
                        <a:solidFill>
                          <a:schemeClr val="tx1"/>
                        </a:solidFill>
                        <a:latin typeface="+mn-lt"/>
                        <a:ea typeface="+mn-ea"/>
                        <a:cs typeface="+mn-cs"/>
                      </a:rPr>
                      <m:t>𝑁</m:t>
                    </m:r>
                  </m:oMath>
                </a14:m>
                <a:r>
                  <a:rPr lang="zh-CN" altLang="en-US" dirty="0"/>
                  <a:t>次执行结果求和。</a:t>
                </a:r>
              </a:p>
              <a:p>
                <a14:m>
                  <m:oMath xmlns:m="http://schemas.openxmlformats.org/officeDocument/2006/math">
                    <m:f>
                      <m:fPr>
                        <m:ctrlPr>
                          <a:rPr lang="ar-AE" altLang="zh-CN" sz="1200" kern="1200">
                            <a:solidFill>
                              <a:schemeClr val="tx1"/>
                            </a:solidFill>
                            <a:latin typeface="+mn-lt"/>
                            <a:ea typeface="+mn-ea"/>
                            <a:cs typeface="+mn-cs"/>
                          </a:rPr>
                        </m:ctrlPr>
                      </m:fPr>
                      <m:num>
                        <m:r>
                          <a:rPr lang="ar-AE" altLang="zh-CN" sz="1200" kern="1200">
                            <a:solidFill>
                              <a:schemeClr val="tx1"/>
                            </a:solidFill>
                            <a:latin typeface="+mn-lt"/>
                            <a:ea typeface="+mn-ea"/>
                            <a:cs typeface="+mn-cs"/>
                          </a:rPr>
                          <m:t>1</m:t>
                        </m:r>
                      </m:num>
                      <m:den>
                        <m:r>
                          <a:rPr lang="zh-CN" altLang="ar-AE" sz="1200" i="1" kern="1200">
                            <a:solidFill>
                              <a:schemeClr val="tx1"/>
                            </a:solidFill>
                            <a:latin typeface="+mn-lt"/>
                            <a:ea typeface="+mn-ea"/>
                            <a:cs typeface="+mn-cs"/>
                          </a:rPr>
                          <m:t>𝑁</m:t>
                        </m:r>
                      </m:den>
                    </m:f>
                  </m:oMath>
                </a14:m>
                <a:r>
                  <a:rPr lang="zh-CN" altLang="ar-AE" dirty="0"/>
                  <a:t>：</a:t>
                </a:r>
                <a:r>
                  <a:rPr lang="zh-CN" altLang="en-US" dirty="0"/>
                  <a:t>取平均值。</a:t>
                </a:r>
              </a:p>
              <a:p>
                <a:endParaRPr lang="zh-CN" altLang="en-US" dirty="0"/>
              </a:p>
            </p:txBody>
          </p:sp>
        </mc:Choice>
        <mc:Fallback xmlns="">
          <p:sp>
            <p:nvSpPr>
              <p:cNvPr id="3" name="备注占位符 2">
                <a:extLst>
                  <a:ext uri="{FF2B5EF4-FFF2-40B4-BE49-F238E27FC236}">
                    <a16:creationId xmlns:a16="http://schemas.microsoft.com/office/drawing/2014/main" id="{0AE4706F-DAD8-1D7F-58F0-83DF2258278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latin typeface="Times New Roman" panose="02020603050405020304" pitchFamily="18" charset="0"/>
                    <a:ea typeface="+mn-ea"/>
                    <a:cs typeface="+mn-ea"/>
                  </a:rPr>
                  <a:t>N</a:t>
                </a:r>
                <a:r>
                  <a:rPr lang="zh-CN" altLang="en-US" sz="1200" dirty="0">
                    <a:latin typeface="Times New Roman" panose="02020603050405020304" pitchFamily="18" charset="0"/>
                    <a:ea typeface="+mn-ea"/>
                    <a:cs typeface="+mn-ea"/>
                  </a:rPr>
                  <a:t>为数据集中数据总数，</a:t>
                </a:r>
                <a:r>
                  <a:rPr lang="en-US" altLang="zh-CN" sz="1200" i="0">
                    <a:latin typeface="Cambria Math" panose="02040503050406030204" pitchFamily="18" charset="0"/>
                    <a:ea typeface="+mn-ea"/>
                    <a:cs typeface="+mn-ea"/>
                  </a:rPr>
                  <a:t>|ner_</a:t>
                </a:r>
                <a:r>
                  <a:rPr lang="en-US" altLang="zh-CN" sz="1200" b="0" i="0">
                    <a:latin typeface="Cambria Math" panose="02040503050406030204" pitchFamily="18" charset="0"/>
                    <a:ea typeface="+mn-ea"/>
                    <a:cs typeface="+mn-ea"/>
                  </a:rPr>
                  <a:t>𝑖 |</a:t>
                </a:r>
                <a:r>
                  <a:rPr lang="zh-CN" altLang="en-US" sz="1200" dirty="0">
                    <a:latin typeface="Times New Roman" panose="02020603050405020304" pitchFamily="18" charset="0"/>
                    <a:ea typeface="+mn-ea"/>
                    <a:cs typeface="+mn-ea"/>
                  </a:rPr>
                  <a:t>为第</a:t>
                </a:r>
                <a:r>
                  <a:rPr lang="en-US" altLang="zh-CN" sz="1200" dirty="0" err="1">
                    <a:latin typeface="Times New Roman" panose="02020603050405020304" pitchFamily="18" charset="0"/>
                    <a:ea typeface="+mn-ea"/>
                    <a:cs typeface="+mn-ea"/>
                  </a:rPr>
                  <a:t>i</a:t>
                </a:r>
                <a:r>
                  <a:rPr lang="zh-CN" altLang="en-US" sz="1200" dirty="0">
                    <a:latin typeface="Times New Roman" panose="02020603050405020304" pitchFamily="18" charset="0"/>
                    <a:ea typeface="+mn-ea"/>
                    <a:cs typeface="+mn-ea"/>
                  </a:rPr>
                  <a:t>个响应中提取的实体数量，</a:t>
                </a:r>
                <a:r>
                  <a:rPr lang="en-US" altLang="zh-CN" sz="1200" i="0" dirty="0">
                    <a:latin typeface="Cambria Math" panose="02040503050406030204" pitchFamily="18" charset="0"/>
                    <a:ea typeface="+mn-ea"/>
                    <a:cs typeface="+mn-ea"/>
                  </a:rPr>
                  <a:t>count</a:t>
                </a:r>
                <a:r>
                  <a:rPr lang="en-US" altLang="zh-CN" sz="1200" dirty="0">
                    <a:latin typeface="Times New Roman" panose="02020603050405020304" pitchFamily="18" charset="0"/>
                    <a:ea typeface="+mn-ea"/>
                    <a:cs typeface="+mn-ea"/>
                  </a:rPr>
                  <a:t>(e)</a:t>
                </a:r>
                <a:r>
                  <a:rPr lang="zh-CN" altLang="en-US" sz="1200" dirty="0">
                    <a:latin typeface="Times New Roman" panose="02020603050405020304" pitchFamily="18" charset="0"/>
                    <a:ea typeface="+mn-ea"/>
                    <a:cs typeface="+mn-ea"/>
                  </a:rPr>
                  <a:t>表示实体</a:t>
                </a:r>
                <a:r>
                  <a:rPr lang="en-US" altLang="zh-CN" sz="1200" dirty="0">
                    <a:latin typeface="Times New Roman" panose="02020603050405020304" pitchFamily="18" charset="0"/>
                    <a:ea typeface="+mn-ea"/>
                    <a:cs typeface="+mn-ea"/>
                  </a:rPr>
                  <a:t>e</a:t>
                </a:r>
                <a:r>
                  <a:rPr lang="zh-CN" altLang="en-US" sz="1200" dirty="0">
                    <a:latin typeface="Times New Roman" panose="02020603050405020304" pitchFamily="18" charset="0"/>
                    <a:ea typeface="+mn-ea"/>
                    <a:cs typeface="+mn-ea"/>
                  </a:rPr>
                  <a:t>在整个语库中出现的次数。</a:t>
                </a:r>
                <a:endParaRPr lang="en-US" altLang="zh-CN" sz="1200" dirty="0">
                  <a:latin typeface="Times New Roman" panose="02020603050405020304" pitchFamily="18" charset="0"/>
                  <a:ea typeface="+mn-ea"/>
                  <a:cs typeface="+mn-ea"/>
                </a:endParaRPr>
              </a:p>
              <a:p>
                <a:pPr indent="0" fontAlgn="auto">
                  <a:lnSpc>
                    <a:spcPct val="150000"/>
                  </a:lnSpc>
                  <a:buFont typeface="Arial" panose="020B0604020202020204" pitchFamily="34" charset="0"/>
                  <a:buNone/>
                </a:pPr>
                <a:r>
                  <a:rPr lang="en-US" altLang="zh-CN" sz="1200" dirty="0" err="1">
                    <a:latin typeface="Times New Roman" panose="02020603050405020304" pitchFamily="18" charset="0"/>
                    <a:ea typeface="+mn-ea"/>
                    <a:cs typeface="+mn-ea"/>
                  </a:rPr>
                  <a:t>AvgEntityCount</a:t>
                </a:r>
                <a:r>
                  <a:rPr lang="zh-CN" altLang="en-US" sz="1200" dirty="0">
                    <a:latin typeface="Times New Roman" panose="02020603050405020304" pitchFamily="18" charset="0"/>
                    <a:ea typeface="+mn-ea"/>
                    <a:cs typeface="+mn-ea"/>
                  </a:rPr>
                  <a:t>（平均实体数量）：每个响应包含的平均实体数。值越高表明每个响应涉及更多实体，意味着语义密度更大。</a:t>
                </a:r>
              </a:p>
              <a:p>
                <a:pPr indent="0" fontAlgn="auto">
                  <a:lnSpc>
                    <a:spcPct val="150000"/>
                  </a:lnSpc>
                  <a:buFont typeface="Arial" panose="020B0604020202020204" pitchFamily="34" charset="0"/>
                  <a:buNone/>
                </a:pPr>
                <a:r>
                  <a:rPr lang="en-US" altLang="zh-CN" sz="1200" dirty="0" err="1">
                    <a:latin typeface="Times New Roman" panose="02020603050405020304" pitchFamily="18" charset="0"/>
                    <a:ea typeface="+mn-ea"/>
                    <a:cs typeface="+mn-ea"/>
                  </a:rPr>
                  <a:t>AvgEntityRarity</a:t>
                </a:r>
                <a:r>
                  <a:rPr lang="zh-CN" altLang="en-US" sz="1200" dirty="0">
                    <a:latin typeface="Times New Roman" panose="02020603050405020304" pitchFamily="18" charset="0"/>
                    <a:ea typeface="+mn-ea"/>
                    <a:cs typeface="+mn-ea"/>
                  </a:rPr>
                  <a:t>（平均实体稀缺性）：每个响应中实体的平均语料库频率，反映它们在数据集中的稀缺程度。值越低表明存在更稀有、长尾的实体。（实体在语料库中出现的少，说明这个数据库实体种类很多，则</a:t>
                </a:r>
                <a:r>
                  <a:rPr lang="en-US" altLang="zh-CN" sz="1200" dirty="0">
                    <a:latin typeface="Times New Roman" panose="02020603050405020304" pitchFamily="18" charset="0"/>
                    <a:ea typeface="+mn-ea"/>
                    <a:cs typeface="+mn-ea"/>
                  </a:rPr>
                  <a:t>count(e)</a:t>
                </a:r>
                <a:r>
                  <a:rPr lang="zh-CN" altLang="en-US" sz="1200" dirty="0">
                    <a:latin typeface="Times New Roman" panose="02020603050405020304" pitchFamily="18" charset="0"/>
                    <a:ea typeface="+mn-ea"/>
                    <a:cs typeface="+mn-ea"/>
                  </a:rPr>
                  <a:t>就越低）</a:t>
                </a:r>
              </a:p>
              <a:p>
                <a:pPr indent="0" fontAlgn="auto">
                  <a:lnSpc>
                    <a:spcPct val="150000"/>
                  </a:lnSpc>
                  <a:buFont typeface="Arial" panose="020B0604020202020204" pitchFamily="34" charset="0"/>
                  <a:buNone/>
                </a:pPr>
                <a:r>
                  <a:rPr lang="en-US" altLang="zh-CN" sz="1200" dirty="0" err="1">
                    <a:latin typeface="Times New Roman" panose="02020603050405020304" pitchFamily="18" charset="0"/>
                    <a:ea typeface="+mn-ea"/>
                    <a:cs typeface="+mn-ea"/>
                  </a:rPr>
                  <a:t>RarityScore</a:t>
                </a:r>
                <a:r>
                  <a:rPr lang="zh-CN" altLang="en-US" sz="1200" dirty="0">
                    <a:latin typeface="Times New Roman" panose="02020603050405020304" pitchFamily="18" charset="0"/>
                    <a:ea typeface="+mn-ea"/>
                    <a:cs typeface="+mn-ea"/>
                  </a:rPr>
                  <a:t>（稀缺性分数）：定义为实体丰富度与实体频率之比。分数越高表示响应包含更多稀有实体，暗示任务难度更大且幻觉可能性更高。为确保跨不同规模数据集的鲁棒性，该分数通过对数惩罚进行归一化。（例如实体数目很多，但都只出现一次的话，则</a:t>
                </a:r>
                <a:r>
                  <a:rPr lang="en-US" altLang="zh-CN" sz="1200" dirty="0" err="1">
                    <a:latin typeface="Times New Roman" panose="02020603050405020304" pitchFamily="18" charset="0"/>
                    <a:ea typeface="+mn-ea"/>
                    <a:cs typeface="+mn-ea"/>
                  </a:rPr>
                  <a:t>RarityScore</a:t>
                </a:r>
                <a:r>
                  <a:rPr lang="zh-CN" altLang="en-US" sz="1200" dirty="0">
                    <a:latin typeface="Times New Roman" panose="02020603050405020304" pitchFamily="18" charset="0"/>
                    <a:ea typeface="+mn-ea"/>
                    <a:cs typeface="+mn-ea"/>
                  </a:rPr>
                  <a:t>分数会很高。）</a:t>
                </a:r>
                <a:endParaRPr lang="en-US" altLang="zh-CN" sz="1200" dirty="0">
                  <a:latin typeface="Times New Roman" panose="02020603050405020304" pitchFamily="18" charset="0"/>
                  <a:ea typeface="+mn-ea"/>
                  <a:cs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latin typeface="Times New Roman" panose="02020603050405020304" pitchFamily="18" charset="0"/>
                  <a:ea typeface="+mn-ea"/>
                  <a:cs typeface="+mn-ea"/>
                </a:endParaRPr>
              </a:p>
              <a:p>
                <a:endParaRPr lang="zh-CN" altLang="en-US" dirty="0"/>
              </a:p>
            </p:txBody>
          </p:sp>
        </mc:Fallback>
      </mc:AlternateContent>
      <p:sp>
        <p:nvSpPr>
          <p:cNvPr id="4" name="灯片编号占位符 3">
            <a:extLst>
              <a:ext uri="{FF2B5EF4-FFF2-40B4-BE49-F238E27FC236}">
                <a16:creationId xmlns:a16="http://schemas.microsoft.com/office/drawing/2014/main" id="{8E763460-80A9-2635-5871-5DFD7C9CA522}"/>
              </a:ext>
            </a:extLst>
          </p:cNvPr>
          <p:cNvSpPr>
            <a:spLocks noGrp="1"/>
          </p:cNvSpPr>
          <p:nvPr>
            <p:ph type="sldNum" sz="quarter" idx="5"/>
          </p:nvPr>
        </p:nvSpPr>
        <p:spPr/>
        <p:txBody>
          <a:bodyPr/>
          <a:lstStyle/>
          <a:p>
            <a:fld id="{3FF2ADFF-6A68-4D4C-8DF4-C6AAACA87F83}" type="slidenum">
              <a:rPr lang="zh-CN" altLang="en-US" smtClean="0"/>
              <a:t>24</a:t>
            </a:fld>
            <a:endParaRPr lang="zh-CN" altLang="en-US"/>
          </a:p>
        </p:txBody>
      </p:sp>
    </p:spTree>
    <p:extLst>
      <p:ext uri="{BB962C8B-B14F-4D97-AF65-F5344CB8AC3E}">
        <p14:creationId xmlns:p14="http://schemas.microsoft.com/office/powerpoint/2010/main" val="398078259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8206AC-0118-4C88-63E7-C62731AF19D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94F8871-E811-534F-3C46-B3169FEBDE51}"/>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53D22AF5-37D2-9F52-DFA4-887CE9C0414E}"/>
                  </a:ext>
                </a:extLst>
              </p:cNvPr>
              <p:cNvSpPr>
                <a:spLocks noGrp="1"/>
              </p:cNvSpPr>
              <p:nvPr>
                <p:ph type="body" idx="1"/>
              </p:nvPr>
            </p:nvSpPr>
            <p:spPr/>
            <p:txBody>
              <a:bodyPr/>
              <a:lstStyle/>
              <a:p>
                <a:r>
                  <a:rPr lang="zh-CN" altLang="en-US" sz="1200" b="0" i="0" kern="1200" dirty="0">
                    <a:solidFill>
                      <a:schemeClr val="tx1"/>
                    </a:solidFill>
                    <a:effectLst/>
                    <a:latin typeface="+mn-lt"/>
                    <a:ea typeface="+mn-ea"/>
                    <a:cs typeface="+mn-cs"/>
                  </a:rPr>
                  <a:t>该公式的核心目标是，对于给定的任务指令</a:t>
                </a:r>
                <a:r>
                  <a:rPr lang="en-US" altLang="zh-CN" sz="1200" b="0" i="0" kern="1200" dirty="0">
                    <a:solidFill>
                      <a:schemeClr val="tx1"/>
                    </a:solidFill>
                    <a:effectLst/>
                    <a:latin typeface="+mn-lt"/>
                    <a:ea typeface="+mn-ea"/>
                    <a:cs typeface="+mn-cs"/>
                  </a:rPr>
                  <a:t>u</a:t>
                </a:r>
                <a:r>
                  <a:rPr lang="zh-CN" altLang="en-US" sz="1200" b="0" i="0" kern="1200" dirty="0">
                    <a:solidFill>
                      <a:schemeClr val="tx1"/>
                    </a:solidFill>
                    <a:effectLst/>
                    <a:latin typeface="+mn-lt"/>
                    <a:ea typeface="+mn-ea"/>
                    <a:cs typeface="+mn-cs"/>
                  </a:rPr>
                  <a:t>，最大化生成高质量元规划</a:t>
                </a:r>
                <a:r>
                  <a:rPr lang="en-US" altLang="zh-CN" sz="1200" b="0" i="0" kern="1200" dirty="0">
                    <a:solidFill>
                      <a:schemeClr val="tx1"/>
                    </a:solidFill>
                    <a:effectLst/>
                    <a:latin typeface="+mn-lt"/>
                    <a:ea typeface="+mn-ea"/>
                    <a:cs typeface="+mn-cs"/>
                  </a:rPr>
                  <a:t>pw​</a:t>
                </a:r>
                <a:r>
                  <a:rPr lang="zh-CN" altLang="en-US" sz="1200" b="0" i="0" kern="1200" dirty="0">
                    <a:solidFill>
                      <a:schemeClr val="tx1"/>
                    </a:solidFill>
                    <a:effectLst/>
                    <a:latin typeface="+mn-lt"/>
                    <a:ea typeface="+mn-ea"/>
                    <a:cs typeface="+mn-cs"/>
                  </a:rPr>
                  <a:t>的概率，同时最小化生成低质量元规划</a:t>
                </a:r>
                <a:r>
                  <a:rPr lang="en-US" altLang="zh-CN" sz="1200" b="0" i="0" kern="1200" dirty="0">
                    <a:solidFill>
                      <a:schemeClr val="tx1"/>
                    </a:solidFill>
                    <a:effectLst/>
                    <a:latin typeface="+mn-lt"/>
                    <a:ea typeface="+mn-ea"/>
                    <a:cs typeface="+mn-cs"/>
                  </a:rPr>
                  <a:t>pl​</a:t>
                </a:r>
                <a:r>
                  <a:rPr lang="zh-CN" altLang="en-US" sz="1200" b="0" i="0" kern="1200" dirty="0">
                    <a:solidFill>
                      <a:schemeClr val="tx1"/>
                    </a:solidFill>
                    <a:effectLst/>
                    <a:latin typeface="+mn-lt"/>
                    <a:ea typeface="+mn-ea"/>
                    <a:cs typeface="+mn-cs"/>
                  </a:rPr>
                  <a:t>的概率。通过构建偏好数据集并应用 </a:t>
                </a:r>
                <a:r>
                  <a:rPr lang="en-US" altLang="zh-CN" sz="1200" b="0" i="0" kern="1200" dirty="0">
                    <a:solidFill>
                      <a:schemeClr val="tx1"/>
                    </a:solidFill>
                    <a:effectLst/>
                    <a:latin typeface="+mn-lt"/>
                    <a:ea typeface="+mn-ea"/>
                    <a:cs typeface="+mn-cs"/>
                  </a:rPr>
                  <a:t>DPO </a:t>
                </a:r>
                <a:r>
                  <a:rPr lang="zh-CN" altLang="en-US" sz="1200" b="0" i="0" kern="1200" dirty="0">
                    <a:solidFill>
                      <a:schemeClr val="tx1"/>
                    </a:solidFill>
                    <a:effectLst/>
                    <a:latin typeface="+mn-lt"/>
                    <a:ea typeface="+mn-ea"/>
                    <a:cs typeface="+mn-cs"/>
                  </a:rPr>
                  <a:t>优化，元规划器生成高质量元规划的能力得到提升，从而能更好地指导智能体的规划过程。</a:t>
                </a:r>
                <a:endParaRPr lang="en-US" altLang="zh-CN" sz="1200" b="0" i="0" kern="1200" dirty="0">
                  <a:solidFill>
                    <a:schemeClr val="tx1"/>
                  </a:solidFill>
                  <a:effectLst/>
                  <a:latin typeface="+mn-lt"/>
                  <a:ea typeface="+mn-ea"/>
                  <a:cs typeface="+mn-cs"/>
                </a:endParaRPr>
              </a:p>
              <a:p>
                <a:r>
                  <a:rPr lang="zh-CN" altLang="en-US" dirty="0"/>
                  <a:t>对每个任务 𝑢，</a:t>
                </a:r>
                <a:r>
                  <a:rPr lang="en-US" altLang="zh-CN" dirty="0"/>
                  <a:t>meta planner </a:t>
                </a:r>
                <a:r>
                  <a:rPr lang="zh-CN" altLang="en-US" dirty="0"/>
                  <a:t>会采样出多个 </a:t>
                </a:r>
                <a:r>
                  <a:rPr lang="en-US" altLang="zh-CN" dirty="0"/>
                  <a:t>meta plan</a:t>
                </a:r>
                <a:r>
                  <a:rPr lang="zh-CN" altLang="en-US" dirty="0"/>
                  <a:t>。然后利用公式 </a:t>
                </a:r>
                <a:r>
                  <a:rPr lang="en-US" altLang="zh-CN" dirty="0"/>
                  <a:t>(6) </a:t>
                </a:r>
                <a:r>
                  <a:rPr lang="zh-CN" altLang="en-US" dirty="0"/>
                  <a:t>的质量分数 𝑄</a:t>
                </a:r>
                <a:r>
                  <a:rPr lang="en-US" altLang="zh-CN" dirty="0"/>
                  <a:t>(</a:t>
                </a:r>
                <a:r>
                  <a:rPr lang="zh-CN" altLang="en-US" dirty="0"/>
                  <a:t>𝑝</a:t>
                </a:r>
                <a:r>
                  <a:rPr lang="en-US" altLang="zh-CN" dirty="0"/>
                  <a:t>)</a:t>
                </a:r>
                <a:r>
                  <a:rPr lang="zh-CN" altLang="en-US" dirty="0"/>
                  <a:t>，选出：最好的一个：𝑝𝑤     最差的一个：𝑝𝑙</a:t>
                </a:r>
                <a:r>
                  <a:rPr lang="en-US" altLang="zh-CN" dirty="0"/>
                  <a:t>    ​</a:t>
                </a:r>
                <a:r>
                  <a:rPr lang="zh-CN" altLang="en-US" dirty="0"/>
                  <a:t>把它们组成一个“优劣对”，用于偏好学习。</a:t>
                </a:r>
                <a:endParaRPr lang="en-US" altLang="zh-CN" dirty="0"/>
              </a:p>
              <a:p>
                <a:r>
                  <a:rPr lang="zh-CN" altLang="en-US" dirty="0"/>
                  <a:t>𝐿</a:t>
                </a:r>
                <a:r>
                  <a:rPr lang="en-US" altLang="zh-CN" dirty="0"/>
                  <a:t>DPO​</a:t>
                </a:r>
                <a:r>
                  <a:rPr lang="zh-CN" altLang="en-US" dirty="0"/>
                  <a:t>：</a:t>
                </a:r>
                <a:r>
                  <a:rPr lang="en-US" altLang="zh-CN" dirty="0"/>
                  <a:t>DPO </a:t>
                </a:r>
                <a:r>
                  <a:rPr lang="zh-CN" altLang="en-US" dirty="0"/>
                  <a:t>损失函数。    𝜋𝜃</a:t>
                </a:r>
                <a:r>
                  <a:rPr lang="en-US" altLang="zh-CN" dirty="0"/>
                  <a:t>​</a:t>
                </a:r>
                <a:r>
                  <a:rPr lang="zh-CN" altLang="en-US" dirty="0"/>
                  <a:t>：当前要优化的 </a:t>
                </a:r>
                <a:r>
                  <a:rPr lang="en-US" altLang="zh-CN" dirty="0"/>
                  <a:t>meta planner</a:t>
                </a:r>
                <a:r>
                  <a:rPr lang="zh-CN" altLang="en-US" dirty="0"/>
                  <a:t>。     𝜋</a:t>
                </a:r>
                <a:r>
                  <a:rPr lang="en-US" altLang="zh-CN" dirty="0"/>
                  <a:t>ref​</a:t>
                </a:r>
                <a:r>
                  <a:rPr lang="zh-CN" altLang="en-US" dirty="0"/>
                  <a:t>：参考模型，通常是 </a:t>
                </a:r>
                <a:r>
                  <a:rPr lang="en-US" altLang="zh-CN" dirty="0"/>
                  <a:t>SFT </a:t>
                </a:r>
                <a:r>
                  <a:rPr lang="zh-CN" altLang="en-US" dirty="0"/>
                  <a:t>初始化后的模型，用来限制策略漂移。     𝑢：任务指令。     𝑝𝑤</a:t>
                </a:r>
                <a:r>
                  <a:rPr lang="en-US" altLang="zh-CN" dirty="0"/>
                  <a:t>​</a:t>
                </a:r>
                <a:r>
                  <a:rPr lang="zh-CN" altLang="en-US" dirty="0"/>
                  <a:t>：优选的 </a:t>
                </a:r>
                <a:r>
                  <a:rPr lang="en-US" altLang="zh-CN" dirty="0"/>
                  <a:t>meta plan</a:t>
                </a:r>
                <a:r>
                  <a:rPr lang="zh-CN" altLang="en-US" dirty="0"/>
                  <a:t>。     𝑝𝑙</a:t>
                </a:r>
                <a:r>
                  <a:rPr lang="en-US" altLang="zh-CN" dirty="0"/>
                  <a:t>​</a:t>
                </a:r>
                <a:r>
                  <a:rPr lang="zh-CN" altLang="en-US" dirty="0"/>
                  <a:t>：劣选的 </a:t>
                </a:r>
                <a:r>
                  <a:rPr lang="en-US" altLang="zh-CN" dirty="0"/>
                  <a:t>meta plan</a:t>
                </a:r>
                <a:r>
                  <a:rPr lang="zh-CN" altLang="en-US" dirty="0"/>
                  <a:t>。      𝐷𝑐：偏好数据集。   𝛽：温度</a:t>
                </a:r>
                <a:r>
                  <a:rPr lang="en-US" altLang="zh-CN" dirty="0"/>
                  <a:t>/</a:t>
                </a:r>
                <a:r>
                  <a:rPr lang="zh-CN" altLang="en-US" dirty="0"/>
                  <a:t>缩放系数，控制偏好学习强度。    𝜎</a:t>
                </a:r>
                <a:r>
                  <a:rPr lang="en-US" altLang="zh-CN" dirty="0"/>
                  <a:t>(⋅) </a:t>
                </a:r>
                <a:r>
                  <a:rPr lang="zh-CN" altLang="en-US" dirty="0"/>
                  <a:t>：</a:t>
                </a:r>
                <a:r>
                  <a:rPr lang="en-US" altLang="zh-CN" dirty="0"/>
                  <a:t>sigmoid </a:t>
                </a:r>
                <a:r>
                  <a:rPr lang="zh-CN" altLang="en-US" dirty="0"/>
                  <a:t>函数。</a:t>
                </a:r>
                <a:r>
                  <a:rPr lang="en-US" altLang="zh-CN" dirty="0" err="1"/>
                  <a:t>log⁡log</a:t>
                </a:r>
                <a:r>
                  <a:rPr lang="zh-CN" altLang="en-US" dirty="0"/>
                  <a:t>：对数函数。</a:t>
                </a:r>
                <a:endParaRPr lang="en-US" altLang="zh-CN"/>
              </a:p>
              <a:p>
                <a:endParaRPr lang="zh-CN" altLang="en-US" dirty="0"/>
              </a:p>
            </p:txBody>
          </p:sp>
        </mc:Choice>
        <mc:Fallback xmlns="">
          <p:sp>
            <p:nvSpPr>
              <p:cNvPr id="3" name="备注占位符 2">
                <a:extLst>
                  <a:ext uri="{FF2B5EF4-FFF2-40B4-BE49-F238E27FC236}">
                    <a16:creationId xmlns:a16="http://schemas.microsoft.com/office/drawing/2014/main" id="{25FD2B7B-F78E-6A4E-6910-90FD46BB69D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latin typeface="Times New Roman" panose="02020603050405020304" pitchFamily="18" charset="0"/>
                    <a:ea typeface="+mn-ea"/>
                    <a:cs typeface="+mn-ea"/>
                  </a:rPr>
                  <a:t>N</a:t>
                </a:r>
                <a:r>
                  <a:rPr lang="zh-CN" altLang="en-US" sz="1200" dirty="0">
                    <a:latin typeface="Times New Roman" panose="02020603050405020304" pitchFamily="18" charset="0"/>
                    <a:ea typeface="+mn-ea"/>
                    <a:cs typeface="+mn-ea"/>
                  </a:rPr>
                  <a:t>为数据集中数据总数，</a:t>
                </a:r>
                <a:r>
                  <a:rPr lang="en-US" altLang="zh-CN" sz="1200" i="0">
                    <a:latin typeface="Cambria Math" panose="02040503050406030204" pitchFamily="18" charset="0"/>
                    <a:ea typeface="+mn-ea"/>
                    <a:cs typeface="+mn-ea"/>
                  </a:rPr>
                  <a:t>|ner_</a:t>
                </a:r>
                <a:r>
                  <a:rPr lang="en-US" altLang="zh-CN" sz="1200" b="0" i="0">
                    <a:latin typeface="Cambria Math" panose="02040503050406030204" pitchFamily="18" charset="0"/>
                    <a:ea typeface="+mn-ea"/>
                    <a:cs typeface="+mn-ea"/>
                  </a:rPr>
                  <a:t>𝑖 |</a:t>
                </a:r>
                <a:r>
                  <a:rPr lang="zh-CN" altLang="en-US" sz="1200" dirty="0">
                    <a:latin typeface="Times New Roman" panose="02020603050405020304" pitchFamily="18" charset="0"/>
                    <a:ea typeface="+mn-ea"/>
                    <a:cs typeface="+mn-ea"/>
                  </a:rPr>
                  <a:t>为第</a:t>
                </a:r>
                <a:r>
                  <a:rPr lang="en-US" altLang="zh-CN" sz="1200" dirty="0" err="1">
                    <a:latin typeface="Times New Roman" panose="02020603050405020304" pitchFamily="18" charset="0"/>
                    <a:ea typeface="+mn-ea"/>
                    <a:cs typeface="+mn-ea"/>
                  </a:rPr>
                  <a:t>i</a:t>
                </a:r>
                <a:r>
                  <a:rPr lang="zh-CN" altLang="en-US" sz="1200" dirty="0">
                    <a:latin typeface="Times New Roman" panose="02020603050405020304" pitchFamily="18" charset="0"/>
                    <a:ea typeface="+mn-ea"/>
                    <a:cs typeface="+mn-ea"/>
                  </a:rPr>
                  <a:t>个响应中提取的实体数量，</a:t>
                </a:r>
                <a:r>
                  <a:rPr lang="en-US" altLang="zh-CN" sz="1200" i="0" dirty="0">
                    <a:latin typeface="Cambria Math" panose="02040503050406030204" pitchFamily="18" charset="0"/>
                    <a:ea typeface="+mn-ea"/>
                    <a:cs typeface="+mn-ea"/>
                  </a:rPr>
                  <a:t>count</a:t>
                </a:r>
                <a:r>
                  <a:rPr lang="en-US" altLang="zh-CN" sz="1200" dirty="0">
                    <a:latin typeface="Times New Roman" panose="02020603050405020304" pitchFamily="18" charset="0"/>
                    <a:ea typeface="+mn-ea"/>
                    <a:cs typeface="+mn-ea"/>
                  </a:rPr>
                  <a:t>(e)</a:t>
                </a:r>
                <a:r>
                  <a:rPr lang="zh-CN" altLang="en-US" sz="1200" dirty="0">
                    <a:latin typeface="Times New Roman" panose="02020603050405020304" pitchFamily="18" charset="0"/>
                    <a:ea typeface="+mn-ea"/>
                    <a:cs typeface="+mn-ea"/>
                  </a:rPr>
                  <a:t>表示实体</a:t>
                </a:r>
                <a:r>
                  <a:rPr lang="en-US" altLang="zh-CN" sz="1200" dirty="0">
                    <a:latin typeface="Times New Roman" panose="02020603050405020304" pitchFamily="18" charset="0"/>
                    <a:ea typeface="+mn-ea"/>
                    <a:cs typeface="+mn-ea"/>
                  </a:rPr>
                  <a:t>e</a:t>
                </a:r>
                <a:r>
                  <a:rPr lang="zh-CN" altLang="en-US" sz="1200" dirty="0">
                    <a:latin typeface="Times New Roman" panose="02020603050405020304" pitchFamily="18" charset="0"/>
                    <a:ea typeface="+mn-ea"/>
                    <a:cs typeface="+mn-ea"/>
                  </a:rPr>
                  <a:t>在整个语库中出现的次数。</a:t>
                </a:r>
                <a:endParaRPr lang="en-US" altLang="zh-CN" sz="1200" dirty="0">
                  <a:latin typeface="Times New Roman" panose="02020603050405020304" pitchFamily="18" charset="0"/>
                  <a:ea typeface="+mn-ea"/>
                  <a:cs typeface="+mn-ea"/>
                </a:endParaRPr>
              </a:p>
              <a:p>
                <a:pPr indent="0" fontAlgn="auto">
                  <a:lnSpc>
                    <a:spcPct val="150000"/>
                  </a:lnSpc>
                  <a:buFont typeface="Arial" panose="020B0604020202020204" pitchFamily="34" charset="0"/>
                  <a:buNone/>
                </a:pPr>
                <a:r>
                  <a:rPr lang="en-US" altLang="zh-CN" sz="1200" dirty="0" err="1">
                    <a:latin typeface="Times New Roman" panose="02020603050405020304" pitchFamily="18" charset="0"/>
                    <a:ea typeface="+mn-ea"/>
                    <a:cs typeface="+mn-ea"/>
                  </a:rPr>
                  <a:t>AvgEntityCount</a:t>
                </a:r>
                <a:r>
                  <a:rPr lang="zh-CN" altLang="en-US" sz="1200" dirty="0">
                    <a:latin typeface="Times New Roman" panose="02020603050405020304" pitchFamily="18" charset="0"/>
                    <a:ea typeface="+mn-ea"/>
                    <a:cs typeface="+mn-ea"/>
                  </a:rPr>
                  <a:t>（平均实体数量）：每个响应包含的平均实体数。值越高表明每个响应涉及更多实体，意味着语义密度更大。</a:t>
                </a:r>
              </a:p>
              <a:p>
                <a:pPr indent="0" fontAlgn="auto">
                  <a:lnSpc>
                    <a:spcPct val="150000"/>
                  </a:lnSpc>
                  <a:buFont typeface="Arial" panose="020B0604020202020204" pitchFamily="34" charset="0"/>
                  <a:buNone/>
                </a:pPr>
                <a:r>
                  <a:rPr lang="en-US" altLang="zh-CN" sz="1200" dirty="0" err="1">
                    <a:latin typeface="Times New Roman" panose="02020603050405020304" pitchFamily="18" charset="0"/>
                    <a:ea typeface="+mn-ea"/>
                    <a:cs typeface="+mn-ea"/>
                  </a:rPr>
                  <a:t>AvgEntityRarity</a:t>
                </a:r>
                <a:r>
                  <a:rPr lang="zh-CN" altLang="en-US" sz="1200" dirty="0">
                    <a:latin typeface="Times New Roman" panose="02020603050405020304" pitchFamily="18" charset="0"/>
                    <a:ea typeface="+mn-ea"/>
                    <a:cs typeface="+mn-ea"/>
                  </a:rPr>
                  <a:t>（平均实体稀缺性）：每个响应中实体的平均语料库频率，反映它们在数据集中的稀缺程度。值越低表明存在更稀有、长尾的实体。（实体在语料库中出现的少，说明这个数据库实体种类很多，则</a:t>
                </a:r>
                <a:r>
                  <a:rPr lang="en-US" altLang="zh-CN" sz="1200" dirty="0">
                    <a:latin typeface="Times New Roman" panose="02020603050405020304" pitchFamily="18" charset="0"/>
                    <a:ea typeface="+mn-ea"/>
                    <a:cs typeface="+mn-ea"/>
                  </a:rPr>
                  <a:t>count(e)</a:t>
                </a:r>
                <a:r>
                  <a:rPr lang="zh-CN" altLang="en-US" sz="1200" dirty="0">
                    <a:latin typeface="Times New Roman" panose="02020603050405020304" pitchFamily="18" charset="0"/>
                    <a:ea typeface="+mn-ea"/>
                    <a:cs typeface="+mn-ea"/>
                  </a:rPr>
                  <a:t>就越低）</a:t>
                </a:r>
              </a:p>
              <a:p>
                <a:pPr indent="0" fontAlgn="auto">
                  <a:lnSpc>
                    <a:spcPct val="150000"/>
                  </a:lnSpc>
                  <a:buFont typeface="Arial" panose="020B0604020202020204" pitchFamily="34" charset="0"/>
                  <a:buNone/>
                </a:pPr>
                <a:r>
                  <a:rPr lang="en-US" altLang="zh-CN" sz="1200" dirty="0" err="1">
                    <a:latin typeface="Times New Roman" panose="02020603050405020304" pitchFamily="18" charset="0"/>
                    <a:ea typeface="+mn-ea"/>
                    <a:cs typeface="+mn-ea"/>
                  </a:rPr>
                  <a:t>RarityScore</a:t>
                </a:r>
                <a:r>
                  <a:rPr lang="zh-CN" altLang="en-US" sz="1200" dirty="0">
                    <a:latin typeface="Times New Roman" panose="02020603050405020304" pitchFamily="18" charset="0"/>
                    <a:ea typeface="+mn-ea"/>
                    <a:cs typeface="+mn-ea"/>
                  </a:rPr>
                  <a:t>（稀缺性分数）：定义为实体丰富度与实体频率之比。分数越高表示响应包含更多稀有实体，暗示任务难度更大且幻觉可能性更高。为确保跨不同规模数据集的鲁棒性，该分数通过对数惩罚进行归一化。（例如实体数目很多，但都只出现一次的话，则</a:t>
                </a:r>
                <a:r>
                  <a:rPr lang="en-US" altLang="zh-CN" sz="1200" dirty="0" err="1">
                    <a:latin typeface="Times New Roman" panose="02020603050405020304" pitchFamily="18" charset="0"/>
                    <a:ea typeface="+mn-ea"/>
                    <a:cs typeface="+mn-ea"/>
                  </a:rPr>
                  <a:t>RarityScore</a:t>
                </a:r>
                <a:r>
                  <a:rPr lang="zh-CN" altLang="en-US" sz="1200" dirty="0">
                    <a:latin typeface="Times New Roman" panose="02020603050405020304" pitchFamily="18" charset="0"/>
                    <a:ea typeface="+mn-ea"/>
                    <a:cs typeface="+mn-ea"/>
                  </a:rPr>
                  <a:t>分数会很高。）</a:t>
                </a:r>
                <a:endParaRPr lang="en-US" altLang="zh-CN" sz="1200" dirty="0">
                  <a:latin typeface="Times New Roman" panose="02020603050405020304" pitchFamily="18" charset="0"/>
                  <a:ea typeface="+mn-ea"/>
                  <a:cs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latin typeface="Times New Roman" panose="02020603050405020304" pitchFamily="18" charset="0"/>
                  <a:ea typeface="+mn-ea"/>
                  <a:cs typeface="+mn-ea"/>
                </a:endParaRPr>
              </a:p>
              <a:p>
                <a:endParaRPr lang="zh-CN" altLang="en-US" dirty="0"/>
              </a:p>
            </p:txBody>
          </p:sp>
        </mc:Fallback>
      </mc:AlternateContent>
      <p:sp>
        <p:nvSpPr>
          <p:cNvPr id="4" name="灯片编号占位符 3">
            <a:extLst>
              <a:ext uri="{FF2B5EF4-FFF2-40B4-BE49-F238E27FC236}">
                <a16:creationId xmlns:a16="http://schemas.microsoft.com/office/drawing/2014/main" id="{7F17F0F4-23A9-B6CB-82E0-C170A7348E17}"/>
              </a:ext>
            </a:extLst>
          </p:cNvPr>
          <p:cNvSpPr>
            <a:spLocks noGrp="1"/>
          </p:cNvSpPr>
          <p:nvPr>
            <p:ph type="sldNum" sz="quarter" idx="5"/>
          </p:nvPr>
        </p:nvSpPr>
        <p:spPr/>
        <p:txBody>
          <a:bodyPr/>
          <a:lstStyle/>
          <a:p>
            <a:fld id="{3FF2ADFF-6A68-4D4C-8DF4-C6AAACA87F83}" type="slidenum">
              <a:rPr lang="zh-CN" altLang="en-US" smtClean="0"/>
              <a:t>25</a:t>
            </a:fld>
            <a:endParaRPr lang="zh-CN" altLang="en-US"/>
          </a:p>
        </p:txBody>
      </p:sp>
    </p:spTree>
    <p:extLst>
      <p:ext uri="{BB962C8B-B14F-4D97-AF65-F5344CB8AC3E}">
        <p14:creationId xmlns:p14="http://schemas.microsoft.com/office/powerpoint/2010/main" val="21481890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8BA2FB-ABA0-47E1-E881-08ECCF757A2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75CA5A2-11B5-CFFF-8969-B9AF7E1F7F5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6EB5E8F-E625-48ED-23A6-0DF397E9119C}"/>
              </a:ext>
            </a:extLst>
          </p:cNvPr>
          <p:cNvSpPr>
            <a:spLocks noGrp="1"/>
          </p:cNvSpPr>
          <p:nvPr>
            <p:ph type="body" idx="1"/>
          </p:nvPr>
        </p:nvSpPr>
        <p:spPr/>
        <p:txBody>
          <a:bodyPr/>
          <a:lstStyle/>
          <a:p>
            <a:r>
              <a:rPr lang="zh-CN" altLang="en-US" sz="1200" b="0" i="0" kern="1200" dirty="0">
                <a:solidFill>
                  <a:schemeClr val="tx1"/>
                </a:solidFill>
                <a:effectLst/>
                <a:latin typeface="+mn-lt"/>
                <a:ea typeface="+mn-ea"/>
                <a:cs typeface="+mn-cs"/>
              </a:rPr>
              <a:t>有监督微调阶段，批次大小设为 </a:t>
            </a:r>
            <a:r>
              <a:rPr lang="en-US" altLang="zh-CN" sz="1200" b="0" i="0" kern="1200" dirty="0">
                <a:solidFill>
                  <a:schemeClr val="tx1"/>
                </a:solidFill>
                <a:effectLst/>
                <a:latin typeface="+mn-lt"/>
                <a:ea typeface="+mn-ea"/>
                <a:cs typeface="+mn-cs"/>
              </a:rPr>
              <a:t>32</a:t>
            </a:r>
            <a:r>
              <a:rPr lang="zh-CN" altLang="en-US" sz="1200" b="0" i="0" kern="1200" dirty="0">
                <a:solidFill>
                  <a:schemeClr val="tx1"/>
                </a:solidFill>
                <a:effectLst/>
                <a:latin typeface="+mn-lt"/>
                <a:ea typeface="+mn-ea"/>
                <a:cs typeface="+mn-cs"/>
              </a:rPr>
              <a:t>，学习率为 </a:t>
            </a:r>
            <a:r>
              <a:rPr lang="en-US" altLang="zh-CN" sz="1200" b="0" i="0" kern="1200" dirty="0">
                <a:solidFill>
                  <a:schemeClr val="tx1"/>
                </a:solidFill>
                <a:effectLst/>
                <a:latin typeface="+mn-lt"/>
                <a:ea typeface="+mn-ea"/>
                <a:cs typeface="+mn-cs"/>
              </a:rPr>
              <a:t>1e-5</a:t>
            </a:r>
            <a:r>
              <a:rPr lang="zh-CN" altLang="en-US" sz="1200" b="0" i="0" kern="1200" dirty="0">
                <a:solidFill>
                  <a:schemeClr val="tx1"/>
                </a:solidFill>
                <a:effectLst/>
                <a:latin typeface="+mn-lt"/>
                <a:ea typeface="+mn-ea"/>
                <a:cs typeface="+mn-cs"/>
              </a:rPr>
              <a:t>，采用余弦调度器，训练 </a:t>
            </a:r>
            <a:r>
              <a:rPr lang="en-US" altLang="zh-CN" sz="1200" b="0" i="0" kern="1200" dirty="0">
                <a:solidFill>
                  <a:schemeClr val="tx1"/>
                </a:solidFill>
                <a:effectLst/>
                <a:latin typeface="+mn-lt"/>
                <a:ea typeface="+mn-ea"/>
                <a:cs typeface="+mn-cs"/>
              </a:rPr>
              <a:t>3 </a:t>
            </a:r>
            <a:r>
              <a:rPr lang="zh-CN" altLang="en-US" sz="1200" b="0" i="0" kern="1200" dirty="0">
                <a:solidFill>
                  <a:schemeClr val="tx1"/>
                </a:solidFill>
                <a:effectLst/>
                <a:latin typeface="+mn-lt"/>
                <a:ea typeface="+mn-ea"/>
                <a:cs typeface="+mn-cs"/>
              </a:rPr>
              <a:t>个轮次。直接偏好优化训练阶段，配置元规划器为每个任务生成 </a:t>
            </a:r>
            <a:r>
              <a:rPr lang="en-US" altLang="zh-CN" sz="1200" b="0" i="0" kern="1200" dirty="0">
                <a:solidFill>
                  <a:schemeClr val="tx1"/>
                </a:solidFill>
                <a:effectLst/>
                <a:latin typeface="+mn-lt"/>
                <a:ea typeface="+mn-ea"/>
                <a:cs typeface="+mn-cs"/>
              </a:rPr>
              <a:t>5 </a:t>
            </a:r>
            <a:r>
              <a:rPr lang="zh-CN" altLang="en-US" sz="1200" b="0" i="0" kern="1200" dirty="0">
                <a:solidFill>
                  <a:schemeClr val="tx1"/>
                </a:solidFill>
                <a:effectLst/>
                <a:latin typeface="+mn-lt"/>
                <a:ea typeface="+mn-ea"/>
                <a:cs typeface="+mn-cs"/>
              </a:rPr>
              <a:t>个元规划，生成温度设为 </a:t>
            </a:r>
            <a:r>
              <a:rPr lang="en-US" altLang="zh-CN" sz="1200" b="0" i="0" kern="1200" dirty="0">
                <a:solidFill>
                  <a:schemeClr val="tx1"/>
                </a:solidFill>
                <a:effectLst/>
                <a:latin typeface="+mn-lt"/>
                <a:ea typeface="+mn-ea"/>
                <a:cs typeface="+mn-cs"/>
              </a:rPr>
              <a:t>0.7</a:t>
            </a:r>
            <a:r>
              <a:rPr lang="zh-CN" altLang="en-US" sz="1200" b="0" i="0" kern="1200" dirty="0">
                <a:solidFill>
                  <a:schemeClr val="tx1"/>
                </a:solidFill>
                <a:effectLst/>
                <a:latin typeface="+mn-lt"/>
                <a:ea typeface="+mn-ea"/>
                <a:cs typeface="+mn-cs"/>
              </a:rPr>
              <a:t>；评估元规划质量时，设置智能体为每个元规划生成 </a:t>
            </a:r>
            <a:r>
              <a:rPr lang="en-US" altLang="zh-CN" sz="1200" b="0" i="0" kern="1200" dirty="0">
                <a:solidFill>
                  <a:schemeClr val="tx1"/>
                </a:solidFill>
                <a:effectLst/>
                <a:latin typeface="+mn-lt"/>
                <a:ea typeface="+mn-ea"/>
                <a:cs typeface="+mn-cs"/>
              </a:rPr>
              <a:t>5 </a:t>
            </a:r>
            <a:r>
              <a:rPr lang="zh-CN" altLang="en-US" sz="1200" b="0" i="0" kern="1200" dirty="0">
                <a:solidFill>
                  <a:schemeClr val="tx1"/>
                </a:solidFill>
                <a:effectLst/>
                <a:latin typeface="+mn-lt"/>
                <a:ea typeface="+mn-ea"/>
                <a:cs typeface="+mn-cs"/>
              </a:rPr>
              <a:t>条任务完成轨迹，生成温度同样为 </a:t>
            </a:r>
            <a:r>
              <a:rPr lang="en-US" altLang="zh-CN" sz="1200" b="0" i="0" kern="1200" dirty="0">
                <a:solidFill>
                  <a:schemeClr val="tx1"/>
                </a:solidFill>
                <a:effectLst/>
                <a:latin typeface="+mn-lt"/>
                <a:ea typeface="+mn-ea"/>
                <a:cs typeface="+mn-cs"/>
              </a:rPr>
              <a:t>0.7</a:t>
            </a:r>
            <a:r>
              <a:rPr lang="zh-CN" altLang="en-US" sz="1200" b="0" i="0" kern="1200" dirty="0">
                <a:solidFill>
                  <a:schemeClr val="tx1"/>
                </a:solidFill>
                <a:effectLst/>
                <a:latin typeface="+mn-lt"/>
                <a:ea typeface="+mn-ea"/>
                <a:cs typeface="+mn-cs"/>
              </a:rPr>
              <a:t>。</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采用 </a:t>
            </a:r>
            <a:r>
              <a:rPr lang="en-US" altLang="zh-CN" sz="1200" b="0" i="0" kern="1200" dirty="0" err="1">
                <a:solidFill>
                  <a:schemeClr val="tx1"/>
                </a:solidFill>
                <a:effectLst/>
                <a:latin typeface="+mn-lt"/>
                <a:ea typeface="+mn-ea"/>
                <a:cs typeface="+mn-cs"/>
              </a:rPr>
              <a:t>vLLM</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Kwon </a:t>
            </a:r>
            <a:r>
              <a:rPr lang="zh-CN" altLang="en-US" sz="1200" b="0" i="0" kern="1200" dirty="0">
                <a:solidFill>
                  <a:schemeClr val="tx1"/>
                </a:solidFill>
                <a:effectLst/>
                <a:latin typeface="+mn-lt"/>
                <a:ea typeface="+mn-ea"/>
                <a:cs typeface="+mn-cs"/>
              </a:rPr>
              <a:t>等人，</a:t>
            </a:r>
            <a:r>
              <a:rPr lang="en-US" altLang="zh-CN" sz="1200" b="0" i="0" kern="1200" dirty="0">
                <a:solidFill>
                  <a:schemeClr val="tx1"/>
                </a:solidFill>
                <a:effectLst/>
                <a:latin typeface="+mn-lt"/>
                <a:ea typeface="+mn-ea"/>
                <a:cs typeface="+mn-cs"/>
              </a:rPr>
              <a:t>2023</a:t>
            </a:r>
            <a:r>
              <a:rPr lang="zh-CN" altLang="en-US" sz="1200" b="0" i="0" kern="1200" dirty="0">
                <a:solidFill>
                  <a:schemeClr val="tx1"/>
                </a:solidFill>
                <a:effectLst/>
                <a:latin typeface="+mn-lt"/>
                <a:ea typeface="+mn-ea"/>
                <a:cs typeface="+mn-cs"/>
              </a:rPr>
              <a:t>）加速生成过程。</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直接偏好优化训练的批次大小为 </a:t>
            </a:r>
            <a:r>
              <a:rPr lang="en-US" altLang="zh-CN" sz="1200" b="0" i="0" kern="1200" dirty="0">
                <a:solidFill>
                  <a:schemeClr val="tx1"/>
                </a:solidFill>
                <a:effectLst/>
                <a:latin typeface="+mn-lt"/>
                <a:ea typeface="+mn-ea"/>
                <a:cs typeface="+mn-cs"/>
              </a:rPr>
              <a:t>32</a:t>
            </a:r>
            <a:r>
              <a:rPr lang="zh-CN" altLang="en-US" sz="1200" b="0" i="0" kern="1200" dirty="0">
                <a:solidFill>
                  <a:schemeClr val="tx1"/>
                </a:solidFill>
                <a:effectLst/>
                <a:latin typeface="+mn-lt"/>
                <a:ea typeface="+mn-ea"/>
                <a:cs typeface="+mn-cs"/>
              </a:rPr>
              <a:t>，学习率为 </a:t>
            </a:r>
            <a:r>
              <a:rPr lang="en-US" altLang="zh-CN" sz="1200" b="0" i="0" kern="1200" dirty="0">
                <a:solidFill>
                  <a:schemeClr val="tx1"/>
                </a:solidFill>
                <a:effectLst/>
                <a:latin typeface="+mn-lt"/>
                <a:ea typeface="+mn-ea"/>
                <a:cs typeface="+mn-cs"/>
              </a:rPr>
              <a:t>1e-5</a:t>
            </a:r>
            <a:r>
              <a:rPr lang="zh-CN" altLang="en-US" sz="1200" b="0" i="0" kern="1200" dirty="0">
                <a:solidFill>
                  <a:schemeClr val="tx1"/>
                </a:solidFill>
                <a:effectLst/>
                <a:latin typeface="+mn-lt"/>
                <a:ea typeface="+mn-ea"/>
                <a:cs typeface="+mn-cs"/>
              </a:rPr>
              <a:t>，预热阶段占比 </a:t>
            </a:r>
            <a:r>
              <a:rPr lang="en-US" altLang="zh-CN" sz="1200" b="0" i="0" kern="1200" dirty="0">
                <a:solidFill>
                  <a:schemeClr val="tx1"/>
                </a:solidFill>
                <a:effectLst/>
                <a:latin typeface="+mn-lt"/>
                <a:ea typeface="+mn-ea"/>
                <a:cs typeface="+mn-cs"/>
              </a:rPr>
              <a:t>3%</a:t>
            </a:r>
            <a:r>
              <a:rPr lang="zh-CN" altLang="en-US" sz="1200" b="0" i="0" kern="1200" dirty="0">
                <a:solidFill>
                  <a:schemeClr val="tx1"/>
                </a:solidFill>
                <a:effectLst/>
                <a:latin typeface="+mn-lt"/>
                <a:ea typeface="+mn-ea"/>
                <a:cs typeface="+mn-cs"/>
              </a:rPr>
              <a:t>，使用余弦调度器；损失函数中的 </a:t>
            </a:r>
            <a:r>
              <a:rPr lang="en-US" altLang="zh-CN" sz="1200" b="0" i="0" kern="1200" dirty="0">
                <a:solidFill>
                  <a:schemeClr val="tx1"/>
                </a:solidFill>
                <a:effectLst/>
                <a:latin typeface="+mn-lt"/>
                <a:ea typeface="+mn-ea"/>
                <a:cs typeface="+mn-cs"/>
              </a:rPr>
              <a:t>β </a:t>
            </a:r>
            <a:r>
              <a:rPr lang="zh-CN" altLang="en-US" sz="1200" b="0" i="0" kern="1200" dirty="0">
                <a:solidFill>
                  <a:schemeClr val="tx1"/>
                </a:solidFill>
                <a:effectLst/>
                <a:latin typeface="+mn-lt"/>
                <a:ea typeface="+mn-ea"/>
                <a:cs typeface="+mn-cs"/>
              </a:rPr>
              <a:t>参数在三个数据集上均设为 </a:t>
            </a:r>
            <a:r>
              <a:rPr lang="en-US" altLang="zh-CN" sz="1200" b="0" i="0" kern="1200" dirty="0">
                <a:solidFill>
                  <a:schemeClr val="tx1"/>
                </a:solidFill>
                <a:effectLst/>
                <a:latin typeface="+mn-lt"/>
                <a:ea typeface="+mn-ea"/>
                <a:cs typeface="+mn-cs"/>
              </a:rPr>
              <a:t>0.1</a:t>
            </a:r>
            <a:r>
              <a:rPr lang="zh-CN" altLang="en-US" sz="1200" b="0" i="0" kern="1200" dirty="0">
                <a:solidFill>
                  <a:schemeClr val="tx1"/>
                </a:solidFill>
                <a:effectLst/>
                <a:latin typeface="+mn-lt"/>
                <a:ea typeface="+mn-ea"/>
                <a:cs typeface="+mn-cs"/>
              </a:rPr>
              <a:t>，训练 </a:t>
            </a:r>
            <a:r>
              <a:rPr lang="en-US" altLang="zh-CN" sz="1200" b="0" i="0" kern="1200" dirty="0">
                <a:solidFill>
                  <a:schemeClr val="tx1"/>
                </a:solidFill>
                <a:effectLst/>
                <a:latin typeface="+mn-lt"/>
                <a:ea typeface="+mn-ea"/>
                <a:cs typeface="+mn-cs"/>
              </a:rPr>
              <a:t>3 </a:t>
            </a:r>
            <a:r>
              <a:rPr lang="zh-CN" altLang="en-US" sz="1200" b="0" i="0" kern="1200" dirty="0">
                <a:solidFill>
                  <a:schemeClr val="tx1"/>
                </a:solidFill>
                <a:effectLst/>
                <a:latin typeface="+mn-lt"/>
                <a:ea typeface="+mn-ea"/>
                <a:cs typeface="+mn-cs"/>
              </a:rPr>
              <a:t>个轮次。</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所有训练过程均基于 </a:t>
            </a:r>
            <a:r>
              <a:rPr lang="en-US" altLang="zh-CN" sz="1200" b="0" i="0" kern="1200" dirty="0">
                <a:solidFill>
                  <a:schemeClr val="tx1"/>
                </a:solidFill>
                <a:effectLst/>
                <a:latin typeface="+mn-lt"/>
                <a:ea typeface="+mn-ea"/>
                <a:cs typeface="+mn-cs"/>
              </a:rPr>
              <a:t>Llama-Factory</a:t>
            </a:r>
            <a:r>
              <a:rPr lang="zh-CN" altLang="en-US" sz="1200" b="0" i="0" kern="1200" dirty="0">
                <a:solidFill>
                  <a:schemeClr val="tx1"/>
                </a:solidFill>
                <a:effectLst/>
                <a:latin typeface="+mn-lt"/>
                <a:ea typeface="+mn-ea"/>
                <a:cs typeface="+mn-cs"/>
              </a:rPr>
              <a:t>（郑等人，</a:t>
            </a:r>
            <a:r>
              <a:rPr lang="en-US" altLang="zh-CN" sz="1200" b="0" i="0" kern="1200" dirty="0">
                <a:solidFill>
                  <a:schemeClr val="tx1"/>
                </a:solidFill>
                <a:effectLst/>
                <a:latin typeface="+mn-lt"/>
                <a:ea typeface="+mn-ea"/>
                <a:cs typeface="+mn-cs"/>
              </a:rPr>
              <a:t>2024</a:t>
            </a:r>
            <a:r>
              <a:rPr lang="zh-CN" altLang="en-US" sz="1200" b="0" i="0" kern="1200" dirty="0">
                <a:solidFill>
                  <a:schemeClr val="tx1"/>
                </a:solidFill>
                <a:effectLst/>
                <a:latin typeface="+mn-lt"/>
                <a:ea typeface="+mn-ea"/>
                <a:cs typeface="+mn-cs"/>
              </a:rPr>
              <a:t>）实现，并采用全参数微调，实验在 </a:t>
            </a:r>
            <a:r>
              <a:rPr lang="en-US" altLang="zh-CN" sz="1200" b="0" i="0" kern="1200" dirty="0">
                <a:solidFill>
                  <a:schemeClr val="tx1"/>
                </a:solidFill>
                <a:effectLst/>
                <a:latin typeface="+mn-lt"/>
                <a:ea typeface="+mn-ea"/>
                <a:cs typeface="+mn-cs"/>
              </a:rPr>
              <a:t>8 </a:t>
            </a:r>
            <a:r>
              <a:rPr lang="zh-CN" altLang="en-US" sz="1200" b="0" i="0" kern="1200" dirty="0">
                <a:solidFill>
                  <a:schemeClr val="tx1"/>
                </a:solidFill>
                <a:effectLst/>
                <a:latin typeface="+mn-lt"/>
                <a:ea typeface="+mn-ea"/>
                <a:cs typeface="+mn-cs"/>
              </a:rPr>
              <a:t>台 </a:t>
            </a:r>
            <a:r>
              <a:rPr lang="en-US" altLang="zh-CN" sz="1200" b="0" i="0" kern="1200" dirty="0">
                <a:solidFill>
                  <a:schemeClr val="tx1"/>
                </a:solidFill>
                <a:effectLst/>
                <a:latin typeface="+mn-lt"/>
                <a:ea typeface="+mn-ea"/>
                <a:cs typeface="+mn-cs"/>
              </a:rPr>
              <a:t>NVIDIA A100 80GB GPU </a:t>
            </a:r>
            <a:r>
              <a:rPr lang="zh-CN" altLang="en-US" sz="1200" b="0" i="0" kern="1200" dirty="0">
                <a:solidFill>
                  <a:schemeClr val="tx1"/>
                </a:solidFill>
                <a:effectLst/>
                <a:latin typeface="+mn-lt"/>
                <a:ea typeface="+mn-ea"/>
                <a:cs typeface="+mn-cs"/>
              </a:rPr>
              <a:t>上完成。</a:t>
            </a:r>
            <a:endParaRPr lang="zh-CN" altLang="en-US" dirty="0"/>
          </a:p>
        </p:txBody>
      </p:sp>
      <p:sp>
        <p:nvSpPr>
          <p:cNvPr id="4" name="灯片编号占位符 3">
            <a:extLst>
              <a:ext uri="{FF2B5EF4-FFF2-40B4-BE49-F238E27FC236}">
                <a16:creationId xmlns:a16="http://schemas.microsoft.com/office/drawing/2014/main" id="{76E50657-390B-6DF0-180A-F42463B43E8B}"/>
              </a:ext>
            </a:extLst>
          </p:cNvPr>
          <p:cNvSpPr>
            <a:spLocks noGrp="1"/>
          </p:cNvSpPr>
          <p:nvPr>
            <p:ph type="sldNum" sz="quarter" idx="5"/>
          </p:nvPr>
        </p:nvSpPr>
        <p:spPr/>
        <p:txBody>
          <a:bodyPr/>
          <a:lstStyle/>
          <a:p>
            <a:fld id="{3FF2ADFF-6A68-4D4C-8DF4-C6AAACA87F83}" type="slidenum">
              <a:rPr lang="zh-CN" altLang="en-US" smtClean="0"/>
              <a:t>26</a:t>
            </a:fld>
            <a:endParaRPr lang="zh-CN" altLang="en-US"/>
          </a:p>
        </p:txBody>
      </p:sp>
    </p:spTree>
    <p:extLst>
      <p:ext uri="{BB962C8B-B14F-4D97-AF65-F5344CB8AC3E}">
        <p14:creationId xmlns:p14="http://schemas.microsoft.com/office/powerpoint/2010/main" val="390316720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84A0EB-838A-D002-8AB9-1E089E8B463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EB34A18-9A0F-7AF1-5A39-E383118DF36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864F5F2-56AC-78E1-671C-DE233A525078}"/>
              </a:ext>
            </a:extLst>
          </p:cNvPr>
          <p:cNvSpPr>
            <a:spLocks noGrp="1"/>
          </p:cNvSpPr>
          <p:nvPr>
            <p:ph type="body" idx="1"/>
          </p:nvPr>
        </p:nvSpPr>
        <p:spPr/>
        <p:txBody>
          <a:bodyPr/>
          <a:lstStyle/>
          <a:p>
            <a:r>
              <a:rPr lang="en-US" altLang="zh-CN" dirty="0"/>
              <a:t>Seen</a:t>
            </a:r>
            <a:r>
              <a:rPr lang="zh-CN" altLang="en-US" dirty="0"/>
              <a:t>是已知场景：测试集中的任务场景与训练集中的场景相似，智能体或元规划器在训练阶段已经接触过类似的任务分布。</a:t>
            </a:r>
            <a:br>
              <a:rPr lang="en-US" altLang="zh-CN" dirty="0"/>
            </a:br>
            <a:r>
              <a:rPr lang="en-US" altLang="zh-CN" dirty="0"/>
              <a:t>Unseen</a:t>
            </a:r>
            <a:r>
              <a:rPr lang="zh-CN" altLang="en-US" dirty="0"/>
              <a:t>是未知场景：</a:t>
            </a:r>
            <a:r>
              <a:rPr lang="zh-CN" altLang="en-US" sz="1200" b="0" i="0" kern="1200" dirty="0">
                <a:solidFill>
                  <a:schemeClr val="tx1"/>
                </a:solidFill>
                <a:effectLst/>
                <a:latin typeface="+mn-lt"/>
                <a:ea typeface="+mn-ea"/>
                <a:cs typeface="+mn-cs"/>
              </a:rPr>
              <a:t>测试集中的任务场景是全新的，智能体或元规划器在训练阶段从未接触过。这部分数据专门用于评估模型在 ** 分布外（</a:t>
            </a:r>
            <a:r>
              <a:rPr lang="en-US" altLang="zh-CN" sz="1200" b="0" i="0" kern="1200" dirty="0">
                <a:solidFill>
                  <a:schemeClr val="tx1"/>
                </a:solidFill>
                <a:effectLst/>
                <a:latin typeface="+mn-lt"/>
                <a:ea typeface="+mn-ea"/>
                <a:cs typeface="+mn-cs"/>
              </a:rPr>
              <a:t>Out-of-Distribution</a:t>
            </a:r>
            <a:r>
              <a:rPr lang="zh-CN" altLang="en-US" sz="1200" b="0" i="0" kern="1200" dirty="0">
                <a:solidFill>
                  <a:schemeClr val="tx1"/>
                </a:solidFill>
                <a:effectLst/>
                <a:latin typeface="+mn-lt"/>
                <a:ea typeface="+mn-ea"/>
                <a:cs typeface="+mn-cs"/>
              </a:rPr>
              <a:t>）** 场景下的表现，是衡量其泛化能力的关键指标。</a:t>
            </a:r>
            <a:br>
              <a:rPr lang="en-US" altLang="zh-CN" sz="1200" b="0" i="0" kern="1200" dirty="0">
                <a:solidFill>
                  <a:schemeClr val="tx1"/>
                </a:solidFill>
                <a:effectLst/>
                <a:latin typeface="+mn-lt"/>
                <a:ea typeface="+mn-ea"/>
                <a:cs typeface="+mn-cs"/>
              </a:rPr>
            </a:br>
            <a:br>
              <a:rPr lang="en-US" altLang="zh-CN" sz="1200" b="0" i="0" kern="1200" dirty="0">
                <a:solidFill>
                  <a:schemeClr val="tx1"/>
                </a:solidFill>
                <a:effectLst/>
                <a:latin typeface="+mn-lt"/>
                <a:ea typeface="+mn-ea"/>
                <a:cs typeface="+mn-cs"/>
              </a:rPr>
            </a:br>
            <a:r>
              <a:rPr lang="en-US" altLang="zh-CN" sz="1200" b="0" i="0" kern="1200" dirty="0">
                <a:solidFill>
                  <a:schemeClr val="tx1"/>
                </a:solidFill>
                <a:effectLst/>
                <a:latin typeface="+mn-lt"/>
                <a:ea typeface="+mn-ea"/>
                <a:cs typeface="+mn-cs"/>
              </a:rPr>
              <a:t>SFT (Supervised Fine-Tuning)</a:t>
            </a:r>
            <a:r>
              <a:rPr lang="zh-CN" altLang="en-US" sz="1200" b="0" i="0" kern="1200" dirty="0">
                <a:solidFill>
                  <a:schemeClr val="tx1"/>
                </a:solidFill>
                <a:effectLst/>
                <a:latin typeface="+mn-lt"/>
                <a:ea typeface="+mn-ea"/>
                <a:cs typeface="+mn-cs"/>
              </a:rPr>
              <a:t>即有监督微调。使用专家轨迹对大语言模型进行有监督微调，以提升智能体的规划和执行能力。 </a:t>
            </a:r>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ETO (Exploration Trajectory Optimization)</a:t>
            </a:r>
            <a:r>
              <a:rPr lang="zh-CN" altLang="en-US" sz="1200" b="0" i="0" kern="1200" dirty="0">
                <a:solidFill>
                  <a:schemeClr val="tx1"/>
                </a:solidFill>
                <a:effectLst/>
                <a:latin typeface="+mn-lt"/>
                <a:ea typeface="+mn-ea"/>
                <a:cs typeface="+mn-cs"/>
              </a:rPr>
              <a:t>即探索轨迹优化。一种从失败轨迹中学习的方法，它通过自主探索环境，利用强化学习从失败经验中优化策略，从而提升智能体的任务求解能力。 </a:t>
            </a:r>
            <a:endParaRPr lang="en-US" altLang="zh-CN" sz="1200" b="0" i="0" kern="1200" dirty="0">
              <a:solidFill>
                <a:schemeClr val="tx1"/>
              </a:solidFill>
              <a:effectLst/>
              <a:latin typeface="+mn-lt"/>
              <a:ea typeface="+mn-ea"/>
              <a:cs typeface="+mn-cs"/>
            </a:endParaRPr>
          </a:p>
          <a:p>
            <a:r>
              <a:rPr lang="en-US" altLang="zh-CN" sz="1200" b="0" i="0" kern="1200" dirty="0" err="1">
                <a:solidFill>
                  <a:schemeClr val="tx1"/>
                </a:solidFill>
                <a:effectLst/>
                <a:latin typeface="+mn-lt"/>
                <a:ea typeface="+mn-ea"/>
                <a:cs typeface="+mn-cs"/>
              </a:rPr>
              <a:t>KnowAgent</a:t>
            </a:r>
            <a:r>
              <a:rPr lang="zh-CN" altLang="en-US" sz="1200" b="0" i="0" kern="1200" dirty="0">
                <a:solidFill>
                  <a:schemeClr val="tx1"/>
                </a:solidFill>
                <a:effectLst/>
                <a:latin typeface="+mn-lt"/>
                <a:ea typeface="+mn-ea"/>
                <a:cs typeface="+mn-cs"/>
              </a:rPr>
              <a:t>这是一种将显性知识指导融入智能体规划的方法（朱等人，</a:t>
            </a:r>
            <a:r>
              <a:rPr lang="en-US" altLang="zh-CN" sz="1200" b="0" i="0" kern="1200" dirty="0">
                <a:solidFill>
                  <a:schemeClr val="tx1"/>
                </a:solidFill>
                <a:effectLst/>
                <a:latin typeface="+mn-lt"/>
                <a:ea typeface="+mn-ea"/>
                <a:cs typeface="+mn-cs"/>
              </a:rPr>
              <a:t>2024</a:t>
            </a:r>
            <a:r>
              <a:rPr lang="zh-CN" altLang="en-US" sz="1200" b="0" i="0" kern="1200" dirty="0">
                <a:solidFill>
                  <a:schemeClr val="tx1"/>
                </a:solidFill>
                <a:effectLst/>
                <a:latin typeface="+mn-lt"/>
                <a:ea typeface="+mn-ea"/>
                <a:cs typeface="+mn-cs"/>
              </a:rPr>
              <a:t>）。它依赖人工构建的领域知识或任务流程来指导智能体，以解决规划幻觉问题，但需要对基础模型进行微调，且泛化能力有限。</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WKM (World Knowledge Model)</a:t>
            </a:r>
            <a:r>
              <a:rPr lang="zh-CN" altLang="en-US" sz="1200" b="0" i="0" kern="1200" dirty="0">
                <a:solidFill>
                  <a:schemeClr val="tx1"/>
                </a:solidFill>
                <a:effectLst/>
                <a:latin typeface="+mn-lt"/>
                <a:ea typeface="+mn-ea"/>
                <a:cs typeface="+mn-cs"/>
              </a:rPr>
              <a:t>即世界知识模型。另一种显性指导方法，它通过整合世界知识来辅助智能体规划。与 </a:t>
            </a:r>
            <a:r>
              <a:rPr lang="en-US" altLang="zh-CN" sz="1200" b="0" i="0" kern="1200" dirty="0" err="1">
                <a:solidFill>
                  <a:schemeClr val="tx1"/>
                </a:solidFill>
                <a:effectLst/>
                <a:latin typeface="+mn-lt"/>
                <a:ea typeface="+mn-ea"/>
                <a:cs typeface="+mn-cs"/>
              </a:rPr>
              <a:t>KnowAgent</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类似，它也需要对模型进行微调，因此与其他智能体框架不兼容。</a:t>
            </a:r>
            <a:endParaRPr lang="en-US" altLang="zh-CN" dirty="0"/>
          </a:p>
          <a:p>
            <a:endParaRPr lang="en-US" altLang="zh-CN" dirty="0"/>
          </a:p>
          <a:p>
            <a:r>
              <a:rPr lang="zh-CN" altLang="en-US" dirty="0"/>
              <a:t>其中基于 </a:t>
            </a:r>
            <a:r>
              <a:rPr lang="en-US" altLang="zh-CN" dirty="0"/>
              <a:t>Llama-3.1-8B-Instruct </a:t>
            </a:r>
            <a:r>
              <a:rPr lang="zh-CN" altLang="en-US" dirty="0"/>
              <a:t>的智能体平均性能提升最高达 </a:t>
            </a:r>
            <a:r>
              <a:rPr lang="en-US" altLang="zh-CN" dirty="0"/>
              <a:t>40.5%</a:t>
            </a:r>
            <a:r>
              <a:rPr lang="zh-CN" altLang="en-US" dirty="0"/>
              <a:t>。此外，该元规划器与其他智能体训练框架兼容，融合 </a:t>
            </a:r>
            <a:r>
              <a:rPr lang="en-US" altLang="zh-CN" dirty="0"/>
              <a:t>MPO </a:t>
            </a:r>
            <a:r>
              <a:rPr lang="zh-CN" altLang="en-US" dirty="0"/>
              <a:t>的 </a:t>
            </a:r>
            <a:r>
              <a:rPr lang="en-US" altLang="zh-CN" dirty="0"/>
              <a:t>Llama-3.1-8B-Instruct-ETO </a:t>
            </a:r>
            <a:r>
              <a:rPr lang="zh-CN" altLang="en-US" dirty="0"/>
              <a:t>模型的平均奖励比当前最优的显性指导方法 </a:t>
            </a:r>
            <a:r>
              <a:rPr lang="en-US" altLang="zh-CN" dirty="0"/>
              <a:t>WKM </a:t>
            </a:r>
            <a:r>
              <a:rPr lang="zh-CN" altLang="en-US" dirty="0"/>
              <a:t>高出 </a:t>
            </a:r>
            <a:r>
              <a:rPr lang="en-US" altLang="zh-CN" dirty="0"/>
              <a:t>3.5</a:t>
            </a:r>
            <a:r>
              <a:rPr lang="zh-CN" altLang="en-US" dirty="0"/>
              <a:t>。这些结果表明，通过智能体反馈优化得到的通用高层元规划，性能优于那些依赖大量人工、泛化能力差且无法保证质量的复杂知识型指导方法，充分证明了本文方法在提升智能体性能方面的有效性。</a:t>
            </a:r>
          </a:p>
        </p:txBody>
      </p:sp>
      <p:sp>
        <p:nvSpPr>
          <p:cNvPr id="4" name="灯片编号占位符 3">
            <a:extLst>
              <a:ext uri="{FF2B5EF4-FFF2-40B4-BE49-F238E27FC236}">
                <a16:creationId xmlns:a16="http://schemas.microsoft.com/office/drawing/2014/main" id="{B2A219E8-C760-F2B7-8B2F-DC1163DCC9BB}"/>
              </a:ext>
            </a:extLst>
          </p:cNvPr>
          <p:cNvSpPr>
            <a:spLocks noGrp="1"/>
          </p:cNvSpPr>
          <p:nvPr>
            <p:ph type="sldNum" sz="quarter" idx="5"/>
          </p:nvPr>
        </p:nvSpPr>
        <p:spPr/>
        <p:txBody>
          <a:bodyPr/>
          <a:lstStyle/>
          <a:p>
            <a:fld id="{3FF2ADFF-6A68-4D4C-8DF4-C6AAACA87F83}" type="slidenum">
              <a:rPr lang="zh-CN" altLang="en-US" smtClean="0"/>
              <a:t>27</a:t>
            </a:fld>
            <a:endParaRPr lang="zh-CN" altLang="en-US"/>
          </a:p>
        </p:txBody>
      </p:sp>
    </p:spTree>
    <p:extLst>
      <p:ext uri="{BB962C8B-B14F-4D97-AF65-F5344CB8AC3E}">
        <p14:creationId xmlns:p14="http://schemas.microsoft.com/office/powerpoint/2010/main" val="300548551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AC771-EA6F-6C80-8A30-ACD1DAD1AF0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12C0871-9109-72AA-826E-0F156822761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79825AF-5264-DAD2-B592-3CCFA70D0C3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CN" altLang="en-US" dirty="0"/>
              <a:t>表 </a:t>
            </a:r>
            <a:r>
              <a:rPr lang="en-US" altLang="zh-CN" dirty="0"/>
              <a:t>3 </a:t>
            </a:r>
            <a:r>
              <a:rPr lang="zh-CN" altLang="en-US" dirty="0"/>
              <a:t>所示，</a:t>
            </a:r>
            <a:r>
              <a:rPr lang="zh-CN" altLang="en-US" b="1" dirty="0"/>
              <a:t>经 </a:t>
            </a:r>
            <a:r>
              <a:rPr lang="en-US" altLang="zh-CN" b="1" dirty="0"/>
              <a:t>MPO </a:t>
            </a:r>
            <a:r>
              <a:rPr lang="zh-CN" altLang="en-US" b="1" dirty="0"/>
              <a:t>优化的元规划器对智能体性能的提升效果优于其他训练方法</a:t>
            </a:r>
            <a:r>
              <a:rPr lang="zh-CN" altLang="en-US" dirty="0"/>
              <a:t>，同时也</a:t>
            </a:r>
            <a:r>
              <a:rPr lang="zh-CN" altLang="en-US" b="1" dirty="0"/>
              <a:t>优于直接调用 </a:t>
            </a:r>
            <a:r>
              <a:rPr lang="en-US" altLang="zh-CN" b="1" dirty="0"/>
              <a:t>GPT-4o </a:t>
            </a:r>
            <a:r>
              <a:rPr lang="zh-CN" altLang="en-US" b="1" dirty="0"/>
              <a:t>作为元规划器的方式 </a:t>
            </a:r>
            <a:r>
              <a:rPr lang="en-US" altLang="zh-CN" dirty="0"/>
              <a:t>—— </a:t>
            </a:r>
            <a:r>
              <a:rPr lang="zh-CN" altLang="en-US" dirty="0"/>
              <a:t>后者仅依赖模型的先验知识，未通过环境探索优化元规划。使用经有监督微调初始化的元规划时，</a:t>
            </a:r>
            <a:r>
              <a:rPr lang="en-US" altLang="zh-CN" dirty="0"/>
              <a:t>Qwen2.5-7B-Instruct </a:t>
            </a:r>
            <a:r>
              <a:rPr lang="zh-CN" altLang="en-US" dirty="0"/>
              <a:t>模型在两个评估数据集上的性能均出现下降，这表明低质量的元规划可能误导智能体的规划过程。</a:t>
            </a:r>
            <a:endParaRPr lang="en-US" altLang="zh-CN"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zh-CN" dirty="0"/>
              <a:t>RFT = Rejection Fine-Tuning</a:t>
            </a:r>
            <a:r>
              <a:rPr lang="zh-CN" altLang="en-US" dirty="0"/>
              <a:t>（拒绝采样微调）：让模型根据任务生成多个规划，保留最好的规划进行监督学习。</a:t>
            </a:r>
            <a:br>
              <a:rPr lang="en-US" altLang="zh-CN" dirty="0"/>
            </a:br>
            <a:r>
              <a:rPr lang="en-US" altLang="zh-CN" dirty="0"/>
              <a:t>SFT:GPT-4o</a:t>
            </a:r>
            <a:r>
              <a:rPr lang="zh-CN" altLang="en-US" dirty="0"/>
              <a:t>根据数据集的任务和输出总结出来的训练的。</a:t>
            </a:r>
            <a:br>
              <a:rPr lang="en-US" altLang="zh-CN" dirty="0"/>
            </a:br>
            <a:r>
              <a:rPr lang="en-US" altLang="zh-CN" dirty="0"/>
              <a:t>Type</a:t>
            </a:r>
            <a:r>
              <a:rPr lang="zh-CN" altLang="en-US" dirty="0"/>
              <a:t>插入位置：</a:t>
            </a:r>
            <a:br>
              <a:rPr lang="en-US" altLang="zh-CN" dirty="0"/>
            </a:br>
            <a:r>
              <a:rPr lang="en-US" altLang="zh-CN" dirty="0"/>
              <a:t>Inst</a:t>
            </a:r>
            <a:r>
              <a:rPr lang="zh-CN" altLang="en-US" dirty="0"/>
              <a:t>任务指令：任务描述 </a:t>
            </a:r>
            <a:r>
              <a:rPr lang="en-US" altLang="zh-CN" dirty="0"/>
              <a:t>+ meta plan</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zh-CN" dirty="0"/>
              <a:t>Thou </a:t>
            </a:r>
            <a:r>
              <a:rPr lang="zh-CN" altLang="en-US" dirty="0"/>
              <a:t>思考过程：如</a:t>
            </a:r>
            <a:r>
              <a:rPr lang="en-US" altLang="zh-CN" dirty="0"/>
              <a:t>Thought: ...Meta Plan: ...Action: ...</a:t>
            </a:r>
            <a:r>
              <a:rPr lang="zh-CN" altLang="en-US" dirty="0"/>
              <a:t>干扰了智能体的思维链</a:t>
            </a:r>
            <a:br>
              <a:rPr lang="en-US" altLang="zh-CN" dirty="0"/>
            </a:br>
            <a:r>
              <a:rPr lang="en-US" altLang="zh-CN" dirty="0"/>
              <a:t>OBS</a:t>
            </a:r>
            <a:r>
              <a:rPr lang="zh-CN" altLang="en-US" dirty="0"/>
              <a:t>环境观测（行动的观察中）：</a:t>
            </a:r>
            <a:r>
              <a:rPr lang="en-US" altLang="zh-CN" dirty="0"/>
              <a:t>Observation: ...Meta Plan: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CN" altLang="en-US" dirty="0"/>
              <a:t>将元规划嵌入任务指令中指导智能体规划，本部分进一步探究不同嵌入位置对性能的影响，具体包括：任务指令中、智能体的思考过程中、环境观测中。将元规划嵌入任务指令的方式在所有智能体和任务中均取得最优性能，而嵌入思考过程的效果最差。这说明干扰智能体的正常推理过程会降低规划的准确性。</a:t>
            </a:r>
          </a:p>
        </p:txBody>
      </p:sp>
      <p:sp>
        <p:nvSpPr>
          <p:cNvPr id="4" name="灯片编号占位符 3">
            <a:extLst>
              <a:ext uri="{FF2B5EF4-FFF2-40B4-BE49-F238E27FC236}">
                <a16:creationId xmlns:a16="http://schemas.microsoft.com/office/drawing/2014/main" id="{243FB045-1BEA-D691-34FE-F4D4756D16FA}"/>
              </a:ext>
            </a:extLst>
          </p:cNvPr>
          <p:cNvSpPr>
            <a:spLocks noGrp="1"/>
          </p:cNvSpPr>
          <p:nvPr>
            <p:ph type="sldNum" sz="quarter" idx="5"/>
          </p:nvPr>
        </p:nvSpPr>
        <p:spPr/>
        <p:txBody>
          <a:bodyPr/>
          <a:lstStyle/>
          <a:p>
            <a:fld id="{3FF2ADFF-6A68-4D4C-8DF4-C6AAACA87F83}" type="slidenum">
              <a:rPr lang="zh-CN" altLang="en-US" smtClean="0"/>
              <a:t>28</a:t>
            </a:fld>
            <a:endParaRPr lang="zh-CN" altLang="en-US"/>
          </a:p>
        </p:txBody>
      </p:sp>
    </p:spTree>
    <p:extLst>
      <p:ext uri="{BB962C8B-B14F-4D97-AF65-F5344CB8AC3E}">
        <p14:creationId xmlns:p14="http://schemas.microsoft.com/office/powerpoint/2010/main" val="293422638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9C778-57FC-B3A6-296A-659F8030ECA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7558B5B-B244-A2A5-410F-202CBECBAF2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6697D39-0321-B167-588F-F386275231AC}"/>
              </a:ext>
            </a:extLst>
          </p:cNvPr>
          <p:cNvSpPr>
            <a:spLocks noGrp="1"/>
          </p:cNvSpPr>
          <p:nvPr>
            <p:ph type="body" idx="1"/>
          </p:nvPr>
        </p:nvSpPr>
        <p:spPr/>
        <p:txBody>
          <a:bodyPr/>
          <a:lstStyle/>
          <a:p>
            <a:pPr marL="0" indent="0">
              <a:buFont typeface="Arial" panose="020B0604020202020204" pitchFamily="34" charset="0"/>
              <a:buNone/>
            </a:pPr>
            <a:r>
              <a:rPr lang="zh-CN" altLang="en-US" dirty="0"/>
              <a:t>融入高质量元规划的另一优势是能避免智能体的无效探索，从而提升任务完成效率。</a:t>
            </a:r>
            <a:endParaRPr lang="en-US" altLang="zh-CN" dirty="0"/>
          </a:p>
          <a:p>
            <a:pPr marL="0" indent="0">
              <a:buFont typeface="Arial" panose="020B0604020202020204" pitchFamily="34" charset="0"/>
              <a:buNone/>
            </a:pPr>
            <a:endParaRPr lang="en-US" altLang="zh-CN" dirty="0"/>
          </a:p>
          <a:p>
            <a:pPr marL="0" indent="0">
              <a:buFont typeface="Arial" panose="020B0604020202020204" pitchFamily="34" charset="0"/>
              <a:buNone/>
            </a:pPr>
            <a:r>
              <a:rPr lang="zh-CN" altLang="en-US" dirty="0"/>
              <a:t>图 </a:t>
            </a:r>
            <a:r>
              <a:rPr lang="en-US" altLang="zh-CN" dirty="0"/>
              <a:t>3 </a:t>
            </a:r>
            <a:r>
              <a:rPr lang="zh-CN" altLang="en-US" dirty="0"/>
              <a:t>显示，与无元规划和经有监督微调初始化的元规划相比，</a:t>
            </a:r>
            <a:r>
              <a:rPr lang="en-US" altLang="zh-CN" dirty="0"/>
              <a:t>MPO </a:t>
            </a:r>
            <a:r>
              <a:rPr lang="zh-CN" altLang="en-US" dirty="0"/>
              <a:t>显著提升了智能体的单步平均奖励；且在未知测试任务中，</a:t>
            </a:r>
            <a:r>
              <a:rPr lang="en-US" altLang="zh-CN" dirty="0"/>
              <a:t>MPO </a:t>
            </a:r>
            <a:r>
              <a:rPr lang="zh-CN" altLang="en-US" dirty="0"/>
              <a:t>带来的单步平均奖励提升幅度更大，证明其在分布外任务中具备强大的泛化能力。</a:t>
            </a:r>
            <a:endParaRPr lang="en-US" altLang="zh-CN" dirty="0"/>
          </a:p>
        </p:txBody>
      </p:sp>
      <p:sp>
        <p:nvSpPr>
          <p:cNvPr id="4" name="灯片编号占位符 3">
            <a:extLst>
              <a:ext uri="{FF2B5EF4-FFF2-40B4-BE49-F238E27FC236}">
                <a16:creationId xmlns:a16="http://schemas.microsoft.com/office/drawing/2014/main" id="{E42A8129-3AB1-3BB4-A1C0-7B73411D6722}"/>
              </a:ext>
            </a:extLst>
          </p:cNvPr>
          <p:cNvSpPr>
            <a:spLocks noGrp="1"/>
          </p:cNvSpPr>
          <p:nvPr>
            <p:ph type="sldNum" sz="quarter" idx="5"/>
          </p:nvPr>
        </p:nvSpPr>
        <p:spPr/>
        <p:txBody>
          <a:bodyPr/>
          <a:lstStyle/>
          <a:p>
            <a:fld id="{3FF2ADFF-6A68-4D4C-8DF4-C6AAACA87F83}" type="slidenum">
              <a:rPr lang="zh-CN" altLang="en-US" smtClean="0"/>
              <a:t>29</a:t>
            </a:fld>
            <a:endParaRPr lang="zh-CN" altLang="en-US"/>
          </a:p>
        </p:txBody>
      </p:sp>
    </p:spTree>
    <p:extLst>
      <p:ext uri="{BB962C8B-B14F-4D97-AF65-F5344CB8AC3E}">
        <p14:creationId xmlns:p14="http://schemas.microsoft.com/office/powerpoint/2010/main" val="354227438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83759C-779D-7ED4-1CB9-B8FF997FE44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0E0DC9A-FAE2-4084-FF84-928D1EC1057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1D10DB8-2948-1801-6D25-14AD1DD2B364}"/>
              </a:ext>
            </a:extLst>
          </p:cNvPr>
          <p:cNvSpPr>
            <a:spLocks noGrp="1"/>
          </p:cNvSpPr>
          <p:nvPr>
            <p:ph type="body" idx="1"/>
          </p:nvPr>
        </p:nvSpPr>
        <p:spPr/>
        <p:txBody>
          <a:bodyPr/>
          <a:lstStyle/>
          <a:p>
            <a:pPr marL="0" indent="0">
              <a:buFont typeface="Arial" panose="020B0604020202020204" pitchFamily="34" charset="0"/>
              <a:buNone/>
            </a:pPr>
            <a:r>
              <a:rPr lang="zh-CN" altLang="en-US" dirty="0"/>
              <a:t>该框架在不同量级模型上的作用</a:t>
            </a:r>
            <a:endParaRPr lang="en-US" altLang="zh-CN" dirty="0"/>
          </a:p>
          <a:p>
            <a:pPr marL="0" indent="0">
              <a:buFont typeface="Arial" panose="020B0604020202020204" pitchFamily="34" charset="0"/>
              <a:buNone/>
            </a:pPr>
            <a:endParaRPr lang="en-US" altLang="zh-CN" dirty="0"/>
          </a:p>
          <a:p>
            <a:pPr marL="0" indent="0">
              <a:buFont typeface="Arial" panose="020B0604020202020204" pitchFamily="34" charset="0"/>
              <a:buNone/>
            </a:pPr>
            <a:r>
              <a:rPr lang="en-US" altLang="zh-CN" dirty="0"/>
              <a:t>MPO </a:t>
            </a:r>
            <a:r>
              <a:rPr lang="zh-CN" altLang="en-US" dirty="0"/>
              <a:t>能提升不同参数量智能体的性能，其中对中等参数量智能体的提升效果最显著。</a:t>
            </a:r>
            <a:endParaRPr lang="en-US" altLang="zh-CN" dirty="0"/>
          </a:p>
        </p:txBody>
      </p:sp>
      <p:sp>
        <p:nvSpPr>
          <p:cNvPr id="4" name="灯片编号占位符 3">
            <a:extLst>
              <a:ext uri="{FF2B5EF4-FFF2-40B4-BE49-F238E27FC236}">
                <a16:creationId xmlns:a16="http://schemas.microsoft.com/office/drawing/2014/main" id="{AE58D708-0DAE-30D8-363C-69557C946BA0}"/>
              </a:ext>
            </a:extLst>
          </p:cNvPr>
          <p:cNvSpPr>
            <a:spLocks noGrp="1"/>
          </p:cNvSpPr>
          <p:nvPr>
            <p:ph type="sldNum" sz="quarter" idx="5"/>
          </p:nvPr>
        </p:nvSpPr>
        <p:spPr/>
        <p:txBody>
          <a:bodyPr/>
          <a:lstStyle/>
          <a:p>
            <a:fld id="{3FF2ADFF-6A68-4D4C-8DF4-C6AAACA87F83}" type="slidenum">
              <a:rPr lang="zh-CN" altLang="en-US" smtClean="0"/>
              <a:t>30</a:t>
            </a:fld>
            <a:endParaRPr lang="zh-CN" altLang="en-US"/>
          </a:p>
        </p:txBody>
      </p:sp>
    </p:spTree>
    <p:extLst>
      <p:ext uri="{BB962C8B-B14F-4D97-AF65-F5344CB8AC3E}">
        <p14:creationId xmlns:p14="http://schemas.microsoft.com/office/powerpoint/2010/main" val="97301429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E9C582-66DE-7BE3-1FDB-B5D999B8143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30CBD53-F8C0-A51C-29DC-54C20CE1D2B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FDB147D-3145-07FC-F067-EB5C45B8959B}"/>
              </a:ext>
            </a:extLst>
          </p:cNvPr>
          <p:cNvSpPr>
            <a:spLocks noGrp="1"/>
          </p:cNvSpPr>
          <p:nvPr>
            <p:ph type="body" idx="1"/>
          </p:nvPr>
        </p:nvSpPr>
        <p:spPr/>
        <p:txBody>
          <a:bodyPr/>
          <a:lstStyle/>
          <a:p>
            <a:pPr marL="0" indent="0">
              <a:buFont typeface="Arial" panose="020B0604020202020204" pitchFamily="34" charset="0"/>
              <a:buNone/>
            </a:pPr>
            <a:r>
              <a:rPr lang="zh-CN" altLang="en-US" sz="1200" b="0" i="0" kern="1200" dirty="0">
                <a:solidFill>
                  <a:schemeClr val="tx1"/>
                </a:solidFill>
                <a:effectLst/>
                <a:latin typeface="+mn-lt"/>
                <a:ea typeface="+mn-ea"/>
                <a:cs typeface="+mn-cs"/>
              </a:rPr>
              <a:t>元规划生成采样数 </a:t>
            </a:r>
            <a:r>
              <a:rPr lang="en-US" altLang="zh-CN" sz="1200" b="0" i="0" kern="1200" dirty="0">
                <a:solidFill>
                  <a:schemeClr val="tx1"/>
                </a:solidFill>
                <a:effectLst/>
                <a:latin typeface="+mn-lt"/>
                <a:ea typeface="+mn-ea"/>
                <a:cs typeface="+mn-cs"/>
              </a:rPr>
              <a:t>M</a:t>
            </a:r>
            <a:r>
              <a:rPr lang="zh-CN" altLang="en-US" sz="1200" b="0" i="0" kern="1200" dirty="0">
                <a:solidFill>
                  <a:schemeClr val="tx1"/>
                </a:solidFill>
                <a:effectLst/>
                <a:latin typeface="+mn-lt"/>
                <a:ea typeface="+mn-ea"/>
                <a:cs typeface="+mn-cs"/>
              </a:rPr>
              <a:t>（对应 </a:t>
            </a:r>
            <a:r>
              <a:rPr lang="en-US" altLang="zh-CN" sz="1200" b="0" i="0" kern="1200" dirty="0">
                <a:solidFill>
                  <a:schemeClr val="tx1"/>
                </a:solidFill>
                <a:effectLst/>
                <a:latin typeface="+mn-lt"/>
                <a:ea typeface="+mn-ea"/>
                <a:cs typeface="+mn-cs"/>
              </a:rPr>
              <a:t>3.3 </a:t>
            </a:r>
            <a:r>
              <a:rPr lang="zh-CN" altLang="en-US" sz="1200" b="0" i="0" kern="1200" dirty="0">
                <a:solidFill>
                  <a:schemeClr val="tx1"/>
                </a:solidFill>
                <a:effectLst/>
                <a:latin typeface="+mn-lt"/>
                <a:ea typeface="+mn-ea"/>
                <a:cs typeface="+mn-cs"/>
              </a:rPr>
              <a:t>节 </a:t>
            </a:r>
            <a:r>
              <a:rPr lang="en-US" altLang="zh-CN" sz="1200" b="0" i="0" kern="1200" dirty="0">
                <a:solidFill>
                  <a:schemeClr val="tx1"/>
                </a:solidFill>
                <a:effectLst/>
                <a:latin typeface="+mn-lt"/>
                <a:ea typeface="+mn-ea"/>
                <a:cs typeface="+mn-cs"/>
              </a:rPr>
              <a:t>DPO </a:t>
            </a:r>
            <a:r>
              <a:rPr lang="zh-CN" altLang="en-US" sz="1200" b="0" i="0" kern="1200" dirty="0">
                <a:solidFill>
                  <a:schemeClr val="tx1"/>
                </a:solidFill>
                <a:effectLst/>
                <a:latin typeface="+mn-lt"/>
                <a:ea typeface="+mn-ea"/>
                <a:cs typeface="+mn-cs"/>
              </a:rPr>
              <a:t>训练）规划器对一个任务生成的元规划，用于筛选最差最优规划</a:t>
            </a:r>
            <a:br>
              <a:rPr lang="en-US" altLang="zh-CN" sz="1200" b="0" i="0" kern="1200" dirty="0">
                <a:solidFill>
                  <a:schemeClr val="tx1"/>
                </a:solidFill>
                <a:effectLst/>
                <a:latin typeface="+mn-lt"/>
                <a:ea typeface="+mn-ea"/>
                <a:cs typeface="+mn-cs"/>
              </a:rPr>
            </a:br>
            <a:br>
              <a:rPr lang="en-US" altLang="zh-CN" sz="1200" b="0" i="0" kern="1200" dirty="0">
                <a:solidFill>
                  <a:schemeClr val="tx1"/>
                </a:solidFill>
                <a:effectLst/>
                <a:latin typeface="+mn-lt"/>
                <a:ea typeface="+mn-ea"/>
                <a:cs typeface="+mn-cs"/>
              </a:rPr>
            </a:br>
            <a:r>
              <a:rPr lang="zh-CN" altLang="en-US" sz="1200" b="0" kern="1200" dirty="0">
                <a:solidFill>
                  <a:schemeClr val="tx1"/>
                </a:solidFill>
                <a:effectLst/>
                <a:latin typeface="+mn-lt"/>
                <a:ea typeface="+mn-ea"/>
                <a:cs typeface="+mn-cs"/>
              </a:rPr>
              <a:t>任务轨迹采样数 </a:t>
            </a:r>
            <a:r>
              <a:rPr lang="en-US" altLang="zh-CN" sz="1200" b="0" kern="1200" dirty="0">
                <a:solidFill>
                  <a:schemeClr val="tx1"/>
                </a:solidFill>
                <a:effectLst/>
                <a:latin typeface="+mn-lt"/>
                <a:ea typeface="+mn-ea"/>
                <a:cs typeface="+mn-cs"/>
              </a:rPr>
              <a:t>N</a:t>
            </a:r>
            <a:r>
              <a:rPr lang="zh-CN" altLang="en-US" b="0" dirty="0"/>
              <a:t>（对应 </a:t>
            </a:r>
            <a:r>
              <a:rPr lang="en-US" altLang="zh-CN" b="0" dirty="0"/>
              <a:t>3.2 </a:t>
            </a:r>
            <a:r>
              <a:rPr lang="zh-CN" altLang="en-US" b="0" dirty="0"/>
              <a:t>节元规划质量评估）</a:t>
            </a:r>
            <a:r>
              <a:rPr lang="en-US" altLang="zh-CN" b="0" dirty="0"/>
              <a:t>:</a:t>
            </a:r>
            <a:r>
              <a:rPr lang="zh-CN" altLang="en-US" b="0" dirty="0"/>
              <a:t>规划器生成的数量，规划器生成规划，模型执行</a:t>
            </a:r>
            <a:r>
              <a:rPr lang="zh-CN" altLang="en-US" b="0"/>
              <a:t>的数量，用于评价当前规划的质量</a:t>
            </a:r>
            <a:endParaRPr lang="en-US" altLang="zh-CN" b="0" dirty="0"/>
          </a:p>
        </p:txBody>
      </p:sp>
      <p:sp>
        <p:nvSpPr>
          <p:cNvPr id="4" name="灯片编号占位符 3">
            <a:extLst>
              <a:ext uri="{FF2B5EF4-FFF2-40B4-BE49-F238E27FC236}">
                <a16:creationId xmlns:a16="http://schemas.microsoft.com/office/drawing/2014/main" id="{0D684945-E553-819D-67A8-653804C1F859}"/>
              </a:ext>
            </a:extLst>
          </p:cNvPr>
          <p:cNvSpPr>
            <a:spLocks noGrp="1"/>
          </p:cNvSpPr>
          <p:nvPr>
            <p:ph type="sldNum" sz="quarter" idx="5"/>
          </p:nvPr>
        </p:nvSpPr>
        <p:spPr/>
        <p:txBody>
          <a:bodyPr/>
          <a:lstStyle/>
          <a:p>
            <a:fld id="{3FF2ADFF-6A68-4D4C-8DF4-C6AAACA87F83}" type="slidenum">
              <a:rPr lang="zh-CN" altLang="en-US" smtClean="0"/>
              <a:t>31</a:t>
            </a:fld>
            <a:endParaRPr lang="zh-CN" altLang="en-US"/>
          </a:p>
        </p:txBody>
      </p:sp>
    </p:spTree>
    <p:extLst>
      <p:ext uri="{BB962C8B-B14F-4D97-AF65-F5344CB8AC3E}">
        <p14:creationId xmlns:p14="http://schemas.microsoft.com/office/powerpoint/2010/main" val="193678496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92F55-9B24-365E-B5FE-A42EEA58432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C5AC33B-2CA2-583F-B34E-7B5A037EF92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D9A221F-C766-8666-B81A-66BD4134665C}"/>
              </a:ext>
            </a:extLst>
          </p:cNvPr>
          <p:cNvSpPr>
            <a:spLocks noGrp="1"/>
          </p:cNvSpPr>
          <p:nvPr>
            <p:ph type="body" idx="1"/>
          </p:nvPr>
        </p:nvSpPr>
        <p:spPr/>
        <p:txBody>
          <a:bodyPr/>
          <a:lstStyle/>
          <a:p>
            <a:pPr marL="0" indent="0">
              <a:buFont typeface="Arial" panose="020B0604020202020204" pitchFamily="34" charset="0"/>
              <a:buNone/>
            </a:pPr>
            <a:r>
              <a:rPr lang="zh-CN" altLang="en-US" dirty="0"/>
              <a:t>为何通过 </a:t>
            </a:r>
            <a:r>
              <a:rPr lang="en-US" altLang="zh-CN" dirty="0"/>
              <a:t>MPO </a:t>
            </a:r>
            <a:r>
              <a:rPr lang="zh-CN" altLang="en-US" dirty="0"/>
              <a:t>探索优化的元规划性能优于仅经有监督微调初始化的元规划</a:t>
            </a:r>
            <a:br>
              <a:rPr lang="en-US" altLang="zh-CN" dirty="0"/>
            </a:br>
            <a:br>
              <a:rPr lang="en-US" altLang="zh-CN" dirty="0"/>
            </a:br>
            <a:r>
              <a:rPr lang="zh-CN" altLang="en-US" sz="1200" b="0" i="0" kern="1200" dirty="0">
                <a:solidFill>
                  <a:schemeClr val="tx1"/>
                </a:solidFill>
                <a:effectLst/>
                <a:latin typeface="+mn-lt"/>
                <a:ea typeface="+mn-ea"/>
                <a:cs typeface="+mn-cs"/>
              </a:rPr>
              <a:t>正确性（</a:t>
            </a:r>
            <a:r>
              <a:rPr lang="en-US" altLang="zh-CN" sz="1200" b="0" i="0" kern="1200" dirty="0">
                <a:solidFill>
                  <a:schemeClr val="tx1"/>
                </a:solidFill>
                <a:effectLst/>
                <a:latin typeface="+mn-lt"/>
                <a:ea typeface="+mn-ea"/>
                <a:cs typeface="+mn-cs"/>
              </a:rPr>
              <a:t>Correctness</a:t>
            </a:r>
            <a:r>
              <a:rPr lang="zh-CN" altLang="en-US" sz="1200" b="0" i="0" kern="1200" dirty="0">
                <a:solidFill>
                  <a:schemeClr val="tx1"/>
                </a:solidFill>
                <a:effectLst/>
                <a:latin typeface="+mn-lt"/>
                <a:ea typeface="+mn-ea"/>
                <a:cs typeface="+mn-cs"/>
              </a:rPr>
              <a:t>）：元规划的步骤是否符合任务逻辑，是否能有效导向任务完成。 </a:t>
            </a:r>
            <a:endParaRPr lang="en-US" altLang="zh-CN" sz="1200" b="0" i="0" kern="1200" dirty="0">
              <a:solidFill>
                <a:schemeClr val="tx1"/>
              </a:solidFill>
              <a:effectLst/>
              <a:latin typeface="+mn-lt"/>
              <a:ea typeface="+mn-ea"/>
              <a:cs typeface="+mn-cs"/>
            </a:endParaRPr>
          </a:p>
          <a:p>
            <a:pPr marL="0" indent="0">
              <a:buFont typeface="Arial" panose="020B0604020202020204" pitchFamily="34" charset="0"/>
              <a:buNone/>
            </a:pPr>
            <a:r>
              <a:rPr lang="zh-CN" altLang="en-US" sz="1200" b="0" i="0" kern="1200" dirty="0">
                <a:solidFill>
                  <a:schemeClr val="tx1"/>
                </a:solidFill>
                <a:effectLst/>
                <a:latin typeface="+mn-lt"/>
                <a:ea typeface="+mn-ea"/>
                <a:cs typeface="+mn-cs"/>
              </a:rPr>
              <a:t>可遵循性（</a:t>
            </a:r>
            <a:r>
              <a:rPr lang="en-US" altLang="zh-CN" sz="1200" b="0" i="0" kern="1200" dirty="0">
                <a:solidFill>
                  <a:schemeClr val="tx1"/>
                </a:solidFill>
                <a:effectLst/>
                <a:latin typeface="+mn-lt"/>
                <a:ea typeface="+mn-ea"/>
                <a:cs typeface="+mn-cs"/>
              </a:rPr>
              <a:t>Followability</a:t>
            </a:r>
            <a:r>
              <a:rPr lang="zh-CN" altLang="en-US" sz="1200" b="0" i="0" kern="1200" dirty="0">
                <a:solidFill>
                  <a:schemeClr val="tx1"/>
                </a:solidFill>
                <a:effectLst/>
                <a:latin typeface="+mn-lt"/>
                <a:ea typeface="+mn-ea"/>
                <a:cs typeface="+mn-cs"/>
              </a:rPr>
              <a:t>）：元规划的步骤是否清晰、明确，智能体是否容易理解并执行。 </a:t>
            </a:r>
            <a:endParaRPr lang="en-US" altLang="zh-CN" sz="1200" b="0" i="0" kern="1200" dirty="0">
              <a:solidFill>
                <a:schemeClr val="tx1"/>
              </a:solidFill>
              <a:effectLst/>
              <a:latin typeface="+mn-lt"/>
              <a:ea typeface="+mn-ea"/>
              <a:cs typeface="+mn-cs"/>
            </a:endParaRPr>
          </a:p>
          <a:p>
            <a:pPr marL="0" indent="0">
              <a:buFont typeface="Arial" panose="020B0604020202020204" pitchFamily="34" charset="0"/>
              <a:buNone/>
            </a:pPr>
            <a:r>
              <a:rPr lang="zh-CN" altLang="en-US" sz="1200" b="0" i="0" kern="1200" dirty="0">
                <a:solidFill>
                  <a:schemeClr val="tx1"/>
                </a:solidFill>
                <a:effectLst/>
                <a:latin typeface="+mn-lt"/>
                <a:ea typeface="+mn-ea"/>
                <a:cs typeface="+mn-cs"/>
              </a:rPr>
              <a:t>标准化（</a:t>
            </a:r>
            <a:r>
              <a:rPr lang="en-US" altLang="zh-CN" sz="1200" b="0" i="0" kern="1200" dirty="0">
                <a:solidFill>
                  <a:schemeClr val="tx1"/>
                </a:solidFill>
                <a:effectLst/>
                <a:latin typeface="+mn-lt"/>
                <a:ea typeface="+mn-ea"/>
                <a:cs typeface="+mn-cs"/>
              </a:rPr>
              <a:t>Standardization</a:t>
            </a:r>
            <a:r>
              <a:rPr lang="zh-CN" altLang="en-US" sz="1200" b="0" i="0" kern="1200" dirty="0">
                <a:solidFill>
                  <a:schemeClr val="tx1"/>
                </a:solidFill>
                <a:effectLst/>
                <a:latin typeface="+mn-lt"/>
                <a:ea typeface="+mn-ea"/>
                <a:cs typeface="+mn-cs"/>
              </a:rPr>
              <a:t>）：元规划的结构和表述是否统一、规范，是否便于在不同智能体和场景中复用。</a:t>
            </a:r>
            <a:endParaRPr lang="en-US" altLang="zh-CN" sz="1200" b="0" i="0" kern="1200" dirty="0">
              <a:solidFill>
                <a:schemeClr val="tx1"/>
              </a:solidFill>
              <a:effectLst/>
              <a:latin typeface="+mn-lt"/>
              <a:ea typeface="+mn-ea"/>
              <a:cs typeface="+mn-cs"/>
            </a:endParaRPr>
          </a:p>
          <a:p>
            <a:pPr marL="0" indent="0">
              <a:buFont typeface="Arial" panose="020B0604020202020204" pitchFamily="34" charset="0"/>
              <a:buNone/>
            </a:pPr>
            <a:r>
              <a:rPr lang="en-US" altLang="zh-CN" sz="1200" b="0" i="0" kern="1200" dirty="0">
                <a:solidFill>
                  <a:schemeClr val="tx1"/>
                </a:solidFill>
                <a:effectLst/>
                <a:latin typeface="+mn-lt"/>
                <a:ea typeface="+mn-ea"/>
                <a:cs typeface="+mn-cs"/>
              </a:rPr>
              <a:t>Tie</a:t>
            </a:r>
            <a:r>
              <a:rPr lang="zh-CN" altLang="en-US" sz="1200" b="0" i="0" kern="1200" dirty="0">
                <a:solidFill>
                  <a:schemeClr val="tx1"/>
                </a:solidFill>
                <a:effectLst/>
                <a:latin typeface="+mn-lt"/>
                <a:ea typeface="+mn-ea"/>
                <a:cs typeface="+mn-cs"/>
              </a:rPr>
              <a:t>打平</a:t>
            </a:r>
            <a:endParaRPr lang="en-US" altLang="zh-CN" sz="1200" b="0" i="0" kern="1200" dirty="0">
              <a:solidFill>
                <a:schemeClr val="tx1"/>
              </a:solidFill>
              <a:effectLst/>
              <a:latin typeface="+mn-lt"/>
              <a:ea typeface="+mn-ea"/>
              <a:cs typeface="+mn-cs"/>
            </a:endParaRPr>
          </a:p>
          <a:p>
            <a:pPr marL="0" indent="0">
              <a:buFont typeface="Arial" panose="020B0604020202020204" pitchFamily="34" charset="0"/>
              <a:buNone/>
            </a:pPr>
            <a:r>
              <a:rPr lang="zh-CN" altLang="en-US" sz="1200" b="0" i="0" kern="1200" dirty="0">
                <a:solidFill>
                  <a:schemeClr val="tx1"/>
                </a:solidFill>
                <a:effectLst/>
                <a:latin typeface="+mn-lt"/>
                <a:ea typeface="+mn-ea"/>
                <a:cs typeface="+mn-cs"/>
              </a:rPr>
              <a:t>这个是让专家模型进行评估的</a:t>
            </a:r>
            <a:endParaRPr lang="en-US" altLang="zh-CN" dirty="0"/>
          </a:p>
          <a:p>
            <a:pPr marL="0" indent="0">
              <a:buFont typeface="Arial" panose="020B0604020202020204" pitchFamily="34" charset="0"/>
              <a:buNone/>
            </a:pPr>
            <a:endParaRPr lang="en-US" altLang="zh-CN" dirty="0"/>
          </a:p>
          <a:p>
            <a:pPr marL="0" indent="0">
              <a:buFont typeface="Arial" panose="020B0604020202020204" pitchFamily="34" charset="0"/>
              <a:buNone/>
            </a:pPr>
            <a:r>
              <a:rPr lang="zh-CN" altLang="en-US" dirty="0"/>
              <a:t>经 </a:t>
            </a:r>
            <a:r>
              <a:rPr lang="en-US" altLang="zh-CN" dirty="0"/>
              <a:t>MPO </a:t>
            </a:r>
            <a:r>
              <a:rPr lang="zh-CN" altLang="en-US" dirty="0"/>
              <a:t>优化的元规划在三个维度上均持续优于经有监督微调初始化的元规划。正确性和可遵循性的优势让智能体更易高效地规划和执行任务，从而实现更高的任务完成率。</a:t>
            </a:r>
            <a:endParaRPr lang="en-US" altLang="zh-CN" dirty="0"/>
          </a:p>
        </p:txBody>
      </p:sp>
      <p:sp>
        <p:nvSpPr>
          <p:cNvPr id="4" name="灯片编号占位符 3">
            <a:extLst>
              <a:ext uri="{FF2B5EF4-FFF2-40B4-BE49-F238E27FC236}">
                <a16:creationId xmlns:a16="http://schemas.microsoft.com/office/drawing/2014/main" id="{A6330B85-4F7A-B048-5B40-2E034E2ECBDB}"/>
              </a:ext>
            </a:extLst>
          </p:cNvPr>
          <p:cNvSpPr>
            <a:spLocks noGrp="1"/>
          </p:cNvSpPr>
          <p:nvPr>
            <p:ph type="sldNum" sz="quarter" idx="5"/>
          </p:nvPr>
        </p:nvSpPr>
        <p:spPr/>
        <p:txBody>
          <a:bodyPr/>
          <a:lstStyle/>
          <a:p>
            <a:fld id="{3FF2ADFF-6A68-4D4C-8DF4-C6AAACA87F83}" type="slidenum">
              <a:rPr lang="zh-CN" altLang="en-US" smtClean="0"/>
              <a:t>32</a:t>
            </a:fld>
            <a:endParaRPr lang="zh-CN" altLang="en-US"/>
          </a:p>
        </p:txBody>
      </p:sp>
    </p:spTree>
    <p:extLst>
      <p:ext uri="{BB962C8B-B14F-4D97-AF65-F5344CB8AC3E}">
        <p14:creationId xmlns:p14="http://schemas.microsoft.com/office/powerpoint/2010/main" val="383443025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Master" Target="../slideMasters/slideMaster1.xml"/><Relationship Id="rId5" Type="http://schemas.openxmlformats.org/officeDocument/2006/relationships/tags" Target="../tags/tag1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Master" Target="../slideMasters/slideMaster1.xml"/><Relationship Id="rId5" Type="http://schemas.openxmlformats.org/officeDocument/2006/relationships/tags" Target="../tags/tag16.xml"/><Relationship Id="rId4" Type="http://schemas.openxmlformats.org/officeDocument/2006/relationships/tags" Target="../tags/tag15.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slideMaster" Target="../slideMasters/slideMaster1.xml"/><Relationship Id="rId5" Type="http://schemas.openxmlformats.org/officeDocument/2006/relationships/tags" Target="../tags/tag21.xml"/><Relationship Id="rId4" Type="http://schemas.openxmlformats.org/officeDocument/2006/relationships/tags" Target="../tags/tag20.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24.xml"/><Relationship Id="rId7" Type="http://schemas.openxmlformats.org/officeDocument/2006/relationships/slideMaster" Target="../slideMasters/slideMaster1.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35.xml"/><Relationship Id="rId3" Type="http://schemas.openxmlformats.org/officeDocument/2006/relationships/tags" Target="../tags/tag30.xml"/><Relationship Id="rId7" Type="http://schemas.openxmlformats.org/officeDocument/2006/relationships/tags" Target="../tags/tag34.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tags" Target="../tags/tag36.xml"/><Relationship Id="rId5" Type="http://schemas.openxmlformats.org/officeDocument/2006/relationships/slideMaster" Target="../slideMasters/slideMaster1.xml"/><Relationship Id="rId4" Type="http://schemas.openxmlformats.org/officeDocument/2006/relationships/tags" Target="../tags/tag39.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tags" Target="../tags/tag40.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45.xml"/><Relationship Id="rId7" Type="http://schemas.openxmlformats.org/officeDocument/2006/relationships/slideMaster" Target="../slideMasters/slideMaster1.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5" Type="http://schemas.openxmlformats.org/officeDocument/2006/relationships/tags" Target="../tags/tag47.xml"/><Relationship Id="rId4" Type="http://schemas.openxmlformats.org/officeDocument/2006/relationships/tags" Target="../tags/tag46.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slideMaster" Target="../slideMasters/slideMaster1.xml"/><Relationship Id="rId5" Type="http://schemas.openxmlformats.org/officeDocument/2006/relationships/tags" Target="../tags/tag53.xml"/><Relationship Id="rId4" Type="http://schemas.openxmlformats.org/officeDocument/2006/relationships/tags" Target="../tags/tag52.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tags" Target="../tags/tag54.xml"/><Relationship Id="rId5" Type="http://schemas.openxmlformats.org/officeDocument/2006/relationships/slideMaster" Target="../slideMasters/slideMaster1.xml"/><Relationship Id="rId4" Type="http://schemas.openxmlformats.org/officeDocument/2006/relationships/tags" Target="../tags/tag57.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slideMaster" Target="../slideMasters/slideMaster1.xml"/><Relationship Id="rId5" Type="http://schemas.openxmlformats.org/officeDocument/2006/relationships/tags" Target="../tags/tag62.xml"/><Relationship Id="rId4" Type="http://schemas.openxmlformats.org/officeDocument/2006/relationships/tags" Target="../tags/tag6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p>
        </p:txBody>
      </p:sp>
      <p:sp>
        <p:nvSpPr>
          <p:cNvPr id="3" name="副标题 2"/>
          <p:cNvSpPr>
            <a:spLocks noGrp="1"/>
          </p:cNvSpPr>
          <p:nvPr>
            <p:ph type="subTitle" idx="1"/>
            <p:custDataLst>
              <p:tags r:id="rId2"/>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t>2026/4/1</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dirty="0"/>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2026/4/1</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p>
        </p:txBody>
      </p:sp>
      <p:sp>
        <p:nvSpPr>
          <p:cNvPr id="3" name="文本占位符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2026/4/1</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custDataLst>
              <p:tags r:id="rId3"/>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2026/4/1</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文本占位符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p>
        </p:txBody>
      </p:sp>
      <p:sp>
        <p:nvSpPr>
          <p:cNvPr id="6" name="内容占位符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2026/4/1</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2026/4/1</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2026/4/1</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2026/4/1</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a:t>单击此处编辑标题</a:t>
            </a:r>
          </a:p>
        </p:txBody>
      </p:sp>
      <p:sp>
        <p:nvSpPr>
          <p:cNvPr id="3" name="竖排文字占位符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2026/4/1</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2026/4/1</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08400" y="774000"/>
            <a:ext cx="10972800" cy="5482800"/>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2026/4/1</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a:t>单击此处编辑标题</a:t>
            </a:r>
          </a:p>
        </p:txBody>
      </p:sp>
      <p:sp>
        <p:nvSpPr>
          <p:cNvPr id="7" name="文本占位符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91CAD563-42A9-4912-819E-A53333D47224}" type="datetimeFigureOut">
              <a:rPr lang="zh-CN" altLang="en-US" smtClean="0"/>
              <a:t>2026/4/1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6F869D6-B2B5-498E-BFD1-21B78FEA021D}" type="slidenum">
              <a:rPr lang="zh-CN" altLang="en-US" smtClean="0"/>
              <a:t>‹#›</a:t>
            </a:fld>
            <a:endParaRPr lang="zh-CN" altLang="en-US"/>
          </a:p>
        </p:txBody>
      </p:sp>
    </p:spTree>
    <p:extLst>
      <p:ext uri="{BB962C8B-B14F-4D97-AF65-F5344CB8AC3E}">
        <p14:creationId xmlns:p14="http://schemas.microsoft.com/office/powerpoint/2010/main" val="5293736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91CAD563-42A9-4912-819E-A53333D47224}" type="datetimeFigureOut">
              <a:rPr lang="zh-CN" altLang="en-US" smtClean="0"/>
              <a:t>2026/4/1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6F869D6-B2B5-498E-BFD1-21B78FEA021D}" type="slidenum">
              <a:rPr lang="zh-CN" altLang="en-US" smtClean="0"/>
              <a:t>‹#›</a:t>
            </a:fld>
            <a:endParaRPr lang="zh-CN" altLang="en-US"/>
          </a:p>
        </p:txBody>
      </p:sp>
    </p:spTree>
    <p:extLst>
      <p:ext uri="{BB962C8B-B14F-4D97-AF65-F5344CB8AC3E}">
        <p14:creationId xmlns:p14="http://schemas.microsoft.com/office/powerpoint/2010/main" val="34771895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91CAD563-42A9-4912-819E-A53333D47224}" type="datetimeFigureOut">
              <a:rPr lang="zh-CN" altLang="en-US" smtClean="0"/>
              <a:t>2026/4/1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6F869D6-B2B5-498E-BFD1-21B78FEA021D}" type="slidenum">
              <a:rPr lang="zh-CN" altLang="en-US" smtClean="0"/>
              <a:t>‹#›</a:t>
            </a:fld>
            <a:endParaRPr lang="zh-CN" altLang="en-US"/>
          </a:p>
        </p:txBody>
      </p:sp>
    </p:spTree>
    <p:extLst>
      <p:ext uri="{BB962C8B-B14F-4D97-AF65-F5344CB8AC3E}">
        <p14:creationId xmlns:p14="http://schemas.microsoft.com/office/powerpoint/2010/main" val="28155912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91CAD563-42A9-4912-819E-A53333D47224}" type="datetimeFigureOut">
              <a:rPr lang="zh-CN" altLang="en-US" smtClean="0"/>
              <a:t>2026/4/1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6F869D6-B2B5-498E-BFD1-21B78FEA021D}" type="slidenum">
              <a:rPr lang="zh-CN" altLang="en-US" smtClean="0"/>
              <a:t>‹#›</a:t>
            </a:fld>
            <a:endParaRPr lang="zh-CN" altLang="en-US"/>
          </a:p>
        </p:txBody>
      </p:sp>
    </p:spTree>
    <p:extLst>
      <p:ext uri="{BB962C8B-B14F-4D97-AF65-F5344CB8AC3E}">
        <p14:creationId xmlns:p14="http://schemas.microsoft.com/office/powerpoint/2010/main" val="12659771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91CAD563-42A9-4912-819E-A53333D47224}" type="datetimeFigureOut">
              <a:rPr lang="zh-CN" altLang="en-US" smtClean="0"/>
              <a:t>2026/4/1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66F869D6-B2B5-498E-BFD1-21B78FEA021D}" type="slidenum">
              <a:rPr lang="zh-CN" altLang="en-US" smtClean="0"/>
              <a:t>‹#›</a:t>
            </a:fld>
            <a:endParaRPr lang="zh-CN" altLang="en-US"/>
          </a:p>
        </p:txBody>
      </p:sp>
    </p:spTree>
    <p:extLst>
      <p:ext uri="{BB962C8B-B14F-4D97-AF65-F5344CB8AC3E}">
        <p14:creationId xmlns:p14="http://schemas.microsoft.com/office/powerpoint/2010/main" val="10165674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1CAD563-42A9-4912-819E-A53333D47224}" type="datetimeFigureOut">
              <a:rPr lang="zh-CN" altLang="en-US" smtClean="0"/>
              <a:t>2026/4/1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6F869D6-B2B5-498E-BFD1-21B78FEA021D}" type="slidenum">
              <a:rPr lang="zh-CN" altLang="en-US" smtClean="0"/>
              <a:t>‹#›</a:t>
            </a:fld>
            <a:endParaRPr lang="zh-CN" altLang="en-US"/>
          </a:p>
        </p:txBody>
      </p:sp>
    </p:spTree>
    <p:extLst>
      <p:ext uri="{BB962C8B-B14F-4D97-AF65-F5344CB8AC3E}">
        <p14:creationId xmlns:p14="http://schemas.microsoft.com/office/powerpoint/2010/main" val="283397753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1CAD563-42A9-4912-819E-A53333D47224}" type="datetimeFigureOut">
              <a:rPr lang="zh-CN" altLang="en-US" smtClean="0"/>
              <a:t>2026/4/1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6F869D6-B2B5-498E-BFD1-21B78FEA021D}" type="slidenum">
              <a:rPr lang="zh-CN" altLang="en-US" smtClean="0"/>
              <a:t>‹#›</a:t>
            </a:fld>
            <a:endParaRPr lang="zh-CN" altLang="en-US"/>
          </a:p>
        </p:txBody>
      </p:sp>
    </p:spTree>
    <p:extLst>
      <p:ext uri="{BB962C8B-B14F-4D97-AF65-F5344CB8AC3E}">
        <p14:creationId xmlns:p14="http://schemas.microsoft.com/office/powerpoint/2010/main" val="41621933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1CAD563-42A9-4912-819E-A53333D47224}" type="datetimeFigureOut">
              <a:rPr lang="zh-CN" altLang="en-US" smtClean="0"/>
              <a:t>2026/4/1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6F869D6-B2B5-498E-BFD1-21B78FEA021D}" type="slidenum">
              <a:rPr lang="zh-CN" altLang="en-US" smtClean="0"/>
              <a:t>‹#›</a:t>
            </a:fld>
            <a:endParaRPr lang="zh-CN" altLang="en-US"/>
          </a:p>
        </p:txBody>
      </p:sp>
    </p:spTree>
    <p:extLst>
      <p:ext uri="{BB962C8B-B14F-4D97-AF65-F5344CB8AC3E}">
        <p14:creationId xmlns:p14="http://schemas.microsoft.com/office/powerpoint/2010/main" val="252558487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1CAD563-42A9-4912-819E-A53333D47224}" type="datetimeFigureOut">
              <a:rPr lang="zh-CN" altLang="en-US" smtClean="0"/>
              <a:t>2026/4/1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6F869D6-B2B5-498E-BFD1-21B78FEA021D}" type="slidenum">
              <a:rPr lang="zh-CN" altLang="en-US" smtClean="0"/>
              <a:t>‹#›</a:t>
            </a:fld>
            <a:endParaRPr lang="zh-CN" altLang="en-US"/>
          </a:p>
        </p:txBody>
      </p:sp>
    </p:spTree>
    <p:extLst>
      <p:ext uri="{BB962C8B-B14F-4D97-AF65-F5344CB8AC3E}">
        <p14:creationId xmlns:p14="http://schemas.microsoft.com/office/powerpoint/2010/main" val="34148982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91CAD563-42A9-4912-819E-A53333D47224}" type="datetimeFigureOut">
              <a:rPr lang="zh-CN" altLang="en-US" smtClean="0"/>
              <a:t>2026/4/1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6F869D6-B2B5-498E-BFD1-21B78FEA021D}" type="slidenum">
              <a:rPr lang="zh-CN" altLang="en-US" smtClean="0"/>
              <a:t>‹#›</a:t>
            </a:fld>
            <a:endParaRPr lang="zh-CN" altLang="en-US"/>
          </a:p>
        </p:txBody>
      </p:sp>
    </p:spTree>
    <p:extLst>
      <p:ext uri="{BB962C8B-B14F-4D97-AF65-F5344CB8AC3E}">
        <p14:creationId xmlns:p14="http://schemas.microsoft.com/office/powerpoint/2010/main" val="351043806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91CAD563-42A9-4912-819E-A53333D47224}" type="datetimeFigureOut">
              <a:rPr lang="zh-CN" altLang="en-US" smtClean="0"/>
              <a:t>2026/4/1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6F869D6-B2B5-498E-BFD1-21B78FEA021D}" type="slidenum">
              <a:rPr lang="zh-CN" altLang="en-US" smtClean="0"/>
              <a:t>‹#›</a:t>
            </a:fld>
            <a:endParaRPr lang="zh-CN" altLang="en-US"/>
          </a:p>
        </p:txBody>
      </p:sp>
    </p:spTree>
    <p:extLst>
      <p:ext uri="{BB962C8B-B14F-4D97-AF65-F5344CB8AC3E}">
        <p14:creationId xmlns:p14="http://schemas.microsoft.com/office/powerpoint/2010/main" val="17431689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1.xml"/><Relationship Id="rId18" Type="http://schemas.openxmlformats.org/officeDocument/2006/relationships/tags" Target="../tags/tag6.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5.xml"/><Relationship Id="rId2" Type="http://schemas.openxmlformats.org/officeDocument/2006/relationships/slideLayout" Target="../slideLayouts/slideLayout2.xml"/><Relationship Id="rId16" Type="http://schemas.openxmlformats.org/officeDocument/2006/relationships/tags" Target="../tags/tag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3.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1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t>2026/4/1</a:t>
            </a:fld>
            <a:endParaRPr lang="zh-CN" altLang="en-US"/>
          </a:p>
        </p:txBody>
      </p:sp>
      <p:sp>
        <p:nvSpPr>
          <p:cNvPr id="5" name="页脚占位符 4"/>
          <p:cNvSpPr>
            <a:spLocks noGrp="1"/>
          </p:cNvSpPr>
          <p:nvPr>
            <p:ph type="ftr" sz="quarter" idx="3"/>
            <p:custDataLst>
              <p:tags r:id="rId1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a:t>
            </a:fld>
            <a:endParaRPr lang="zh-CN" altLang="en-US" dirty="0"/>
          </a:p>
        </p:txBody>
      </p:sp>
    </p:spTree>
    <p:custDataLst>
      <p:tags r:id="rId13"/>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1CAD563-42A9-4912-819E-A53333D47224}" type="datetimeFigureOut">
              <a:rPr lang="zh-CN" altLang="en-US" smtClean="0"/>
              <a:t>2026/4/1</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F869D6-B2B5-498E-BFD1-21B78FEA021D}" type="slidenum">
              <a:rPr lang="zh-CN" altLang="en-US" smtClean="0"/>
              <a:t>‹#›</a:t>
            </a:fld>
            <a:endParaRPr lang="zh-CN" altLang="en-US"/>
          </a:p>
        </p:txBody>
      </p:sp>
    </p:spTree>
    <p:extLst>
      <p:ext uri="{BB962C8B-B14F-4D97-AF65-F5344CB8AC3E}">
        <p14:creationId xmlns:p14="http://schemas.microsoft.com/office/powerpoint/2010/main" val="9711358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4.xml"/><Relationship Id="rId1" Type="http://schemas.openxmlformats.org/officeDocument/2006/relationships/tags" Target="../tags/tag63.xml"/><Relationship Id="rId5" Type="http://schemas.microsoft.com/office/2007/relationships/hdphoto" Target="../media/hdphoto1.wdp"/><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65.xml"/><Relationship Id="rId5" Type="http://schemas.microsoft.com/office/2007/relationships/hdphoto" Target="../media/hdphoto2.wdp"/><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66.xml"/><Relationship Id="rId5" Type="http://schemas.microsoft.com/office/2007/relationships/hdphoto" Target="../media/hdphoto2.wdp"/><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67.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68.xml"/><Relationship Id="rId5" Type="http://schemas.microsoft.com/office/2007/relationships/hdphoto" Target="../media/hdphoto2.wdp"/><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69.xml"/><Relationship Id="rId5" Type="http://schemas.microsoft.com/office/2007/relationships/hdphoto" Target="../media/hdphoto2.wdp"/><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70.xml"/><Relationship Id="rId6" Type="http://schemas.openxmlformats.org/officeDocument/2006/relationships/image" Target="../media/image4.png"/><Relationship Id="rId5" Type="http://schemas.microsoft.com/office/2007/relationships/hdphoto" Target="../media/hdphoto2.wdp"/><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7" Type="http://schemas.openxmlformats.org/officeDocument/2006/relationships/image" Target="../media/image6.png"/><Relationship Id="rId2" Type="http://schemas.openxmlformats.org/officeDocument/2006/relationships/slideLayout" Target="../slideLayouts/slideLayout1.xml"/><Relationship Id="rId1" Type="http://schemas.openxmlformats.org/officeDocument/2006/relationships/tags" Target="../tags/tag71.xml"/><Relationship Id="rId6" Type="http://schemas.openxmlformats.org/officeDocument/2006/relationships/image" Target="../media/image5.png"/><Relationship Id="rId5" Type="http://schemas.microsoft.com/office/2007/relationships/hdphoto" Target="../media/hdphoto2.wdp"/><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notesSlide" Target="../notesSlides/notesSlide8.xml"/><Relationship Id="rId7" Type="http://schemas.openxmlformats.org/officeDocument/2006/relationships/image" Target="../media/image8.png"/><Relationship Id="rId2" Type="http://schemas.openxmlformats.org/officeDocument/2006/relationships/slideLayout" Target="../slideLayouts/slideLayout1.xml"/><Relationship Id="rId1" Type="http://schemas.openxmlformats.org/officeDocument/2006/relationships/tags" Target="../tags/tag72.xml"/><Relationship Id="rId6" Type="http://schemas.openxmlformats.org/officeDocument/2006/relationships/image" Target="../media/image7.png"/><Relationship Id="rId5" Type="http://schemas.microsoft.com/office/2007/relationships/hdphoto" Target="../media/hdphoto2.wdp"/><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notesSlide" Target="../notesSlides/notesSlide9.xml"/><Relationship Id="rId7" Type="http://schemas.openxmlformats.org/officeDocument/2006/relationships/image" Target="../media/image11.png"/><Relationship Id="rId2" Type="http://schemas.openxmlformats.org/officeDocument/2006/relationships/slideLayout" Target="../slideLayouts/slideLayout1.xml"/><Relationship Id="rId1" Type="http://schemas.openxmlformats.org/officeDocument/2006/relationships/tags" Target="../tags/tag73.xml"/><Relationship Id="rId6" Type="http://schemas.openxmlformats.org/officeDocument/2006/relationships/image" Target="../media/image10.png"/><Relationship Id="rId5" Type="http://schemas.microsoft.com/office/2007/relationships/hdphoto" Target="../media/hdphoto2.wdp"/><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74.xml"/><Relationship Id="rId5" Type="http://schemas.microsoft.com/office/2007/relationships/hdphoto" Target="../media/hdphoto2.wdp"/><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ags" Target="../tags/tag75.xml"/><Relationship Id="rId5" Type="http://schemas.microsoft.com/office/2007/relationships/hdphoto" Target="../media/hdphoto2.wdp"/><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tags" Target="../tags/tag76.xml"/><Relationship Id="rId6" Type="http://schemas.openxmlformats.org/officeDocument/2006/relationships/image" Target="../media/image13.png"/><Relationship Id="rId5" Type="http://schemas.microsoft.com/office/2007/relationships/hdphoto" Target="../media/hdphoto2.wdp"/><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tags" Target="../tags/tag77.xml"/><Relationship Id="rId6" Type="http://schemas.openxmlformats.org/officeDocument/2006/relationships/image" Target="../media/image14.png"/><Relationship Id="rId5" Type="http://schemas.microsoft.com/office/2007/relationships/hdphoto" Target="../media/hdphoto2.wdp"/><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notesSlide" Target="../notesSlides/notesSlide14.xml"/><Relationship Id="rId7" Type="http://schemas.openxmlformats.org/officeDocument/2006/relationships/image" Target="../media/image16.png"/><Relationship Id="rId2" Type="http://schemas.openxmlformats.org/officeDocument/2006/relationships/slideLayout" Target="../slideLayouts/slideLayout1.xml"/><Relationship Id="rId1" Type="http://schemas.openxmlformats.org/officeDocument/2006/relationships/tags" Target="../tags/tag78.xml"/><Relationship Id="rId6" Type="http://schemas.openxmlformats.org/officeDocument/2006/relationships/image" Target="../media/image15.png"/><Relationship Id="rId5" Type="http://schemas.microsoft.com/office/2007/relationships/hdphoto" Target="../media/hdphoto2.wdp"/><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tags" Target="../tags/tag79.xml"/><Relationship Id="rId6" Type="http://schemas.openxmlformats.org/officeDocument/2006/relationships/image" Target="../media/image18.png"/><Relationship Id="rId5" Type="http://schemas.microsoft.com/office/2007/relationships/hdphoto" Target="../media/hdphoto2.wdp"/><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tags" Target="../tags/tag80.xml"/><Relationship Id="rId6" Type="http://schemas.openxmlformats.org/officeDocument/2006/relationships/image" Target="../media/image19.png"/><Relationship Id="rId5" Type="http://schemas.microsoft.com/office/2007/relationships/hdphoto" Target="../media/hdphoto2.wdp"/><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tags" Target="../tags/tag81.xml"/><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tags" Target="../tags/tag82.xml"/><Relationship Id="rId5" Type="http://schemas.microsoft.com/office/2007/relationships/hdphoto" Target="../media/hdphoto2.wdp"/><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tags" Target="../tags/tag83.xml"/><Relationship Id="rId5" Type="http://schemas.microsoft.com/office/2007/relationships/hdphoto" Target="../media/hdphoto2.wdp"/><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0.xml"/><Relationship Id="rId7" Type="http://schemas.openxmlformats.org/officeDocument/2006/relationships/image" Target="../media/image22.png"/><Relationship Id="rId2" Type="http://schemas.openxmlformats.org/officeDocument/2006/relationships/slideLayout" Target="../slideLayouts/slideLayout1.xml"/><Relationship Id="rId1" Type="http://schemas.openxmlformats.org/officeDocument/2006/relationships/tags" Target="../tags/tag84.xml"/><Relationship Id="rId6" Type="http://schemas.openxmlformats.org/officeDocument/2006/relationships/image" Target="../media/image21.png"/><Relationship Id="rId5" Type="http://schemas.microsoft.com/office/2007/relationships/hdphoto" Target="../media/hdphoto2.wdp"/><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tags" Target="../tags/tag85.xml"/><Relationship Id="rId6" Type="http://schemas.openxmlformats.org/officeDocument/2006/relationships/image" Target="../media/image23.png"/><Relationship Id="rId5" Type="http://schemas.microsoft.com/office/2007/relationships/hdphoto" Target="../media/hdphoto2.wdp"/><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notesSlide" Target="../notesSlides/notesSlide22.xml"/><Relationship Id="rId7" Type="http://schemas.openxmlformats.org/officeDocument/2006/relationships/image" Target="../media/image25.png"/><Relationship Id="rId2" Type="http://schemas.openxmlformats.org/officeDocument/2006/relationships/slideLayout" Target="../slideLayouts/slideLayout1.xml"/><Relationship Id="rId1" Type="http://schemas.openxmlformats.org/officeDocument/2006/relationships/tags" Target="../tags/tag86.xml"/><Relationship Id="rId6" Type="http://schemas.openxmlformats.org/officeDocument/2006/relationships/image" Target="../media/image24.png"/><Relationship Id="rId5" Type="http://schemas.microsoft.com/office/2007/relationships/hdphoto" Target="../media/hdphoto2.wdp"/><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3.xml"/><Relationship Id="rId7" Type="http://schemas.openxmlformats.org/officeDocument/2006/relationships/image" Target="../media/image28.png"/><Relationship Id="rId2" Type="http://schemas.openxmlformats.org/officeDocument/2006/relationships/slideLayout" Target="../slideLayouts/slideLayout1.xml"/><Relationship Id="rId1" Type="http://schemas.openxmlformats.org/officeDocument/2006/relationships/tags" Target="../tags/tag87.xml"/><Relationship Id="rId6" Type="http://schemas.openxmlformats.org/officeDocument/2006/relationships/image" Target="../media/image27.png"/><Relationship Id="rId5" Type="http://schemas.microsoft.com/office/2007/relationships/hdphoto" Target="../media/hdphoto2.wdp"/><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4.xml"/><Relationship Id="rId7" Type="http://schemas.openxmlformats.org/officeDocument/2006/relationships/image" Target="../media/image30.png"/><Relationship Id="rId2" Type="http://schemas.openxmlformats.org/officeDocument/2006/relationships/slideLayout" Target="../slideLayouts/slideLayout1.xml"/><Relationship Id="rId1" Type="http://schemas.openxmlformats.org/officeDocument/2006/relationships/tags" Target="../tags/tag88.xml"/><Relationship Id="rId6" Type="http://schemas.openxmlformats.org/officeDocument/2006/relationships/image" Target="../media/image29.png"/><Relationship Id="rId5" Type="http://schemas.microsoft.com/office/2007/relationships/hdphoto" Target="../media/hdphoto2.wdp"/><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xml"/><Relationship Id="rId1" Type="http://schemas.openxmlformats.org/officeDocument/2006/relationships/tags" Target="../tags/tag89.xml"/><Relationship Id="rId5" Type="http://schemas.microsoft.com/office/2007/relationships/hdphoto" Target="../media/hdphoto2.wdp"/><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xml"/><Relationship Id="rId1" Type="http://schemas.openxmlformats.org/officeDocument/2006/relationships/tags" Target="../tags/tag90.xml"/><Relationship Id="rId6" Type="http://schemas.openxmlformats.org/officeDocument/2006/relationships/image" Target="../media/image31.png"/><Relationship Id="rId5" Type="http://schemas.microsoft.com/office/2007/relationships/hdphoto" Target="../media/hdphoto2.wdp"/><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7.xml"/><Relationship Id="rId7" Type="http://schemas.openxmlformats.org/officeDocument/2006/relationships/image" Target="../media/image33.png"/><Relationship Id="rId2" Type="http://schemas.openxmlformats.org/officeDocument/2006/relationships/slideLayout" Target="../slideLayouts/slideLayout1.xml"/><Relationship Id="rId1" Type="http://schemas.openxmlformats.org/officeDocument/2006/relationships/tags" Target="../tags/tag91.xml"/><Relationship Id="rId6" Type="http://schemas.openxmlformats.org/officeDocument/2006/relationships/image" Target="../media/image32.png"/><Relationship Id="rId5" Type="http://schemas.microsoft.com/office/2007/relationships/hdphoto" Target="../media/hdphoto2.wdp"/><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xml"/><Relationship Id="rId1" Type="http://schemas.openxmlformats.org/officeDocument/2006/relationships/tags" Target="../tags/tag92.xml"/><Relationship Id="rId6" Type="http://schemas.openxmlformats.org/officeDocument/2006/relationships/image" Target="../media/image34.png"/><Relationship Id="rId5" Type="http://schemas.microsoft.com/office/2007/relationships/hdphoto" Target="../media/hdphoto2.wdp"/><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notesSlide" Target="../notesSlides/notesSlide29.xml"/><Relationship Id="rId7" Type="http://schemas.openxmlformats.org/officeDocument/2006/relationships/image" Target="../media/image36.png"/><Relationship Id="rId2" Type="http://schemas.openxmlformats.org/officeDocument/2006/relationships/slideLayout" Target="../slideLayouts/slideLayout1.xml"/><Relationship Id="rId1" Type="http://schemas.openxmlformats.org/officeDocument/2006/relationships/tags" Target="../tags/tag93.xml"/><Relationship Id="rId6" Type="http://schemas.openxmlformats.org/officeDocument/2006/relationships/image" Target="../media/image35.png"/><Relationship Id="rId5" Type="http://schemas.microsoft.com/office/2007/relationships/hdphoto" Target="../media/hdphoto2.wdp"/><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0.xml"/><Relationship Id="rId7" Type="http://schemas.openxmlformats.org/officeDocument/2006/relationships/image" Target="../media/image27.png"/><Relationship Id="rId2" Type="http://schemas.openxmlformats.org/officeDocument/2006/relationships/slideLayout" Target="../slideLayouts/slideLayout1.xml"/><Relationship Id="rId1" Type="http://schemas.openxmlformats.org/officeDocument/2006/relationships/tags" Target="../tags/tag94.xml"/><Relationship Id="rId6" Type="http://schemas.openxmlformats.org/officeDocument/2006/relationships/image" Target="../media/image38.png"/><Relationship Id="rId5" Type="http://schemas.microsoft.com/office/2007/relationships/hdphoto" Target="../media/hdphoto2.wdp"/><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xml"/><Relationship Id="rId1" Type="http://schemas.openxmlformats.org/officeDocument/2006/relationships/tags" Target="../tags/tag95.xml"/><Relationship Id="rId6" Type="http://schemas.openxmlformats.org/officeDocument/2006/relationships/image" Target="../media/image39.png"/><Relationship Id="rId5" Type="http://schemas.microsoft.com/office/2007/relationships/hdphoto" Target="../media/hdphoto2.wdp"/><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9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5A5AAA7F-B1BD-F9A5-A346-B31F2EF648CD}"/>
              </a:ext>
            </a:extLst>
          </p:cNvPr>
          <p:cNvSpPr txBox="1"/>
          <p:nvPr/>
        </p:nvSpPr>
        <p:spPr>
          <a:xfrm>
            <a:off x="4451350" y="5802630"/>
            <a:ext cx="3289300" cy="368300"/>
          </a:xfrm>
          <a:prstGeom prst="rect">
            <a:avLst/>
          </a:prstGeom>
          <a:noFill/>
        </p:spPr>
        <p:txBody>
          <a:bodyPr wrap="square" rtlCol="0">
            <a:spAutoFit/>
          </a:bodyPr>
          <a:lstStyle/>
          <a:p>
            <a:pPr algn="ctr"/>
            <a:r>
              <a:rPr lang="en-US" altLang="zh-CN" dirty="0">
                <a:solidFill>
                  <a:schemeClr val="bg1"/>
                </a:solidFill>
                <a:latin typeface="印品黑体" panose="00000500000000000000" pitchFamily="2" charset="-122"/>
                <a:ea typeface="印品黑体" panose="00000500000000000000" pitchFamily="2" charset="-122"/>
              </a:rPr>
              <a:t>2026.04.01</a:t>
            </a:r>
          </a:p>
        </p:txBody>
      </p:sp>
      <p:sp>
        <p:nvSpPr>
          <p:cNvPr id="5" name="文本框 4">
            <a:extLst>
              <a:ext uri="{FF2B5EF4-FFF2-40B4-BE49-F238E27FC236}">
                <a16:creationId xmlns:a16="http://schemas.microsoft.com/office/drawing/2014/main" id="{8D174A49-5061-F106-5097-3A315363A302}"/>
              </a:ext>
            </a:extLst>
          </p:cNvPr>
          <p:cNvSpPr txBox="1"/>
          <p:nvPr/>
        </p:nvSpPr>
        <p:spPr>
          <a:xfrm>
            <a:off x="491172" y="2409618"/>
            <a:ext cx="11209655" cy="1019382"/>
          </a:xfrm>
          <a:prstGeom prst="rect">
            <a:avLst/>
          </a:prstGeom>
          <a:noFill/>
        </p:spPr>
        <p:txBody>
          <a:bodyPr wrap="square" rtlCol="0">
            <a:spAutoFit/>
          </a:bodyPr>
          <a:lstStyle/>
          <a:p>
            <a:pPr algn="ctr">
              <a:lnSpc>
                <a:spcPct val="130000"/>
              </a:lnSpc>
            </a:pPr>
            <a:r>
              <a:rPr lang="zh-CN" altLang="en-US" sz="5400" dirty="0">
                <a:solidFill>
                  <a:schemeClr val="bg1"/>
                </a:solidFill>
                <a:latin typeface="黑体" panose="02010609060101010101" charset="-122"/>
                <a:ea typeface="黑体" panose="02010609060101010101" charset="-122"/>
                <a:cs typeface="Sitka Heading" charset="0"/>
              </a:rPr>
              <a:t>语义聚合无监督训练与规划器优化</a:t>
            </a:r>
            <a:endParaRPr lang="zh-CN" altLang="en-US" sz="5400" dirty="0">
              <a:solidFill>
                <a:schemeClr val="bg1"/>
              </a:solidFill>
              <a:uFillTx/>
              <a:latin typeface="黑体" panose="02010609060101010101" charset="-122"/>
              <a:ea typeface="黑体" panose="02010609060101010101" charset="-122"/>
              <a:cs typeface="Sitka Heading" charset="0"/>
            </a:endParaRPr>
          </a:p>
        </p:txBody>
      </p:sp>
      <p:pic>
        <p:nvPicPr>
          <p:cNvPr id="6" name="图片 5">
            <a:extLst>
              <a:ext uri="{FF2B5EF4-FFF2-40B4-BE49-F238E27FC236}">
                <a16:creationId xmlns:a16="http://schemas.microsoft.com/office/drawing/2014/main" id="{2763F354-72D7-ACF0-D09A-B91A678956A6}"/>
              </a:ext>
            </a:extLst>
          </p:cNvPr>
          <p:cNvPicPr>
            <a:picLocks noChangeAspect="1"/>
          </p:cNvPicPr>
          <p:nvPr>
            <p:custDataLst>
              <p:tags r:id="rId1"/>
            </p:custDataLst>
          </p:nvPr>
        </p:nvPicPr>
        <p:blipFill>
          <a:blip r:embed="rId4" cstate="print">
            <a:duotone>
              <a:schemeClr val="bg2">
                <a:shade val="45000"/>
                <a:satMod val="135000"/>
              </a:schemeClr>
              <a:prstClr val="white"/>
            </a:duotone>
            <a:extLst>
              <a:ext uri="{BEBA8EAE-BF5A-486C-A8C5-ECC9F3942E4B}">
                <a14:imgProps xmlns:a14="http://schemas.microsoft.com/office/drawing/2010/main">
                  <a14:imgLayer r:embed="rId5">
                    <a14:imgEffect>
                      <a14:brightnessContrast bright="20000"/>
                    </a14:imgEffect>
                  </a14:imgLayer>
                </a14:imgProps>
              </a:ext>
              <a:ext uri="{28A0092B-C50C-407E-A947-70E740481C1C}">
                <a14:useLocalDpi xmlns:a14="http://schemas.microsoft.com/office/drawing/2010/main" val="0"/>
              </a:ext>
            </a:extLst>
          </a:blip>
          <a:stretch>
            <a:fillRect/>
          </a:stretch>
        </p:blipFill>
        <p:spPr>
          <a:xfrm>
            <a:off x="264160" y="288290"/>
            <a:ext cx="1200785" cy="1200785"/>
          </a:xfrm>
          <a:prstGeom prst="rect">
            <a:avLst/>
          </a:prstGeom>
        </p:spPr>
      </p:pic>
      <p:sp>
        <p:nvSpPr>
          <p:cNvPr id="7" name="文本框 6">
            <a:extLst>
              <a:ext uri="{FF2B5EF4-FFF2-40B4-BE49-F238E27FC236}">
                <a16:creationId xmlns:a16="http://schemas.microsoft.com/office/drawing/2014/main" id="{093AE698-B03B-29EA-B03E-AE88C311560A}"/>
              </a:ext>
            </a:extLst>
          </p:cNvPr>
          <p:cNvSpPr txBox="1"/>
          <p:nvPr>
            <p:custDataLst>
              <p:tags r:id="rId2"/>
            </p:custDataLst>
          </p:nvPr>
        </p:nvSpPr>
        <p:spPr>
          <a:xfrm>
            <a:off x="4451350" y="5294630"/>
            <a:ext cx="3289300" cy="368300"/>
          </a:xfrm>
          <a:prstGeom prst="rect">
            <a:avLst/>
          </a:prstGeom>
          <a:noFill/>
        </p:spPr>
        <p:txBody>
          <a:bodyPr wrap="square" rtlCol="0">
            <a:spAutoFit/>
          </a:bodyPr>
          <a:lstStyle/>
          <a:p>
            <a:pPr algn="ctr"/>
            <a:r>
              <a:rPr lang="zh-CN" altLang="en-US" dirty="0">
                <a:solidFill>
                  <a:schemeClr val="bg1"/>
                </a:solidFill>
                <a:latin typeface="印品黑体" panose="00000500000000000000" pitchFamily="2" charset="-122"/>
                <a:ea typeface="印品黑体" panose="00000500000000000000" pitchFamily="2" charset="-122"/>
              </a:rPr>
              <a:t>报告人：郭政</a:t>
            </a:r>
          </a:p>
        </p:txBody>
      </p:sp>
    </p:spTree>
    <p:extLst>
      <p:ext uri="{BB962C8B-B14F-4D97-AF65-F5344CB8AC3E}">
        <p14:creationId xmlns:p14="http://schemas.microsoft.com/office/powerpoint/2010/main" val="552448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E061C-7716-4CA6-0E87-0C5D047C918B}"/>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359364B4-6A14-CF55-F685-2AE936979215}"/>
              </a:ext>
            </a:extLst>
          </p:cNvPr>
          <p:cNvSpPr/>
          <p:nvPr/>
        </p:nvSpPr>
        <p:spPr>
          <a:xfrm>
            <a:off x="-10160" y="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 name="文本占位符 1">
            <a:extLst>
              <a:ext uri="{FF2B5EF4-FFF2-40B4-BE49-F238E27FC236}">
                <a16:creationId xmlns:a16="http://schemas.microsoft.com/office/drawing/2014/main" id="{3F8D19D1-32BA-1BF6-5078-738377A8B894}"/>
              </a:ext>
            </a:extLst>
          </p:cNvPr>
          <p:cNvSpPr>
            <a:spLocks noGrp="1"/>
          </p:cNvSpPr>
          <p:nvPr/>
        </p:nvSpPr>
        <p:spPr>
          <a:xfrm>
            <a:off x="892175" y="7620"/>
            <a:ext cx="10426065" cy="683260"/>
          </a:xfrm>
          <a:prstGeom prst="rect">
            <a:avLst/>
          </a:prstGeom>
        </p:spPr>
        <p:txBody>
          <a:bodyPr anchor="ctr" anchorCtr="0"/>
          <a:lstStyle>
            <a:defPPr>
              <a:defRPr lang="zh-CN"/>
            </a:defPPr>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800" dirty="0"/>
              <a:t>Agentic Reasoning for Large Language Models</a:t>
            </a:r>
            <a:endParaRPr kumimoji="1" lang="zh-CN" altLang="en-US" sz="2500" dirty="0"/>
          </a:p>
        </p:txBody>
      </p:sp>
      <p:pic>
        <p:nvPicPr>
          <p:cNvPr id="6" name="图片 5">
            <a:extLst>
              <a:ext uri="{FF2B5EF4-FFF2-40B4-BE49-F238E27FC236}">
                <a16:creationId xmlns:a16="http://schemas.microsoft.com/office/drawing/2014/main" id="{53DB3A12-9ED2-7300-760E-4EE654FC1ECA}"/>
              </a:ext>
            </a:extLst>
          </p:cNvPr>
          <p:cNvPicPr>
            <a:picLocks noChangeAspect="1"/>
          </p:cNvPicPr>
          <p:nvPr/>
        </p:nvPicPr>
        <p:blipFill>
          <a:blip r:embed="rId4" cstate="print">
            <a:duotone>
              <a:schemeClr val="bg2">
                <a:shade val="45000"/>
                <a:satMod val="135000"/>
              </a:schemeClr>
              <a:prstClr val="white"/>
            </a:duotone>
            <a:extLst>
              <a:ext uri="{BEBA8EAE-BF5A-486C-A8C5-ECC9F3942E4B}">
                <a14:imgProps xmlns:a14="http://schemas.microsoft.com/office/drawing/2010/main">
                  <a14:imgLayer r:embed="rId5">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9370"/>
            <a:ext cx="612140" cy="612140"/>
          </a:xfrm>
          <a:prstGeom prst="rect">
            <a:avLst/>
          </a:prstGeom>
        </p:spPr>
      </p:pic>
      <p:sp>
        <p:nvSpPr>
          <p:cNvPr id="3" name="矩形 2">
            <a:extLst>
              <a:ext uri="{FF2B5EF4-FFF2-40B4-BE49-F238E27FC236}">
                <a16:creationId xmlns:a16="http://schemas.microsoft.com/office/drawing/2014/main" id="{A840411B-EF96-8210-336F-351A3786202F}"/>
              </a:ext>
            </a:extLst>
          </p:cNvPr>
          <p:cNvSpPr/>
          <p:nvPr/>
        </p:nvSpPr>
        <p:spPr>
          <a:xfrm>
            <a:off x="2314878" y="1352381"/>
            <a:ext cx="2610035" cy="46785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圆角 6">
            <a:extLst>
              <a:ext uri="{FF2B5EF4-FFF2-40B4-BE49-F238E27FC236}">
                <a16:creationId xmlns:a16="http://schemas.microsoft.com/office/drawing/2014/main" id="{2370D380-9F8C-9374-B4FE-FF360C321AF4}"/>
              </a:ext>
            </a:extLst>
          </p:cNvPr>
          <p:cNvSpPr/>
          <p:nvPr/>
        </p:nvSpPr>
        <p:spPr>
          <a:xfrm>
            <a:off x="2541258" y="1842871"/>
            <a:ext cx="2157274" cy="958789"/>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solidFill>
              </a:rPr>
              <a:t>基础层</a:t>
            </a:r>
          </a:p>
        </p:txBody>
      </p:sp>
      <p:sp>
        <p:nvSpPr>
          <p:cNvPr id="8" name="矩形: 圆角 7">
            <a:extLst>
              <a:ext uri="{FF2B5EF4-FFF2-40B4-BE49-F238E27FC236}">
                <a16:creationId xmlns:a16="http://schemas.microsoft.com/office/drawing/2014/main" id="{47D09F74-7036-679E-6490-4B856A075FB6}"/>
              </a:ext>
            </a:extLst>
          </p:cNvPr>
          <p:cNvSpPr/>
          <p:nvPr/>
        </p:nvSpPr>
        <p:spPr>
          <a:xfrm>
            <a:off x="2541258" y="3212252"/>
            <a:ext cx="2157274" cy="958789"/>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solidFill>
              </a:rPr>
              <a:t>进化层</a:t>
            </a:r>
          </a:p>
        </p:txBody>
      </p:sp>
      <p:sp>
        <p:nvSpPr>
          <p:cNvPr id="9" name="矩形: 圆角 8">
            <a:extLst>
              <a:ext uri="{FF2B5EF4-FFF2-40B4-BE49-F238E27FC236}">
                <a16:creationId xmlns:a16="http://schemas.microsoft.com/office/drawing/2014/main" id="{723FF1F4-1974-5262-D1D5-D909A6FD3E64}"/>
              </a:ext>
            </a:extLst>
          </p:cNvPr>
          <p:cNvSpPr/>
          <p:nvPr/>
        </p:nvSpPr>
        <p:spPr>
          <a:xfrm>
            <a:off x="2541258" y="4621582"/>
            <a:ext cx="2157274" cy="958789"/>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solidFill>
              </a:rPr>
              <a:t>协作层</a:t>
            </a:r>
          </a:p>
        </p:txBody>
      </p:sp>
      <p:sp>
        <p:nvSpPr>
          <p:cNvPr id="10" name="左大括号 9">
            <a:extLst>
              <a:ext uri="{FF2B5EF4-FFF2-40B4-BE49-F238E27FC236}">
                <a16:creationId xmlns:a16="http://schemas.microsoft.com/office/drawing/2014/main" id="{2FABA607-661C-AC94-5978-CA8B603B5516}"/>
              </a:ext>
            </a:extLst>
          </p:cNvPr>
          <p:cNvSpPr/>
          <p:nvPr/>
        </p:nvSpPr>
        <p:spPr>
          <a:xfrm>
            <a:off x="1799973" y="1532154"/>
            <a:ext cx="257453" cy="449875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1876F87F-0666-1615-5AD0-5A89FEC8F4B5}"/>
              </a:ext>
            </a:extLst>
          </p:cNvPr>
          <p:cNvSpPr txBox="1"/>
          <p:nvPr/>
        </p:nvSpPr>
        <p:spPr>
          <a:xfrm>
            <a:off x="703580" y="3565139"/>
            <a:ext cx="1029810" cy="369332"/>
          </a:xfrm>
          <a:prstGeom prst="rect">
            <a:avLst/>
          </a:prstGeom>
          <a:noFill/>
        </p:spPr>
        <p:txBody>
          <a:bodyPr wrap="square" rtlCol="0">
            <a:spAutoFit/>
          </a:bodyPr>
          <a:lstStyle/>
          <a:p>
            <a:pPr algn="ctr"/>
            <a:r>
              <a:rPr lang="en-US" altLang="zh-CN" dirty="0"/>
              <a:t>agent</a:t>
            </a:r>
            <a:endParaRPr lang="zh-CN" altLang="en-US" dirty="0"/>
          </a:p>
        </p:txBody>
      </p:sp>
      <p:sp>
        <p:nvSpPr>
          <p:cNvPr id="12" name="左大括号 11">
            <a:extLst>
              <a:ext uri="{FF2B5EF4-FFF2-40B4-BE49-F238E27FC236}">
                <a16:creationId xmlns:a16="http://schemas.microsoft.com/office/drawing/2014/main" id="{6320ECE0-37BC-FD1A-42DA-5BDBCC680381}"/>
              </a:ext>
            </a:extLst>
          </p:cNvPr>
          <p:cNvSpPr/>
          <p:nvPr/>
        </p:nvSpPr>
        <p:spPr>
          <a:xfrm>
            <a:off x="5182365" y="1740222"/>
            <a:ext cx="375492" cy="116408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 name="左大括号 12">
            <a:extLst>
              <a:ext uri="{FF2B5EF4-FFF2-40B4-BE49-F238E27FC236}">
                <a16:creationId xmlns:a16="http://schemas.microsoft.com/office/drawing/2014/main" id="{5AF193B5-A9BC-07D0-B0A2-A1EBD628D499}"/>
              </a:ext>
            </a:extLst>
          </p:cNvPr>
          <p:cNvSpPr/>
          <p:nvPr/>
        </p:nvSpPr>
        <p:spPr>
          <a:xfrm>
            <a:off x="5182365" y="3108960"/>
            <a:ext cx="375492" cy="116408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4" name="左大括号 13">
            <a:extLst>
              <a:ext uri="{FF2B5EF4-FFF2-40B4-BE49-F238E27FC236}">
                <a16:creationId xmlns:a16="http://schemas.microsoft.com/office/drawing/2014/main" id="{96AA61F7-85A7-10B9-3E20-1BE3C5EA9A3A}"/>
              </a:ext>
            </a:extLst>
          </p:cNvPr>
          <p:cNvSpPr/>
          <p:nvPr/>
        </p:nvSpPr>
        <p:spPr>
          <a:xfrm>
            <a:off x="5182365" y="4621582"/>
            <a:ext cx="375492" cy="116408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5" name="矩形: 圆角 14">
            <a:extLst>
              <a:ext uri="{FF2B5EF4-FFF2-40B4-BE49-F238E27FC236}">
                <a16:creationId xmlns:a16="http://schemas.microsoft.com/office/drawing/2014/main" id="{32090FED-B34A-E97F-44E1-C28A2C5C532B}"/>
              </a:ext>
            </a:extLst>
          </p:cNvPr>
          <p:cNvSpPr/>
          <p:nvPr/>
        </p:nvSpPr>
        <p:spPr>
          <a:xfrm>
            <a:off x="5815310" y="1720522"/>
            <a:ext cx="2234544" cy="47551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规划推理</a:t>
            </a:r>
          </a:p>
        </p:txBody>
      </p:sp>
      <p:sp>
        <p:nvSpPr>
          <p:cNvPr id="16" name="矩形: 圆角 15">
            <a:extLst>
              <a:ext uri="{FF2B5EF4-FFF2-40B4-BE49-F238E27FC236}">
                <a16:creationId xmlns:a16="http://schemas.microsoft.com/office/drawing/2014/main" id="{0709BB39-362A-888D-35B0-2F0A2986CBA7}"/>
              </a:ext>
            </a:extLst>
          </p:cNvPr>
          <p:cNvSpPr/>
          <p:nvPr/>
        </p:nvSpPr>
        <p:spPr>
          <a:xfrm>
            <a:off x="5815309" y="2437672"/>
            <a:ext cx="2234544" cy="47551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智能体搜索</a:t>
            </a:r>
          </a:p>
        </p:txBody>
      </p:sp>
      <p:sp>
        <p:nvSpPr>
          <p:cNvPr id="17" name="矩形: 圆角 16">
            <a:extLst>
              <a:ext uri="{FF2B5EF4-FFF2-40B4-BE49-F238E27FC236}">
                <a16:creationId xmlns:a16="http://schemas.microsoft.com/office/drawing/2014/main" id="{AADC04E0-9EF9-4C1B-CA3F-36FFD9816D44}"/>
              </a:ext>
            </a:extLst>
          </p:cNvPr>
          <p:cNvSpPr/>
          <p:nvPr/>
        </p:nvSpPr>
        <p:spPr>
          <a:xfrm>
            <a:off x="8382435" y="1720522"/>
            <a:ext cx="2234544" cy="47551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工具使用优化</a:t>
            </a:r>
          </a:p>
        </p:txBody>
      </p:sp>
      <p:sp>
        <p:nvSpPr>
          <p:cNvPr id="18" name="矩形: 圆角 17">
            <a:extLst>
              <a:ext uri="{FF2B5EF4-FFF2-40B4-BE49-F238E27FC236}">
                <a16:creationId xmlns:a16="http://schemas.microsoft.com/office/drawing/2014/main" id="{2ACA774C-6275-B928-FBA6-D8FC86BEC9B0}"/>
              </a:ext>
            </a:extLst>
          </p:cNvPr>
          <p:cNvSpPr/>
          <p:nvPr/>
        </p:nvSpPr>
        <p:spPr>
          <a:xfrm>
            <a:off x="5815310" y="3107016"/>
            <a:ext cx="2234544" cy="47551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反馈机制</a:t>
            </a:r>
          </a:p>
        </p:txBody>
      </p:sp>
      <p:sp>
        <p:nvSpPr>
          <p:cNvPr id="19" name="矩形: 圆角 18">
            <a:extLst>
              <a:ext uri="{FF2B5EF4-FFF2-40B4-BE49-F238E27FC236}">
                <a16:creationId xmlns:a16="http://schemas.microsoft.com/office/drawing/2014/main" id="{799F56E6-3773-EEA4-54C2-0C40B4D861A7}"/>
              </a:ext>
            </a:extLst>
          </p:cNvPr>
          <p:cNvSpPr/>
          <p:nvPr/>
        </p:nvSpPr>
        <p:spPr>
          <a:xfrm>
            <a:off x="5815309" y="3824166"/>
            <a:ext cx="2234544" cy="47551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自我进化</a:t>
            </a:r>
          </a:p>
        </p:txBody>
      </p:sp>
      <p:sp>
        <p:nvSpPr>
          <p:cNvPr id="20" name="矩形: 圆角 19">
            <a:extLst>
              <a:ext uri="{FF2B5EF4-FFF2-40B4-BE49-F238E27FC236}">
                <a16:creationId xmlns:a16="http://schemas.microsoft.com/office/drawing/2014/main" id="{E0A49F1C-4641-C73E-BA1D-C6C48938E2F0}"/>
              </a:ext>
            </a:extLst>
          </p:cNvPr>
          <p:cNvSpPr/>
          <p:nvPr/>
        </p:nvSpPr>
        <p:spPr>
          <a:xfrm>
            <a:off x="8382435" y="3107016"/>
            <a:ext cx="2234544" cy="47551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记忆</a:t>
            </a:r>
          </a:p>
        </p:txBody>
      </p:sp>
      <p:sp>
        <p:nvSpPr>
          <p:cNvPr id="21" name="矩形: 圆角 20">
            <a:extLst>
              <a:ext uri="{FF2B5EF4-FFF2-40B4-BE49-F238E27FC236}">
                <a16:creationId xmlns:a16="http://schemas.microsoft.com/office/drawing/2014/main" id="{EB0A9358-81A0-AA9D-3FE0-71ABF0224F30}"/>
              </a:ext>
            </a:extLst>
          </p:cNvPr>
          <p:cNvSpPr/>
          <p:nvPr/>
        </p:nvSpPr>
        <p:spPr>
          <a:xfrm>
            <a:off x="5815310" y="4590698"/>
            <a:ext cx="2234544" cy="47551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角色分类</a:t>
            </a:r>
          </a:p>
        </p:txBody>
      </p:sp>
      <p:sp>
        <p:nvSpPr>
          <p:cNvPr id="22" name="矩形: 圆角 21">
            <a:extLst>
              <a:ext uri="{FF2B5EF4-FFF2-40B4-BE49-F238E27FC236}">
                <a16:creationId xmlns:a16="http://schemas.microsoft.com/office/drawing/2014/main" id="{03613BEA-4DD7-2950-B086-399D8ABA3939}"/>
              </a:ext>
            </a:extLst>
          </p:cNvPr>
          <p:cNvSpPr/>
          <p:nvPr/>
        </p:nvSpPr>
        <p:spPr>
          <a:xfrm>
            <a:off x="5815309" y="5307848"/>
            <a:ext cx="2234544" cy="47551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多智能体</a:t>
            </a:r>
          </a:p>
        </p:txBody>
      </p:sp>
      <p:sp>
        <p:nvSpPr>
          <p:cNvPr id="23" name="矩形: 圆角 22">
            <a:extLst>
              <a:ext uri="{FF2B5EF4-FFF2-40B4-BE49-F238E27FC236}">
                <a16:creationId xmlns:a16="http://schemas.microsoft.com/office/drawing/2014/main" id="{16E29B8E-0343-71FD-A6D3-6BF4D5108489}"/>
              </a:ext>
            </a:extLst>
          </p:cNvPr>
          <p:cNvSpPr/>
          <p:nvPr/>
        </p:nvSpPr>
        <p:spPr>
          <a:xfrm>
            <a:off x="8382435" y="4590698"/>
            <a:ext cx="2234544" cy="47551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协作分工</a:t>
            </a:r>
          </a:p>
        </p:txBody>
      </p:sp>
    </p:spTree>
    <p:custDataLst>
      <p:tags r:id="rId1"/>
    </p:custDataLst>
    <p:extLst>
      <p:ext uri="{BB962C8B-B14F-4D97-AF65-F5344CB8AC3E}">
        <p14:creationId xmlns:p14="http://schemas.microsoft.com/office/powerpoint/2010/main" val="16924925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9B061-D0DA-6E9A-B5B8-F2355CFD2A51}"/>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3684EA42-C15B-D1F2-9513-B62A1C52DBA2}"/>
              </a:ext>
            </a:extLst>
          </p:cNvPr>
          <p:cNvSpPr/>
          <p:nvPr/>
        </p:nvSpPr>
        <p:spPr>
          <a:xfrm>
            <a:off x="-10160" y="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5" name="文本占位符 1">
            <a:extLst>
              <a:ext uri="{FF2B5EF4-FFF2-40B4-BE49-F238E27FC236}">
                <a16:creationId xmlns:a16="http://schemas.microsoft.com/office/drawing/2014/main" id="{CF952AC1-713F-11A8-EAC2-71C9CA7CAECF}"/>
              </a:ext>
            </a:extLst>
          </p:cNvPr>
          <p:cNvSpPr>
            <a:spLocks noGrp="1"/>
          </p:cNvSpPr>
          <p:nvPr/>
        </p:nvSpPr>
        <p:spPr>
          <a:xfrm>
            <a:off x="892175" y="7620"/>
            <a:ext cx="10426065" cy="683260"/>
          </a:xfrm>
          <a:prstGeom prst="rect">
            <a:avLst/>
          </a:prstGeom>
        </p:spPr>
        <p:txBody>
          <a:bodyPr anchor="ctr" anchorCtr="0"/>
          <a:lstStyle>
            <a:defPPr>
              <a:defRPr lang="zh-CN"/>
            </a:defPPr>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400" dirty="0"/>
              <a:t>Agentic Reasoning for Large Language Models</a:t>
            </a:r>
            <a:endParaRPr kumimoji="1" lang="zh-CN" altLang="en-US" sz="2400" dirty="0"/>
          </a:p>
        </p:txBody>
      </p:sp>
      <p:pic>
        <p:nvPicPr>
          <p:cNvPr id="3" name="图片 2">
            <a:extLst>
              <a:ext uri="{FF2B5EF4-FFF2-40B4-BE49-F238E27FC236}">
                <a16:creationId xmlns:a16="http://schemas.microsoft.com/office/drawing/2014/main" id="{50EFD85B-36E4-8703-C430-7797BCF290AF}"/>
              </a:ext>
            </a:extLst>
          </p:cNvPr>
          <p:cNvPicPr>
            <a:picLocks noChangeAspect="1"/>
          </p:cNvPicPr>
          <p:nvPr/>
        </p:nvPicPr>
        <p:blipFill>
          <a:blip r:embed="rId4" cstate="print">
            <a:duotone>
              <a:schemeClr val="bg2">
                <a:shade val="45000"/>
                <a:satMod val="135000"/>
              </a:schemeClr>
              <a:prstClr val="white"/>
            </a:duotone>
            <a:extLst>
              <a:ext uri="{BEBA8EAE-BF5A-486C-A8C5-ECC9F3942E4B}">
                <a14:imgProps xmlns:a14="http://schemas.microsoft.com/office/drawing/2010/main">
                  <a14:imgLayer r:embed="rId5">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9370"/>
            <a:ext cx="612140" cy="612140"/>
          </a:xfrm>
          <a:prstGeom prst="rect">
            <a:avLst/>
          </a:prstGeom>
        </p:spPr>
      </p:pic>
      <p:sp>
        <p:nvSpPr>
          <p:cNvPr id="6" name="矩形: 圆角 5">
            <a:extLst>
              <a:ext uri="{FF2B5EF4-FFF2-40B4-BE49-F238E27FC236}">
                <a16:creationId xmlns:a16="http://schemas.microsoft.com/office/drawing/2014/main" id="{7CCDE1CC-711F-88B6-C48A-14FBA75C6552}"/>
              </a:ext>
            </a:extLst>
          </p:cNvPr>
          <p:cNvSpPr/>
          <p:nvPr/>
        </p:nvSpPr>
        <p:spPr>
          <a:xfrm>
            <a:off x="1948893" y="1118585"/>
            <a:ext cx="2157274" cy="958789"/>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solidFill>
              </a:rPr>
              <a:t>基础层</a:t>
            </a:r>
          </a:p>
        </p:txBody>
      </p:sp>
      <p:sp>
        <p:nvSpPr>
          <p:cNvPr id="7" name="左大括号 6">
            <a:extLst>
              <a:ext uri="{FF2B5EF4-FFF2-40B4-BE49-F238E27FC236}">
                <a16:creationId xmlns:a16="http://schemas.microsoft.com/office/drawing/2014/main" id="{6108A037-A4AC-D517-358A-BC76C1116C45}"/>
              </a:ext>
            </a:extLst>
          </p:cNvPr>
          <p:cNvSpPr/>
          <p:nvPr/>
        </p:nvSpPr>
        <p:spPr>
          <a:xfrm>
            <a:off x="4643021" y="1015936"/>
            <a:ext cx="375492" cy="116408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 name="矩形: 圆角 7">
            <a:extLst>
              <a:ext uri="{FF2B5EF4-FFF2-40B4-BE49-F238E27FC236}">
                <a16:creationId xmlns:a16="http://schemas.microsoft.com/office/drawing/2014/main" id="{02EFE3D6-20E8-FE4D-1F2B-06F1C2355B96}"/>
              </a:ext>
            </a:extLst>
          </p:cNvPr>
          <p:cNvSpPr/>
          <p:nvPr/>
        </p:nvSpPr>
        <p:spPr>
          <a:xfrm>
            <a:off x="5275966" y="996236"/>
            <a:ext cx="2234544" cy="47551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规划推理</a:t>
            </a:r>
          </a:p>
        </p:txBody>
      </p:sp>
      <p:sp>
        <p:nvSpPr>
          <p:cNvPr id="9" name="矩形: 圆角 8">
            <a:extLst>
              <a:ext uri="{FF2B5EF4-FFF2-40B4-BE49-F238E27FC236}">
                <a16:creationId xmlns:a16="http://schemas.microsoft.com/office/drawing/2014/main" id="{AD20F399-3866-5C86-ECF4-7B1B0BB19BD8}"/>
              </a:ext>
            </a:extLst>
          </p:cNvPr>
          <p:cNvSpPr/>
          <p:nvPr/>
        </p:nvSpPr>
        <p:spPr>
          <a:xfrm>
            <a:off x="5275965" y="1713386"/>
            <a:ext cx="2234544" cy="47551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智能体搜索</a:t>
            </a:r>
          </a:p>
        </p:txBody>
      </p:sp>
      <p:sp>
        <p:nvSpPr>
          <p:cNvPr id="10" name="矩形: 圆角 9">
            <a:extLst>
              <a:ext uri="{FF2B5EF4-FFF2-40B4-BE49-F238E27FC236}">
                <a16:creationId xmlns:a16="http://schemas.microsoft.com/office/drawing/2014/main" id="{325C9DA5-BC00-0895-932B-892E1D687F9E}"/>
              </a:ext>
            </a:extLst>
          </p:cNvPr>
          <p:cNvSpPr/>
          <p:nvPr/>
        </p:nvSpPr>
        <p:spPr>
          <a:xfrm>
            <a:off x="7843091" y="996236"/>
            <a:ext cx="2234544" cy="47551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工具使用优化</a:t>
            </a:r>
          </a:p>
        </p:txBody>
      </p:sp>
      <p:sp>
        <p:nvSpPr>
          <p:cNvPr id="16" name="矩形: 圆角 15">
            <a:extLst>
              <a:ext uri="{FF2B5EF4-FFF2-40B4-BE49-F238E27FC236}">
                <a16:creationId xmlns:a16="http://schemas.microsoft.com/office/drawing/2014/main" id="{8A871D81-74FB-4D2C-CA78-4E52D0F751A1}"/>
              </a:ext>
            </a:extLst>
          </p:cNvPr>
          <p:cNvSpPr/>
          <p:nvPr/>
        </p:nvSpPr>
        <p:spPr>
          <a:xfrm>
            <a:off x="299743" y="4463995"/>
            <a:ext cx="2234544" cy="47551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规划推理</a:t>
            </a:r>
          </a:p>
        </p:txBody>
      </p:sp>
      <p:sp>
        <p:nvSpPr>
          <p:cNvPr id="21" name="左大括号 20">
            <a:extLst>
              <a:ext uri="{FF2B5EF4-FFF2-40B4-BE49-F238E27FC236}">
                <a16:creationId xmlns:a16="http://schemas.microsoft.com/office/drawing/2014/main" id="{7BD89696-2217-4775-E772-9F0A11042BA4}"/>
              </a:ext>
            </a:extLst>
          </p:cNvPr>
          <p:cNvSpPr/>
          <p:nvPr/>
        </p:nvSpPr>
        <p:spPr>
          <a:xfrm>
            <a:off x="2746674" y="4089004"/>
            <a:ext cx="375492" cy="116408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2" name="矩形: 圆角 21">
            <a:extLst>
              <a:ext uri="{FF2B5EF4-FFF2-40B4-BE49-F238E27FC236}">
                <a16:creationId xmlns:a16="http://schemas.microsoft.com/office/drawing/2014/main" id="{1D7EC313-8793-8606-A8B9-6035D94000D7}"/>
              </a:ext>
            </a:extLst>
          </p:cNvPr>
          <p:cNvSpPr/>
          <p:nvPr/>
        </p:nvSpPr>
        <p:spPr>
          <a:xfrm>
            <a:off x="3379618" y="3740830"/>
            <a:ext cx="2234544" cy="47551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依靠训练模型本体</a:t>
            </a:r>
          </a:p>
        </p:txBody>
      </p:sp>
      <p:sp>
        <p:nvSpPr>
          <p:cNvPr id="24" name="矩形: 圆角 23">
            <a:extLst>
              <a:ext uri="{FF2B5EF4-FFF2-40B4-BE49-F238E27FC236}">
                <a16:creationId xmlns:a16="http://schemas.microsoft.com/office/drawing/2014/main" id="{B7D58328-C94A-6070-375A-EE5F90F3648B}"/>
              </a:ext>
            </a:extLst>
          </p:cNvPr>
          <p:cNvSpPr/>
          <p:nvPr/>
        </p:nvSpPr>
        <p:spPr>
          <a:xfrm>
            <a:off x="3308596" y="5241807"/>
            <a:ext cx="2234544" cy="47551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外接规划器</a:t>
            </a:r>
          </a:p>
        </p:txBody>
      </p:sp>
      <p:sp>
        <p:nvSpPr>
          <p:cNvPr id="25" name="矩形: 圆角 24">
            <a:extLst>
              <a:ext uri="{FF2B5EF4-FFF2-40B4-BE49-F238E27FC236}">
                <a16:creationId xmlns:a16="http://schemas.microsoft.com/office/drawing/2014/main" id="{E5269870-49E7-3C4A-2B8F-FE56C52A0E19}"/>
              </a:ext>
            </a:extLst>
          </p:cNvPr>
          <p:cNvSpPr/>
          <p:nvPr/>
        </p:nvSpPr>
        <p:spPr>
          <a:xfrm>
            <a:off x="6219877" y="4463995"/>
            <a:ext cx="2234544" cy="47551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数据集</a:t>
            </a:r>
          </a:p>
        </p:txBody>
      </p:sp>
      <p:sp>
        <p:nvSpPr>
          <p:cNvPr id="26" name="左大括号 25">
            <a:extLst>
              <a:ext uri="{FF2B5EF4-FFF2-40B4-BE49-F238E27FC236}">
                <a16:creationId xmlns:a16="http://schemas.microsoft.com/office/drawing/2014/main" id="{8C778FAE-2389-BB5E-3434-E42AA047AC03}"/>
              </a:ext>
            </a:extLst>
          </p:cNvPr>
          <p:cNvSpPr/>
          <p:nvPr/>
        </p:nvSpPr>
        <p:spPr>
          <a:xfrm>
            <a:off x="8711873" y="4122383"/>
            <a:ext cx="375492" cy="116408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7" name="矩形: 圆角 26">
            <a:extLst>
              <a:ext uri="{FF2B5EF4-FFF2-40B4-BE49-F238E27FC236}">
                <a16:creationId xmlns:a16="http://schemas.microsoft.com/office/drawing/2014/main" id="{BA3E4DCF-F732-E580-AE3B-43B99FEA72F9}"/>
              </a:ext>
            </a:extLst>
          </p:cNvPr>
          <p:cNvSpPr/>
          <p:nvPr/>
        </p:nvSpPr>
        <p:spPr>
          <a:xfrm>
            <a:off x="9344817" y="3774209"/>
            <a:ext cx="2694128" cy="47551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数学推理（</a:t>
            </a:r>
            <a:r>
              <a:rPr lang="en-US" altLang="zh-CN" dirty="0"/>
              <a:t>math500</a:t>
            </a:r>
            <a:r>
              <a:rPr lang="zh-CN" altLang="en-US" dirty="0"/>
              <a:t>）</a:t>
            </a:r>
          </a:p>
        </p:txBody>
      </p:sp>
      <p:sp>
        <p:nvSpPr>
          <p:cNvPr id="28" name="矩形: 圆角 27">
            <a:extLst>
              <a:ext uri="{FF2B5EF4-FFF2-40B4-BE49-F238E27FC236}">
                <a16:creationId xmlns:a16="http://schemas.microsoft.com/office/drawing/2014/main" id="{5A590A8F-A4FA-12D4-C25E-F5B0A1331543}"/>
              </a:ext>
            </a:extLst>
          </p:cNvPr>
          <p:cNvSpPr/>
          <p:nvPr/>
        </p:nvSpPr>
        <p:spPr>
          <a:xfrm>
            <a:off x="9273795" y="5275186"/>
            <a:ext cx="2765150" cy="47551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逻辑推理（家具移动）</a:t>
            </a:r>
          </a:p>
        </p:txBody>
      </p:sp>
    </p:spTree>
    <p:custDataLst>
      <p:tags r:id="rId1"/>
    </p:custDataLst>
    <p:extLst>
      <p:ext uri="{BB962C8B-B14F-4D97-AF65-F5344CB8AC3E}">
        <p14:creationId xmlns:p14="http://schemas.microsoft.com/office/powerpoint/2010/main" val="6256558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表格&#10;&#10;AI 生成的内容可能不正确。">
            <a:extLst>
              <a:ext uri="{FF2B5EF4-FFF2-40B4-BE49-F238E27FC236}">
                <a16:creationId xmlns:a16="http://schemas.microsoft.com/office/drawing/2014/main" id="{F7042078-EBD1-7C4F-D06D-A7F3A4BAB684}"/>
              </a:ext>
            </a:extLst>
          </p:cNvPr>
          <p:cNvPicPr>
            <a:picLocks noChangeAspect="1"/>
          </p:cNvPicPr>
          <p:nvPr/>
        </p:nvPicPr>
        <p:blipFill>
          <a:blip r:embed="rId4"/>
          <a:stretch>
            <a:fillRect/>
          </a:stretch>
        </p:blipFill>
        <p:spPr>
          <a:xfrm>
            <a:off x="444500" y="270933"/>
            <a:ext cx="11303000" cy="5756644"/>
          </a:xfrm>
          <a:prstGeom prst="rect">
            <a:avLst/>
          </a:prstGeom>
        </p:spPr>
      </p:pic>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 name="文本占位符 1"/>
          <p:cNvSpPr>
            <a:spLocks noGrp="1"/>
          </p:cNvSpPr>
          <p:nvPr/>
        </p:nvSpPr>
        <p:spPr>
          <a:xfrm>
            <a:off x="892175" y="7620"/>
            <a:ext cx="10426065" cy="683260"/>
          </a:xfrm>
          <a:prstGeom prst="rect">
            <a:avLst/>
          </a:prstGeom>
        </p:spPr>
        <p:txBody>
          <a:bodyPr anchor="ctr" anchorCtr="0"/>
          <a:lstStyle>
            <a:defPPr>
              <a:defRPr lang="zh-CN"/>
            </a:defPPr>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500" dirty="0"/>
              <a:t>动机</a:t>
            </a:r>
          </a:p>
        </p:txBody>
      </p:sp>
      <p:pic>
        <p:nvPicPr>
          <p:cNvPr id="6" name="图片 5"/>
          <p:cNvPicPr>
            <a:picLocks noChangeAspect="1"/>
          </p:cNvPicPr>
          <p:nvPr/>
        </p:nvPicPr>
        <p:blipFill>
          <a:blip r:embed="rId4" cstate="print">
            <a:duotone>
              <a:schemeClr val="bg2">
                <a:shade val="45000"/>
                <a:satMod val="135000"/>
              </a:schemeClr>
              <a:prstClr val="white"/>
            </a:duotone>
            <a:extLst>
              <a:ext uri="{BEBA8EAE-BF5A-486C-A8C5-ECC9F3942E4B}">
                <a14:imgProps xmlns:a14="http://schemas.microsoft.com/office/drawing/2010/main">
                  <a14:imgLayer r:embed="rId5">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9370"/>
            <a:ext cx="612140" cy="612140"/>
          </a:xfrm>
          <a:prstGeom prst="rect">
            <a:avLst/>
          </a:prstGeom>
        </p:spPr>
      </p:pic>
      <p:sp>
        <p:nvSpPr>
          <p:cNvPr id="2" name="文本框 1">
            <a:extLst>
              <a:ext uri="{FF2B5EF4-FFF2-40B4-BE49-F238E27FC236}">
                <a16:creationId xmlns:a16="http://schemas.microsoft.com/office/drawing/2014/main" id="{F6F587F5-0CAA-F666-0BE4-5A2C28E99A50}"/>
              </a:ext>
            </a:extLst>
          </p:cNvPr>
          <p:cNvSpPr txBox="1"/>
          <p:nvPr/>
        </p:nvSpPr>
        <p:spPr>
          <a:xfrm>
            <a:off x="691515" y="864448"/>
            <a:ext cx="10808970" cy="5570219"/>
          </a:xfrm>
          <a:prstGeom prst="rect">
            <a:avLst/>
          </a:prstGeom>
          <a:noFill/>
        </p:spPr>
        <p:txBody>
          <a:bodyPr wrap="square" rtlCol="0"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lnSpc>
                <a:spcPct val="150000"/>
              </a:lnSpc>
            </a:pPr>
            <a:r>
              <a:rPr lang="zh-CN" altLang="en-US" sz="2400" dirty="0">
                <a:latin typeface="Times New Roman" panose="02020603050405020304" pitchFamily="18" charset="0"/>
                <a:ea typeface="等线" panose="02010600030101010101" pitchFamily="2" charset="-122"/>
                <a:cs typeface="+mn-ea"/>
              </a:rPr>
              <a:t>当前提高</a:t>
            </a:r>
            <a:r>
              <a:rPr lang="en-US" altLang="zh-CN" sz="2400" dirty="0">
                <a:latin typeface="Times New Roman" panose="02020603050405020304" pitchFamily="18" charset="0"/>
                <a:ea typeface="等线" panose="02010600030101010101" pitchFamily="2" charset="-122"/>
                <a:cs typeface="+mn-ea"/>
              </a:rPr>
              <a:t>LLM</a:t>
            </a:r>
            <a:r>
              <a:rPr lang="zh-CN" altLang="en-US" sz="2400" dirty="0">
                <a:latin typeface="Times New Roman" panose="02020603050405020304" pitchFamily="18" charset="0"/>
                <a:ea typeface="等线" panose="02010600030101010101" pitchFamily="2" charset="-122"/>
                <a:cs typeface="+mn-ea"/>
              </a:rPr>
              <a:t>推理能力的方法主要依赖监督微调</a:t>
            </a:r>
            <a:r>
              <a:rPr lang="en-US" altLang="zh-CN" sz="2400" dirty="0">
                <a:latin typeface="Times New Roman" panose="02020603050405020304" pitchFamily="18" charset="0"/>
                <a:ea typeface="等线" panose="02010600030101010101" pitchFamily="2" charset="-122"/>
                <a:cs typeface="+mn-ea"/>
              </a:rPr>
              <a:t>(SFT)+</a:t>
            </a:r>
            <a:r>
              <a:rPr lang="zh-CN" altLang="en-US" sz="2400" dirty="0">
                <a:latin typeface="Times New Roman" panose="02020603050405020304" pitchFamily="18" charset="0"/>
                <a:ea typeface="等线" panose="02010600030101010101" pitchFamily="2" charset="-122"/>
                <a:cs typeface="+mn-ea"/>
              </a:rPr>
              <a:t>强化学习（</a:t>
            </a:r>
            <a:r>
              <a:rPr lang="en-US" altLang="zh-CN" sz="2400" dirty="0">
                <a:latin typeface="Times New Roman" panose="02020603050405020304" pitchFamily="18" charset="0"/>
                <a:ea typeface="等线" panose="02010600030101010101" pitchFamily="2" charset="-122"/>
                <a:cs typeface="+mn-ea"/>
              </a:rPr>
              <a:t>RL</a:t>
            </a:r>
            <a:r>
              <a:rPr lang="zh-CN" altLang="en-US" sz="2400" dirty="0">
                <a:latin typeface="Times New Roman" panose="02020603050405020304" pitchFamily="18" charset="0"/>
                <a:ea typeface="等线" panose="02010600030101010101" pitchFamily="2" charset="-122"/>
                <a:cs typeface="+mn-ea"/>
              </a:rPr>
              <a:t>）顺序或者交叉执行的方法，但这种方法存在以下局限：</a:t>
            </a:r>
            <a:endParaRPr lang="en-US" altLang="zh-CN" sz="2400" dirty="0">
              <a:latin typeface="Times New Roman" panose="02020603050405020304" pitchFamily="18" charset="0"/>
              <a:ea typeface="等线" panose="02010600030101010101" pitchFamily="2" charset="-122"/>
              <a:cs typeface="+mn-ea"/>
            </a:endParaRPr>
          </a:p>
          <a:p>
            <a:pPr marL="342900" indent="-342900" fontAlgn="auto">
              <a:lnSpc>
                <a:spcPct val="150000"/>
              </a:lnSpc>
              <a:buFont typeface="Arial" panose="020B0604020202020204" pitchFamily="34" charset="0"/>
              <a:buChar char="•"/>
            </a:pPr>
            <a:r>
              <a:rPr lang="zh-CN" altLang="en-US" sz="2400" dirty="0">
                <a:latin typeface="Times New Roman" panose="02020603050405020304" pitchFamily="18" charset="0"/>
                <a:ea typeface="等线" panose="02010600030101010101" pitchFamily="2" charset="-122"/>
                <a:cs typeface="+mn-ea"/>
              </a:rPr>
              <a:t>依赖人工标注的推理轨迹、验证后的标准答案，或额外预训练的奖励模型，由人类专家构建这类监督数据耗时、成本高，限制了模型的可扩展性和广泛应用。</a:t>
            </a:r>
            <a:endParaRPr lang="en-US" altLang="zh-CN" sz="2400" dirty="0">
              <a:latin typeface="Times New Roman" panose="02020603050405020304" pitchFamily="18" charset="0"/>
              <a:ea typeface="等线" panose="02010600030101010101" pitchFamily="2" charset="-122"/>
              <a:cs typeface="+mn-ea"/>
            </a:endParaRPr>
          </a:p>
          <a:p>
            <a:pPr marL="342900" indent="-342900" fontAlgn="auto">
              <a:lnSpc>
                <a:spcPct val="150000"/>
              </a:lnSpc>
              <a:buFont typeface="Arial" panose="020B0604020202020204" pitchFamily="34" charset="0"/>
              <a:buChar char="•"/>
            </a:pPr>
            <a:r>
              <a:rPr lang="zh-CN" altLang="en-US" sz="2400" dirty="0">
                <a:latin typeface="Times New Roman" panose="02020603050405020304" pitchFamily="18" charset="0"/>
                <a:ea typeface="等线" panose="02010600030101010101" pitchFamily="2" charset="-122"/>
                <a:cs typeface="+mn-ea"/>
              </a:rPr>
              <a:t>利用自洽性构建伪数据，并通过有监督微调提升模型性能 。但这种方式的性能提升效果有限，且存在模型坍缩的风险 。（</a:t>
            </a:r>
            <a:r>
              <a:rPr lang="en-US" altLang="zh-CN" sz="2400" dirty="0">
                <a:latin typeface="Times New Roman" panose="02020603050405020304" pitchFamily="18" charset="0"/>
                <a:ea typeface="等线" panose="02010600030101010101" pitchFamily="2" charset="-122"/>
                <a:cs typeface="+mn-ea"/>
              </a:rPr>
              <a:t>PFPO</a:t>
            </a:r>
            <a:r>
              <a:rPr lang="zh-CN" altLang="en-US" sz="2400" dirty="0">
                <a:latin typeface="Times New Roman" panose="02020603050405020304" pitchFamily="18" charset="0"/>
                <a:ea typeface="等线" panose="02010600030101010101" pitchFamily="2" charset="-122"/>
                <a:cs typeface="+mn-ea"/>
              </a:rPr>
              <a:t>）</a:t>
            </a:r>
            <a:endParaRPr lang="en-US" altLang="zh-CN" sz="2400" dirty="0">
              <a:latin typeface="Times New Roman" panose="02020603050405020304" pitchFamily="18" charset="0"/>
              <a:ea typeface="等线" panose="02010600030101010101" pitchFamily="2" charset="-122"/>
              <a:cs typeface="+mn-ea"/>
            </a:endParaRPr>
          </a:p>
          <a:p>
            <a:pPr marL="342900" indent="-342900" fontAlgn="auto">
              <a:lnSpc>
                <a:spcPct val="150000"/>
              </a:lnSpc>
              <a:buFont typeface="Arial" panose="020B0604020202020204" pitchFamily="34" charset="0"/>
              <a:buChar char="•"/>
            </a:pPr>
            <a:r>
              <a:rPr lang="zh-CN" altLang="en-US" sz="2400" dirty="0">
                <a:latin typeface="Times New Roman" panose="02020603050405020304" pitchFamily="18" charset="0"/>
                <a:ea typeface="等线" panose="02010600030101010101" pitchFamily="2" charset="-122"/>
                <a:cs typeface="+mn-ea"/>
              </a:rPr>
              <a:t>自生成数据构建自奖励推理模型，再进行强化学习。该方法需要基于真实验证器，通过拒绝采样获取自校正的推理轨迹。</a:t>
            </a:r>
            <a:endParaRPr lang="en-US" altLang="zh-CN" sz="2400" dirty="0">
              <a:latin typeface="Times New Roman" panose="02020603050405020304" pitchFamily="18" charset="0"/>
              <a:ea typeface="等线" panose="02010600030101010101" pitchFamily="2" charset="-122"/>
              <a:cs typeface="+mn-ea"/>
            </a:endParaRP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7722DE-284F-7E61-03E9-424CF76791B7}"/>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E0A3275A-576C-2C35-5DCB-9311F333A06B}"/>
              </a:ext>
            </a:extLst>
          </p:cNvPr>
          <p:cNvSpPr/>
          <p:nvPr/>
        </p:nvSpPr>
        <p:spPr>
          <a:xfrm>
            <a:off x="-10160" y="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5" name="文本占位符 1">
            <a:extLst>
              <a:ext uri="{FF2B5EF4-FFF2-40B4-BE49-F238E27FC236}">
                <a16:creationId xmlns:a16="http://schemas.microsoft.com/office/drawing/2014/main" id="{C5851354-0511-FCB3-4F7E-1029C7B93A37}"/>
              </a:ext>
            </a:extLst>
          </p:cNvPr>
          <p:cNvSpPr>
            <a:spLocks noGrp="1"/>
          </p:cNvSpPr>
          <p:nvPr/>
        </p:nvSpPr>
        <p:spPr>
          <a:xfrm>
            <a:off x="892175" y="7620"/>
            <a:ext cx="10426065" cy="683260"/>
          </a:xfrm>
          <a:prstGeom prst="rect">
            <a:avLst/>
          </a:prstGeom>
        </p:spPr>
        <p:txBody>
          <a:bodyPr anchor="ctr" anchorCtr="0"/>
          <a:lstStyle>
            <a:defPPr>
              <a:defRPr lang="zh-CN"/>
            </a:defPPr>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500" dirty="0"/>
              <a:t>贡献</a:t>
            </a:r>
          </a:p>
        </p:txBody>
      </p:sp>
      <p:pic>
        <p:nvPicPr>
          <p:cNvPr id="3" name="图片 2">
            <a:extLst>
              <a:ext uri="{FF2B5EF4-FFF2-40B4-BE49-F238E27FC236}">
                <a16:creationId xmlns:a16="http://schemas.microsoft.com/office/drawing/2014/main" id="{A7C5C03F-F56F-EFF4-DE35-000A59AF0F0B}"/>
              </a:ext>
            </a:extLst>
          </p:cNvPr>
          <p:cNvPicPr>
            <a:picLocks noChangeAspect="1"/>
          </p:cNvPicPr>
          <p:nvPr/>
        </p:nvPicPr>
        <p:blipFill>
          <a:blip r:embed="rId4" cstate="print">
            <a:duotone>
              <a:schemeClr val="bg2">
                <a:shade val="45000"/>
                <a:satMod val="135000"/>
              </a:schemeClr>
              <a:prstClr val="white"/>
            </a:duotone>
            <a:extLst>
              <a:ext uri="{BEBA8EAE-BF5A-486C-A8C5-ECC9F3942E4B}">
                <a14:imgProps xmlns:a14="http://schemas.microsoft.com/office/drawing/2010/main">
                  <a14:imgLayer r:embed="rId5">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9370"/>
            <a:ext cx="612140" cy="612140"/>
          </a:xfrm>
          <a:prstGeom prst="rect">
            <a:avLst/>
          </a:prstGeom>
        </p:spPr>
      </p:pic>
      <p:sp>
        <p:nvSpPr>
          <p:cNvPr id="4" name="文本框 3">
            <a:extLst>
              <a:ext uri="{FF2B5EF4-FFF2-40B4-BE49-F238E27FC236}">
                <a16:creationId xmlns:a16="http://schemas.microsoft.com/office/drawing/2014/main" id="{C6F94779-E2D4-6867-8CBC-6E469A7CBC64}"/>
              </a:ext>
            </a:extLst>
          </p:cNvPr>
          <p:cNvSpPr txBox="1"/>
          <p:nvPr/>
        </p:nvSpPr>
        <p:spPr>
          <a:xfrm>
            <a:off x="703580" y="860215"/>
            <a:ext cx="10857018" cy="5227318"/>
          </a:xfrm>
          <a:prstGeom prst="rect">
            <a:avLst/>
          </a:prstGeom>
          <a:noFill/>
        </p:spPr>
        <p:txBody>
          <a:bodyPr wrap="square" rtlCol="0"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lnSpc>
                <a:spcPct val="150000"/>
              </a:lnSpc>
            </a:pPr>
            <a:r>
              <a:rPr lang="zh-CN" altLang="en-US" sz="2800" dirty="0">
                <a:latin typeface="Times New Roman" panose="02020603050405020304" pitchFamily="18" charset="0"/>
                <a:ea typeface="等线" panose="02010600030101010101" pitchFamily="2" charset="-122"/>
                <a:cs typeface="+mn-ea"/>
              </a:rPr>
              <a:t>熵最小化策略优化算法（</a:t>
            </a:r>
            <a:r>
              <a:rPr lang="en-US" altLang="zh-CN" sz="2800" dirty="0">
                <a:latin typeface="Times New Roman" panose="02020603050405020304" pitchFamily="18" charset="0"/>
                <a:ea typeface="等线" panose="02010600030101010101" pitchFamily="2" charset="-122"/>
                <a:cs typeface="+mn-ea"/>
              </a:rPr>
              <a:t>EMPO</a:t>
            </a:r>
            <a:r>
              <a:rPr lang="zh-CN" altLang="en-US" sz="2800" dirty="0">
                <a:latin typeface="Times New Roman" panose="02020603050405020304" pitchFamily="18" charset="0"/>
                <a:ea typeface="等线" panose="02010600030101010101" pitchFamily="2" charset="-122"/>
                <a:cs typeface="+mn-ea"/>
              </a:rPr>
              <a:t>），通过最小化大语言模型在潜在语义空间中的预测熵，以全无监督的方式激励其推理能力，使其倾向于生成能得出一致答案的推理轨迹，从而提升输出的可靠性：</a:t>
            </a:r>
            <a:endParaRPr lang="en-US" altLang="zh-CN" sz="2800" dirty="0">
              <a:latin typeface="Times New Roman" panose="02020603050405020304" pitchFamily="18" charset="0"/>
              <a:ea typeface="等线" panose="02010600030101010101" pitchFamily="2" charset="-122"/>
              <a:cs typeface="+mn-ea"/>
            </a:endParaRPr>
          </a:p>
          <a:p>
            <a:pPr marL="342900" indent="-342900" fontAlgn="auto">
              <a:lnSpc>
                <a:spcPct val="150000"/>
              </a:lnSpc>
              <a:buFont typeface="Arial" panose="020B0604020202020204" pitchFamily="34" charset="0"/>
              <a:buChar char="•"/>
            </a:pPr>
            <a:r>
              <a:rPr lang="zh-CN" altLang="en-US" sz="2800" dirty="0">
                <a:latin typeface="Times New Roman" panose="02020603050405020304" pitchFamily="18" charset="0"/>
                <a:ea typeface="等线" panose="02010600030101010101" pitchFamily="2" charset="-122"/>
                <a:cs typeface="+mn-ea"/>
              </a:rPr>
              <a:t>仅利用无标注的用户问题，通过最小化 </a:t>
            </a:r>
            <a:r>
              <a:rPr lang="en-US" altLang="zh-CN" sz="2800" dirty="0">
                <a:latin typeface="Times New Roman" panose="02020603050405020304" pitchFamily="18" charset="0"/>
                <a:ea typeface="等线" panose="02010600030101010101" pitchFamily="2" charset="-122"/>
                <a:cs typeface="+mn-ea"/>
              </a:rPr>
              <a:t>LLM </a:t>
            </a:r>
            <a:r>
              <a:rPr lang="zh-CN" altLang="en-US" sz="2800" dirty="0">
                <a:latin typeface="Times New Roman" panose="02020603050405020304" pitchFamily="18" charset="0"/>
                <a:ea typeface="等线" panose="02010600030101010101" pitchFamily="2" charset="-122"/>
                <a:cs typeface="+mn-ea"/>
              </a:rPr>
              <a:t>输出的语义熵实现推理能力提升。</a:t>
            </a:r>
            <a:endParaRPr lang="en-US" altLang="zh-CN" sz="2800" dirty="0">
              <a:latin typeface="Times New Roman" panose="02020603050405020304" pitchFamily="18" charset="0"/>
              <a:ea typeface="等线" panose="02010600030101010101" pitchFamily="2" charset="-122"/>
              <a:cs typeface="+mn-ea"/>
            </a:endParaRPr>
          </a:p>
          <a:p>
            <a:pPr marL="342900" indent="-342900" fontAlgn="auto">
              <a:lnSpc>
                <a:spcPct val="150000"/>
              </a:lnSpc>
              <a:buFont typeface="Arial" panose="020B0604020202020204" pitchFamily="34" charset="0"/>
              <a:buChar char="•"/>
            </a:pPr>
            <a:r>
              <a:rPr lang="zh-CN" altLang="en-US" sz="2800" dirty="0">
                <a:latin typeface="Times New Roman" panose="02020603050405020304" pitchFamily="18" charset="0"/>
                <a:ea typeface="等线" panose="02010600030101010101" pitchFamily="2" charset="-122"/>
                <a:cs typeface="+mn-ea"/>
              </a:rPr>
              <a:t>引入熵阈值过滤策略，解决无监督优化中的奖励欺骗问题，稳定训练过程，同时适配封闭性数学推理和开放式自然推理任务，通用性强。</a:t>
            </a:r>
            <a:endParaRPr lang="en-US" altLang="zh-CN" sz="2800" dirty="0">
              <a:latin typeface="Times New Roman" panose="02020603050405020304" pitchFamily="18" charset="0"/>
              <a:ea typeface="等线" panose="02010600030101010101" pitchFamily="2" charset="-122"/>
              <a:cs typeface="+mn-ea"/>
            </a:endParaRPr>
          </a:p>
        </p:txBody>
      </p:sp>
    </p:spTree>
    <p:custDataLst>
      <p:tags r:id="rId1"/>
    </p:custDataLst>
    <p:extLst>
      <p:ext uri="{BB962C8B-B14F-4D97-AF65-F5344CB8AC3E}">
        <p14:creationId xmlns:p14="http://schemas.microsoft.com/office/powerpoint/2010/main" val="17930703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0160" y="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5" name="文本占位符 1"/>
          <p:cNvSpPr>
            <a:spLocks noGrp="1"/>
          </p:cNvSpPr>
          <p:nvPr/>
        </p:nvSpPr>
        <p:spPr>
          <a:xfrm>
            <a:off x="892175" y="7620"/>
            <a:ext cx="10426065" cy="683260"/>
          </a:xfrm>
          <a:prstGeom prst="rect">
            <a:avLst/>
          </a:prstGeom>
        </p:spPr>
        <p:txBody>
          <a:bodyPr anchor="ctr" anchorCtr="0"/>
          <a:lstStyle>
            <a:defPPr>
              <a:defRPr lang="zh-CN"/>
            </a:defPPr>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500" dirty="0"/>
              <a:t>方法</a:t>
            </a:r>
          </a:p>
        </p:txBody>
      </p:sp>
      <p:pic>
        <p:nvPicPr>
          <p:cNvPr id="3" name="图片 2"/>
          <p:cNvPicPr>
            <a:picLocks noChangeAspect="1"/>
          </p:cNvPicPr>
          <p:nvPr/>
        </p:nvPicPr>
        <p:blipFill>
          <a:blip r:embed="rId4" cstate="print">
            <a:duotone>
              <a:schemeClr val="bg2">
                <a:shade val="45000"/>
                <a:satMod val="135000"/>
              </a:schemeClr>
              <a:prstClr val="white"/>
            </a:duotone>
            <a:extLst>
              <a:ext uri="{BEBA8EAE-BF5A-486C-A8C5-ECC9F3942E4B}">
                <a14:imgProps xmlns:a14="http://schemas.microsoft.com/office/drawing/2010/main">
                  <a14:imgLayer r:embed="rId5">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9370"/>
            <a:ext cx="612140" cy="612140"/>
          </a:xfrm>
          <a:prstGeom prst="rect">
            <a:avLst/>
          </a:prstGeom>
        </p:spPr>
      </p:pic>
      <p:pic>
        <p:nvPicPr>
          <p:cNvPr id="4" name="图片 3">
            <a:extLst>
              <a:ext uri="{FF2B5EF4-FFF2-40B4-BE49-F238E27FC236}">
                <a16:creationId xmlns:a16="http://schemas.microsoft.com/office/drawing/2014/main" id="{C863E1AA-69FA-F4E6-CC28-3625B67401F3}"/>
              </a:ext>
            </a:extLst>
          </p:cNvPr>
          <p:cNvPicPr>
            <a:picLocks noChangeAspect="1"/>
          </p:cNvPicPr>
          <p:nvPr/>
        </p:nvPicPr>
        <p:blipFill>
          <a:blip r:embed="rId6"/>
          <a:srcRect b="25618"/>
          <a:stretch>
            <a:fillRect/>
          </a:stretch>
        </p:blipFill>
        <p:spPr>
          <a:xfrm>
            <a:off x="1355333" y="895650"/>
            <a:ext cx="9481333" cy="5687872"/>
          </a:xfrm>
          <a:prstGeom prst="rect">
            <a:avLst/>
          </a:prstGeom>
        </p:spPr>
      </p:pic>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6FF11F-5CB7-6CCC-7A2F-80E0494B5AC2}"/>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220F56E3-AAEF-1AF0-6F76-A3079C803F3B}"/>
              </a:ext>
            </a:extLst>
          </p:cNvPr>
          <p:cNvSpPr/>
          <p:nvPr/>
        </p:nvSpPr>
        <p:spPr>
          <a:xfrm>
            <a:off x="-10160" y="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5" name="文本占位符 1">
            <a:extLst>
              <a:ext uri="{FF2B5EF4-FFF2-40B4-BE49-F238E27FC236}">
                <a16:creationId xmlns:a16="http://schemas.microsoft.com/office/drawing/2014/main" id="{D0C741B2-C7AE-834C-1BC0-9EE6F05B01A9}"/>
              </a:ext>
            </a:extLst>
          </p:cNvPr>
          <p:cNvSpPr>
            <a:spLocks noGrp="1"/>
          </p:cNvSpPr>
          <p:nvPr/>
        </p:nvSpPr>
        <p:spPr>
          <a:xfrm>
            <a:off x="892175" y="7620"/>
            <a:ext cx="10426065" cy="683260"/>
          </a:xfrm>
          <a:prstGeom prst="rect">
            <a:avLst/>
          </a:prstGeom>
        </p:spPr>
        <p:txBody>
          <a:bodyPr anchor="ctr" anchorCtr="0"/>
          <a:lstStyle>
            <a:defPPr>
              <a:defRPr lang="zh-CN"/>
            </a:defPPr>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500" dirty="0"/>
              <a:t>方法</a:t>
            </a:r>
            <a:r>
              <a:rPr kumimoji="1" lang="en-US" altLang="zh-CN" sz="2500" dirty="0"/>
              <a:t>-</a:t>
            </a:r>
            <a:r>
              <a:rPr kumimoji="1" lang="zh-CN" altLang="en-US" sz="2500" dirty="0"/>
              <a:t>语义熵最小化目标</a:t>
            </a:r>
          </a:p>
        </p:txBody>
      </p:sp>
      <p:pic>
        <p:nvPicPr>
          <p:cNvPr id="3" name="图片 2">
            <a:extLst>
              <a:ext uri="{FF2B5EF4-FFF2-40B4-BE49-F238E27FC236}">
                <a16:creationId xmlns:a16="http://schemas.microsoft.com/office/drawing/2014/main" id="{B55F5D3D-49F3-30CE-8052-0EFE93C126C4}"/>
              </a:ext>
            </a:extLst>
          </p:cNvPr>
          <p:cNvPicPr>
            <a:picLocks noChangeAspect="1"/>
          </p:cNvPicPr>
          <p:nvPr/>
        </p:nvPicPr>
        <p:blipFill>
          <a:blip r:embed="rId4" cstate="print">
            <a:duotone>
              <a:schemeClr val="bg2">
                <a:shade val="45000"/>
                <a:satMod val="135000"/>
              </a:schemeClr>
              <a:prstClr val="white"/>
            </a:duotone>
            <a:extLst>
              <a:ext uri="{BEBA8EAE-BF5A-486C-A8C5-ECC9F3942E4B}">
                <a14:imgProps xmlns:a14="http://schemas.microsoft.com/office/drawing/2010/main">
                  <a14:imgLayer r:embed="rId5">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9370"/>
            <a:ext cx="612140" cy="612140"/>
          </a:xfrm>
          <a:prstGeom prst="rect">
            <a:avLst/>
          </a:prstGeom>
        </p:spPr>
      </p:pic>
      <p:pic>
        <p:nvPicPr>
          <p:cNvPr id="6" name="图片 5" descr="图片包含 正方形&#10;&#10;AI 生成的内容可能不正确。">
            <a:extLst>
              <a:ext uri="{FF2B5EF4-FFF2-40B4-BE49-F238E27FC236}">
                <a16:creationId xmlns:a16="http://schemas.microsoft.com/office/drawing/2014/main" id="{D8622B15-2119-AA35-1F67-7E630E8317B8}"/>
              </a:ext>
            </a:extLst>
          </p:cNvPr>
          <p:cNvPicPr>
            <a:picLocks noChangeAspect="1"/>
          </p:cNvPicPr>
          <p:nvPr/>
        </p:nvPicPr>
        <p:blipFill>
          <a:blip r:embed="rId6"/>
          <a:stretch>
            <a:fillRect/>
          </a:stretch>
        </p:blipFill>
        <p:spPr>
          <a:xfrm>
            <a:off x="8347921" y="2452280"/>
            <a:ext cx="3302425" cy="683260"/>
          </a:xfrm>
          <a:prstGeom prst="rect">
            <a:avLst/>
          </a:prstGeom>
        </p:spPr>
      </p:pic>
      <p:pic>
        <p:nvPicPr>
          <p:cNvPr id="8" name="图片 7" descr="文本&#10;&#10;AI 生成的内容可能不正确。">
            <a:extLst>
              <a:ext uri="{FF2B5EF4-FFF2-40B4-BE49-F238E27FC236}">
                <a16:creationId xmlns:a16="http://schemas.microsoft.com/office/drawing/2014/main" id="{239BFDE6-ADBC-F27F-83AB-27861BCC0C9D}"/>
              </a:ext>
            </a:extLst>
          </p:cNvPr>
          <p:cNvPicPr>
            <a:picLocks noChangeAspect="1"/>
          </p:cNvPicPr>
          <p:nvPr/>
        </p:nvPicPr>
        <p:blipFill>
          <a:blip r:embed="rId7"/>
          <a:stretch>
            <a:fillRect/>
          </a:stretch>
        </p:blipFill>
        <p:spPr>
          <a:xfrm>
            <a:off x="3869089" y="4339797"/>
            <a:ext cx="5342857" cy="1114286"/>
          </a:xfrm>
          <a:prstGeom prst="rect">
            <a:avLst/>
          </a:prstGeom>
        </p:spPr>
      </p:pic>
      <p:sp>
        <p:nvSpPr>
          <p:cNvPr id="9" name="文本框 8">
            <a:extLst>
              <a:ext uri="{FF2B5EF4-FFF2-40B4-BE49-F238E27FC236}">
                <a16:creationId xmlns:a16="http://schemas.microsoft.com/office/drawing/2014/main" id="{A9B593EE-F198-232A-31B8-FC54D58175CA}"/>
              </a:ext>
            </a:extLst>
          </p:cNvPr>
          <p:cNvSpPr txBox="1"/>
          <p:nvPr/>
        </p:nvSpPr>
        <p:spPr>
          <a:xfrm>
            <a:off x="397510" y="859907"/>
            <a:ext cx="8086090" cy="3389919"/>
          </a:xfrm>
          <a:prstGeom prst="rect">
            <a:avLst/>
          </a:prstGeom>
          <a:noFill/>
        </p:spPr>
        <p:txBody>
          <a:bodyPr wrap="square" rtlCol="0"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lnSpc>
                <a:spcPct val="150000"/>
              </a:lnSpc>
            </a:pPr>
            <a:r>
              <a:rPr lang="zh-CN" altLang="en-US" sz="2400" dirty="0">
                <a:latin typeface="Times New Roman" panose="02020603050405020304" pitchFamily="18" charset="0"/>
                <a:ea typeface="等线" panose="02010600030101010101" pitchFamily="2" charset="-122"/>
                <a:cs typeface="+mn-ea"/>
              </a:rPr>
              <a:t>语义熵的计算步骤：</a:t>
            </a:r>
            <a:endParaRPr lang="en-US" altLang="zh-CN" sz="2400" dirty="0">
              <a:latin typeface="Times New Roman" panose="02020603050405020304" pitchFamily="18" charset="0"/>
              <a:ea typeface="等线" panose="02010600030101010101" pitchFamily="2" charset="-122"/>
              <a:cs typeface="+mn-ea"/>
            </a:endParaRPr>
          </a:p>
          <a:p>
            <a:pPr marL="342900" indent="-342900" fontAlgn="auto">
              <a:lnSpc>
                <a:spcPct val="150000"/>
              </a:lnSpc>
              <a:buFont typeface="Arial" panose="020B0604020202020204" pitchFamily="34" charset="0"/>
              <a:buChar char="•"/>
            </a:pPr>
            <a:r>
              <a:rPr lang="zh-CN" altLang="en-US" sz="2400" dirty="0">
                <a:latin typeface="Times New Roman" panose="02020603050405020304" pitchFamily="18" charset="0"/>
                <a:ea typeface="等线" panose="02010600030101010101" pitchFamily="2" charset="-122"/>
                <a:cs typeface="+mn-ea"/>
              </a:rPr>
              <a:t>采样一组输出。</a:t>
            </a:r>
            <a:endParaRPr lang="en-US" altLang="zh-CN" sz="2400" dirty="0">
              <a:latin typeface="Times New Roman" panose="02020603050405020304" pitchFamily="18" charset="0"/>
              <a:ea typeface="等线" panose="02010600030101010101" pitchFamily="2" charset="-122"/>
              <a:cs typeface="+mn-ea"/>
            </a:endParaRPr>
          </a:p>
          <a:p>
            <a:pPr marL="342900" indent="-342900" fontAlgn="auto">
              <a:lnSpc>
                <a:spcPct val="150000"/>
              </a:lnSpc>
              <a:buFont typeface="Arial" panose="020B0604020202020204" pitchFamily="34" charset="0"/>
              <a:buChar char="•"/>
            </a:pPr>
            <a:r>
              <a:rPr lang="zh-CN" altLang="en-US" sz="2400" dirty="0">
                <a:latin typeface="Times New Roman" panose="02020603050405020304" pitchFamily="18" charset="0"/>
                <a:ea typeface="等线" panose="02010600030101010101" pitchFamily="2" charset="-122"/>
                <a:cs typeface="+mn-ea"/>
              </a:rPr>
              <a:t>根据语义等价性对输出序列进行聚类（</a:t>
            </a:r>
            <a:r>
              <a:rPr lang="en-US" altLang="zh-CN" sz="2400" dirty="0">
                <a:latin typeface="Times New Roman" panose="02020603050405020304" pitchFamily="18" charset="0"/>
                <a:ea typeface="等线" panose="02010600030101010101" pitchFamily="2" charset="-122"/>
                <a:cs typeface="+mn-ea"/>
              </a:rPr>
              <a:t>N </a:t>
            </a:r>
            <a:r>
              <a:rPr lang="zh-CN" altLang="en-US" sz="2400" dirty="0">
                <a:latin typeface="Times New Roman" panose="02020603050405020304" pitchFamily="18" charset="0"/>
                <a:ea typeface="等线" panose="02010600030101010101" pitchFamily="2" charset="-122"/>
                <a:cs typeface="+mn-ea"/>
              </a:rPr>
              <a:t>元语法、正则表达式或额外的小型语言模型等预定义规则实现，计算成本极低）构建不同的集合</a:t>
            </a:r>
            <a:r>
              <a:rPr lang="en-US" altLang="zh-CN" sz="2400" dirty="0">
                <a:latin typeface="Times New Roman" panose="02020603050405020304" pitchFamily="18" charset="0"/>
                <a:ea typeface="等线" panose="02010600030101010101" pitchFamily="2" charset="-122"/>
                <a:cs typeface="+mn-ea"/>
              </a:rPr>
              <a:t>c</a:t>
            </a:r>
          </a:p>
          <a:p>
            <a:pPr marL="342900" indent="-342900" fontAlgn="auto">
              <a:lnSpc>
                <a:spcPct val="150000"/>
              </a:lnSpc>
              <a:buFont typeface="Arial" panose="020B0604020202020204" pitchFamily="34" charset="0"/>
              <a:buChar char="•"/>
            </a:pPr>
            <a:r>
              <a:rPr lang="zh-CN" altLang="en-US" sz="2400" dirty="0">
                <a:latin typeface="Times New Roman" panose="02020603050405020304" pitchFamily="18" charset="0"/>
                <a:ea typeface="等线" panose="02010600030101010101" pitchFamily="2" charset="-122"/>
                <a:cs typeface="+mn-ea"/>
              </a:rPr>
              <a:t>将语义的概率近似为对应聚类中采样答案的占比</a:t>
            </a:r>
            <a:endParaRPr lang="en-US" altLang="zh-CN" sz="2400" dirty="0">
              <a:latin typeface="Times New Roman" panose="02020603050405020304" pitchFamily="18" charset="0"/>
              <a:ea typeface="等线" panose="02010600030101010101" pitchFamily="2" charset="-122"/>
              <a:cs typeface="+mn-ea"/>
            </a:endParaRPr>
          </a:p>
          <a:p>
            <a:pPr fontAlgn="auto">
              <a:lnSpc>
                <a:spcPct val="150000"/>
              </a:lnSpc>
            </a:pPr>
            <a:endParaRPr lang="en-US" altLang="zh-CN" sz="2400" dirty="0">
              <a:latin typeface="Times New Roman" panose="02020603050405020304" pitchFamily="18" charset="0"/>
              <a:ea typeface="等线" panose="02010600030101010101" pitchFamily="2" charset="-122"/>
              <a:cs typeface="+mn-ea"/>
            </a:endParaRPr>
          </a:p>
        </p:txBody>
      </p:sp>
      <p:sp>
        <p:nvSpPr>
          <p:cNvPr id="10" name="文本框 9">
            <a:extLst>
              <a:ext uri="{FF2B5EF4-FFF2-40B4-BE49-F238E27FC236}">
                <a16:creationId xmlns:a16="http://schemas.microsoft.com/office/drawing/2014/main" id="{FEE62F4A-AC9D-1CA7-AA74-DEE5A2654C01}"/>
              </a:ext>
            </a:extLst>
          </p:cNvPr>
          <p:cNvSpPr txBox="1"/>
          <p:nvPr/>
        </p:nvSpPr>
        <p:spPr>
          <a:xfrm>
            <a:off x="447040" y="5842199"/>
            <a:ext cx="11297920" cy="683261"/>
          </a:xfrm>
          <a:prstGeom prst="rect">
            <a:avLst/>
          </a:prstGeom>
          <a:noFill/>
        </p:spPr>
        <p:txBody>
          <a:bodyPr wrap="square" rtlCol="0"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lnSpc>
                <a:spcPct val="150000"/>
              </a:lnSpc>
            </a:pPr>
            <a:r>
              <a:rPr lang="zh-CN" altLang="en-US" sz="2400" dirty="0">
                <a:latin typeface="Times New Roman" panose="02020603050405020304" pitchFamily="18" charset="0"/>
                <a:ea typeface="等线" panose="02010600030101010101" pitchFamily="2" charset="-122"/>
                <a:cs typeface="+mn-ea"/>
              </a:rPr>
              <a:t>最终，给定问题</a:t>
            </a:r>
            <a:r>
              <a:rPr lang="en-US" altLang="zh-CN" sz="2400" dirty="0">
                <a:latin typeface="Times New Roman" panose="02020603050405020304" pitchFamily="18" charset="0"/>
                <a:ea typeface="等线" panose="02010600030101010101" pitchFamily="2" charset="-122"/>
                <a:cs typeface="+mn-ea"/>
              </a:rPr>
              <a:t>q</a:t>
            </a:r>
            <a:r>
              <a:rPr lang="zh-CN" altLang="en-US" sz="2400" dirty="0">
                <a:latin typeface="Times New Roman" panose="02020603050405020304" pitchFamily="18" charset="0"/>
                <a:ea typeface="等线" panose="02010600030101010101" pitchFamily="2" charset="-122"/>
                <a:cs typeface="+mn-ea"/>
              </a:rPr>
              <a:t>，模型输出语义分布的语义熵（</a:t>
            </a:r>
            <a:r>
              <a:rPr lang="en-US" altLang="zh-CN" sz="2400" dirty="0">
                <a:latin typeface="Times New Roman" panose="02020603050405020304" pitchFamily="18" charset="0"/>
                <a:ea typeface="等线" panose="02010600030101010101" pitchFamily="2" charset="-122"/>
                <a:cs typeface="+mn-ea"/>
              </a:rPr>
              <a:t>H</a:t>
            </a:r>
            <a:r>
              <a:rPr lang="zh-CN" altLang="en-US" sz="2400" dirty="0">
                <a:latin typeface="Times New Roman" panose="02020603050405020304" pitchFamily="18" charset="0"/>
                <a:ea typeface="等线" panose="02010600030101010101" pitchFamily="2" charset="-122"/>
                <a:cs typeface="+mn-ea"/>
              </a:rPr>
              <a:t>），可通过上述公式计算得出。</a:t>
            </a:r>
            <a:endParaRPr lang="en-US" altLang="zh-CN" sz="2400" dirty="0">
              <a:latin typeface="Times New Roman" panose="02020603050405020304" pitchFamily="18" charset="0"/>
              <a:ea typeface="等线" panose="02010600030101010101" pitchFamily="2" charset="-122"/>
              <a:cs typeface="+mn-ea"/>
            </a:endParaRPr>
          </a:p>
        </p:txBody>
      </p:sp>
    </p:spTree>
    <p:custDataLst>
      <p:tags r:id="rId1"/>
    </p:custDataLst>
    <p:extLst>
      <p:ext uri="{BB962C8B-B14F-4D97-AF65-F5344CB8AC3E}">
        <p14:creationId xmlns:p14="http://schemas.microsoft.com/office/powerpoint/2010/main" val="2533493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39C808-AFA1-CF7E-037F-2E67BE710139}"/>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71494AE4-D2AB-46B9-B940-EE3F7C960977}"/>
              </a:ext>
            </a:extLst>
          </p:cNvPr>
          <p:cNvSpPr/>
          <p:nvPr/>
        </p:nvSpPr>
        <p:spPr>
          <a:xfrm>
            <a:off x="-10160" y="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5" name="文本占位符 1">
            <a:extLst>
              <a:ext uri="{FF2B5EF4-FFF2-40B4-BE49-F238E27FC236}">
                <a16:creationId xmlns:a16="http://schemas.microsoft.com/office/drawing/2014/main" id="{266D25E9-138A-6347-CCE7-3A31CF2DE5DB}"/>
              </a:ext>
            </a:extLst>
          </p:cNvPr>
          <p:cNvSpPr>
            <a:spLocks noGrp="1"/>
          </p:cNvSpPr>
          <p:nvPr/>
        </p:nvSpPr>
        <p:spPr>
          <a:xfrm>
            <a:off x="892175" y="7620"/>
            <a:ext cx="10426065" cy="683260"/>
          </a:xfrm>
          <a:prstGeom prst="rect">
            <a:avLst/>
          </a:prstGeom>
        </p:spPr>
        <p:txBody>
          <a:bodyPr anchor="ctr" anchorCtr="0"/>
          <a:lstStyle>
            <a:defPPr>
              <a:defRPr lang="zh-CN"/>
            </a:defPPr>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500" dirty="0"/>
              <a:t>方法</a:t>
            </a:r>
            <a:r>
              <a:rPr kumimoji="1" lang="en-US" altLang="zh-CN" sz="2500" dirty="0"/>
              <a:t>——</a:t>
            </a:r>
            <a:r>
              <a:rPr lang="zh-CN" altLang="en-US" sz="2800" dirty="0"/>
              <a:t>熵最小化策略优化</a:t>
            </a:r>
            <a:endParaRPr kumimoji="1" lang="zh-CN" altLang="en-US" sz="2500" dirty="0"/>
          </a:p>
        </p:txBody>
      </p:sp>
      <p:pic>
        <p:nvPicPr>
          <p:cNvPr id="3" name="图片 2">
            <a:extLst>
              <a:ext uri="{FF2B5EF4-FFF2-40B4-BE49-F238E27FC236}">
                <a16:creationId xmlns:a16="http://schemas.microsoft.com/office/drawing/2014/main" id="{4D5CA1FE-004E-9E4A-6F56-B3F8734928F3}"/>
              </a:ext>
            </a:extLst>
          </p:cNvPr>
          <p:cNvPicPr>
            <a:picLocks noChangeAspect="1"/>
          </p:cNvPicPr>
          <p:nvPr/>
        </p:nvPicPr>
        <p:blipFill>
          <a:blip r:embed="rId4" cstate="print">
            <a:duotone>
              <a:schemeClr val="bg2">
                <a:shade val="45000"/>
                <a:satMod val="135000"/>
              </a:schemeClr>
              <a:prstClr val="white"/>
            </a:duotone>
            <a:extLst>
              <a:ext uri="{BEBA8EAE-BF5A-486C-A8C5-ECC9F3942E4B}">
                <a14:imgProps xmlns:a14="http://schemas.microsoft.com/office/drawing/2010/main">
                  <a14:imgLayer r:embed="rId5">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9370"/>
            <a:ext cx="612140" cy="612140"/>
          </a:xfrm>
          <a:prstGeom prst="rect">
            <a:avLst/>
          </a:prstGeom>
        </p:spPr>
      </p:pic>
      <p:pic>
        <p:nvPicPr>
          <p:cNvPr id="6" name="图片 5" descr="徽标&#10;&#10;AI 生成的内容可能不正确。">
            <a:extLst>
              <a:ext uri="{FF2B5EF4-FFF2-40B4-BE49-F238E27FC236}">
                <a16:creationId xmlns:a16="http://schemas.microsoft.com/office/drawing/2014/main" id="{095C9F30-AF6F-6FA4-5CEB-65789524CF17}"/>
              </a:ext>
            </a:extLst>
          </p:cNvPr>
          <p:cNvPicPr>
            <a:picLocks noChangeAspect="1"/>
          </p:cNvPicPr>
          <p:nvPr/>
        </p:nvPicPr>
        <p:blipFill>
          <a:blip r:embed="rId6"/>
          <a:stretch>
            <a:fillRect/>
          </a:stretch>
        </p:blipFill>
        <p:spPr>
          <a:xfrm>
            <a:off x="2024252" y="2057571"/>
            <a:ext cx="8161905" cy="1371429"/>
          </a:xfrm>
          <a:prstGeom prst="rect">
            <a:avLst/>
          </a:prstGeom>
        </p:spPr>
      </p:pic>
      <p:sp>
        <p:nvSpPr>
          <p:cNvPr id="7" name="文本框 6">
            <a:extLst>
              <a:ext uri="{FF2B5EF4-FFF2-40B4-BE49-F238E27FC236}">
                <a16:creationId xmlns:a16="http://schemas.microsoft.com/office/drawing/2014/main" id="{1AD34FB2-4E43-FE35-B905-6DC97A17485A}"/>
              </a:ext>
            </a:extLst>
          </p:cNvPr>
          <p:cNvSpPr txBox="1"/>
          <p:nvPr/>
        </p:nvSpPr>
        <p:spPr>
          <a:xfrm>
            <a:off x="456245" y="847479"/>
            <a:ext cx="11297920" cy="1210092"/>
          </a:xfrm>
          <a:prstGeom prst="rect">
            <a:avLst/>
          </a:prstGeom>
          <a:noFill/>
        </p:spPr>
        <p:txBody>
          <a:bodyPr wrap="square" rtlCol="0"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lnSpc>
                <a:spcPct val="150000"/>
              </a:lnSpc>
            </a:pPr>
            <a:r>
              <a:rPr lang="zh-CN" altLang="en-US" sz="2400" dirty="0">
                <a:latin typeface="Times New Roman" panose="02020603050405020304" pitchFamily="18" charset="0"/>
                <a:ea typeface="等线" panose="02010600030101010101" pitchFamily="2" charset="-122"/>
                <a:cs typeface="+mn-ea"/>
              </a:rPr>
              <a:t>按照之前所说的语义聚类集合开始，</a:t>
            </a:r>
            <a:r>
              <a:rPr lang="en-US" altLang="zh-CN" sz="2400" dirty="0">
                <a:latin typeface="Times New Roman" panose="02020603050405020304" pitchFamily="18" charset="0"/>
                <a:ea typeface="等线" panose="02010600030101010101" pitchFamily="2" charset="-122"/>
                <a:cs typeface="+mn-ea"/>
              </a:rPr>
              <a:t>EMPO</a:t>
            </a:r>
            <a:r>
              <a:rPr lang="zh-CN" altLang="en-US" sz="2400" dirty="0">
                <a:latin typeface="Times New Roman" panose="02020603050405020304" pitchFamily="18" charset="0"/>
                <a:ea typeface="等线" panose="02010600030101010101" pitchFamily="2" charset="-122"/>
                <a:cs typeface="+mn-ea"/>
              </a:rPr>
              <a:t>通过最大化以下目标函数实现语义熵</a:t>
            </a:r>
            <a:r>
              <a:rPr lang="en-US" altLang="zh-CN" sz="2400" dirty="0">
                <a:latin typeface="Times New Roman" panose="02020603050405020304" pitchFamily="18" charset="0"/>
                <a:ea typeface="等线" panose="02010600030101010101" pitchFamily="2" charset="-122"/>
                <a:cs typeface="+mn-ea"/>
              </a:rPr>
              <a:t>(H)</a:t>
            </a:r>
            <a:r>
              <a:rPr lang="zh-CN" altLang="en-US" sz="2400" dirty="0">
                <a:latin typeface="Times New Roman" panose="02020603050405020304" pitchFamily="18" charset="0"/>
                <a:ea typeface="等线" panose="02010600030101010101" pitchFamily="2" charset="-122"/>
                <a:cs typeface="+mn-ea"/>
              </a:rPr>
              <a:t>的最小化：</a:t>
            </a:r>
            <a:endParaRPr lang="en-US" altLang="zh-CN" sz="2400" dirty="0">
              <a:latin typeface="Times New Roman" panose="02020603050405020304" pitchFamily="18" charset="0"/>
              <a:ea typeface="等线" panose="02010600030101010101" pitchFamily="2" charset="-122"/>
              <a:cs typeface="+mn-ea"/>
            </a:endParaRPr>
          </a:p>
        </p:txBody>
      </p:sp>
      <p:sp>
        <p:nvSpPr>
          <p:cNvPr id="8" name="文本框 7">
            <a:extLst>
              <a:ext uri="{FF2B5EF4-FFF2-40B4-BE49-F238E27FC236}">
                <a16:creationId xmlns:a16="http://schemas.microsoft.com/office/drawing/2014/main" id="{903C13E2-76C6-07DD-EABB-C133CB7A2C1B}"/>
              </a:ext>
            </a:extLst>
          </p:cNvPr>
          <p:cNvSpPr txBox="1"/>
          <p:nvPr/>
        </p:nvSpPr>
        <p:spPr>
          <a:xfrm>
            <a:off x="456244" y="3557599"/>
            <a:ext cx="5639755" cy="1210092"/>
          </a:xfrm>
          <a:prstGeom prst="rect">
            <a:avLst/>
          </a:prstGeom>
          <a:noFill/>
        </p:spPr>
        <p:txBody>
          <a:bodyPr wrap="square" rtlCol="0"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lnSpc>
                <a:spcPct val="150000"/>
              </a:lnSpc>
            </a:pPr>
            <a:r>
              <a:rPr lang="zh-CN" altLang="en-US" sz="2400" dirty="0">
                <a:latin typeface="Times New Roman" panose="02020603050405020304" pitchFamily="18" charset="0"/>
                <a:ea typeface="等线" panose="02010600030101010101" pitchFamily="2" charset="-122"/>
                <a:cs typeface="+mn-ea"/>
              </a:rPr>
              <a:t>优势值</a:t>
            </a:r>
            <a:r>
              <a:rPr lang="en-US" altLang="zh-CN" sz="2400" dirty="0">
                <a:latin typeface="Times New Roman" panose="02020603050405020304" pitchFamily="18" charset="0"/>
                <a:ea typeface="等线" panose="02010600030101010101" pitchFamily="2" charset="-122"/>
                <a:cs typeface="+mn-ea"/>
              </a:rPr>
              <a:t>A</a:t>
            </a:r>
            <a:r>
              <a:rPr lang="zh-CN" altLang="en-US" sz="2400" dirty="0">
                <a:latin typeface="Times New Roman" panose="02020603050405020304" pitchFamily="18" charset="0"/>
                <a:ea typeface="等线" panose="02010600030101010101" pitchFamily="2" charset="-122"/>
                <a:cs typeface="+mn-ea"/>
              </a:rPr>
              <a:t>的计算方法如右侧公式，但对于输出的奖励</a:t>
            </a:r>
            <a:r>
              <a:rPr lang="en-US" altLang="zh-CN" sz="2400" dirty="0">
                <a:latin typeface="Times New Roman" panose="02020603050405020304" pitchFamily="18" charset="0"/>
                <a:ea typeface="等线" panose="02010600030101010101" pitchFamily="2" charset="-122"/>
                <a:cs typeface="+mn-ea"/>
              </a:rPr>
              <a:t>r</a:t>
            </a:r>
            <a:r>
              <a:rPr lang="zh-CN" altLang="en-US" sz="2400" dirty="0">
                <a:latin typeface="Times New Roman" panose="02020603050405020304" pitchFamily="18" charset="0"/>
                <a:ea typeface="等线" panose="02010600030101010101" pitchFamily="2" charset="-122"/>
                <a:cs typeface="+mn-ea"/>
              </a:rPr>
              <a:t>为这个输出所属聚类的概率：</a:t>
            </a:r>
            <a:endParaRPr lang="en-US" altLang="zh-CN" sz="2400" dirty="0">
              <a:latin typeface="Times New Roman" panose="02020603050405020304" pitchFamily="18" charset="0"/>
              <a:ea typeface="等线" panose="02010600030101010101" pitchFamily="2" charset="-122"/>
              <a:cs typeface="+mn-ea"/>
            </a:endParaRPr>
          </a:p>
        </p:txBody>
      </p:sp>
      <p:pic>
        <p:nvPicPr>
          <p:cNvPr id="10" name="图片 9" descr="图片包含 文本&#10;&#10;AI 生成的内容可能不正确。">
            <a:extLst>
              <a:ext uri="{FF2B5EF4-FFF2-40B4-BE49-F238E27FC236}">
                <a16:creationId xmlns:a16="http://schemas.microsoft.com/office/drawing/2014/main" id="{FE6435D8-2FF5-BF0D-45AE-CC705CF6CFF7}"/>
              </a:ext>
            </a:extLst>
          </p:cNvPr>
          <p:cNvPicPr>
            <a:picLocks noChangeAspect="1"/>
          </p:cNvPicPr>
          <p:nvPr/>
        </p:nvPicPr>
        <p:blipFill>
          <a:blip r:embed="rId7"/>
          <a:stretch>
            <a:fillRect/>
          </a:stretch>
        </p:blipFill>
        <p:spPr>
          <a:xfrm>
            <a:off x="6289669" y="3634073"/>
            <a:ext cx="5028571" cy="1057143"/>
          </a:xfrm>
          <a:prstGeom prst="rect">
            <a:avLst/>
          </a:prstGeom>
        </p:spPr>
      </p:pic>
      <p:pic>
        <p:nvPicPr>
          <p:cNvPr id="12" name="图片 11">
            <a:extLst>
              <a:ext uri="{FF2B5EF4-FFF2-40B4-BE49-F238E27FC236}">
                <a16:creationId xmlns:a16="http://schemas.microsoft.com/office/drawing/2014/main" id="{CF62E9ED-46CB-1CEE-4611-C70D58B0E6DB}"/>
              </a:ext>
            </a:extLst>
          </p:cNvPr>
          <p:cNvPicPr>
            <a:picLocks noChangeAspect="1"/>
          </p:cNvPicPr>
          <p:nvPr/>
        </p:nvPicPr>
        <p:blipFill>
          <a:blip r:embed="rId8"/>
          <a:stretch>
            <a:fillRect/>
          </a:stretch>
        </p:blipFill>
        <p:spPr>
          <a:xfrm>
            <a:off x="3638856" y="5191054"/>
            <a:ext cx="4914286" cy="476190"/>
          </a:xfrm>
          <a:prstGeom prst="rect">
            <a:avLst/>
          </a:prstGeom>
        </p:spPr>
      </p:pic>
    </p:spTree>
    <p:custDataLst>
      <p:tags r:id="rId1"/>
    </p:custDataLst>
    <p:extLst>
      <p:ext uri="{BB962C8B-B14F-4D97-AF65-F5344CB8AC3E}">
        <p14:creationId xmlns:p14="http://schemas.microsoft.com/office/powerpoint/2010/main" val="23692792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11E0A-8A3D-8997-2F01-57B46CC48F59}"/>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8C40686D-FD80-0DD3-621F-CDFB0659D8D8}"/>
              </a:ext>
            </a:extLst>
          </p:cNvPr>
          <p:cNvSpPr/>
          <p:nvPr/>
        </p:nvSpPr>
        <p:spPr>
          <a:xfrm>
            <a:off x="-10160" y="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5" name="文本占位符 1">
            <a:extLst>
              <a:ext uri="{FF2B5EF4-FFF2-40B4-BE49-F238E27FC236}">
                <a16:creationId xmlns:a16="http://schemas.microsoft.com/office/drawing/2014/main" id="{FA2335A0-E268-58BD-5CF2-200E71D0CC4C}"/>
              </a:ext>
            </a:extLst>
          </p:cNvPr>
          <p:cNvSpPr>
            <a:spLocks noGrp="1"/>
          </p:cNvSpPr>
          <p:nvPr/>
        </p:nvSpPr>
        <p:spPr>
          <a:xfrm>
            <a:off x="892175" y="7620"/>
            <a:ext cx="10426065" cy="683260"/>
          </a:xfrm>
          <a:prstGeom prst="rect">
            <a:avLst/>
          </a:prstGeom>
        </p:spPr>
        <p:txBody>
          <a:bodyPr anchor="ctr" anchorCtr="0"/>
          <a:lstStyle>
            <a:defPPr>
              <a:defRPr lang="zh-CN"/>
            </a:defPPr>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500" dirty="0"/>
              <a:t>方法</a:t>
            </a:r>
            <a:r>
              <a:rPr kumimoji="1" lang="en-US" altLang="zh-CN" sz="2500" dirty="0"/>
              <a:t>-</a:t>
            </a:r>
            <a:r>
              <a:rPr kumimoji="1" lang="zh-CN" altLang="en-US" sz="2500" dirty="0"/>
              <a:t>缓解潜在奖励的欺诈行为</a:t>
            </a:r>
          </a:p>
        </p:txBody>
      </p:sp>
      <p:pic>
        <p:nvPicPr>
          <p:cNvPr id="3" name="图片 2">
            <a:extLst>
              <a:ext uri="{FF2B5EF4-FFF2-40B4-BE49-F238E27FC236}">
                <a16:creationId xmlns:a16="http://schemas.microsoft.com/office/drawing/2014/main" id="{F0520531-9C60-32BE-236B-A99B330F338B}"/>
              </a:ext>
            </a:extLst>
          </p:cNvPr>
          <p:cNvPicPr>
            <a:picLocks noChangeAspect="1"/>
          </p:cNvPicPr>
          <p:nvPr/>
        </p:nvPicPr>
        <p:blipFill>
          <a:blip r:embed="rId4" cstate="print">
            <a:duotone>
              <a:schemeClr val="bg2">
                <a:shade val="45000"/>
                <a:satMod val="135000"/>
              </a:schemeClr>
              <a:prstClr val="white"/>
            </a:duotone>
            <a:extLst>
              <a:ext uri="{BEBA8EAE-BF5A-486C-A8C5-ECC9F3942E4B}">
                <a14:imgProps xmlns:a14="http://schemas.microsoft.com/office/drawing/2010/main">
                  <a14:imgLayer r:embed="rId5">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9370"/>
            <a:ext cx="612140" cy="612140"/>
          </a:xfrm>
          <a:prstGeom prst="rect">
            <a:avLst/>
          </a:prstGeom>
        </p:spPr>
      </p:pic>
      <p:sp>
        <p:nvSpPr>
          <p:cNvPr id="4" name="文本框 3">
            <a:extLst>
              <a:ext uri="{FF2B5EF4-FFF2-40B4-BE49-F238E27FC236}">
                <a16:creationId xmlns:a16="http://schemas.microsoft.com/office/drawing/2014/main" id="{6C440F42-E029-B761-EE83-09A4B9AA1D48}"/>
              </a:ext>
            </a:extLst>
          </p:cNvPr>
          <p:cNvSpPr txBox="1"/>
          <p:nvPr/>
        </p:nvSpPr>
        <p:spPr>
          <a:xfrm>
            <a:off x="456247" y="730250"/>
            <a:ext cx="11297920" cy="1210092"/>
          </a:xfrm>
          <a:prstGeom prst="rect">
            <a:avLst/>
          </a:prstGeom>
          <a:noFill/>
        </p:spPr>
        <p:txBody>
          <a:bodyPr wrap="square" rtlCol="0"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lnSpc>
                <a:spcPct val="150000"/>
              </a:lnSpc>
            </a:pPr>
            <a:r>
              <a:rPr lang="zh-CN" altLang="en-US" sz="2400" dirty="0">
                <a:latin typeface="Times New Roman" panose="02020603050405020304" pitchFamily="18" charset="0"/>
                <a:ea typeface="等线" panose="02010600030101010101" pitchFamily="2" charset="-122"/>
                <a:cs typeface="+mn-ea"/>
              </a:rPr>
              <a:t>模型可能过度拟合高置信度但错误的预测结果（对应最常见的语义聚类），而不执行严谨的推理过程。</a:t>
            </a:r>
            <a:endParaRPr lang="en-US" altLang="zh-CN" sz="2400" dirty="0">
              <a:latin typeface="Times New Roman" panose="02020603050405020304" pitchFamily="18" charset="0"/>
              <a:ea typeface="等线" panose="02010600030101010101" pitchFamily="2" charset="-122"/>
              <a:cs typeface="+mn-ea"/>
            </a:endParaRPr>
          </a:p>
        </p:txBody>
      </p:sp>
      <p:sp>
        <p:nvSpPr>
          <p:cNvPr id="6" name="文本框 5">
            <a:extLst>
              <a:ext uri="{FF2B5EF4-FFF2-40B4-BE49-F238E27FC236}">
                <a16:creationId xmlns:a16="http://schemas.microsoft.com/office/drawing/2014/main" id="{4EDABD4F-4A25-5D88-A780-23E9E318CFCA}"/>
              </a:ext>
            </a:extLst>
          </p:cNvPr>
          <p:cNvSpPr txBox="1"/>
          <p:nvPr/>
        </p:nvSpPr>
        <p:spPr>
          <a:xfrm>
            <a:off x="456247" y="1975751"/>
            <a:ext cx="11297920" cy="1857251"/>
          </a:xfrm>
          <a:prstGeom prst="rect">
            <a:avLst/>
          </a:prstGeom>
          <a:noFill/>
        </p:spPr>
        <p:txBody>
          <a:bodyPr wrap="square" rtlCol="0"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lnSpc>
                <a:spcPct val="150000"/>
              </a:lnSpc>
            </a:pPr>
            <a:r>
              <a:rPr lang="zh-CN" altLang="en-US" sz="2400" dirty="0">
                <a:latin typeface="Times New Roman" panose="02020603050405020304" pitchFamily="18" charset="0"/>
                <a:ea typeface="等线" panose="02010600030101010101" pitchFamily="2" charset="-122"/>
                <a:cs typeface="+mn-ea"/>
              </a:rPr>
              <a:t>熵阈值策略，设置两个阈值过滤掉熵过高或过低的答案：</a:t>
            </a:r>
            <a:endParaRPr lang="en-US" altLang="zh-CN" sz="2400" dirty="0">
              <a:latin typeface="Times New Roman" panose="02020603050405020304" pitchFamily="18" charset="0"/>
              <a:ea typeface="等线" panose="02010600030101010101" pitchFamily="2" charset="-122"/>
              <a:cs typeface="+mn-ea"/>
            </a:endParaRPr>
          </a:p>
          <a:p>
            <a:pPr marL="342900" indent="-342900" fontAlgn="auto">
              <a:lnSpc>
                <a:spcPct val="150000"/>
              </a:lnSpc>
              <a:buFont typeface="Arial" panose="020B0604020202020204" pitchFamily="34" charset="0"/>
              <a:buChar char="•"/>
            </a:pPr>
            <a:r>
              <a:rPr lang="zh-CN" altLang="en-US" sz="2400" dirty="0">
                <a:latin typeface="Times New Roman" panose="02020603050405020304" pitchFamily="18" charset="0"/>
                <a:ea typeface="等线" panose="02010600030101010101" pitchFamily="2" charset="-122"/>
                <a:cs typeface="+mn-ea"/>
              </a:rPr>
              <a:t>熵过高表明模型对问题的不确定性极大，预测结果易出现错误；</a:t>
            </a:r>
            <a:endParaRPr lang="en-US" altLang="zh-CN" sz="2400" dirty="0">
              <a:latin typeface="Times New Roman" panose="02020603050405020304" pitchFamily="18" charset="0"/>
              <a:ea typeface="等线" panose="02010600030101010101" pitchFamily="2" charset="-122"/>
              <a:cs typeface="+mn-ea"/>
            </a:endParaRPr>
          </a:p>
          <a:p>
            <a:pPr marL="342900" indent="-342900" fontAlgn="auto">
              <a:lnSpc>
                <a:spcPct val="150000"/>
              </a:lnSpc>
              <a:buFont typeface="Arial" panose="020B0604020202020204" pitchFamily="34" charset="0"/>
              <a:buChar char="•"/>
            </a:pPr>
            <a:r>
              <a:rPr lang="zh-CN" altLang="en-US" sz="2400" dirty="0">
                <a:latin typeface="Times New Roman" panose="02020603050405020304" pitchFamily="18" charset="0"/>
                <a:ea typeface="等线" panose="02010600030101010101" pitchFamily="2" charset="-122"/>
                <a:cs typeface="+mn-ea"/>
              </a:rPr>
              <a:t>持续对已具有低熵的响应进行优化不仅冗余，还存在模型过度自信的风险</a:t>
            </a:r>
            <a:endParaRPr lang="en-US" altLang="zh-CN" sz="2400" dirty="0">
              <a:latin typeface="Times New Roman" panose="02020603050405020304" pitchFamily="18" charset="0"/>
              <a:ea typeface="等线" panose="02010600030101010101" pitchFamily="2" charset="-122"/>
              <a:cs typeface="+mn-ea"/>
            </a:endParaRPr>
          </a:p>
        </p:txBody>
      </p:sp>
      <p:pic>
        <p:nvPicPr>
          <p:cNvPr id="8" name="图片 7" descr="文本, 信件&#10;&#10;AI 生成的内容可能不正确。">
            <a:extLst>
              <a:ext uri="{FF2B5EF4-FFF2-40B4-BE49-F238E27FC236}">
                <a16:creationId xmlns:a16="http://schemas.microsoft.com/office/drawing/2014/main" id="{3C027C7B-414F-FAA8-0008-42EB83CFBFDB}"/>
              </a:ext>
            </a:extLst>
          </p:cNvPr>
          <p:cNvPicPr>
            <a:picLocks noChangeAspect="1"/>
          </p:cNvPicPr>
          <p:nvPr/>
        </p:nvPicPr>
        <p:blipFill>
          <a:blip r:embed="rId6"/>
          <a:stretch>
            <a:fillRect/>
          </a:stretch>
        </p:blipFill>
        <p:spPr>
          <a:xfrm>
            <a:off x="0" y="4339933"/>
            <a:ext cx="7513551" cy="2478697"/>
          </a:xfrm>
          <a:prstGeom prst="rect">
            <a:avLst/>
          </a:prstGeom>
        </p:spPr>
      </p:pic>
      <p:pic>
        <p:nvPicPr>
          <p:cNvPr id="9" name="图片 8">
            <a:extLst>
              <a:ext uri="{FF2B5EF4-FFF2-40B4-BE49-F238E27FC236}">
                <a16:creationId xmlns:a16="http://schemas.microsoft.com/office/drawing/2014/main" id="{E039FDE0-1309-4D2D-9F88-C279783E68ED}"/>
              </a:ext>
            </a:extLst>
          </p:cNvPr>
          <p:cNvPicPr>
            <a:picLocks noChangeAspect="1"/>
          </p:cNvPicPr>
          <p:nvPr/>
        </p:nvPicPr>
        <p:blipFill>
          <a:blip r:embed="rId7"/>
          <a:stretch>
            <a:fillRect/>
          </a:stretch>
        </p:blipFill>
        <p:spPr>
          <a:xfrm>
            <a:off x="1967875" y="3634911"/>
            <a:ext cx="8256250" cy="742136"/>
          </a:xfrm>
          <a:prstGeom prst="rect">
            <a:avLst/>
          </a:prstGeom>
        </p:spPr>
      </p:pic>
      <p:pic>
        <p:nvPicPr>
          <p:cNvPr id="10" name="图片 9">
            <a:extLst>
              <a:ext uri="{FF2B5EF4-FFF2-40B4-BE49-F238E27FC236}">
                <a16:creationId xmlns:a16="http://schemas.microsoft.com/office/drawing/2014/main" id="{1F737315-FC21-6E22-7806-70E20F0B36C2}"/>
              </a:ext>
            </a:extLst>
          </p:cNvPr>
          <p:cNvPicPr>
            <a:picLocks noChangeAspect="1"/>
          </p:cNvPicPr>
          <p:nvPr/>
        </p:nvPicPr>
        <p:blipFill>
          <a:blip r:embed="rId8"/>
          <a:stretch>
            <a:fillRect/>
          </a:stretch>
        </p:blipFill>
        <p:spPr>
          <a:xfrm>
            <a:off x="7341969" y="6269707"/>
            <a:ext cx="4412198" cy="588293"/>
          </a:xfrm>
          <a:prstGeom prst="rect">
            <a:avLst/>
          </a:prstGeom>
        </p:spPr>
      </p:pic>
    </p:spTree>
    <p:custDataLst>
      <p:tags r:id="rId1"/>
    </p:custDataLst>
    <p:extLst>
      <p:ext uri="{BB962C8B-B14F-4D97-AF65-F5344CB8AC3E}">
        <p14:creationId xmlns:p14="http://schemas.microsoft.com/office/powerpoint/2010/main" val="13728558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0160" y="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5" name="文本占位符 1"/>
          <p:cNvSpPr>
            <a:spLocks noGrp="1"/>
          </p:cNvSpPr>
          <p:nvPr/>
        </p:nvSpPr>
        <p:spPr>
          <a:xfrm>
            <a:off x="892175" y="7620"/>
            <a:ext cx="10426065" cy="683260"/>
          </a:xfrm>
          <a:prstGeom prst="rect">
            <a:avLst/>
          </a:prstGeom>
        </p:spPr>
        <p:txBody>
          <a:bodyPr anchor="ctr" anchorCtr="0"/>
          <a:lstStyle>
            <a:defPPr>
              <a:defRPr lang="zh-CN"/>
            </a:defPPr>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kumimoji="1" lang="zh-CN" altLang="en-US" sz="2500" dirty="0"/>
          </a:p>
        </p:txBody>
      </p:sp>
      <p:pic>
        <p:nvPicPr>
          <p:cNvPr id="3" name="图片 2"/>
          <p:cNvPicPr>
            <a:picLocks noChangeAspect="1"/>
          </p:cNvPicPr>
          <p:nvPr/>
        </p:nvPicPr>
        <p:blipFill>
          <a:blip r:embed="rId4" cstate="print">
            <a:duotone>
              <a:schemeClr val="bg2">
                <a:shade val="45000"/>
                <a:satMod val="135000"/>
              </a:schemeClr>
              <a:prstClr val="white"/>
            </a:duotone>
            <a:extLst>
              <a:ext uri="{BEBA8EAE-BF5A-486C-A8C5-ECC9F3942E4B}">
                <a14:imgProps xmlns:a14="http://schemas.microsoft.com/office/drawing/2010/main">
                  <a14:imgLayer r:embed="rId5">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9370"/>
            <a:ext cx="612140" cy="612140"/>
          </a:xfrm>
          <a:prstGeom prst="rect">
            <a:avLst/>
          </a:prstGeom>
        </p:spPr>
      </p:pic>
      <p:sp>
        <p:nvSpPr>
          <p:cNvPr id="12" name="文本占位符 1">
            <a:extLst>
              <a:ext uri="{FF2B5EF4-FFF2-40B4-BE49-F238E27FC236}">
                <a16:creationId xmlns:a16="http://schemas.microsoft.com/office/drawing/2014/main" id="{771BC65B-13E1-8DE4-1455-66BB74C92E85}"/>
              </a:ext>
            </a:extLst>
          </p:cNvPr>
          <p:cNvSpPr>
            <a:spLocks noGrp="1"/>
          </p:cNvSpPr>
          <p:nvPr/>
        </p:nvSpPr>
        <p:spPr>
          <a:xfrm>
            <a:off x="892175" y="7620"/>
            <a:ext cx="10927292" cy="683260"/>
          </a:xfrm>
          <a:prstGeom prst="rect">
            <a:avLst/>
          </a:prstGeom>
        </p:spPr>
        <p:txBody>
          <a:bodyPr anchor="ctr" anchorCtr="0"/>
          <a:lstStyle>
            <a:defPPr>
              <a:defRPr lang="zh-CN"/>
            </a:defPPr>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500" dirty="0"/>
              <a:t>实验</a:t>
            </a:r>
            <a:endParaRPr kumimoji="1" lang="zh-CN" altLang="en-US" dirty="0"/>
          </a:p>
        </p:txBody>
      </p:sp>
      <p:sp>
        <p:nvSpPr>
          <p:cNvPr id="4" name="文本框 3">
            <a:extLst>
              <a:ext uri="{FF2B5EF4-FFF2-40B4-BE49-F238E27FC236}">
                <a16:creationId xmlns:a16="http://schemas.microsoft.com/office/drawing/2014/main" id="{9AC09D93-2374-A1D1-66A7-F79AEA9A81AA}"/>
              </a:ext>
            </a:extLst>
          </p:cNvPr>
          <p:cNvSpPr txBox="1"/>
          <p:nvPr/>
        </p:nvSpPr>
        <p:spPr>
          <a:xfrm>
            <a:off x="1155101" y="1262681"/>
            <a:ext cx="9881797" cy="4332638"/>
          </a:xfrm>
          <a:prstGeom prst="rect">
            <a:avLst/>
          </a:prstGeom>
          <a:noFill/>
        </p:spPr>
        <p:txBody>
          <a:bodyPr wrap="square" rtlCol="0"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lnSpc>
                <a:spcPct val="150000"/>
              </a:lnSpc>
            </a:pPr>
            <a:r>
              <a:rPr lang="zh-CN" altLang="en-US" sz="2800" dirty="0">
                <a:latin typeface="Times New Roman" panose="02020603050405020304" pitchFamily="18" charset="0"/>
                <a:ea typeface="等线" panose="02010600030101010101" pitchFamily="2" charset="-122"/>
                <a:cs typeface="+mn-ea"/>
              </a:rPr>
              <a:t>提示语收集与数据处理</a:t>
            </a:r>
            <a:endParaRPr lang="en-US" altLang="zh-CN" sz="2800" dirty="0">
              <a:latin typeface="Times New Roman" panose="02020603050405020304" pitchFamily="18" charset="0"/>
              <a:ea typeface="等线" panose="02010600030101010101" pitchFamily="2" charset="-122"/>
              <a:cs typeface="+mn-ea"/>
            </a:endParaRPr>
          </a:p>
          <a:p>
            <a:pPr marL="457200" indent="-457200" fontAlgn="auto">
              <a:lnSpc>
                <a:spcPct val="150000"/>
              </a:lnSpc>
              <a:buFont typeface="Arial" panose="020B0604020202020204" pitchFamily="34" charset="0"/>
              <a:buChar char="•"/>
            </a:pPr>
            <a:r>
              <a:rPr lang="zh-CN" altLang="en-US" sz="2800" dirty="0">
                <a:latin typeface="Times New Roman" panose="02020603050405020304" pitchFamily="18" charset="0"/>
                <a:ea typeface="等线" panose="02010600030101010101" pitchFamily="2" charset="-122"/>
                <a:cs typeface="+mn-ea"/>
              </a:rPr>
              <a:t>数学推理：遵循通用实验范式 ，从 </a:t>
            </a:r>
            <a:r>
              <a:rPr lang="en-US" altLang="zh-CN" sz="2800" dirty="0" err="1">
                <a:latin typeface="Times New Roman" panose="02020603050405020304" pitchFamily="18" charset="0"/>
                <a:ea typeface="等线" panose="02010600030101010101" pitchFamily="2" charset="-122"/>
                <a:cs typeface="+mn-ea"/>
              </a:rPr>
              <a:t>NuminaMath-CoT</a:t>
            </a:r>
            <a:r>
              <a:rPr lang="en-US" altLang="zh-CN" sz="2800" dirty="0">
                <a:latin typeface="Times New Roman" panose="02020603050405020304" pitchFamily="18" charset="0"/>
                <a:ea typeface="等线" panose="02010600030101010101" pitchFamily="2" charset="-122"/>
                <a:cs typeface="+mn-ea"/>
              </a:rPr>
              <a:t> </a:t>
            </a:r>
            <a:r>
              <a:rPr lang="zh-CN" altLang="en-US" sz="2800" dirty="0">
                <a:latin typeface="Times New Roman" panose="02020603050405020304" pitchFamily="18" charset="0"/>
                <a:ea typeface="等线" panose="02010600030101010101" pitchFamily="2" charset="-122"/>
                <a:cs typeface="+mn-ea"/>
              </a:rPr>
              <a:t>数据集中随机选取 </a:t>
            </a:r>
            <a:r>
              <a:rPr lang="en-US" altLang="zh-CN" sz="2800" dirty="0">
                <a:latin typeface="Times New Roman" panose="02020603050405020304" pitchFamily="18" charset="0"/>
                <a:ea typeface="等线" panose="02010600030101010101" pitchFamily="2" charset="-122"/>
                <a:cs typeface="+mn-ea"/>
              </a:rPr>
              <a:t>20000 </a:t>
            </a:r>
            <a:r>
              <a:rPr lang="zh-CN" altLang="en-US" sz="2800" dirty="0">
                <a:latin typeface="Times New Roman" panose="02020603050405020304" pitchFamily="18" charset="0"/>
                <a:ea typeface="等线" panose="02010600030101010101" pitchFamily="2" charset="-122"/>
                <a:cs typeface="+mn-ea"/>
              </a:rPr>
              <a:t>条提示语用于训练，未进行额外的数据处理；</a:t>
            </a:r>
            <a:endParaRPr lang="en-US" altLang="zh-CN" sz="2800" dirty="0">
              <a:latin typeface="Times New Roman" panose="02020603050405020304" pitchFamily="18" charset="0"/>
              <a:ea typeface="等线" panose="02010600030101010101" pitchFamily="2" charset="-122"/>
              <a:cs typeface="+mn-ea"/>
            </a:endParaRPr>
          </a:p>
          <a:p>
            <a:pPr marL="457200" indent="-457200" fontAlgn="auto">
              <a:lnSpc>
                <a:spcPct val="150000"/>
              </a:lnSpc>
              <a:buFont typeface="Arial" panose="020B0604020202020204" pitchFamily="34" charset="0"/>
              <a:buChar char="•"/>
            </a:pPr>
            <a:r>
              <a:rPr lang="zh-CN" altLang="en-US" sz="2800" dirty="0">
                <a:latin typeface="Times New Roman" panose="02020603050405020304" pitchFamily="18" charset="0"/>
                <a:ea typeface="等线" panose="02010600030101010101" pitchFamily="2" charset="-122"/>
                <a:cs typeface="+mn-ea"/>
              </a:rPr>
              <a:t>开放式自然推理：采用 </a:t>
            </a:r>
            <a:r>
              <a:rPr lang="en-US" altLang="zh-CN" sz="2800" dirty="0">
                <a:latin typeface="Times New Roman" panose="02020603050405020304" pitchFamily="18" charset="0"/>
                <a:ea typeface="等线" panose="02010600030101010101" pitchFamily="2" charset="-122"/>
                <a:cs typeface="+mn-ea"/>
              </a:rPr>
              <a:t>Natural Reasoning </a:t>
            </a:r>
            <a:r>
              <a:rPr lang="zh-CN" altLang="en-US" sz="2800" dirty="0">
                <a:latin typeface="Times New Roman" panose="02020603050405020304" pitchFamily="18" charset="0"/>
                <a:ea typeface="等线" panose="02010600030101010101" pitchFamily="2" charset="-122"/>
                <a:cs typeface="+mn-ea"/>
              </a:rPr>
              <a:t>数据集，包含物理、计算机科学、经济学、社会科学等多个领域的多样化推理问题。</a:t>
            </a:r>
            <a:endParaRPr lang="en-US" altLang="zh-CN" sz="2800" dirty="0">
              <a:latin typeface="Times New Roman" panose="02020603050405020304" pitchFamily="18" charset="0"/>
              <a:ea typeface="等线" panose="02010600030101010101" pitchFamily="2" charset="-122"/>
              <a:cs typeface="+mn-ea"/>
            </a:endParaRPr>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EA26AB-A6C7-2410-25FD-EEA4D2C59B60}"/>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76CE52CE-6E46-0FC5-9D29-F5539817E1AF}"/>
              </a:ext>
            </a:extLst>
          </p:cNvPr>
          <p:cNvSpPr/>
          <p:nvPr/>
        </p:nvSpPr>
        <p:spPr>
          <a:xfrm>
            <a:off x="-10160" y="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5" name="文本占位符 1">
            <a:extLst>
              <a:ext uri="{FF2B5EF4-FFF2-40B4-BE49-F238E27FC236}">
                <a16:creationId xmlns:a16="http://schemas.microsoft.com/office/drawing/2014/main" id="{2D96C2A1-46FA-4F93-9F84-32F14293FC40}"/>
              </a:ext>
            </a:extLst>
          </p:cNvPr>
          <p:cNvSpPr>
            <a:spLocks noGrp="1"/>
          </p:cNvSpPr>
          <p:nvPr/>
        </p:nvSpPr>
        <p:spPr>
          <a:xfrm>
            <a:off x="892175" y="7620"/>
            <a:ext cx="10426065" cy="683260"/>
          </a:xfrm>
          <a:prstGeom prst="rect">
            <a:avLst/>
          </a:prstGeom>
        </p:spPr>
        <p:txBody>
          <a:bodyPr anchor="ctr" anchorCtr="0"/>
          <a:lstStyle>
            <a:defPPr>
              <a:defRPr lang="zh-CN"/>
            </a:defPPr>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kumimoji="1" lang="zh-CN" altLang="en-US" sz="2500" dirty="0"/>
          </a:p>
        </p:txBody>
      </p:sp>
      <p:pic>
        <p:nvPicPr>
          <p:cNvPr id="3" name="图片 2">
            <a:extLst>
              <a:ext uri="{FF2B5EF4-FFF2-40B4-BE49-F238E27FC236}">
                <a16:creationId xmlns:a16="http://schemas.microsoft.com/office/drawing/2014/main" id="{EDE20DCA-0263-BDB9-8EF7-825A59B33B02}"/>
              </a:ext>
            </a:extLst>
          </p:cNvPr>
          <p:cNvPicPr>
            <a:picLocks noChangeAspect="1"/>
          </p:cNvPicPr>
          <p:nvPr/>
        </p:nvPicPr>
        <p:blipFill>
          <a:blip r:embed="rId4" cstate="print">
            <a:duotone>
              <a:schemeClr val="bg2">
                <a:shade val="45000"/>
                <a:satMod val="135000"/>
              </a:schemeClr>
              <a:prstClr val="white"/>
            </a:duotone>
            <a:extLst>
              <a:ext uri="{BEBA8EAE-BF5A-486C-A8C5-ECC9F3942E4B}">
                <a14:imgProps xmlns:a14="http://schemas.microsoft.com/office/drawing/2010/main">
                  <a14:imgLayer r:embed="rId5">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9370"/>
            <a:ext cx="612140" cy="612140"/>
          </a:xfrm>
          <a:prstGeom prst="rect">
            <a:avLst/>
          </a:prstGeom>
        </p:spPr>
      </p:pic>
      <p:sp>
        <p:nvSpPr>
          <p:cNvPr id="12" name="文本占位符 1">
            <a:extLst>
              <a:ext uri="{FF2B5EF4-FFF2-40B4-BE49-F238E27FC236}">
                <a16:creationId xmlns:a16="http://schemas.microsoft.com/office/drawing/2014/main" id="{889347F4-F4D1-F4EF-5A20-B14D44BFAADC}"/>
              </a:ext>
            </a:extLst>
          </p:cNvPr>
          <p:cNvSpPr>
            <a:spLocks noGrp="1"/>
          </p:cNvSpPr>
          <p:nvPr/>
        </p:nvSpPr>
        <p:spPr>
          <a:xfrm>
            <a:off x="892175" y="7620"/>
            <a:ext cx="10927292" cy="683260"/>
          </a:xfrm>
          <a:prstGeom prst="rect">
            <a:avLst/>
          </a:prstGeom>
        </p:spPr>
        <p:txBody>
          <a:bodyPr anchor="ctr" anchorCtr="0"/>
          <a:lstStyle>
            <a:defPPr>
              <a:defRPr lang="zh-CN"/>
            </a:defPPr>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500" dirty="0"/>
              <a:t>实验</a:t>
            </a:r>
            <a:endParaRPr kumimoji="1" lang="zh-CN" altLang="en-US" dirty="0"/>
          </a:p>
        </p:txBody>
      </p:sp>
      <p:sp>
        <p:nvSpPr>
          <p:cNvPr id="4" name="文本框 3">
            <a:extLst>
              <a:ext uri="{FF2B5EF4-FFF2-40B4-BE49-F238E27FC236}">
                <a16:creationId xmlns:a16="http://schemas.microsoft.com/office/drawing/2014/main" id="{DF001E12-63A8-9A2D-FD45-9652BDC05CED}"/>
              </a:ext>
            </a:extLst>
          </p:cNvPr>
          <p:cNvSpPr txBox="1"/>
          <p:nvPr/>
        </p:nvSpPr>
        <p:spPr>
          <a:xfrm>
            <a:off x="1655615" y="1230764"/>
            <a:ext cx="8880770" cy="5073784"/>
          </a:xfrm>
          <a:prstGeom prst="rect">
            <a:avLst/>
          </a:prstGeom>
          <a:noFill/>
        </p:spPr>
        <p:txBody>
          <a:bodyPr wrap="square" rtlCol="0"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lnSpc>
                <a:spcPct val="150000"/>
              </a:lnSpc>
            </a:pPr>
            <a:r>
              <a:rPr lang="zh-CN" altLang="en-US" sz="2800" dirty="0">
                <a:latin typeface="Times New Roman" panose="02020603050405020304" pitchFamily="18" charset="0"/>
                <a:ea typeface="等线" panose="02010600030101010101" pitchFamily="2" charset="-122"/>
                <a:cs typeface="+mn-ea"/>
              </a:rPr>
              <a:t>评估方式</a:t>
            </a:r>
            <a:endParaRPr lang="en-US" altLang="zh-CN" sz="2800" dirty="0">
              <a:latin typeface="Times New Roman" panose="02020603050405020304" pitchFamily="18" charset="0"/>
              <a:ea typeface="等线" panose="02010600030101010101" pitchFamily="2" charset="-122"/>
              <a:cs typeface="+mn-ea"/>
            </a:endParaRPr>
          </a:p>
          <a:p>
            <a:pPr marL="457200" indent="-457200" fontAlgn="auto">
              <a:lnSpc>
                <a:spcPct val="150000"/>
              </a:lnSpc>
              <a:buFont typeface="Arial" panose="020B0604020202020204" pitchFamily="34" charset="0"/>
              <a:buChar char="•"/>
            </a:pPr>
            <a:r>
              <a:rPr lang="zh-CN" altLang="en-US" sz="2800" dirty="0">
                <a:latin typeface="Times New Roman" panose="02020603050405020304" pitchFamily="18" charset="0"/>
                <a:ea typeface="等线" panose="02010600030101010101" pitchFamily="2" charset="-122"/>
                <a:cs typeface="+mn-ea"/>
              </a:rPr>
              <a:t>数学推理：在 </a:t>
            </a:r>
            <a:r>
              <a:rPr lang="en-US" altLang="zh-CN" sz="2800" dirty="0">
                <a:latin typeface="Times New Roman" panose="02020603050405020304" pitchFamily="18" charset="0"/>
                <a:ea typeface="等线" panose="02010600030101010101" pitchFamily="2" charset="-122"/>
                <a:cs typeface="+mn-ea"/>
              </a:rPr>
              <a:t>Minerva Math</a:t>
            </a:r>
            <a:r>
              <a:rPr lang="zh-CN" altLang="en-US" sz="2800" dirty="0">
                <a:latin typeface="Times New Roman" panose="02020603050405020304" pitchFamily="18" charset="0"/>
                <a:ea typeface="等线" panose="02010600030101010101" pitchFamily="2" charset="-122"/>
                <a:cs typeface="+mn-ea"/>
              </a:rPr>
              <a:t>、</a:t>
            </a:r>
            <a:r>
              <a:rPr lang="en-US" altLang="zh-CN" sz="2800" dirty="0">
                <a:latin typeface="Times New Roman" panose="02020603050405020304" pitchFamily="18" charset="0"/>
                <a:ea typeface="等线" panose="02010600030101010101" pitchFamily="2" charset="-122"/>
                <a:cs typeface="+mn-ea"/>
              </a:rPr>
              <a:t>MATH</a:t>
            </a:r>
            <a:r>
              <a:rPr lang="zh-CN" altLang="en-US" sz="2800" dirty="0">
                <a:latin typeface="Times New Roman" panose="02020603050405020304" pitchFamily="18" charset="0"/>
                <a:ea typeface="等线" panose="02010600030101010101" pitchFamily="2" charset="-122"/>
                <a:cs typeface="+mn-ea"/>
              </a:rPr>
              <a:t>、</a:t>
            </a:r>
            <a:r>
              <a:rPr lang="en-US" altLang="zh-CN" sz="2800" dirty="0">
                <a:latin typeface="Times New Roman" panose="02020603050405020304" pitchFamily="18" charset="0"/>
                <a:ea typeface="等线" panose="02010600030101010101" pitchFamily="2" charset="-122"/>
                <a:cs typeface="+mn-ea"/>
              </a:rPr>
              <a:t>AMC23</a:t>
            </a:r>
            <a:r>
              <a:rPr lang="zh-CN" altLang="en-US" sz="2800" dirty="0">
                <a:latin typeface="Times New Roman" panose="02020603050405020304" pitchFamily="18" charset="0"/>
                <a:ea typeface="等线" panose="02010600030101010101" pitchFamily="2" charset="-122"/>
                <a:cs typeface="+mn-ea"/>
              </a:rPr>
              <a:t>、</a:t>
            </a:r>
            <a:r>
              <a:rPr lang="en-US" altLang="zh-CN" sz="2800" dirty="0" err="1">
                <a:latin typeface="Times New Roman" panose="02020603050405020304" pitchFamily="18" charset="0"/>
                <a:ea typeface="等线" panose="02010600030101010101" pitchFamily="2" charset="-122"/>
                <a:cs typeface="+mn-ea"/>
              </a:rPr>
              <a:t>OlympaidBench</a:t>
            </a:r>
            <a:r>
              <a:rPr lang="zh-CN" altLang="en-US" sz="2800" dirty="0">
                <a:latin typeface="Times New Roman" panose="02020603050405020304" pitchFamily="18" charset="0"/>
                <a:ea typeface="等线" panose="02010600030101010101" pitchFamily="2" charset="-122"/>
                <a:cs typeface="+mn-ea"/>
              </a:rPr>
              <a:t>、</a:t>
            </a:r>
            <a:r>
              <a:rPr lang="en-US" altLang="zh-CN" sz="2800" dirty="0">
                <a:latin typeface="Times New Roman" panose="02020603050405020304" pitchFamily="18" charset="0"/>
                <a:ea typeface="等线" panose="02010600030101010101" pitchFamily="2" charset="-122"/>
                <a:cs typeface="+mn-ea"/>
              </a:rPr>
              <a:t>AIME24 </a:t>
            </a:r>
            <a:r>
              <a:rPr lang="zh-CN" altLang="en-US" sz="2800" dirty="0">
                <a:latin typeface="Times New Roman" panose="02020603050405020304" pitchFamily="18" charset="0"/>
                <a:ea typeface="等线" panose="02010600030101010101" pitchFamily="2" charset="-122"/>
                <a:cs typeface="+mn-ea"/>
              </a:rPr>
              <a:t>等多样化基准测试集上评估性能；</a:t>
            </a:r>
            <a:endParaRPr lang="en-US" altLang="zh-CN" sz="2800" dirty="0">
              <a:latin typeface="Times New Roman" panose="02020603050405020304" pitchFamily="18" charset="0"/>
              <a:ea typeface="等线" panose="02010600030101010101" pitchFamily="2" charset="-122"/>
              <a:cs typeface="+mn-ea"/>
            </a:endParaRPr>
          </a:p>
          <a:p>
            <a:pPr marL="457200" indent="-457200" fontAlgn="auto">
              <a:lnSpc>
                <a:spcPct val="150000"/>
              </a:lnSpc>
              <a:buFont typeface="Arial" panose="020B0604020202020204" pitchFamily="34" charset="0"/>
              <a:buChar char="•"/>
            </a:pPr>
            <a:r>
              <a:rPr lang="zh-CN" altLang="en-US" sz="2800" dirty="0">
                <a:latin typeface="Times New Roman" panose="02020603050405020304" pitchFamily="18" charset="0"/>
                <a:ea typeface="等线" panose="02010600030101010101" pitchFamily="2" charset="-122"/>
                <a:cs typeface="+mn-ea"/>
              </a:rPr>
              <a:t>开放式自然推理：在 </a:t>
            </a:r>
            <a:r>
              <a:rPr lang="en-US" altLang="zh-CN" sz="2800" dirty="0">
                <a:latin typeface="Times New Roman" panose="02020603050405020304" pitchFamily="18" charset="0"/>
                <a:ea typeface="等线" panose="02010600030101010101" pitchFamily="2" charset="-122"/>
                <a:cs typeface="+mn-ea"/>
              </a:rPr>
              <a:t>MMLU-Pro </a:t>
            </a:r>
            <a:r>
              <a:rPr lang="zh-CN" altLang="en-US" sz="2800" dirty="0">
                <a:latin typeface="Times New Roman" panose="02020603050405020304" pitchFamily="18" charset="0"/>
                <a:ea typeface="等线" panose="02010600030101010101" pitchFamily="2" charset="-122"/>
                <a:cs typeface="+mn-ea"/>
              </a:rPr>
              <a:t>和 </a:t>
            </a:r>
            <a:r>
              <a:rPr lang="en-US" altLang="zh-CN" sz="2800" dirty="0">
                <a:latin typeface="Times New Roman" panose="02020603050405020304" pitchFamily="18" charset="0"/>
                <a:ea typeface="等线" panose="02010600030101010101" pitchFamily="2" charset="-122"/>
                <a:cs typeface="+mn-ea"/>
              </a:rPr>
              <a:t>GPQA </a:t>
            </a:r>
            <a:r>
              <a:rPr lang="zh-CN" altLang="en-US" sz="2800" dirty="0">
                <a:latin typeface="Times New Roman" panose="02020603050405020304" pitchFamily="18" charset="0"/>
                <a:ea typeface="等线" panose="02010600030101010101" pitchFamily="2" charset="-122"/>
                <a:cs typeface="+mn-ea"/>
              </a:rPr>
              <a:t>基准测试集上评估性能，两个数据集均包含跨学科的高难度推理问题（如生物、商业、化学、计算机科学等）。</a:t>
            </a:r>
            <a:endParaRPr lang="en-US" altLang="zh-CN" sz="2800" dirty="0">
              <a:latin typeface="Times New Roman" panose="02020603050405020304" pitchFamily="18" charset="0"/>
              <a:ea typeface="等线" panose="02010600030101010101" pitchFamily="2" charset="-122"/>
              <a:cs typeface="+mn-ea"/>
            </a:endParaRPr>
          </a:p>
        </p:txBody>
      </p:sp>
    </p:spTree>
    <p:custDataLst>
      <p:tags r:id="rId1"/>
    </p:custDataLst>
    <p:extLst>
      <p:ext uri="{BB962C8B-B14F-4D97-AF65-F5344CB8AC3E}">
        <p14:creationId xmlns:p14="http://schemas.microsoft.com/office/powerpoint/2010/main" val="5105397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381D5-4DB5-68FB-F7F2-80111E979AA9}"/>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A81CCA65-97CA-AC0A-B751-E125EDE3C6E1}"/>
              </a:ext>
            </a:extLst>
          </p:cNvPr>
          <p:cNvSpPr/>
          <p:nvPr/>
        </p:nvSpPr>
        <p:spPr>
          <a:xfrm>
            <a:off x="-10160" y="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 name="文本占位符 1">
            <a:extLst>
              <a:ext uri="{FF2B5EF4-FFF2-40B4-BE49-F238E27FC236}">
                <a16:creationId xmlns:a16="http://schemas.microsoft.com/office/drawing/2014/main" id="{DDA0D372-678F-8AAD-32D1-DB58D5ACA78C}"/>
              </a:ext>
            </a:extLst>
          </p:cNvPr>
          <p:cNvSpPr>
            <a:spLocks noGrp="1"/>
          </p:cNvSpPr>
          <p:nvPr/>
        </p:nvSpPr>
        <p:spPr>
          <a:xfrm>
            <a:off x="892175" y="7620"/>
            <a:ext cx="10426065" cy="683260"/>
          </a:xfrm>
          <a:prstGeom prst="rect">
            <a:avLst/>
          </a:prstGeom>
        </p:spPr>
        <p:txBody>
          <a:bodyPr anchor="ctr" anchorCtr="0"/>
          <a:lstStyle>
            <a:defPPr>
              <a:defRPr lang="zh-CN"/>
            </a:defPPr>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500" dirty="0"/>
              <a:t>实验</a:t>
            </a:r>
            <a:r>
              <a:rPr kumimoji="1" lang="en-US" altLang="zh-CN" sz="2500" dirty="0"/>
              <a:t>-</a:t>
            </a:r>
            <a:r>
              <a:rPr kumimoji="1" lang="zh-CN" altLang="en-US" sz="2500" dirty="0"/>
              <a:t>数学推理任务</a:t>
            </a:r>
          </a:p>
        </p:txBody>
      </p:sp>
      <p:pic>
        <p:nvPicPr>
          <p:cNvPr id="3" name="图片 2">
            <a:extLst>
              <a:ext uri="{FF2B5EF4-FFF2-40B4-BE49-F238E27FC236}">
                <a16:creationId xmlns:a16="http://schemas.microsoft.com/office/drawing/2014/main" id="{27381D14-1AAB-42DA-8976-3B764DD81744}"/>
              </a:ext>
            </a:extLst>
          </p:cNvPr>
          <p:cNvPicPr>
            <a:picLocks noChangeAspect="1"/>
          </p:cNvPicPr>
          <p:nvPr/>
        </p:nvPicPr>
        <p:blipFill>
          <a:blip r:embed="rId4" cstate="print">
            <a:duotone>
              <a:schemeClr val="bg2">
                <a:shade val="45000"/>
                <a:satMod val="135000"/>
              </a:schemeClr>
              <a:prstClr val="white"/>
            </a:duotone>
            <a:extLst>
              <a:ext uri="{BEBA8EAE-BF5A-486C-A8C5-ECC9F3942E4B}">
                <a14:imgProps xmlns:a14="http://schemas.microsoft.com/office/drawing/2010/main">
                  <a14:imgLayer r:embed="rId5">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9370"/>
            <a:ext cx="612140" cy="612140"/>
          </a:xfrm>
          <a:prstGeom prst="rect">
            <a:avLst/>
          </a:prstGeom>
        </p:spPr>
      </p:pic>
      <p:pic>
        <p:nvPicPr>
          <p:cNvPr id="6" name="图片 5" descr="一些文字和图片的手机截图&#10;&#10;AI 生成的内容可能不正确。">
            <a:extLst>
              <a:ext uri="{FF2B5EF4-FFF2-40B4-BE49-F238E27FC236}">
                <a16:creationId xmlns:a16="http://schemas.microsoft.com/office/drawing/2014/main" id="{232AE931-B8C8-3780-BE56-EF701BDBA1F7}"/>
              </a:ext>
            </a:extLst>
          </p:cNvPr>
          <p:cNvPicPr>
            <a:picLocks noChangeAspect="1"/>
          </p:cNvPicPr>
          <p:nvPr/>
        </p:nvPicPr>
        <p:blipFill>
          <a:blip r:embed="rId6"/>
          <a:stretch>
            <a:fillRect/>
          </a:stretch>
        </p:blipFill>
        <p:spPr>
          <a:xfrm>
            <a:off x="1400980" y="859366"/>
            <a:ext cx="9408454" cy="5831096"/>
          </a:xfrm>
          <a:prstGeom prst="rect">
            <a:avLst/>
          </a:prstGeom>
        </p:spPr>
      </p:pic>
    </p:spTree>
    <p:custDataLst>
      <p:tags r:id="rId1"/>
    </p:custDataLst>
    <p:extLst>
      <p:ext uri="{BB962C8B-B14F-4D97-AF65-F5344CB8AC3E}">
        <p14:creationId xmlns:p14="http://schemas.microsoft.com/office/powerpoint/2010/main" val="15655928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458979-029B-3AC1-9044-44DF7DC82779}"/>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E4E9D1BF-2D86-B7A2-DAE9-6D16A1CC404C}"/>
              </a:ext>
            </a:extLst>
          </p:cNvPr>
          <p:cNvSpPr/>
          <p:nvPr/>
        </p:nvSpPr>
        <p:spPr>
          <a:xfrm>
            <a:off x="-10160" y="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 name="文本占位符 1">
            <a:extLst>
              <a:ext uri="{FF2B5EF4-FFF2-40B4-BE49-F238E27FC236}">
                <a16:creationId xmlns:a16="http://schemas.microsoft.com/office/drawing/2014/main" id="{F70CAD97-1931-6A41-3467-DE179778EA6E}"/>
              </a:ext>
            </a:extLst>
          </p:cNvPr>
          <p:cNvSpPr>
            <a:spLocks noGrp="1"/>
          </p:cNvSpPr>
          <p:nvPr/>
        </p:nvSpPr>
        <p:spPr>
          <a:xfrm>
            <a:off x="892175" y="7620"/>
            <a:ext cx="10426065" cy="683260"/>
          </a:xfrm>
          <a:prstGeom prst="rect">
            <a:avLst/>
          </a:prstGeom>
        </p:spPr>
        <p:txBody>
          <a:bodyPr anchor="ctr" anchorCtr="0"/>
          <a:lstStyle>
            <a:defPPr>
              <a:defRPr lang="zh-CN"/>
            </a:defPPr>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500" dirty="0"/>
              <a:t>实验</a:t>
            </a:r>
            <a:r>
              <a:rPr kumimoji="1" lang="en-US" altLang="zh-CN" sz="2500" dirty="0"/>
              <a:t>-</a:t>
            </a:r>
            <a:r>
              <a:rPr kumimoji="1" lang="zh-CN" altLang="en-US" sz="2500" dirty="0"/>
              <a:t>开放式自然推理任务</a:t>
            </a:r>
          </a:p>
        </p:txBody>
      </p:sp>
      <p:pic>
        <p:nvPicPr>
          <p:cNvPr id="3" name="图片 2">
            <a:extLst>
              <a:ext uri="{FF2B5EF4-FFF2-40B4-BE49-F238E27FC236}">
                <a16:creationId xmlns:a16="http://schemas.microsoft.com/office/drawing/2014/main" id="{BFD0094E-B32C-5927-3B20-4D422F675055}"/>
              </a:ext>
            </a:extLst>
          </p:cNvPr>
          <p:cNvPicPr>
            <a:picLocks noChangeAspect="1"/>
          </p:cNvPicPr>
          <p:nvPr/>
        </p:nvPicPr>
        <p:blipFill>
          <a:blip r:embed="rId4" cstate="print">
            <a:duotone>
              <a:schemeClr val="bg2">
                <a:shade val="45000"/>
                <a:satMod val="135000"/>
              </a:schemeClr>
              <a:prstClr val="white"/>
            </a:duotone>
            <a:extLst>
              <a:ext uri="{BEBA8EAE-BF5A-486C-A8C5-ECC9F3942E4B}">
                <a14:imgProps xmlns:a14="http://schemas.microsoft.com/office/drawing/2010/main">
                  <a14:imgLayer r:embed="rId5">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9370"/>
            <a:ext cx="612140" cy="612140"/>
          </a:xfrm>
          <a:prstGeom prst="rect">
            <a:avLst/>
          </a:prstGeom>
        </p:spPr>
      </p:pic>
      <p:pic>
        <p:nvPicPr>
          <p:cNvPr id="6" name="图片 5" descr="一些文字和图案&#10;&#10;AI 生成的内容可能不正确。">
            <a:extLst>
              <a:ext uri="{FF2B5EF4-FFF2-40B4-BE49-F238E27FC236}">
                <a16:creationId xmlns:a16="http://schemas.microsoft.com/office/drawing/2014/main" id="{33D29F03-E360-D725-52B8-BF632FA208FB}"/>
              </a:ext>
            </a:extLst>
          </p:cNvPr>
          <p:cNvPicPr>
            <a:picLocks noChangeAspect="1"/>
          </p:cNvPicPr>
          <p:nvPr/>
        </p:nvPicPr>
        <p:blipFill>
          <a:blip r:embed="rId6"/>
          <a:stretch>
            <a:fillRect/>
          </a:stretch>
        </p:blipFill>
        <p:spPr>
          <a:xfrm>
            <a:off x="1903711" y="702042"/>
            <a:ext cx="8384578" cy="6148338"/>
          </a:xfrm>
          <a:prstGeom prst="rect">
            <a:avLst/>
          </a:prstGeom>
        </p:spPr>
      </p:pic>
    </p:spTree>
    <p:custDataLst>
      <p:tags r:id="rId1"/>
    </p:custDataLst>
    <p:extLst>
      <p:ext uri="{BB962C8B-B14F-4D97-AF65-F5344CB8AC3E}">
        <p14:creationId xmlns:p14="http://schemas.microsoft.com/office/powerpoint/2010/main" val="39464115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EF69C-CE1C-5CD5-AD1B-CDF559FC6F20}"/>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1430513E-8827-438E-0AA6-826C43F36885}"/>
              </a:ext>
            </a:extLst>
          </p:cNvPr>
          <p:cNvSpPr/>
          <p:nvPr/>
        </p:nvSpPr>
        <p:spPr>
          <a:xfrm>
            <a:off x="-10160" y="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 name="文本占位符 1">
            <a:extLst>
              <a:ext uri="{FF2B5EF4-FFF2-40B4-BE49-F238E27FC236}">
                <a16:creationId xmlns:a16="http://schemas.microsoft.com/office/drawing/2014/main" id="{78F5D383-616B-7724-EFA1-4F52113BC36E}"/>
              </a:ext>
            </a:extLst>
          </p:cNvPr>
          <p:cNvSpPr>
            <a:spLocks noGrp="1"/>
          </p:cNvSpPr>
          <p:nvPr/>
        </p:nvSpPr>
        <p:spPr>
          <a:xfrm>
            <a:off x="892175" y="7620"/>
            <a:ext cx="10426065" cy="683260"/>
          </a:xfrm>
          <a:prstGeom prst="rect">
            <a:avLst/>
          </a:prstGeom>
        </p:spPr>
        <p:txBody>
          <a:bodyPr anchor="ctr" anchorCtr="0"/>
          <a:lstStyle>
            <a:defPPr>
              <a:defRPr lang="zh-CN"/>
            </a:defPPr>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500" dirty="0"/>
              <a:t>结论</a:t>
            </a:r>
          </a:p>
        </p:txBody>
      </p:sp>
      <p:pic>
        <p:nvPicPr>
          <p:cNvPr id="3" name="图片 2">
            <a:extLst>
              <a:ext uri="{FF2B5EF4-FFF2-40B4-BE49-F238E27FC236}">
                <a16:creationId xmlns:a16="http://schemas.microsoft.com/office/drawing/2014/main" id="{E718C054-3239-F417-FB40-0501316C67D8}"/>
              </a:ext>
            </a:extLst>
          </p:cNvPr>
          <p:cNvPicPr>
            <a:picLocks noChangeAspect="1"/>
          </p:cNvPicPr>
          <p:nvPr/>
        </p:nvPicPr>
        <p:blipFill>
          <a:blip r:embed="rId4" cstate="print">
            <a:duotone>
              <a:schemeClr val="bg2">
                <a:shade val="45000"/>
                <a:satMod val="135000"/>
              </a:schemeClr>
              <a:prstClr val="white"/>
            </a:duotone>
            <a:extLst>
              <a:ext uri="{BEBA8EAE-BF5A-486C-A8C5-ECC9F3942E4B}">
                <a14:imgProps xmlns:a14="http://schemas.microsoft.com/office/drawing/2010/main">
                  <a14:imgLayer r:embed="rId5">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9370"/>
            <a:ext cx="612140" cy="612140"/>
          </a:xfrm>
          <a:prstGeom prst="rect">
            <a:avLst/>
          </a:prstGeom>
        </p:spPr>
      </p:pic>
      <p:pic>
        <p:nvPicPr>
          <p:cNvPr id="6" name="图片 5" descr="图表&#10;&#10;AI 生成的内容可能不正确。">
            <a:extLst>
              <a:ext uri="{FF2B5EF4-FFF2-40B4-BE49-F238E27FC236}">
                <a16:creationId xmlns:a16="http://schemas.microsoft.com/office/drawing/2014/main" id="{78524191-D20B-3391-DD66-12970349537B}"/>
              </a:ext>
            </a:extLst>
          </p:cNvPr>
          <p:cNvPicPr>
            <a:picLocks noChangeAspect="1"/>
          </p:cNvPicPr>
          <p:nvPr/>
        </p:nvPicPr>
        <p:blipFill>
          <a:blip r:embed="rId6"/>
          <a:stretch>
            <a:fillRect/>
          </a:stretch>
        </p:blipFill>
        <p:spPr>
          <a:xfrm>
            <a:off x="665373" y="730250"/>
            <a:ext cx="10879667" cy="5069163"/>
          </a:xfrm>
          <a:prstGeom prst="rect">
            <a:avLst/>
          </a:prstGeom>
        </p:spPr>
      </p:pic>
      <p:pic>
        <p:nvPicPr>
          <p:cNvPr id="8" name="图片 7" descr="文本&#10;&#10;AI 生成的内容可能不正确。">
            <a:extLst>
              <a:ext uri="{FF2B5EF4-FFF2-40B4-BE49-F238E27FC236}">
                <a16:creationId xmlns:a16="http://schemas.microsoft.com/office/drawing/2014/main" id="{FF490AD7-A1BF-08DD-2C7F-90A3133D447A}"/>
              </a:ext>
            </a:extLst>
          </p:cNvPr>
          <p:cNvPicPr>
            <a:picLocks noChangeAspect="1"/>
          </p:cNvPicPr>
          <p:nvPr/>
        </p:nvPicPr>
        <p:blipFill>
          <a:blip r:embed="rId7"/>
          <a:stretch>
            <a:fillRect/>
          </a:stretch>
        </p:blipFill>
        <p:spPr>
          <a:xfrm>
            <a:off x="1308317" y="6061864"/>
            <a:ext cx="3171507" cy="654985"/>
          </a:xfrm>
          <a:prstGeom prst="rect">
            <a:avLst/>
          </a:prstGeom>
        </p:spPr>
      </p:pic>
      <p:pic>
        <p:nvPicPr>
          <p:cNvPr id="10" name="图片 9">
            <a:extLst>
              <a:ext uri="{FF2B5EF4-FFF2-40B4-BE49-F238E27FC236}">
                <a16:creationId xmlns:a16="http://schemas.microsoft.com/office/drawing/2014/main" id="{1CAFEE8F-D18C-734E-1DC2-52AA27950D5C}"/>
              </a:ext>
            </a:extLst>
          </p:cNvPr>
          <p:cNvPicPr>
            <a:picLocks noChangeAspect="1"/>
          </p:cNvPicPr>
          <p:nvPr/>
        </p:nvPicPr>
        <p:blipFill>
          <a:blip r:embed="rId8"/>
          <a:srcRect r="2084" b="1863"/>
          <a:stretch>
            <a:fillRect/>
          </a:stretch>
        </p:blipFill>
        <p:spPr>
          <a:xfrm>
            <a:off x="4658244" y="6061864"/>
            <a:ext cx="3978375" cy="478482"/>
          </a:xfrm>
          <a:prstGeom prst="rect">
            <a:avLst/>
          </a:prstGeom>
        </p:spPr>
      </p:pic>
    </p:spTree>
    <p:custDataLst>
      <p:tags r:id="rId1"/>
    </p:custDataLst>
    <p:extLst>
      <p:ext uri="{BB962C8B-B14F-4D97-AF65-F5344CB8AC3E}">
        <p14:creationId xmlns:p14="http://schemas.microsoft.com/office/powerpoint/2010/main" val="23042218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B9ACC-ECD7-89EB-ED2F-DDBE1868B2FF}"/>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17509FE0-C7ED-DDD8-6243-F0EDC1996BA8}"/>
              </a:ext>
            </a:extLst>
          </p:cNvPr>
          <p:cNvSpPr/>
          <p:nvPr/>
        </p:nvSpPr>
        <p:spPr>
          <a:xfrm>
            <a:off x="-10160" y="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 name="文本占位符 1">
            <a:extLst>
              <a:ext uri="{FF2B5EF4-FFF2-40B4-BE49-F238E27FC236}">
                <a16:creationId xmlns:a16="http://schemas.microsoft.com/office/drawing/2014/main" id="{F6EFB0A8-39BC-FC3F-2CDF-015BC128A3A2}"/>
              </a:ext>
            </a:extLst>
          </p:cNvPr>
          <p:cNvSpPr>
            <a:spLocks noGrp="1"/>
          </p:cNvSpPr>
          <p:nvPr/>
        </p:nvSpPr>
        <p:spPr>
          <a:xfrm>
            <a:off x="892175" y="7620"/>
            <a:ext cx="10426065" cy="683260"/>
          </a:xfrm>
          <a:prstGeom prst="rect">
            <a:avLst/>
          </a:prstGeom>
        </p:spPr>
        <p:txBody>
          <a:bodyPr anchor="ctr" anchorCtr="0"/>
          <a:lstStyle>
            <a:defPPr>
              <a:defRPr lang="zh-CN"/>
            </a:defPPr>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500" dirty="0"/>
              <a:t>结论</a:t>
            </a:r>
          </a:p>
        </p:txBody>
      </p:sp>
      <p:pic>
        <p:nvPicPr>
          <p:cNvPr id="3" name="图片 2">
            <a:extLst>
              <a:ext uri="{FF2B5EF4-FFF2-40B4-BE49-F238E27FC236}">
                <a16:creationId xmlns:a16="http://schemas.microsoft.com/office/drawing/2014/main" id="{020D0716-3BF3-5B7F-D6A6-39D3315627BF}"/>
              </a:ext>
            </a:extLst>
          </p:cNvPr>
          <p:cNvPicPr>
            <a:picLocks noChangeAspect="1"/>
          </p:cNvPicPr>
          <p:nvPr/>
        </p:nvPicPr>
        <p:blipFill>
          <a:blip r:embed="rId4" cstate="print">
            <a:duotone>
              <a:schemeClr val="bg2">
                <a:shade val="45000"/>
                <a:satMod val="135000"/>
              </a:schemeClr>
              <a:prstClr val="white"/>
            </a:duotone>
            <a:extLst>
              <a:ext uri="{BEBA8EAE-BF5A-486C-A8C5-ECC9F3942E4B}">
                <a14:imgProps xmlns:a14="http://schemas.microsoft.com/office/drawing/2010/main">
                  <a14:imgLayer r:embed="rId5">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9370"/>
            <a:ext cx="612140" cy="612140"/>
          </a:xfrm>
          <a:prstGeom prst="rect">
            <a:avLst/>
          </a:prstGeom>
        </p:spPr>
      </p:pic>
      <p:pic>
        <p:nvPicPr>
          <p:cNvPr id="7" name="图片 6" descr="表格&#10;&#10;AI 生成的内容可能不正确。">
            <a:extLst>
              <a:ext uri="{FF2B5EF4-FFF2-40B4-BE49-F238E27FC236}">
                <a16:creationId xmlns:a16="http://schemas.microsoft.com/office/drawing/2014/main" id="{BF11792A-CE1E-44E3-7DAB-25D74085E7CA}"/>
              </a:ext>
            </a:extLst>
          </p:cNvPr>
          <p:cNvPicPr>
            <a:picLocks noChangeAspect="1"/>
          </p:cNvPicPr>
          <p:nvPr/>
        </p:nvPicPr>
        <p:blipFill>
          <a:blip r:embed="rId6"/>
          <a:stretch>
            <a:fillRect/>
          </a:stretch>
        </p:blipFill>
        <p:spPr>
          <a:xfrm>
            <a:off x="450371" y="730250"/>
            <a:ext cx="11291258" cy="2978150"/>
          </a:xfrm>
          <a:prstGeom prst="rect">
            <a:avLst/>
          </a:prstGeom>
        </p:spPr>
      </p:pic>
      <p:sp>
        <p:nvSpPr>
          <p:cNvPr id="8" name="文本框 7">
            <a:extLst>
              <a:ext uri="{FF2B5EF4-FFF2-40B4-BE49-F238E27FC236}">
                <a16:creationId xmlns:a16="http://schemas.microsoft.com/office/drawing/2014/main" id="{4C824298-C8CA-12EF-AC2C-1DB839664A27}"/>
              </a:ext>
            </a:extLst>
          </p:cNvPr>
          <p:cNvSpPr txBox="1"/>
          <p:nvPr/>
        </p:nvSpPr>
        <p:spPr>
          <a:xfrm>
            <a:off x="482600" y="4160230"/>
            <a:ext cx="11226799" cy="1317703"/>
          </a:xfrm>
          <a:prstGeom prst="rect">
            <a:avLst/>
          </a:prstGeom>
          <a:noFill/>
        </p:spPr>
        <p:txBody>
          <a:bodyPr wrap="square" rtlCol="0"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lnSpc>
                <a:spcPct val="150000"/>
              </a:lnSpc>
            </a:pPr>
            <a:r>
              <a:rPr lang="zh-CN" altLang="en-US" sz="2800" dirty="0">
                <a:latin typeface="Times New Roman" panose="02020603050405020304" pitchFamily="18" charset="0"/>
                <a:ea typeface="等线" panose="02010600030101010101" pitchFamily="2" charset="-122"/>
                <a:cs typeface="+mn-ea"/>
              </a:rPr>
              <a:t>该方法对于其他模型也可也适用，但似乎并没有千问模型相较于</a:t>
            </a:r>
            <a:r>
              <a:rPr lang="en-US" altLang="zh-CN" sz="2800" dirty="0">
                <a:latin typeface="Times New Roman" panose="02020603050405020304" pitchFamily="18" charset="0"/>
                <a:ea typeface="等线" panose="02010600030101010101" pitchFamily="2" charset="-122"/>
                <a:cs typeface="+mn-ea"/>
              </a:rPr>
              <a:t>GRPO</a:t>
            </a:r>
            <a:r>
              <a:rPr lang="zh-CN" altLang="en-US" sz="2800" dirty="0">
                <a:latin typeface="Times New Roman" panose="02020603050405020304" pitchFamily="18" charset="0"/>
                <a:ea typeface="等线" panose="02010600030101010101" pitchFamily="2" charset="-122"/>
                <a:cs typeface="+mn-ea"/>
              </a:rPr>
              <a:t>提高的效果好</a:t>
            </a:r>
            <a:endParaRPr lang="en-US" altLang="zh-CN" sz="2800" dirty="0">
              <a:latin typeface="Times New Roman" panose="02020603050405020304" pitchFamily="18" charset="0"/>
              <a:ea typeface="等线" panose="02010600030101010101" pitchFamily="2" charset="-122"/>
              <a:cs typeface="+mn-ea"/>
            </a:endParaRPr>
          </a:p>
        </p:txBody>
      </p:sp>
    </p:spTree>
    <p:custDataLst>
      <p:tags r:id="rId1"/>
    </p:custDataLst>
    <p:extLst>
      <p:ext uri="{BB962C8B-B14F-4D97-AF65-F5344CB8AC3E}">
        <p14:creationId xmlns:p14="http://schemas.microsoft.com/office/powerpoint/2010/main" val="17239294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ECAEB7-C548-3306-D124-4AD6B8B9BC52}"/>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E76BFDF3-4D25-94A6-F683-2165CAFE8069}"/>
              </a:ext>
            </a:extLst>
          </p:cNvPr>
          <p:cNvSpPr/>
          <p:nvPr/>
        </p:nvSpPr>
        <p:spPr>
          <a:xfrm>
            <a:off x="-10160" y="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 name="文本占位符 1">
            <a:extLst>
              <a:ext uri="{FF2B5EF4-FFF2-40B4-BE49-F238E27FC236}">
                <a16:creationId xmlns:a16="http://schemas.microsoft.com/office/drawing/2014/main" id="{CE05E8E6-77F4-0B10-17F9-3977F82DDECF}"/>
              </a:ext>
            </a:extLst>
          </p:cNvPr>
          <p:cNvSpPr>
            <a:spLocks noGrp="1"/>
          </p:cNvSpPr>
          <p:nvPr/>
        </p:nvSpPr>
        <p:spPr>
          <a:xfrm>
            <a:off x="892175" y="7620"/>
            <a:ext cx="10426065" cy="683260"/>
          </a:xfrm>
          <a:prstGeom prst="rect">
            <a:avLst/>
          </a:prstGeom>
        </p:spPr>
        <p:txBody>
          <a:bodyPr anchor="ctr" anchorCtr="0"/>
          <a:lstStyle>
            <a:defPPr>
              <a:defRPr lang="zh-CN"/>
            </a:defPPr>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500" dirty="0"/>
              <a:t>结论</a:t>
            </a:r>
          </a:p>
        </p:txBody>
      </p:sp>
      <p:pic>
        <p:nvPicPr>
          <p:cNvPr id="3" name="图片 2">
            <a:extLst>
              <a:ext uri="{FF2B5EF4-FFF2-40B4-BE49-F238E27FC236}">
                <a16:creationId xmlns:a16="http://schemas.microsoft.com/office/drawing/2014/main" id="{E5574F5A-E491-475C-32BF-4A336AE69F1F}"/>
              </a:ext>
            </a:extLst>
          </p:cNvPr>
          <p:cNvPicPr>
            <a:picLocks noChangeAspect="1"/>
          </p:cNvPicPr>
          <p:nvPr/>
        </p:nvPicPr>
        <p:blipFill>
          <a:blip r:embed="rId4" cstate="print">
            <a:duotone>
              <a:schemeClr val="bg2">
                <a:shade val="45000"/>
                <a:satMod val="135000"/>
              </a:schemeClr>
              <a:prstClr val="white"/>
            </a:duotone>
            <a:extLst>
              <a:ext uri="{BEBA8EAE-BF5A-486C-A8C5-ECC9F3942E4B}">
                <a14:imgProps xmlns:a14="http://schemas.microsoft.com/office/drawing/2010/main">
                  <a14:imgLayer r:embed="rId5">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9370"/>
            <a:ext cx="612140" cy="612140"/>
          </a:xfrm>
          <a:prstGeom prst="rect">
            <a:avLst/>
          </a:prstGeom>
        </p:spPr>
      </p:pic>
      <p:pic>
        <p:nvPicPr>
          <p:cNvPr id="6" name="图片 5" descr="图表, 折线图&#10;&#10;AI 生成的内容可能不正确。">
            <a:extLst>
              <a:ext uri="{FF2B5EF4-FFF2-40B4-BE49-F238E27FC236}">
                <a16:creationId xmlns:a16="http://schemas.microsoft.com/office/drawing/2014/main" id="{219E9A55-DB30-C94A-0435-14D48E8EF574}"/>
              </a:ext>
            </a:extLst>
          </p:cNvPr>
          <p:cNvPicPr>
            <a:picLocks noChangeAspect="1"/>
          </p:cNvPicPr>
          <p:nvPr/>
        </p:nvPicPr>
        <p:blipFill>
          <a:blip r:embed="rId6"/>
          <a:stretch>
            <a:fillRect/>
          </a:stretch>
        </p:blipFill>
        <p:spPr>
          <a:xfrm>
            <a:off x="770466" y="799691"/>
            <a:ext cx="10651067" cy="5791730"/>
          </a:xfrm>
          <a:prstGeom prst="rect">
            <a:avLst/>
          </a:prstGeom>
        </p:spPr>
      </p:pic>
    </p:spTree>
    <p:custDataLst>
      <p:tags r:id="rId1"/>
    </p:custDataLst>
    <p:extLst>
      <p:ext uri="{BB962C8B-B14F-4D97-AF65-F5344CB8AC3E}">
        <p14:creationId xmlns:p14="http://schemas.microsoft.com/office/powerpoint/2010/main" val="8984028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2AD2E-3F57-84AB-A699-0CE560D49D04}"/>
            </a:ext>
          </a:extLst>
        </p:cNvPr>
        <p:cNvGrpSpPr/>
        <p:nvPr/>
      </p:nvGrpSpPr>
      <p:grpSpPr>
        <a:xfrm>
          <a:off x="0" y="0"/>
          <a:ext cx="0" cy="0"/>
          <a:chOff x="0" y="0"/>
          <a:chExt cx="0" cy="0"/>
        </a:xfrm>
      </p:grpSpPr>
      <p:pic>
        <p:nvPicPr>
          <p:cNvPr id="3" name="图片 2" descr="文本&#10;&#10;AI 生成的内容可能不正确。">
            <a:extLst>
              <a:ext uri="{FF2B5EF4-FFF2-40B4-BE49-F238E27FC236}">
                <a16:creationId xmlns:a16="http://schemas.microsoft.com/office/drawing/2014/main" id="{349940AE-AE90-4509-A789-A05507ECC2F4}"/>
              </a:ext>
            </a:extLst>
          </p:cNvPr>
          <p:cNvPicPr>
            <a:picLocks noChangeAspect="1"/>
          </p:cNvPicPr>
          <p:nvPr/>
        </p:nvPicPr>
        <p:blipFill>
          <a:blip r:embed="rId4"/>
          <a:stretch>
            <a:fillRect/>
          </a:stretch>
        </p:blipFill>
        <p:spPr>
          <a:xfrm>
            <a:off x="0" y="673171"/>
            <a:ext cx="12192000" cy="4514127"/>
          </a:xfrm>
          <a:prstGeom prst="rect">
            <a:avLst/>
          </a:prstGeom>
        </p:spPr>
      </p:pic>
    </p:spTree>
    <p:custDataLst>
      <p:tags r:id="rId1"/>
    </p:custDataLst>
    <p:extLst>
      <p:ext uri="{BB962C8B-B14F-4D97-AF65-F5344CB8AC3E}">
        <p14:creationId xmlns:p14="http://schemas.microsoft.com/office/powerpoint/2010/main" val="39099523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A0401-A04E-C291-AAF0-A917B892B9E5}"/>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0EB83079-5773-F0CA-E5A6-3967484CE740}"/>
              </a:ext>
            </a:extLst>
          </p:cNvPr>
          <p:cNvSpPr/>
          <p:nvPr/>
        </p:nvSpPr>
        <p:spPr>
          <a:xfrm>
            <a:off x="-10160" y="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 name="文本占位符 1">
            <a:extLst>
              <a:ext uri="{FF2B5EF4-FFF2-40B4-BE49-F238E27FC236}">
                <a16:creationId xmlns:a16="http://schemas.microsoft.com/office/drawing/2014/main" id="{64C6D8AE-9E82-22A6-4607-D5FDA2A477A7}"/>
              </a:ext>
            </a:extLst>
          </p:cNvPr>
          <p:cNvSpPr>
            <a:spLocks noGrp="1"/>
          </p:cNvSpPr>
          <p:nvPr/>
        </p:nvSpPr>
        <p:spPr>
          <a:xfrm>
            <a:off x="892175" y="7620"/>
            <a:ext cx="10426065" cy="683260"/>
          </a:xfrm>
          <a:prstGeom prst="rect">
            <a:avLst/>
          </a:prstGeom>
        </p:spPr>
        <p:txBody>
          <a:bodyPr anchor="ctr" anchorCtr="0"/>
          <a:lstStyle>
            <a:defPPr>
              <a:defRPr lang="zh-CN"/>
            </a:defPPr>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500" dirty="0"/>
              <a:t>动机</a:t>
            </a:r>
          </a:p>
        </p:txBody>
      </p:sp>
      <p:pic>
        <p:nvPicPr>
          <p:cNvPr id="6" name="图片 5">
            <a:extLst>
              <a:ext uri="{FF2B5EF4-FFF2-40B4-BE49-F238E27FC236}">
                <a16:creationId xmlns:a16="http://schemas.microsoft.com/office/drawing/2014/main" id="{31595F4E-3550-3664-7CC9-F44D02498A75}"/>
              </a:ext>
            </a:extLst>
          </p:cNvPr>
          <p:cNvPicPr>
            <a:picLocks noChangeAspect="1"/>
          </p:cNvPicPr>
          <p:nvPr/>
        </p:nvPicPr>
        <p:blipFill>
          <a:blip r:embed="rId4" cstate="print">
            <a:duotone>
              <a:schemeClr val="bg2">
                <a:shade val="45000"/>
                <a:satMod val="135000"/>
              </a:schemeClr>
              <a:prstClr val="white"/>
            </a:duotone>
            <a:extLst>
              <a:ext uri="{BEBA8EAE-BF5A-486C-A8C5-ECC9F3942E4B}">
                <a14:imgProps xmlns:a14="http://schemas.microsoft.com/office/drawing/2010/main">
                  <a14:imgLayer r:embed="rId5">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9370"/>
            <a:ext cx="612140" cy="612140"/>
          </a:xfrm>
          <a:prstGeom prst="rect">
            <a:avLst/>
          </a:prstGeom>
        </p:spPr>
      </p:pic>
      <p:sp>
        <p:nvSpPr>
          <p:cNvPr id="2" name="文本框 1">
            <a:extLst>
              <a:ext uri="{FF2B5EF4-FFF2-40B4-BE49-F238E27FC236}">
                <a16:creationId xmlns:a16="http://schemas.microsoft.com/office/drawing/2014/main" id="{3B3D6956-D20E-704C-0DF2-A5C9F23B4EA3}"/>
              </a:ext>
            </a:extLst>
          </p:cNvPr>
          <p:cNvSpPr txBox="1"/>
          <p:nvPr/>
        </p:nvSpPr>
        <p:spPr>
          <a:xfrm>
            <a:off x="691515" y="864448"/>
            <a:ext cx="10808970" cy="5569603"/>
          </a:xfrm>
          <a:prstGeom prst="rect">
            <a:avLst/>
          </a:prstGeom>
          <a:noFill/>
        </p:spPr>
        <p:txBody>
          <a:bodyPr wrap="square" rtlCol="0"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lnSpc>
                <a:spcPct val="150000"/>
              </a:lnSpc>
            </a:pPr>
            <a:r>
              <a:rPr lang="zh-CN" altLang="en-US" sz="2400" dirty="0">
                <a:latin typeface="Times New Roman" panose="02020603050405020304" pitchFamily="18" charset="0"/>
                <a:ea typeface="等线" panose="02010600030101010101" pitchFamily="2" charset="-122"/>
                <a:cs typeface="+mn-ea"/>
              </a:rPr>
              <a:t>当前主流的基于大语言模型的智能体主要通过隐式方法培养规划能力，要么直接利用模型的内在能力，要么基于专家轨迹进行微调，但这些方法存在以下问题：</a:t>
            </a:r>
            <a:endParaRPr lang="en-US" altLang="zh-CN" sz="2400" dirty="0">
              <a:latin typeface="Times New Roman" panose="02020603050405020304" pitchFamily="18" charset="0"/>
              <a:ea typeface="等线" panose="02010600030101010101" pitchFamily="2" charset="-122"/>
              <a:cs typeface="+mn-ea"/>
            </a:endParaRPr>
          </a:p>
          <a:p>
            <a:pPr marL="342900" indent="-342900" fontAlgn="auto">
              <a:lnSpc>
                <a:spcPct val="150000"/>
              </a:lnSpc>
              <a:buFont typeface="Arial" panose="020B0604020202020204" pitchFamily="34" charset="0"/>
              <a:buChar char="•"/>
            </a:pPr>
            <a:r>
              <a:rPr lang="en-US" altLang="zh-CN" sz="2400" dirty="0" err="1">
                <a:latin typeface="Times New Roman" panose="02020603050405020304" pitchFamily="18" charset="0"/>
                <a:ea typeface="等线" panose="02010600030101010101" pitchFamily="2" charset="-122"/>
                <a:cs typeface="+mn-ea"/>
              </a:rPr>
              <a:t>ReAct</a:t>
            </a:r>
            <a:r>
              <a:rPr lang="zh-CN" altLang="en-US" sz="2400" dirty="0">
                <a:latin typeface="Times New Roman" panose="02020603050405020304" pitchFamily="18" charset="0"/>
                <a:ea typeface="等线" panose="02010600030101010101" pitchFamily="2" charset="-122"/>
                <a:cs typeface="+mn-ea"/>
              </a:rPr>
              <a:t>和 </a:t>
            </a:r>
            <a:r>
              <a:rPr lang="en-US" altLang="zh-CN" sz="2400" dirty="0" err="1">
                <a:latin typeface="Times New Roman" panose="02020603050405020304" pitchFamily="18" charset="0"/>
                <a:ea typeface="等线" panose="02010600030101010101" pitchFamily="2" charset="-122"/>
                <a:cs typeface="+mn-ea"/>
              </a:rPr>
              <a:t>Reflexion</a:t>
            </a:r>
            <a:r>
              <a:rPr lang="zh-CN" altLang="en-US" sz="2400" dirty="0">
                <a:latin typeface="Times New Roman" panose="02020603050405020304" pitchFamily="18" charset="0"/>
                <a:ea typeface="等线" panose="02010600030101010101" pitchFamily="2" charset="-122"/>
                <a:cs typeface="+mn-ea"/>
              </a:rPr>
              <a:t>在任务执行过程中实时进行规划，这种方法易因规划幻觉陷入执行误区。</a:t>
            </a:r>
            <a:endParaRPr lang="en-US" altLang="zh-CN" sz="2400" dirty="0">
              <a:latin typeface="Times New Roman" panose="02020603050405020304" pitchFamily="18" charset="0"/>
              <a:ea typeface="等线" panose="02010600030101010101" pitchFamily="2" charset="-122"/>
              <a:cs typeface="+mn-ea"/>
            </a:endParaRPr>
          </a:p>
          <a:p>
            <a:pPr marL="342900" indent="-342900" fontAlgn="auto">
              <a:lnSpc>
                <a:spcPct val="150000"/>
              </a:lnSpc>
              <a:buFont typeface="Arial" panose="020B0604020202020204" pitchFamily="34" charset="0"/>
              <a:buChar char="•"/>
            </a:pPr>
            <a:r>
              <a:rPr lang="en-US" altLang="zh-CN" sz="2400" dirty="0" err="1">
                <a:latin typeface="Times New Roman" panose="02020603050405020304" pitchFamily="18" charset="0"/>
                <a:ea typeface="等线" panose="02010600030101010101" pitchFamily="2" charset="-122"/>
                <a:cs typeface="+mn-ea"/>
              </a:rPr>
              <a:t>AgentTuning</a:t>
            </a:r>
            <a:r>
              <a:rPr lang="zh-CN" altLang="en-US" sz="2400" dirty="0">
                <a:latin typeface="Times New Roman" panose="02020603050405020304" pitchFamily="18" charset="0"/>
                <a:ea typeface="等线" panose="02010600030101010101" pitchFamily="2" charset="-122"/>
                <a:cs typeface="+mn-ea"/>
              </a:rPr>
              <a:t>、</a:t>
            </a:r>
            <a:r>
              <a:rPr lang="en-US" altLang="zh-CN" sz="2400" dirty="0">
                <a:latin typeface="Times New Roman" panose="02020603050405020304" pitchFamily="18" charset="0"/>
                <a:ea typeface="等线" panose="02010600030101010101" pitchFamily="2" charset="-122"/>
                <a:cs typeface="+mn-ea"/>
              </a:rPr>
              <a:t>Lumos</a:t>
            </a:r>
            <a:r>
              <a:rPr lang="zh-CN" altLang="en-US" sz="2400" dirty="0">
                <a:latin typeface="Times New Roman" panose="02020603050405020304" pitchFamily="18" charset="0"/>
                <a:ea typeface="等线" panose="02010600030101010101" pitchFamily="2" charset="-122"/>
                <a:cs typeface="+mn-ea"/>
              </a:rPr>
              <a:t>和 </a:t>
            </a:r>
            <a:r>
              <a:rPr lang="en-US" altLang="zh-CN" sz="2400" dirty="0">
                <a:latin typeface="Times New Roman" panose="02020603050405020304" pitchFamily="18" charset="0"/>
                <a:ea typeface="等线" panose="02010600030101010101" pitchFamily="2" charset="-122"/>
                <a:cs typeface="+mn-ea"/>
              </a:rPr>
              <a:t>ETO</a:t>
            </a:r>
            <a:r>
              <a:rPr lang="zh-CN" altLang="en-US" sz="2400" dirty="0">
                <a:latin typeface="Times New Roman" panose="02020603050405020304" pitchFamily="18" charset="0"/>
                <a:ea typeface="等线" panose="02010600030101010101" pitchFamily="2" charset="-122"/>
                <a:cs typeface="+mn-ea"/>
              </a:rPr>
              <a:t>等研究采用轨迹微调提升隐式规划能力，但针对每个新智能体都需要重新训练，造成巨大的计算成本。</a:t>
            </a:r>
            <a:endParaRPr lang="en-US" altLang="zh-CN" sz="2400" dirty="0">
              <a:latin typeface="Times New Roman" panose="02020603050405020304" pitchFamily="18" charset="0"/>
              <a:ea typeface="等线" panose="02010600030101010101" pitchFamily="2" charset="-122"/>
              <a:cs typeface="+mn-ea"/>
            </a:endParaRPr>
          </a:p>
        </p:txBody>
      </p:sp>
    </p:spTree>
    <p:custDataLst>
      <p:tags r:id="rId1"/>
    </p:custDataLst>
    <p:extLst>
      <p:ext uri="{BB962C8B-B14F-4D97-AF65-F5344CB8AC3E}">
        <p14:creationId xmlns:p14="http://schemas.microsoft.com/office/powerpoint/2010/main" val="8512439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05FC3E-DE2E-A2A7-57CA-9E31D38FB988}"/>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EF57E204-E275-C3C8-52BD-E207C7AFE3AF}"/>
              </a:ext>
            </a:extLst>
          </p:cNvPr>
          <p:cNvSpPr/>
          <p:nvPr/>
        </p:nvSpPr>
        <p:spPr>
          <a:xfrm>
            <a:off x="-10160" y="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5" name="文本占位符 1">
            <a:extLst>
              <a:ext uri="{FF2B5EF4-FFF2-40B4-BE49-F238E27FC236}">
                <a16:creationId xmlns:a16="http://schemas.microsoft.com/office/drawing/2014/main" id="{668450D7-6CBB-889E-AB37-4E351731B656}"/>
              </a:ext>
            </a:extLst>
          </p:cNvPr>
          <p:cNvSpPr>
            <a:spLocks noGrp="1"/>
          </p:cNvSpPr>
          <p:nvPr/>
        </p:nvSpPr>
        <p:spPr>
          <a:xfrm>
            <a:off x="892175" y="7620"/>
            <a:ext cx="10426065" cy="683260"/>
          </a:xfrm>
          <a:prstGeom prst="rect">
            <a:avLst/>
          </a:prstGeom>
        </p:spPr>
        <p:txBody>
          <a:bodyPr anchor="ctr" anchorCtr="0"/>
          <a:lstStyle>
            <a:defPPr>
              <a:defRPr lang="zh-CN"/>
            </a:defPPr>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500" dirty="0"/>
              <a:t>贡献</a:t>
            </a:r>
          </a:p>
        </p:txBody>
      </p:sp>
      <p:pic>
        <p:nvPicPr>
          <p:cNvPr id="3" name="图片 2">
            <a:extLst>
              <a:ext uri="{FF2B5EF4-FFF2-40B4-BE49-F238E27FC236}">
                <a16:creationId xmlns:a16="http://schemas.microsoft.com/office/drawing/2014/main" id="{AB94EE23-96D9-3252-AFB9-0D25CA0C9830}"/>
              </a:ext>
            </a:extLst>
          </p:cNvPr>
          <p:cNvPicPr>
            <a:picLocks noChangeAspect="1"/>
          </p:cNvPicPr>
          <p:nvPr/>
        </p:nvPicPr>
        <p:blipFill>
          <a:blip r:embed="rId4" cstate="print">
            <a:duotone>
              <a:schemeClr val="bg2">
                <a:shade val="45000"/>
                <a:satMod val="135000"/>
              </a:schemeClr>
              <a:prstClr val="white"/>
            </a:duotone>
            <a:extLst>
              <a:ext uri="{BEBA8EAE-BF5A-486C-A8C5-ECC9F3942E4B}">
                <a14:imgProps xmlns:a14="http://schemas.microsoft.com/office/drawing/2010/main">
                  <a14:imgLayer r:embed="rId5">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9370"/>
            <a:ext cx="612140" cy="612140"/>
          </a:xfrm>
          <a:prstGeom prst="rect">
            <a:avLst/>
          </a:prstGeom>
        </p:spPr>
      </p:pic>
      <p:sp>
        <p:nvSpPr>
          <p:cNvPr id="4" name="文本框 3">
            <a:extLst>
              <a:ext uri="{FF2B5EF4-FFF2-40B4-BE49-F238E27FC236}">
                <a16:creationId xmlns:a16="http://schemas.microsoft.com/office/drawing/2014/main" id="{5165DF61-BB7A-6BBC-86A9-B2561B0B5DAE}"/>
              </a:ext>
            </a:extLst>
          </p:cNvPr>
          <p:cNvSpPr txBox="1"/>
          <p:nvPr/>
        </p:nvSpPr>
        <p:spPr>
          <a:xfrm>
            <a:off x="703580" y="1309102"/>
            <a:ext cx="10857018" cy="4676061"/>
          </a:xfrm>
          <a:prstGeom prst="rect">
            <a:avLst/>
          </a:prstGeom>
          <a:noFill/>
        </p:spPr>
        <p:txBody>
          <a:bodyPr wrap="square" rtlCol="0"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lnSpc>
                <a:spcPct val="150000"/>
              </a:lnSpc>
            </a:pPr>
            <a:r>
              <a:rPr lang="zh-CN" altLang="en-US" sz="2800" dirty="0">
                <a:latin typeface="Times New Roman" panose="02020603050405020304" pitchFamily="18" charset="0"/>
                <a:ea typeface="等线" panose="02010600030101010101" pitchFamily="2" charset="-122"/>
                <a:cs typeface="+mn-ea"/>
              </a:rPr>
              <a:t>元规划优化（</a:t>
            </a:r>
            <a:r>
              <a:rPr lang="en-US" altLang="zh-CN" sz="2800" dirty="0">
                <a:latin typeface="Times New Roman" panose="02020603050405020304" pitchFamily="18" charset="0"/>
                <a:ea typeface="等线" panose="02010600030101010101" pitchFamily="2" charset="-122"/>
                <a:cs typeface="+mn-ea"/>
              </a:rPr>
              <a:t>MPO</a:t>
            </a:r>
            <a:r>
              <a:rPr lang="zh-CN" altLang="en-US" sz="2800" dirty="0">
                <a:latin typeface="Times New Roman" panose="02020603050405020304" pitchFamily="18" charset="0"/>
                <a:ea typeface="等线" panose="02010600030101010101" pitchFamily="2" charset="-122"/>
                <a:cs typeface="+mn-ea"/>
              </a:rPr>
              <a:t>）框架：</a:t>
            </a:r>
            <a:endParaRPr lang="en-US" altLang="zh-CN" sz="2800" dirty="0">
              <a:latin typeface="Times New Roman" panose="02020603050405020304" pitchFamily="18" charset="0"/>
              <a:ea typeface="等线" panose="02010600030101010101" pitchFamily="2" charset="-122"/>
              <a:cs typeface="+mn-ea"/>
            </a:endParaRPr>
          </a:p>
          <a:p>
            <a:pPr marL="342900" indent="-342900" fontAlgn="auto">
              <a:lnSpc>
                <a:spcPct val="150000"/>
              </a:lnSpc>
              <a:buFont typeface="Arial" panose="020B0604020202020204" pitchFamily="34" charset="0"/>
              <a:buChar char="•"/>
            </a:pPr>
            <a:r>
              <a:rPr lang="zh-CN" altLang="en-US" sz="2800" dirty="0">
                <a:latin typeface="Times New Roman" panose="02020603050405020304" pitchFamily="18" charset="0"/>
                <a:ea typeface="等线" panose="02010600030101010101" pitchFamily="2" charset="-122"/>
                <a:cs typeface="+mn-ea"/>
              </a:rPr>
              <a:t>利用元规划器生成的高层规划对任务进行全局显性指导代替隐形推理避免盲目思考带来规划幻觉。</a:t>
            </a:r>
            <a:endParaRPr lang="en-US" altLang="zh-CN" sz="2800" dirty="0">
              <a:latin typeface="Times New Roman" panose="02020603050405020304" pitchFamily="18" charset="0"/>
              <a:ea typeface="等线" panose="02010600030101010101" pitchFamily="2" charset="-122"/>
              <a:cs typeface="+mn-ea"/>
            </a:endParaRPr>
          </a:p>
          <a:p>
            <a:pPr marL="342900" indent="-342900" fontAlgn="auto">
              <a:lnSpc>
                <a:spcPct val="150000"/>
              </a:lnSpc>
              <a:buFont typeface="Arial" panose="020B0604020202020204" pitchFamily="34" charset="0"/>
              <a:buChar char="•"/>
            </a:pPr>
            <a:r>
              <a:rPr lang="zh-CN" altLang="en-US" sz="2800" dirty="0">
                <a:latin typeface="Times New Roman" panose="02020603050405020304" pitchFamily="18" charset="0"/>
                <a:ea typeface="等线" panose="02010600030101010101" pitchFamily="2" charset="-122"/>
                <a:cs typeface="+mn-ea"/>
              </a:rPr>
              <a:t>框架元规划器为独立组件，仅对元规划器进行训练，智能体则冻结消除智能体的训练成本。</a:t>
            </a:r>
            <a:endParaRPr lang="en-US" altLang="zh-CN" sz="2800" dirty="0">
              <a:latin typeface="Times New Roman" panose="02020603050405020304" pitchFamily="18" charset="0"/>
              <a:ea typeface="等线" panose="02010600030101010101" pitchFamily="2" charset="-122"/>
              <a:cs typeface="+mn-ea"/>
            </a:endParaRPr>
          </a:p>
        </p:txBody>
      </p:sp>
    </p:spTree>
    <p:custDataLst>
      <p:tags r:id="rId1"/>
    </p:custDataLst>
    <p:extLst>
      <p:ext uri="{BB962C8B-B14F-4D97-AF65-F5344CB8AC3E}">
        <p14:creationId xmlns:p14="http://schemas.microsoft.com/office/powerpoint/2010/main" val="34170923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01C8C6-071D-FA6A-37E4-AECFE2E3059A}"/>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8584C6A4-BB60-2E1E-0173-3C52D787D143}"/>
              </a:ext>
            </a:extLst>
          </p:cNvPr>
          <p:cNvSpPr/>
          <p:nvPr/>
        </p:nvSpPr>
        <p:spPr>
          <a:xfrm>
            <a:off x="-10160" y="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 name="文本占位符 1">
            <a:extLst>
              <a:ext uri="{FF2B5EF4-FFF2-40B4-BE49-F238E27FC236}">
                <a16:creationId xmlns:a16="http://schemas.microsoft.com/office/drawing/2014/main" id="{B1B61EB5-4AB7-661C-75DE-0D375C21E0C1}"/>
              </a:ext>
            </a:extLst>
          </p:cNvPr>
          <p:cNvSpPr>
            <a:spLocks noGrp="1"/>
          </p:cNvSpPr>
          <p:nvPr/>
        </p:nvSpPr>
        <p:spPr>
          <a:xfrm>
            <a:off x="892175" y="7620"/>
            <a:ext cx="10426065" cy="683260"/>
          </a:xfrm>
          <a:prstGeom prst="rect">
            <a:avLst/>
          </a:prstGeom>
        </p:spPr>
        <p:txBody>
          <a:bodyPr anchor="ctr" anchorCtr="0"/>
          <a:lstStyle>
            <a:defPPr>
              <a:defRPr lang="zh-CN"/>
            </a:defPPr>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500" dirty="0"/>
              <a:t>动机</a:t>
            </a:r>
          </a:p>
        </p:txBody>
      </p:sp>
      <p:pic>
        <p:nvPicPr>
          <p:cNvPr id="6" name="图片 5">
            <a:extLst>
              <a:ext uri="{FF2B5EF4-FFF2-40B4-BE49-F238E27FC236}">
                <a16:creationId xmlns:a16="http://schemas.microsoft.com/office/drawing/2014/main" id="{6800957B-D726-5A4D-86DF-FA64F001576A}"/>
              </a:ext>
            </a:extLst>
          </p:cNvPr>
          <p:cNvPicPr>
            <a:picLocks noChangeAspect="1"/>
          </p:cNvPicPr>
          <p:nvPr/>
        </p:nvPicPr>
        <p:blipFill>
          <a:blip r:embed="rId4" cstate="print">
            <a:duotone>
              <a:schemeClr val="bg2">
                <a:shade val="45000"/>
                <a:satMod val="135000"/>
              </a:schemeClr>
              <a:prstClr val="white"/>
            </a:duotone>
            <a:extLst>
              <a:ext uri="{BEBA8EAE-BF5A-486C-A8C5-ECC9F3942E4B}">
                <a14:imgProps xmlns:a14="http://schemas.microsoft.com/office/drawing/2010/main">
                  <a14:imgLayer r:embed="rId5">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9370"/>
            <a:ext cx="612140" cy="612140"/>
          </a:xfrm>
          <a:prstGeom prst="rect">
            <a:avLst/>
          </a:prstGeom>
        </p:spPr>
      </p:pic>
      <p:pic>
        <p:nvPicPr>
          <p:cNvPr id="8" name="图片 7">
            <a:extLst>
              <a:ext uri="{FF2B5EF4-FFF2-40B4-BE49-F238E27FC236}">
                <a16:creationId xmlns:a16="http://schemas.microsoft.com/office/drawing/2014/main" id="{9765D785-DC1C-8182-257E-E0DE53641CF4}"/>
              </a:ext>
            </a:extLst>
          </p:cNvPr>
          <p:cNvPicPr>
            <a:picLocks noChangeAspect="1"/>
          </p:cNvPicPr>
          <p:nvPr/>
        </p:nvPicPr>
        <p:blipFill>
          <a:blip r:embed="rId6"/>
          <a:srcRect t="37645" b="22704"/>
          <a:stretch>
            <a:fillRect/>
          </a:stretch>
        </p:blipFill>
        <p:spPr>
          <a:xfrm>
            <a:off x="2324329" y="3599673"/>
            <a:ext cx="7543342" cy="3000634"/>
          </a:xfrm>
          <a:prstGeom prst="rect">
            <a:avLst/>
          </a:prstGeom>
        </p:spPr>
      </p:pic>
      <p:pic>
        <p:nvPicPr>
          <p:cNvPr id="9" name="图片 8">
            <a:extLst>
              <a:ext uri="{FF2B5EF4-FFF2-40B4-BE49-F238E27FC236}">
                <a16:creationId xmlns:a16="http://schemas.microsoft.com/office/drawing/2014/main" id="{203FE38B-8304-4874-23C2-49969798C739}"/>
              </a:ext>
            </a:extLst>
          </p:cNvPr>
          <p:cNvPicPr>
            <a:picLocks noChangeAspect="1"/>
          </p:cNvPicPr>
          <p:nvPr/>
        </p:nvPicPr>
        <p:blipFill>
          <a:blip r:embed="rId7"/>
          <a:srcRect b="62361"/>
          <a:stretch>
            <a:fillRect/>
          </a:stretch>
        </p:blipFill>
        <p:spPr>
          <a:xfrm>
            <a:off x="2503910" y="716495"/>
            <a:ext cx="7184179" cy="2712505"/>
          </a:xfrm>
          <a:prstGeom prst="rect">
            <a:avLst/>
          </a:prstGeom>
        </p:spPr>
      </p:pic>
    </p:spTree>
    <p:custDataLst>
      <p:tags r:id="rId1"/>
    </p:custDataLst>
    <p:extLst>
      <p:ext uri="{BB962C8B-B14F-4D97-AF65-F5344CB8AC3E}">
        <p14:creationId xmlns:p14="http://schemas.microsoft.com/office/powerpoint/2010/main" val="14808747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5BD3A-BA0E-82AC-E0B8-64B6847EACBE}"/>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214AA825-11B7-7516-85F2-B10ADB6AC755}"/>
              </a:ext>
            </a:extLst>
          </p:cNvPr>
          <p:cNvSpPr/>
          <p:nvPr/>
        </p:nvSpPr>
        <p:spPr>
          <a:xfrm>
            <a:off x="-10160" y="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5" name="文本占位符 1">
            <a:extLst>
              <a:ext uri="{FF2B5EF4-FFF2-40B4-BE49-F238E27FC236}">
                <a16:creationId xmlns:a16="http://schemas.microsoft.com/office/drawing/2014/main" id="{1C7E7E60-DAB5-39DD-D13D-874EBD5F44AE}"/>
              </a:ext>
            </a:extLst>
          </p:cNvPr>
          <p:cNvSpPr>
            <a:spLocks noGrp="1"/>
          </p:cNvSpPr>
          <p:nvPr/>
        </p:nvSpPr>
        <p:spPr>
          <a:xfrm>
            <a:off x="892175" y="7620"/>
            <a:ext cx="10426065" cy="683260"/>
          </a:xfrm>
          <a:prstGeom prst="rect">
            <a:avLst/>
          </a:prstGeom>
        </p:spPr>
        <p:txBody>
          <a:bodyPr anchor="ctr" anchorCtr="0"/>
          <a:lstStyle>
            <a:defPPr>
              <a:defRPr lang="zh-CN"/>
            </a:defPPr>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500" dirty="0"/>
              <a:t>方法</a:t>
            </a:r>
          </a:p>
        </p:txBody>
      </p:sp>
      <p:pic>
        <p:nvPicPr>
          <p:cNvPr id="3" name="图片 2">
            <a:extLst>
              <a:ext uri="{FF2B5EF4-FFF2-40B4-BE49-F238E27FC236}">
                <a16:creationId xmlns:a16="http://schemas.microsoft.com/office/drawing/2014/main" id="{8246EEA2-B0E8-82F4-5612-3864A5ACAF28}"/>
              </a:ext>
            </a:extLst>
          </p:cNvPr>
          <p:cNvPicPr>
            <a:picLocks noChangeAspect="1"/>
          </p:cNvPicPr>
          <p:nvPr/>
        </p:nvPicPr>
        <p:blipFill>
          <a:blip r:embed="rId4" cstate="print">
            <a:duotone>
              <a:schemeClr val="bg2">
                <a:shade val="45000"/>
                <a:satMod val="135000"/>
              </a:schemeClr>
              <a:prstClr val="white"/>
            </a:duotone>
            <a:extLst>
              <a:ext uri="{BEBA8EAE-BF5A-486C-A8C5-ECC9F3942E4B}">
                <a14:imgProps xmlns:a14="http://schemas.microsoft.com/office/drawing/2010/main">
                  <a14:imgLayer r:embed="rId5">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9370"/>
            <a:ext cx="612140" cy="612140"/>
          </a:xfrm>
          <a:prstGeom prst="rect">
            <a:avLst/>
          </a:prstGeom>
        </p:spPr>
      </p:pic>
      <p:pic>
        <p:nvPicPr>
          <p:cNvPr id="7" name="图片 6" descr="日程表&#10;&#10;AI 生成的内容可能不正确。">
            <a:extLst>
              <a:ext uri="{FF2B5EF4-FFF2-40B4-BE49-F238E27FC236}">
                <a16:creationId xmlns:a16="http://schemas.microsoft.com/office/drawing/2014/main" id="{6E51E34A-73F0-6811-DA1C-B85E143E8451}"/>
              </a:ext>
            </a:extLst>
          </p:cNvPr>
          <p:cNvPicPr>
            <a:picLocks noChangeAspect="1"/>
          </p:cNvPicPr>
          <p:nvPr/>
        </p:nvPicPr>
        <p:blipFill>
          <a:blip r:embed="rId6"/>
          <a:stretch>
            <a:fillRect/>
          </a:stretch>
        </p:blipFill>
        <p:spPr>
          <a:xfrm>
            <a:off x="514003" y="940814"/>
            <a:ext cx="11163993" cy="5554329"/>
          </a:xfrm>
          <a:prstGeom prst="rect">
            <a:avLst/>
          </a:prstGeom>
        </p:spPr>
      </p:pic>
    </p:spTree>
    <p:custDataLst>
      <p:tags r:id="rId1"/>
    </p:custDataLst>
    <p:extLst>
      <p:ext uri="{BB962C8B-B14F-4D97-AF65-F5344CB8AC3E}">
        <p14:creationId xmlns:p14="http://schemas.microsoft.com/office/powerpoint/2010/main" val="30892826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C316E-7E81-33DE-82C5-83387C3A9F0B}"/>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00EE6BDD-6EA8-AECB-D286-F11DA97669CA}"/>
              </a:ext>
            </a:extLst>
          </p:cNvPr>
          <p:cNvSpPr/>
          <p:nvPr/>
        </p:nvSpPr>
        <p:spPr>
          <a:xfrm>
            <a:off x="-10160" y="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5" name="文本占位符 1">
            <a:extLst>
              <a:ext uri="{FF2B5EF4-FFF2-40B4-BE49-F238E27FC236}">
                <a16:creationId xmlns:a16="http://schemas.microsoft.com/office/drawing/2014/main" id="{1DD3A363-D40C-744A-92FB-7903E2ABC472}"/>
              </a:ext>
            </a:extLst>
          </p:cNvPr>
          <p:cNvSpPr>
            <a:spLocks noGrp="1"/>
          </p:cNvSpPr>
          <p:nvPr/>
        </p:nvSpPr>
        <p:spPr>
          <a:xfrm>
            <a:off x="892175" y="7620"/>
            <a:ext cx="10426065" cy="683260"/>
          </a:xfrm>
          <a:prstGeom prst="rect">
            <a:avLst/>
          </a:prstGeom>
        </p:spPr>
        <p:txBody>
          <a:bodyPr anchor="ctr" anchorCtr="0"/>
          <a:lstStyle>
            <a:defPPr>
              <a:defRPr lang="zh-CN"/>
            </a:defPPr>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500" dirty="0"/>
              <a:t>方法</a:t>
            </a:r>
            <a:r>
              <a:rPr kumimoji="1" lang="en-US" altLang="zh-CN" sz="2500" dirty="0"/>
              <a:t>-</a:t>
            </a:r>
            <a:r>
              <a:rPr kumimoji="1" lang="zh-CN" altLang="en-US" sz="2500" dirty="0"/>
              <a:t>监督微调初始化</a:t>
            </a:r>
          </a:p>
        </p:txBody>
      </p:sp>
      <p:pic>
        <p:nvPicPr>
          <p:cNvPr id="3" name="图片 2">
            <a:extLst>
              <a:ext uri="{FF2B5EF4-FFF2-40B4-BE49-F238E27FC236}">
                <a16:creationId xmlns:a16="http://schemas.microsoft.com/office/drawing/2014/main" id="{B6544CB4-9EF4-1041-338E-39E6964E710B}"/>
              </a:ext>
            </a:extLst>
          </p:cNvPr>
          <p:cNvPicPr>
            <a:picLocks noChangeAspect="1"/>
          </p:cNvPicPr>
          <p:nvPr/>
        </p:nvPicPr>
        <p:blipFill>
          <a:blip r:embed="rId4" cstate="print">
            <a:duotone>
              <a:schemeClr val="bg2">
                <a:shade val="45000"/>
                <a:satMod val="135000"/>
              </a:schemeClr>
              <a:prstClr val="white"/>
            </a:duotone>
            <a:extLst>
              <a:ext uri="{BEBA8EAE-BF5A-486C-A8C5-ECC9F3942E4B}">
                <a14:imgProps xmlns:a14="http://schemas.microsoft.com/office/drawing/2010/main">
                  <a14:imgLayer r:embed="rId5">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9370"/>
            <a:ext cx="612140" cy="612140"/>
          </a:xfrm>
          <a:prstGeom prst="rect">
            <a:avLst/>
          </a:prstGeom>
        </p:spPr>
      </p:pic>
      <p:sp>
        <p:nvSpPr>
          <p:cNvPr id="4" name="文本框 3">
            <a:extLst>
              <a:ext uri="{FF2B5EF4-FFF2-40B4-BE49-F238E27FC236}">
                <a16:creationId xmlns:a16="http://schemas.microsoft.com/office/drawing/2014/main" id="{446E3E28-A238-117D-F88B-84F924C1E355}"/>
              </a:ext>
            </a:extLst>
          </p:cNvPr>
          <p:cNvSpPr txBox="1"/>
          <p:nvPr/>
        </p:nvSpPr>
        <p:spPr>
          <a:xfrm>
            <a:off x="397510" y="859906"/>
            <a:ext cx="4980825" cy="2822633"/>
          </a:xfrm>
          <a:prstGeom prst="rect">
            <a:avLst/>
          </a:prstGeom>
          <a:noFill/>
        </p:spPr>
        <p:txBody>
          <a:bodyPr wrap="square" rtlCol="0"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lnSpc>
                <a:spcPct val="150000"/>
              </a:lnSpc>
            </a:pPr>
            <a:r>
              <a:rPr lang="zh-CN" altLang="en-US" sz="2400" dirty="0">
                <a:latin typeface="Times New Roman" panose="02020603050405020304" pitchFamily="18" charset="0"/>
                <a:ea typeface="等线" panose="02010600030101010101" pitchFamily="2" charset="-122"/>
                <a:cs typeface="+mn-ea"/>
              </a:rPr>
              <a:t>监督微调：</a:t>
            </a:r>
            <a:endParaRPr lang="en-US" altLang="zh-CN" sz="2400" dirty="0">
              <a:latin typeface="Times New Roman" panose="02020603050405020304" pitchFamily="18" charset="0"/>
              <a:ea typeface="等线" panose="02010600030101010101" pitchFamily="2" charset="-122"/>
              <a:cs typeface="+mn-ea"/>
            </a:endParaRPr>
          </a:p>
          <a:p>
            <a:pPr marL="342900" indent="-342900" fontAlgn="auto">
              <a:lnSpc>
                <a:spcPct val="150000"/>
              </a:lnSpc>
              <a:buFont typeface="Arial" panose="020B0604020202020204" pitchFamily="34" charset="0"/>
              <a:buChar char="•"/>
            </a:pPr>
            <a:r>
              <a:rPr lang="zh-CN" altLang="en-US" sz="2400" dirty="0">
                <a:latin typeface="Times New Roman" panose="02020603050405020304" pitchFamily="18" charset="0"/>
                <a:ea typeface="等线" panose="02010600030101010101" pitchFamily="2" charset="-122"/>
                <a:cs typeface="+mn-ea"/>
              </a:rPr>
              <a:t>借助</a:t>
            </a:r>
            <a:r>
              <a:rPr lang="en-US" altLang="zh-CN" sz="2400" dirty="0">
                <a:latin typeface="Times New Roman" panose="02020603050405020304" pitchFamily="18" charset="0"/>
                <a:ea typeface="等线" panose="02010600030101010101" pitchFamily="2" charset="-122"/>
                <a:cs typeface="+mn-ea"/>
              </a:rPr>
              <a:t>GPT-4o</a:t>
            </a:r>
            <a:r>
              <a:rPr lang="zh-CN" altLang="en-US" sz="2400" dirty="0">
                <a:latin typeface="Times New Roman" panose="02020603050405020304" pitchFamily="18" charset="0"/>
                <a:ea typeface="等线" panose="02010600030101010101" pitchFamily="2" charset="-122"/>
                <a:cs typeface="+mn-ea"/>
              </a:rPr>
              <a:t>生成数据集：让模型根据任务</a:t>
            </a:r>
            <a:r>
              <a:rPr lang="en-US" altLang="zh-CN" sz="2400" dirty="0">
                <a:latin typeface="Times New Roman" panose="02020603050405020304" pitchFamily="18" charset="0"/>
                <a:ea typeface="等线" panose="02010600030101010101" pitchFamily="2" charset="-122"/>
                <a:cs typeface="+mn-ea"/>
              </a:rPr>
              <a:t>u</a:t>
            </a:r>
            <a:r>
              <a:rPr lang="zh-CN" altLang="en-US" sz="2400" dirty="0">
                <a:latin typeface="Times New Roman" panose="02020603050405020304" pitchFamily="18" charset="0"/>
                <a:ea typeface="等线" panose="02010600030101010101" pitchFamily="2" charset="-122"/>
                <a:cs typeface="+mn-ea"/>
              </a:rPr>
              <a:t>对应的最佳轨迹</a:t>
            </a:r>
            <a:r>
              <a:rPr lang="en-US" altLang="zh-CN" sz="2400" dirty="0">
                <a:latin typeface="Times New Roman" panose="02020603050405020304" pitchFamily="18" charset="0"/>
                <a:ea typeface="等线" panose="02010600030101010101" pitchFamily="2" charset="-122"/>
                <a:cs typeface="+mn-ea"/>
              </a:rPr>
              <a:t>e</a:t>
            </a:r>
            <a:r>
              <a:rPr lang="zh-CN" altLang="en-US" sz="2400" dirty="0">
                <a:latin typeface="Times New Roman" panose="02020603050405020304" pitchFamily="18" charset="0"/>
                <a:ea typeface="等线" panose="02010600030101010101" pitchFamily="2" charset="-122"/>
                <a:cs typeface="+mn-ea"/>
              </a:rPr>
              <a:t>生成规划</a:t>
            </a:r>
            <a:r>
              <a:rPr lang="en-US" altLang="zh-CN" sz="2400" dirty="0">
                <a:latin typeface="Times New Roman" panose="02020603050405020304" pitchFamily="18" charset="0"/>
                <a:ea typeface="等线" panose="02010600030101010101" pitchFamily="2" charset="-122"/>
                <a:cs typeface="+mn-ea"/>
              </a:rPr>
              <a:t>p</a:t>
            </a:r>
            <a:r>
              <a:rPr lang="zh-CN" altLang="en-US" sz="2400" dirty="0">
                <a:latin typeface="Times New Roman" panose="02020603050405020304" pitchFamily="18" charset="0"/>
                <a:ea typeface="等线" panose="02010600030101010101" pitchFamily="2" charset="-122"/>
                <a:cs typeface="+mn-ea"/>
              </a:rPr>
              <a:t>。</a:t>
            </a:r>
            <a:endParaRPr lang="en-US" altLang="zh-CN" sz="2400" dirty="0">
              <a:latin typeface="Times New Roman" panose="02020603050405020304" pitchFamily="18" charset="0"/>
              <a:ea typeface="等线" panose="02010600030101010101" pitchFamily="2" charset="-122"/>
              <a:cs typeface="+mn-ea"/>
            </a:endParaRPr>
          </a:p>
          <a:p>
            <a:pPr marL="342900" indent="-342900" fontAlgn="auto">
              <a:lnSpc>
                <a:spcPct val="150000"/>
              </a:lnSpc>
              <a:buFont typeface="Arial" panose="020B0604020202020204" pitchFamily="34" charset="0"/>
              <a:buChar char="•"/>
            </a:pPr>
            <a:r>
              <a:rPr lang="zh-CN" altLang="en-US" sz="2400" dirty="0">
                <a:latin typeface="Times New Roman" panose="02020603050405020304" pitchFamily="18" charset="0"/>
                <a:ea typeface="等线" panose="02010600030101010101" pitchFamily="2" charset="-122"/>
                <a:cs typeface="+mn-ea"/>
              </a:rPr>
              <a:t>人工审核并进行修正</a:t>
            </a:r>
            <a:endParaRPr lang="en-US" altLang="zh-CN" sz="2400" dirty="0">
              <a:latin typeface="Times New Roman" panose="02020603050405020304" pitchFamily="18" charset="0"/>
              <a:ea typeface="等线" panose="02010600030101010101" pitchFamily="2" charset="-122"/>
              <a:cs typeface="+mn-ea"/>
            </a:endParaRPr>
          </a:p>
        </p:txBody>
      </p:sp>
      <p:pic>
        <p:nvPicPr>
          <p:cNvPr id="12" name="图片 11">
            <a:extLst>
              <a:ext uri="{FF2B5EF4-FFF2-40B4-BE49-F238E27FC236}">
                <a16:creationId xmlns:a16="http://schemas.microsoft.com/office/drawing/2014/main" id="{3E75C392-4D0A-8BC7-D0A0-D920ED962804}"/>
              </a:ext>
            </a:extLst>
          </p:cNvPr>
          <p:cNvPicPr>
            <a:picLocks noChangeAspect="1"/>
          </p:cNvPicPr>
          <p:nvPr/>
        </p:nvPicPr>
        <p:blipFill>
          <a:blip r:embed="rId6"/>
          <a:stretch>
            <a:fillRect/>
          </a:stretch>
        </p:blipFill>
        <p:spPr>
          <a:xfrm>
            <a:off x="5769917" y="892113"/>
            <a:ext cx="5548323" cy="2758218"/>
          </a:xfrm>
          <a:prstGeom prst="rect">
            <a:avLst/>
          </a:prstGeom>
        </p:spPr>
      </p:pic>
      <p:sp>
        <p:nvSpPr>
          <p:cNvPr id="13" name="文本框 12">
            <a:extLst>
              <a:ext uri="{FF2B5EF4-FFF2-40B4-BE49-F238E27FC236}">
                <a16:creationId xmlns:a16="http://schemas.microsoft.com/office/drawing/2014/main" id="{8C4F4453-D997-905D-586B-EB1B63515CEA}"/>
              </a:ext>
            </a:extLst>
          </p:cNvPr>
          <p:cNvSpPr txBox="1"/>
          <p:nvPr/>
        </p:nvSpPr>
        <p:spPr>
          <a:xfrm>
            <a:off x="397509" y="4204731"/>
            <a:ext cx="6003290" cy="763043"/>
          </a:xfrm>
          <a:prstGeom prst="rect">
            <a:avLst/>
          </a:prstGeom>
          <a:noFill/>
        </p:spPr>
        <p:txBody>
          <a:bodyPr wrap="square" rtlCol="0"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lnSpc>
                <a:spcPct val="150000"/>
              </a:lnSpc>
            </a:pPr>
            <a:r>
              <a:rPr lang="zh-CN" altLang="en-US" sz="2400" dirty="0">
                <a:latin typeface="Times New Roman" panose="02020603050405020304" pitchFamily="18" charset="0"/>
                <a:ea typeface="等线" panose="02010600030101010101" pitchFamily="2" charset="-122"/>
                <a:cs typeface="+mn-ea"/>
              </a:rPr>
              <a:t>最终得到元规划器微淘数据集：</a:t>
            </a:r>
            <a:endParaRPr lang="en-US" altLang="zh-CN" sz="2400" dirty="0">
              <a:latin typeface="Times New Roman" panose="02020603050405020304" pitchFamily="18" charset="0"/>
              <a:ea typeface="等线" panose="02010600030101010101" pitchFamily="2" charset="-122"/>
              <a:cs typeface="+mn-ea"/>
            </a:endParaRPr>
          </a:p>
        </p:txBody>
      </p:sp>
      <p:pic>
        <p:nvPicPr>
          <p:cNvPr id="15" name="图片 14" descr="文本&#10;&#10;AI 生成的内容可能不正确。">
            <a:extLst>
              <a:ext uri="{FF2B5EF4-FFF2-40B4-BE49-F238E27FC236}">
                <a16:creationId xmlns:a16="http://schemas.microsoft.com/office/drawing/2014/main" id="{62BD813D-5CA1-C45D-6525-08EFD552E0A8}"/>
              </a:ext>
            </a:extLst>
          </p:cNvPr>
          <p:cNvPicPr>
            <a:picLocks noChangeAspect="1"/>
          </p:cNvPicPr>
          <p:nvPr/>
        </p:nvPicPr>
        <p:blipFill>
          <a:blip r:embed="rId7"/>
          <a:stretch>
            <a:fillRect/>
          </a:stretch>
        </p:blipFill>
        <p:spPr>
          <a:xfrm>
            <a:off x="6983104" y="4034441"/>
            <a:ext cx="3828571" cy="933333"/>
          </a:xfrm>
          <a:prstGeom prst="rect">
            <a:avLst/>
          </a:prstGeom>
        </p:spPr>
      </p:pic>
      <p:sp>
        <p:nvSpPr>
          <p:cNvPr id="16" name="文本框 15">
            <a:extLst>
              <a:ext uri="{FF2B5EF4-FFF2-40B4-BE49-F238E27FC236}">
                <a16:creationId xmlns:a16="http://schemas.microsoft.com/office/drawing/2014/main" id="{7B672E8E-D38A-8010-08B2-B8F63166917E}"/>
              </a:ext>
            </a:extLst>
          </p:cNvPr>
          <p:cNvSpPr txBox="1"/>
          <p:nvPr/>
        </p:nvSpPr>
        <p:spPr>
          <a:xfrm>
            <a:off x="397509" y="5380062"/>
            <a:ext cx="4349057" cy="683260"/>
          </a:xfrm>
          <a:prstGeom prst="rect">
            <a:avLst/>
          </a:prstGeom>
          <a:noFill/>
        </p:spPr>
        <p:txBody>
          <a:bodyPr wrap="square" rtlCol="0"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lnSpc>
                <a:spcPct val="150000"/>
              </a:lnSpc>
            </a:pPr>
            <a:r>
              <a:rPr lang="zh-CN" altLang="en-US" sz="2400" dirty="0">
                <a:latin typeface="Times New Roman" panose="02020603050405020304" pitchFamily="18" charset="0"/>
                <a:ea typeface="等线" panose="02010600030101010101" pitchFamily="2" charset="-122"/>
                <a:cs typeface="+mn-ea"/>
              </a:rPr>
              <a:t>之后对规划器进行监督微调：</a:t>
            </a:r>
            <a:endParaRPr lang="en-US" altLang="zh-CN" sz="2400" dirty="0">
              <a:latin typeface="Times New Roman" panose="02020603050405020304" pitchFamily="18" charset="0"/>
              <a:ea typeface="等线" panose="02010600030101010101" pitchFamily="2" charset="-122"/>
              <a:cs typeface="+mn-ea"/>
            </a:endParaRPr>
          </a:p>
        </p:txBody>
      </p:sp>
      <p:pic>
        <p:nvPicPr>
          <p:cNvPr id="18" name="图片 17">
            <a:extLst>
              <a:ext uri="{FF2B5EF4-FFF2-40B4-BE49-F238E27FC236}">
                <a16:creationId xmlns:a16="http://schemas.microsoft.com/office/drawing/2014/main" id="{6C5B086D-7B43-FEC5-8A71-6FA0120051C5}"/>
              </a:ext>
            </a:extLst>
          </p:cNvPr>
          <p:cNvPicPr>
            <a:picLocks noChangeAspect="1"/>
          </p:cNvPicPr>
          <p:nvPr/>
        </p:nvPicPr>
        <p:blipFill>
          <a:blip r:embed="rId8"/>
          <a:stretch>
            <a:fillRect/>
          </a:stretch>
        </p:blipFill>
        <p:spPr>
          <a:xfrm>
            <a:off x="5769917" y="5118443"/>
            <a:ext cx="5447619" cy="1028571"/>
          </a:xfrm>
          <a:prstGeom prst="rect">
            <a:avLst/>
          </a:prstGeom>
        </p:spPr>
      </p:pic>
    </p:spTree>
    <p:custDataLst>
      <p:tags r:id="rId1"/>
    </p:custDataLst>
    <p:extLst>
      <p:ext uri="{BB962C8B-B14F-4D97-AF65-F5344CB8AC3E}">
        <p14:creationId xmlns:p14="http://schemas.microsoft.com/office/powerpoint/2010/main" val="35906603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1BCA05-ACC9-E5F9-464B-C415DA7ABD9D}"/>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798BB35F-1405-F715-81A9-F7451E99A0AC}"/>
              </a:ext>
            </a:extLst>
          </p:cNvPr>
          <p:cNvSpPr/>
          <p:nvPr/>
        </p:nvSpPr>
        <p:spPr>
          <a:xfrm>
            <a:off x="-10160" y="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5" name="文本占位符 1">
            <a:extLst>
              <a:ext uri="{FF2B5EF4-FFF2-40B4-BE49-F238E27FC236}">
                <a16:creationId xmlns:a16="http://schemas.microsoft.com/office/drawing/2014/main" id="{6AE04FD0-BABB-FECB-3BCD-E1E3B7863F85}"/>
              </a:ext>
            </a:extLst>
          </p:cNvPr>
          <p:cNvSpPr>
            <a:spLocks noGrp="1"/>
          </p:cNvSpPr>
          <p:nvPr/>
        </p:nvSpPr>
        <p:spPr>
          <a:xfrm>
            <a:off x="892175" y="7620"/>
            <a:ext cx="10426065" cy="683260"/>
          </a:xfrm>
          <a:prstGeom prst="rect">
            <a:avLst/>
          </a:prstGeom>
        </p:spPr>
        <p:txBody>
          <a:bodyPr anchor="ctr" anchorCtr="0"/>
          <a:lstStyle>
            <a:defPPr>
              <a:defRPr lang="zh-CN"/>
            </a:defPPr>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500" dirty="0"/>
              <a:t>方法</a:t>
            </a:r>
            <a:r>
              <a:rPr kumimoji="1" lang="en-US" altLang="zh-CN" sz="2500" dirty="0"/>
              <a:t>——</a:t>
            </a:r>
            <a:r>
              <a:rPr lang="zh-CN" altLang="en-US" sz="2800" dirty="0"/>
              <a:t>元规划质量评估</a:t>
            </a:r>
            <a:endParaRPr kumimoji="1" lang="zh-CN" altLang="en-US" sz="2500" dirty="0"/>
          </a:p>
        </p:txBody>
      </p:sp>
      <p:pic>
        <p:nvPicPr>
          <p:cNvPr id="3" name="图片 2">
            <a:extLst>
              <a:ext uri="{FF2B5EF4-FFF2-40B4-BE49-F238E27FC236}">
                <a16:creationId xmlns:a16="http://schemas.microsoft.com/office/drawing/2014/main" id="{4A653BE3-A74B-C608-82B8-DB4CCE107F44}"/>
              </a:ext>
            </a:extLst>
          </p:cNvPr>
          <p:cNvPicPr>
            <a:picLocks noChangeAspect="1"/>
          </p:cNvPicPr>
          <p:nvPr/>
        </p:nvPicPr>
        <p:blipFill>
          <a:blip r:embed="rId4" cstate="print">
            <a:duotone>
              <a:schemeClr val="bg2">
                <a:shade val="45000"/>
                <a:satMod val="135000"/>
              </a:schemeClr>
              <a:prstClr val="white"/>
            </a:duotone>
            <a:extLst>
              <a:ext uri="{BEBA8EAE-BF5A-486C-A8C5-ECC9F3942E4B}">
                <a14:imgProps xmlns:a14="http://schemas.microsoft.com/office/drawing/2010/main">
                  <a14:imgLayer r:embed="rId5">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9370"/>
            <a:ext cx="612140" cy="612140"/>
          </a:xfrm>
          <a:prstGeom prst="rect">
            <a:avLst/>
          </a:prstGeom>
        </p:spPr>
      </p:pic>
      <p:sp>
        <p:nvSpPr>
          <p:cNvPr id="4" name="文本框 3">
            <a:extLst>
              <a:ext uri="{FF2B5EF4-FFF2-40B4-BE49-F238E27FC236}">
                <a16:creationId xmlns:a16="http://schemas.microsoft.com/office/drawing/2014/main" id="{0B8F5AB6-1E9A-6C2A-941D-DE7BA708A9CC}"/>
              </a:ext>
            </a:extLst>
          </p:cNvPr>
          <p:cNvSpPr txBox="1"/>
          <p:nvPr/>
        </p:nvSpPr>
        <p:spPr>
          <a:xfrm>
            <a:off x="526616" y="876531"/>
            <a:ext cx="11157181" cy="2963949"/>
          </a:xfrm>
          <a:prstGeom prst="rect">
            <a:avLst/>
          </a:prstGeom>
          <a:noFill/>
        </p:spPr>
        <p:txBody>
          <a:bodyPr wrap="square" rtlCol="0"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lnSpc>
                <a:spcPct val="150000"/>
              </a:lnSpc>
            </a:pPr>
            <a:r>
              <a:rPr lang="zh-CN" altLang="en-US" sz="2400" dirty="0">
                <a:latin typeface="Times New Roman" panose="02020603050405020304" pitchFamily="18" charset="0"/>
                <a:ea typeface="等线" panose="02010600030101010101" pitchFamily="2" charset="-122"/>
                <a:cs typeface="+mn-ea"/>
              </a:rPr>
              <a:t>元规划评估：</a:t>
            </a:r>
          </a:p>
          <a:p>
            <a:pPr marL="342900" indent="-342900" fontAlgn="auto">
              <a:lnSpc>
                <a:spcPct val="150000"/>
              </a:lnSpc>
              <a:buFont typeface="Arial" panose="020B0604020202020204" pitchFamily="34" charset="0"/>
              <a:buChar char="•"/>
            </a:pPr>
            <a:r>
              <a:rPr lang="zh-CN" altLang="en-US" sz="2400" dirty="0">
                <a:latin typeface="Times New Roman" panose="02020603050405020304" pitchFamily="18" charset="0"/>
                <a:ea typeface="等线" panose="02010600030101010101" pitchFamily="2" charset="-122"/>
                <a:cs typeface="+mn-ea"/>
              </a:rPr>
              <a:t>质量越高的元规划，越能让智能体顺利完成任务。</a:t>
            </a:r>
            <a:endParaRPr lang="en-US" altLang="zh-CN" sz="2400" dirty="0">
              <a:latin typeface="Times New Roman" panose="02020603050405020304" pitchFamily="18" charset="0"/>
              <a:ea typeface="等线" panose="02010600030101010101" pitchFamily="2" charset="-122"/>
              <a:cs typeface="+mn-ea"/>
            </a:endParaRPr>
          </a:p>
          <a:p>
            <a:pPr marL="342900" indent="-342900" fontAlgn="auto">
              <a:lnSpc>
                <a:spcPct val="150000"/>
              </a:lnSpc>
              <a:buFont typeface="Arial" panose="020B0604020202020204" pitchFamily="34" charset="0"/>
              <a:buChar char="•"/>
            </a:pPr>
            <a:r>
              <a:rPr lang="zh-CN" altLang="en-US" sz="2400" dirty="0">
                <a:latin typeface="Times New Roman" panose="02020603050405020304" pitchFamily="18" charset="0"/>
                <a:ea typeface="等线" panose="02010600030101010101" pitchFamily="2" charset="-122"/>
                <a:cs typeface="+mn-ea"/>
              </a:rPr>
              <a:t>对于给定的元规划</a:t>
            </a:r>
            <a:r>
              <a:rPr lang="en-US" altLang="zh-CN" sz="2400" dirty="0">
                <a:latin typeface="Times New Roman" panose="02020603050405020304" pitchFamily="18" charset="0"/>
                <a:ea typeface="等线" panose="02010600030101010101" pitchFamily="2" charset="-122"/>
                <a:cs typeface="+mn-ea"/>
              </a:rPr>
              <a:t>p</a:t>
            </a:r>
            <a:r>
              <a:rPr lang="zh-CN" altLang="en-US" sz="2400" dirty="0">
                <a:latin typeface="Times New Roman" panose="02020603050405020304" pitchFamily="18" charset="0"/>
                <a:ea typeface="等线" panose="02010600030101010101" pitchFamily="2" charset="-122"/>
                <a:cs typeface="+mn-ea"/>
              </a:rPr>
              <a:t>，将其嵌入智能体的提示词中，让智能体尝试执行</a:t>
            </a:r>
            <a:r>
              <a:rPr lang="en-US" altLang="zh-CN" sz="2400" dirty="0">
                <a:latin typeface="Times New Roman" panose="02020603050405020304" pitchFamily="18" charset="0"/>
                <a:ea typeface="等线" panose="02010600030101010101" pitchFamily="2" charset="-122"/>
                <a:cs typeface="+mn-ea"/>
              </a:rPr>
              <a:t>N</a:t>
            </a:r>
            <a:r>
              <a:rPr lang="zh-CN" altLang="en-US" sz="2400" dirty="0">
                <a:latin typeface="Times New Roman" panose="02020603050405020304" pitchFamily="18" charset="0"/>
                <a:ea typeface="等线" panose="02010600030101010101" pitchFamily="2" charset="-122"/>
                <a:cs typeface="+mn-ea"/>
              </a:rPr>
              <a:t>次任务，得到智能体生成的</a:t>
            </a:r>
            <a:r>
              <a:rPr lang="en-US" altLang="zh-CN" sz="2400" dirty="0">
                <a:latin typeface="Times New Roman" panose="02020603050405020304" pitchFamily="18" charset="0"/>
                <a:ea typeface="等线" panose="02010600030101010101" pitchFamily="2" charset="-122"/>
                <a:cs typeface="+mn-ea"/>
              </a:rPr>
              <a:t>N</a:t>
            </a:r>
            <a:r>
              <a:rPr lang="zh-CN" altLang="en-US" sz="2400" dirty="0">
                <a:latin typeface="Times New Roman" panose="02020603050405020304" pitchFamily="18" charset="0"/>
                <a:ea typeface="等线" panose="02010600030101010101" pitchFamily="2" charset="-122"/>
                <a:cs typeface="+mn-ea"/>
              </a:rPr>
              <a:t>条任务完成轨迹。</a:t>
            </a:r>
            <a:endParaRPr lang="en-US" altLang="zh-CN" sz="2400" dirty="0">
              <a:latin typeface="Times New Roman" panose="02020603050405020304" pitchFamily="18" charset="0"/>
              <a:ea typeface="等线" panose="02010600030101010101" pitchFamily="2" charset="-122"/>
              <a:cs typeface="+mn-ea"/>
            </a:endParaRPr>
          </a:p>
          <a:p>
            <a:pPr marL="342900" indent="-342900" fontAlgn="auto">
              <a:lnSpc>
                <a:spcPct val="150000"/>
              </a:lnSpc>
              <a:buFont typeface="Arial" panose="020B0604020202020204" pitchFamily="34" charset="0"/>
              <a:buChar char="•"/>
            </a:pPr>
            <a:r>
              <a:rPr lang="zh-CN" altLang="en-US" sz="2400" dirty="0">
                <a:latin typeface="Times New Roman" panose="02020603050405020304" pitchFamily="18" charset="0"/>
                <a:ea typeface="等线" panose="02010600030101010101" pitchFamily="2" charset="-122"/>
                <a:cs typeface="+mn-ea"/>
              </a:rPr>
              <a:t>根据任务的完成率来决定质量。</a:t>
            </a:r>
            <a:endParaRPr lang="en-US" altLang="zh-CN" sz="2400" dirty="0">
              <a:latin typeface="Times New Roman" panose="02020603050405020304" pitchFamily="18" charset="0"/>
              <a:ea typeface="等线" panose="02010600030101010101" pitchFamily="2" charset="-122"/>
              <a:cs typeface="+mn-ea"/>
            </a:endParaRPr>
          </a:p>
        </p:txBody>
      </p:sp>
      <p:pic>
        <p:nvPicPr>
          <p:cNvPr id="11" name="图片 10" descr="文本&#10;&#10;AI 生成的内容可能不正确。">
            <a:extLst>
              <a:ext uri="{FF2B5EF4-FFF2-40B4-BE49-F238E27FC236}">
                <a16:creationId xmlns:a16="http://schemas.microsoft.com/office/drawing/2014/main" id="{C4113914-528F-55DF-D7B6-917087F0E605}"/>
              </a:ext>
            </a:extLst>
          </p:cNvPr>
          <p:cNvPicPr>
            <a:picLocks noChangeAspect="1"/>
          </p:cNvPicPr>
          <p:nvPr/>
        </p:nvPicPr>
        <p:blipFill>
          <a:blip r:embed="rId6"/>
          <a:stretch>
            <a:fillRect/>
          </a:stretch>
        </p:blipFill>
        <p:spPr>
          <a:xfrm>
            <a:off x="6096000" y="3840480"/>
            <a:ext cx="5000000" cy="971429"/>
          </a:xfrm>
          <a:prstGeom prst="rect">
            <a:avLst/>
          </a:prstGeom>
        </p:spPr>
      </p:pic>
      <p:sp>
        <p:nvSpPr>
          <p:cNvPr id="13" name="文本框 12">
            <a:extLst>
              <a:ext uri="{FF2B5EF4-FFF2-40B4-BE49-F238E27FC236}">
                <a16:creationId xmlns:a16="http://schemas.microsoft.com/office/drawing/2014/main" id="{5939019F-7524-512D-9110-778EB458E425}"/>
              </a:ext>
            </a:extLst>
          </p:cNvPr>
          <p:cNvSpPr txBox="1"/>
          <p:nvPr/>
        </p:nvSpPr>
        <p:spPr>
          <a:xfrm>
            <a:off x="526616" y="3984564"/>
            <a:ext cx="4785217" cy="683260"/>
          </a:xfrm>
          <a:prstGeom prst="rect">
            <a:avLst/>
          </a:prstGeom>
          <a:noFill/>
        </p:spPr>
        <p:txBody>
          <a:bodyPr wrap="square" rtlCol="0"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lnSpc>
                <a:spcPct val="150000"/>
              </a:lnSpc>
            </a:pPr>
            <a:r>
              <a:rPr lang="zh-CN" altLang="en-US" sz="2400" dirty="0">
                <a:latin typeface="Times New Roman" panose="02020603050405020304" pitchFamily="18" charset="0"/>
                <a:ea typeface="等线" panose="02010600030101010101" pitchFamily="2" charset="-122"/>
                <a:cs typeface="+mn-ea"/>
              </a:rPr>
              <a:t>对于样本</a:t>
            </a:r>
            <a:r>
              <a:rPr lang="en-US" altLang="zh-CN" sz="2400" dirty="0">
                <a:latin typeface="Times New Roman" panose="02020603050405020304" pitchFamily="18" charset="0"/>
                <a:ea typeface="等线" panose="02010600030101010101" pitchFamily="2" charset="-122"/>
                <a:cs typeface="+mn-ea"/>
              </a:rPr>
              <a:t>u</a:t>
            </a:r>
            <a:r>
              <a:rPr lang="zh-CN" altLang="en-US" sz="2400" dirty="0">
                <a:latin typeface="Times New Roman" panose="02020603050405020304" pitchFamily="18" charset="0"/>
                <a:ea typeface="等线" panose="02010600030101010101" pitchFamily="2" charset="-122"/>
                <a:cs typeface="+mn-ea"/>
              </a:rPr>
              <a:t>规划</a:t>
            </a:r>
            <a:r>
              <a:rPr lang="en-US" altLang="zh-CN" sz="2400" dirty="0">
                <a:latin typeface="Times New Roman" panose="02020603050405020304" pitchFamily="18" charset="0"/>
                <a:ea typeface="等线" panose="02010600030101010101" pitchFamily="2" charset="-122"/>
                <a:cs typeface="+mn-ea"/>
              </a:rPr>
              <a:t>p</a:t>
            </a:r>
            <a:r>
              <a:rPr lang="zh-CN" altLang="en-US" sz="2400" dirty="0">
                <a:latin typeface="Times New Roman" panose="02020603050405020304" pitchFamily="18" charset="0"/>
                <a:ea typeface="等线" panose="02010600030101010101" pitchFamily="2" charset="-122"/>
                <a:cs typeface="+mn-ea"/>
              </a:rPr>
              <a:t>得到的轨迹集合：</a:t>
            </a:r>
            <a:endParaRPr lang="en-US" altLang="zh-CN" sz="2400" dirty="0">
              <a:latin typeface="Times New Roman" panose="02020603050405020304" pitchFamily="18" charset="0"/>
              <a:ea typeface="等线" panose="02010600030101010101" pitchFamily="2" charset="-122"/>
              <a:cs typeface="+mn-ea"/>
            </a:endParaRPr>
          </a:p>
        </p:txBody>
      </p:sp>
      <p:sp>
        <p:nvSpPr>
          <p:cNvPr id="14" name="文本框 13">
            <a:extLst>
              <a:ext uri="{FF2B5EF4-FFF2-40B4-BE49-F238E27FC236}">
                <a16:creationId xmlns:a16="http://schemas.microsoft.com/office/drawing/2014/main" id="{B701F93F-2901-1C0F-52AD-C3035D586E27}"/>
              </a:ext>
            </a:extLst>
          </p:cNvPr>
          <p:cNvSpPr txBox="1"/>
          <p:nvPr/>
        </p:nvSpPr>
        <p:spPr>
          <a:xfrm>
            <a:off x="526616" y="5009800"/>
            <a:ext cx="5569384" cy="683260"/>
          </a:xfrm>
          <a:prstGeom prst="rect">
            <a:avLst/>
          </a:prstGeom>
          <a:noFill/>
        </p:spPr>
        <p:txBody>
          <a:bodyPr wrap="square" rtlCol="0"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lnSpc>
                <a:spcPct val="150000"/>
              </a:lnSpc>
            </a:pPr>
            <a:r>
              <a:rPr lang="zh-CN" altLang="en-US" sz="2400" dirty="0">
                <a:latin typeface="Times New Roman" panose="02020603050405020304" pitchFamily="18" charset="0"/>
                <a:ea typeface="等线" panose="02010600030101010101" pitchFamily="2" charset="-122"/>
                <a:cs typeface="+mn-ea"/>
              </a:rPr>
              <a:t>规划</a:t>
            </a:r>
            <a:r>
              <a:rPr lang="en-US" altLang="zh-CN" sz="2400" dirty="0">
                <a:latin typeface="Times New Roman" panose="02020603050405020304" pitchFamily="18" charset="0"/>
                <a:ea typeface="等线" panose="02010600030101010101" pitchFamily="2" charset="-122"/>
                <a:cs typeface="+mn-ea"/>
              </a:rPr>
              <a:t>p</a:t>
            </a:r>
            <a:r>
              <a:rPr lang="zh-CN" altLang="en-US" sz="2400" dirty="0">
                <a:latin typeface="Times New Roman" panose="02020603050405020304" pitchFamily="18" charset="0"/>
                <a:ea typeface="等线" panose="02010600030101010101" pitchFamily="2" charset="-122"/>
                <a:cs typeface="+mn-ea"/>
              </a:rPr>
              <a:t>的成功率以平均成功率计算为：</a:t>
            </a:r>
            <a:endParaRPr lang="en-US" altLang="zh-CN" sz="2400" dirty="0">
              <a:latin typeface="Times New Roman" panose="02020603050405020304" pitchFamily="18" charset="0"/>
              <a:ea typeface="等线" panose="02010600030101010101" pitchFamily="2" charset="-122"/>
              <a:cs typeface="+mn-ea"/>
            </a:endParaRPr>
          </a:p>
        </p:txBody>
      </p:sp>
      <p:pic>
        <p:nvPicPr>
          <p:cNvPr id="16" name="图片 15" descr="黑色的钟表&#10;&#10;AI 生成的内容可能不正确。">
            <a:extLst>
              <a:ext uri="{FF2B5EF4-FFF2-40B4-BE49-F238E27FC236}">
                <a16:creationId xmlns:a16="http://schemas.microsoft.com/office/drawing/2014/main" id="{C9B856D8-F359-AAFB-DC31-5B86229D9F29}"/>
              </a:ext>
            </a:extLst>
          </p:cNvPr>
          <p:cNvPicPr>
            <a:picLocks noChangeAspect="1"/>
          </p:cNvPicPr>
          <p:nvPr/>
        </p:nvPicPr>
        <p:blipFill>
          <a:blip r:embed="rId7"/>
          <a:stretch>
            <a:fillRect/>
          </a:stretch>
        </p:blipFill>
        <p:spPr>
          <a:xfrm>
            <a:off x="6211617" y="4737144"/>
            <a:ext cx="4457143" cy="1228571"/>
          </a:xfrm>
          <a:prstGeom prst="rect">
            <a:avLst/>
          </a:prstGeom>
        </p:spPr>
      </p:pic>
    </p:spTree>
    <p:custDataLst>
      <p:tags r:id="rId1"/>
    </p:custDataLst>
    <p:extLst>
      <p:ext uri="{BB962C8B-B14F-4D97-AF65-F5344CB8AC3E}">
        <p14:creationId xmlns:p14="http://schemas.microsoft.com/office/powerpoint/2010/main" val="28234330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C051E-D3B2-60AD-C6AC-F9B1CC6405F2}"/>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8C7A6A61-3BCB-FCFD-FDB5-F9F669C06207}"/>
              </a:ext>
            </a:extLst>
          </p:cNvPr>
          <p:cNvSpPr/>
          <p:nvPr/>
        </p:nvSpPr>
        <p:spPr>
          <a:xfrm>
            <a:off x="-10160" y="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5" name="文本占位符 1">
            <a:extLst>
              <a:ext uri="{FF2B5EF4-FFF2-40B4-BE49-F238E27FC236}">
                <a16:creationId xmlns:a16="http://schemas.microsoft.com/office/drawing/2014/main" id="{5C90EA89-0752-CF27-2ABB-4D00F3B024B3}"/>
              </a:ext>
            </a:extLst>
          </p:cNvPr>
          <p:cNvSpPr>
            <a:spLocks noGrp="1"/>
          </p:cNvSpPr>
          <p:nvPr/>
        </p:nvSpPr>
        <p:spPr>
          <a:xfrm>
            <a:off x="892175" y="7620"/>
            <a:ext cx="10426065" cy="683260"/>
          </a:xfrm>
          <a:prstGeom prst="rect">
            <a:avLst/>
          </a:prstGeom>
        </p:spPr>
        <p:txBody>
          <a:bodyPr anchor="ctr" anchorCtr="0"/>
          <a:lstStyle>
            <a:defPPr>
              <a:defRPr lang="zh-CN"/>
            </a:defPPr>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500" dirty="0"/>
              <a:t>方法</a:t>
            </a:r>
            <a:r>
              <a:rPr kumimoji="1" lang="en-US" altLang="zh-CN" sz="2500" dirty="0"/>
              <a:t>-</a:t>
            </a:r>
            <a:r>
              <a:rPr kumimoji="1" lang="zh-CN" altLang="en-US" sz="2500" dirty="0"/>
              <a:t>元规划器的偏好优化</a:t>
            </a:r>
          </a:p>
        </p:txBody>
      </p:sp>
      <p:pic>
        <p:nvPicPr>
          <p:cNvPr id="3" name="图片 2">
            <a:extLst>
              <a:ext uri="{FF2B5EF4-FFF2-40B4-BE49-F238E27FC236}">
                <a16:creationId xmlns:a16="http://schemas.microsoft.com/office/drawing/2014/main" id="{A6E73F61-0C73-92DC-A462-9C85F7FB0025}"/>
              </a:ext>
            </a:extLst>
          </p:cNvPr>
          <p:cNvPicPr>
            <a:picLocks noChangeAspect="1"/>
          </p:cNvPicPr>
          <p:nvPr/>
        </p:nvPicPr>
        <p:blipFill>
          <a:blip r:embed="rId4" cstate="print">
            <a:duotone>
              <a:schemeClr val="bg2">
                <a:shade val="45000"/>
                <a:satMod val="135000"/>
              </a:schemeClr>
              <a:prstClr val="white"/>
            </a:duotone>
            <a:extLst>
              <a:ext uri="{BEBA8EAE-BF5A-486C-A8C5-ECC9F3942E4B}">
                <a14:imgProps xmlns:a14="http://schemas.microsoft.com/office/drawing/2010/main">
                  <a14:imgLayer r:embed="rId5">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9370"/>
            <a:ext cx="612140" cy="612140"/>
          </a:xfrm>
          <a:prstGeom prst="rect">
            <a:avLst/>
          </a:prstGeom>
        </p:spPr>
      </p:pic>
      <p:sp>
        <p:nvSpPr>
          <p:cNvPr id="7" name="文本框 6">
            <a:extLst>
              <a:ext uri="{FF2B5EF4-FFF2-40B4-BE49-F238E27FC236}">
                <a16:creationId xmlns:a16="http://schemas.microsoft.com/office/drawing/2014/main" id="{CCD1CB29-62D3-F876-4EAC-46741470736B}"/>
              </a:ext>
            </a:extLst>
          </p:cNvPr>
          <p:cNvSpPr txBox="1"/>
          <p:nvPr/>
        </p:nvSpPr>
        <p:spPr>
          <a:xfrm>
            <a:off x="517409" y="730250"/>
            <a:ext cx="11157181" cy="2802659"/>
          </a:xfrm>
          <a:prstGeom prst="rect">
            <a:avLst/>
          </a:prstGeom>
          <a:noFill/>
        </p:spPr>
        <p:txBody>
          <a:bodyPr wrap="square" rtlCol="0"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lnSpc>
                <a:spcPct val="150000"/>
              </a:lnSpc>
            </a:pPr>
            <a:r>
              <a:rPr lang="zh-CN" altLang="en-US" sz="2400" dirty="0">
                <a:latin typeface="Times New Roman" panose="02020603050405020304" pitchFamily="18" charset="0"/>
                <a:ea typeface="等线" panose="02010600030101010101" pitchFamily="2" charset="-122"/>
                <a:cs typeface="+mn-ea"/>
              </a:rPr>
              <a:t>偏好优化：</a:t>
            </a:r>
          </a:p>
          <a:p>
            <a:pPr marL="342900" indent="-342900" fontAlgn="auto">
              <a:lnSpc>
                <a:spcPct val="150000"/>
              </a:lnSpc>
              <a:buFont typeface="Arial" panose="020B0604020202020204" pitchFamily="34" charset="0"/>
              <a:buChar char="•"/>
            </a:pPr>
            <a:r>
              <a:rPr lang="zh-CN" altLang="en-US" sz="2400" dirty="0">
                <a:latin typeface="Times New Roman" panose="02020603050405020304" pitchFamily="18" charset="0"/>
                <a:ea typeface="等线" panose="02010600030101010101" pitchFamily="2" charset="-122"/>
                <a:cs typeface="+mn-ea"/>
              </a:rPr>
              <a:t>由经有监督微调初始化的元规划器为每个任务生成</a:t>
            </a:r>
            <a:r>
              <a:rPr lang="en-US" altLang="zh-CN" sz="2400" dirty="0">
                <a:latin typeface="Times New Roman" panose="02020603050405020304" pitchFamily="18" charset="0"/>
                <a:ea typeface="等线" panose="02010600030101010101" pitchFamily="2" charset="-122"/>
                <a:cs typeface="+mn-ea"/>
              </a:rPr>
              <a:t>M</a:t>
            </a:r>
            <a:r>
              <a:rPr lang="zh-CN" altLang="en-US" sz="2400" dirty="0">
                <a:latin typeface="Times New Roman" panose="02020603050405020304" pitchFamily="18" charset="0"/>
                <a:ea typeface="等线" panose="02010600030101010101" pitchFamily="2" charset="-122"/>
                <a:cs typeface="+mn-ea"/>
              </a:rPr>
              <a:t>个元规划</a:t>
            </a:r>
            <a:endParaRPr lang="en-US" altLang="zh-CN" sz="2400" dirty="0">
              <a:latin typeface="Times New Roman" panose="02020603050405020304" pitchFamily="18" charset="0"/>
              <a:ea typeface="等线" panose="02010600030101010101" pitchFamily="2" charset="-122"/>
              <a:cs typeface="+mn-ea"/>
            </a:endParaRPr>
          </a:p>
          <a:p>
            <a:pPr marL="342900" indent="-342900" fontAlgn="auto">
              <a:lnSpc>
                <a:spcPct val="150000"/>
              </a:lnSpc>
              <a:buFont typeface="Arial" panose="020B0604020202020204" pitchFamily="34" charset="0"/>
              <a:buChar char="•"/>
            </a:pPr>
            <a:r>
              <a:rPr lang="en-US" altLang="zh-CN" sz="2400" dirty="0">
                <a:latin typeface="Times New Roman" panose="02020603050405020304" pitchFamily="18" charset="0"/>
                <a:ea typeface="等线" panose="02010600030101010101" pitchFamily="2" charset="-122"/>
                <a:cs typeface="+mn-ea"/>
              </a:rPr>
              <a:t>M</a:t>
            </a:r>
            <a:r>
              <a:rPr lang="zh-CN" altLang="en-US" sz="2400" dirty="0">
                <a:latin typeface="Times New Roman" panose="02020603050405020304" pitchFamily="18" charset="0"/>
                <a:ea typeface="等线" panose="02010600030101010101" pitchFamily="2" charset="-122"/>
                <a:cs typeface="+mn-ea"/>
              </a:rPr>
              <a:t>个元规划通过上一页的方法会为每一个问题</a:t>
            </a:r>
            <a:r>
              <a:rPr lang="en-US" altLang="zh-CN" sz="2400" dirty="0">
                <a:latin typeface="Times New Roman" panose="02020603050405020304" pitchFamily="18" charset="0"/>
                <a:ea typeface="等线" panose="02010600030101010101" pitchFamily="2" charset="-122"/>
                <a:cs typeface="+mn-ea"/>
              </a:rPr>
              <a:t>u</a:t>
            </a:r>
            <a:r>
              <a:rPr lang="zh-CN" altLang="en-US" sz="2400" dirty="0">
                <a:latin typeface="Times New Roman" panose="02020603050405020304" pitchFamily="18" charset="0"/>
                <a:ea typeface="等线" panose="02010600030101010101" pitchFamily="2" charset="-122"/>
                <a:cs typeface="+mn-ea"/>
              </a:rPr>
              <a:t>得到最佳最差一对元规划对得到数据集。</a:t>
            </a:r>
            <a:endParaRPr lang="en-US" altLang="zh-CN" sz="2400" dirty="0">
              <a:latin typeface="Times New Roman" panose="02020603050405020304" pitchFamily="18" charset="0"/>
              <a:ea typeface="等线" panose="02010600030101010101" pitchFamily="2" charset="-122"/>
              <a:cs typeface="+mn-ea"/>
            </a:endParaRPr>
          </a:p>
          <a:p>
            <a:pPr marL="342900" indent="-342900" fontAlgn="auto">
              <a:lnSpc>
                <a:spcPct val="150000"/>
              </a:lnSpc>
              <a:buFont typeface="Arial" panose="020B0604020202020204" pitchFamily="34" charset="0"/>
              <a:buChar char="•"/>
            </a:pPr>
            <a:r>
              <a:rPr lang="zh-CN" altLang="en-US" sz="2400" dirty="0">
                <a:latin typeface="Times New Roman" panose="02020603050405020304" pitchFamily="18" charset="0"/>
                <a:ea typeface="等线" panose="02010600030101010101" pitchFamily="2" charset="-122"/>
                <a:cs typeface="+mn-ea"/>
              </a:rPr>
              <a:t>如果有个问题</a:t>
            </a:r>
            <a:r>
              <a:rPr lang="en-US" altLang="zh-CN" sz="2400" dirty="0">
                <a:latin typeface="Times New Roman" panose="02020603050405020304" pitchFamily="18" charset="0"/>
                <a:ea typeface="等线" panose="02010600030101010101" pitchFamily="2" charset="-122"/>
                <a:cs typeface="+mn-ea"/>
              </a:rPr>
              <a:t>u</a:t>
            </a:r>
            <a:r>
              <a:rPr lang="zh-CN" altLang="en-US" sz="2400" dirty="0">
                <a:latin typeface="Times New Roman" panose="02020603050405020304" pitchFamily="18" charset="0"/>
                <a:ea typeface="等线" panose="02010600030101010101" pitchFamily="2" charset="-122"/>
                <a:cs typeface="+mn-ea"/>
              </a:rPr>
              <a:t>的元规划质量一致则跳过这个样本。</a:t>
            </a:r>
            <a:endParaRPr lang="en-US" altLang="zh-CN" sz="2400" dirty="0">
              <a:latin typeface="Times New Roman" panose="02020603050405020304" pitchFamily="18" charset="0"/>
              <a:ea typeface="等线" panose="02010600030101010101" pitchFamily="2" charset="-122"/>
              <a:cs typeface="+mn-ea"/>
            </a:endParaRPr>
          </a:p>
        </p:txBody>
      </p:sp>
      <p:sp>
        <p:nvSpPr>
          <p:cNvPr id="9" name="文本框 8">
            <a:extLst>
              <a:ext uri="{FF2B5EF4-FFF2-40B4-BE49-F238E27FC236}">
                <a16:creationId xmlns:a16="http://schemas.microsoft.com/office/drawing/2014/main" id="{097E244F-79FC-95D4-2932-4D969F1397BF}"/>
              </a:ext>
            </a:extLst>
          </p:cNvPr>
          <p:cNvSpPr txBox="1"/>
          <p:nvPr/>
        </p:nvSpPr>
        <p:spPr>
          <a:xfrm>
            <a:off x="422737" y="3658798"/>
            <a:ext cx="4785217" cy="683260"/>
          </a:xfrm>
          <a:prstGeom prst="rect">
            <a:avLst/>
          </a:prstGeom>
          <a:noFill/>
        </p:spPr>
        <p:txBody>
          <a:bodyPr wrap="square" rtlCol="0"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lnSpc>
                <a:spcPct val="150000"/>
              </a:lnSpc>
            </a:pPr>
            <a:r>
              <a:rPr lang="zh-CN" altLang="en-US" sz="2400" dirty="0">
                <a:latin typeface="Times New Roman" panose="02020603050405020304" pitchFamily="18" charset="0"/>
                <a:ea typeface="等线" panose="02010600030101010101" pitchFamily="2" charset="-122"/>
                <a:cs typeface="+mn-ea"/>
              </a:rPr>
              <a:t>最终偏好训练数据集：</a:t>
            </a:r>
            <a:endParaRPr lang="en-US" altLang="zh-CN" sz="2400" dirty="0">
              <a:latin typeface="Times New Roman" panose="02020603050405020304" pitchFamily="18" charset="0"/>
              <a:ea typeface="等线" panose="02010600030101010101" pitchFamily="2" charset="-122"/>
              <a:cs typeface="+mn-ea"/>
            </a:endParaRPr>
          </a:p>
        </p:txBody>
      </p:sp>
      <p:sp>
        <p:nvSpPr>
          <p:cNvPr id="10" name="文本框 9">
            <a:extLst>
              <a:ext uri="{FF2B5EF4-FFF2-40B4-BE49-F238E27FC236}">
                <a16:creationId xmlns:a16="http://schemas.microsoft.com/office/drawing/2014/main" id="{63AD9890-C7FF-AA15-A748-218181AA908B}"/>
              </a:ext>
            </a:extLst>
          </p:cNvPr>
          <p:cNvSpPr txBox="1"/>
          <p:nvPr/>
        </p:nvSpPr>
        <p:spPr>
          <a:xfrm>
            <a:off x="593118" y="5471737"/>
            <a:ext cx="3480120" cy="683260"/>
          </a:xfrm>
          <a:prstGeom prst="rect">
            <a:avLst/>
          </a:prstGeom>
          <a:noFill/>
        </p:spPr>
        <p:txBody>
          <a:bodyPr wrap="square" rtlCol="0"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lnSpc>
                <a:spcPct val="150000"/>
              </a:lnSpc>
            </a:pPr>
            <a:r>
              <a:rPr lang="en-US" altLang="zh-CN" sz="2400" dirty="0">
                <a:latin typeface="Times New Roman" panose="02020603050405020304" pitchFamily="18" charset="0"/>
                <a:ea typeface="等线" panose="02010600030101010101" pitchFamily="2" charset="-122"/>
                <a:cs typeface="+mn-ea"/>
              </a:rPr>
              <a:t>DPO</a:t>
            </a:r>
            <a:r>
              <a:rPr lang="zh-CN" altLang="en-US" sz="2400" dirty="0">
                <a:latin typeface="Times New Roman" panose="02020603050405020304" pitchFamily="18" charset="0"/>
                <a:ea typeface="等线" panose="02010600030101010101" pitchFamily="2" charset="-122"/>
                <a:cs typeface="+mn-ea"/>
              </a:rPr>
              <a:t>微调：</a:t>
            </a:r>
            <a:endParaRPr lang="en-US" altLang="zh-CN" sz="2400" dirty="0">
              <a:latin typeface="Times New Roman" panose="02020603050405020304" pitchFamily="18" charset="0"/>
              <a:ea typeface="等线" panose="02010600030101010101" pitchFamily="2" charset="-122"/>
              <a:cs typeface="+mn-ea"/>
            </a:endParaRPr>
          </a:p>
        </p:txBody>
      </p:sp>
      <p:pic>
        <p:nvPicPr>
          <p:cNvPr id="12" name="图片 11" descr="文本, 信件&#10;&#10;AI 生成的内容可能不正确。">
            <a:extLst>
              <a:ext uri="{FF2B5EF4-FFF2-40B4-BE49-F238E27FC236}">
                <a16:creationId xmlns:a16="http://schemas.microsoft.com/office/drawing/2014/main" id="{6B1259F1-9B29-B5C7-5ADD-041EF9A779C0}"/>
              </a:ext>
            </a:extLst>
          </p:cNvPr>
          <p:cNvPicPr>
            <a:picLocks noChangeAspect="1"/>
          </p:cNvPicPr>
          <p:nvPr/>
        </p:nvPicPr>
        <p:blipFill>
          <a:blip r:embed="rId6"/>
          <a:stretch>
            <a:fillRect/>
          </a:stretch>
        </p:blipFill>
        <p:spPr>
          <a:xfrm>
            <a:off x="5207954" y="3425297"/>
            <a:ext cx="4400000" cy="1142857"/>
          </a:xfrm>
          <a:prstGeom prst="rect">
            <a:avLst/>
          </a:prstGeom>
        </p:spPr>
      </p:pic>
      <p:pic>
        <p:nvPicPr>
          <p:cNvPr id="14" name="图片 13">
            <a:extLst>
              <a:ext uri="{FF2B5EF4-FFF2-40B4-BE49-F238E27FC236}">
                <a16:creationId xmlns:a16="http://schemas.microsoft.com/office/drawing/2014/main" id="{615403C8-7FEF-EAC5-E4F8-862EED8DBB90}"/>
              </a:ext>
            </a:extLst>
          </p:cNvPr>
          <p:cNvPicPr>
            <a:picLocks noChangeAspect="1"/>
          </p:cNvPicPr>
          <p:nvPr/>
        </p:nvPicPr>
        <p:blipFill>
          <a:blip r:embed="rId7"/>
          <a:stretch>
            <a:fillRect/>
          </a:stretch>
        </p:blipFill>
        <p:spPr>
          <a:xfrm>
            <a:off x="4006736" y="4794250"/>
            <a:ext cx="7428571" cy="1619048"/>
          </a:xfrm>
          <a:prstGeom prst="rect">
            <a:avLst/>
          </a:prstGeom>
        </p:spPr>
      </p:pic>
    </p:spTree>
    <p:custDataLst>
      <p:tags r:id="rId1"/>
    </p:custDataLst>
    <p:extLst>
      <p:ext uri="{BB962C8B-B14F-4D97-AF65-F5344CB8AC3E}">
        <p14:creationId xmlns:p14="http://schemas.microsoft.com/office/powerpoint/2010/main" val="7903534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92EF22-1218-979D-277A-547F3579BAFB}"/>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1BDE5470-83FB-8D7F-5286-37DFE57DB435}"/>
              </a:ext>
            </a:extLst>
          </p:cNvPr>
          <p:cNvSpPr/>
          <p:nvPr/>
        </p:nvSpPr>
        <p:spPr>
          <a:xfrm>
            <a:off x="-10160" y="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5" name="文本占位符 1">
            <a:extLst>
              <a:ext uri="{FF2B5EF4-FFF2-40B4-BE49-F238E27FC236}">
                <a16:creationId xmlns:a16="http://schemas.microsoft.com/office/drawing/2014/main" id="{C206C2E7-3FB4-0966-88A4-07157E0C3651}"/>
              </a:ext>
            </a:extLst>
          </p:cNvPr>
          <p:cNvSpPr>
            <a:spLocks noGrp="1"/>
          </p:cNvSpPr>
          <p:nvPr/>
        </p:nvSpPr>
        <p:spPr>
          <a:xfrm>
            <a:off x="892175" y="7620"/>
            <a:ext cx="10426065" cy="683260"/>
          </a:xfrm>
          <a:prstGeom prst="rect">
            <a:avLst/>
          </a:prstGeom>
        </p:spPr>
        <p:txBody>
          <a:bodyPr anchor="ctr" anchorCtr="0"/>
          <a:lstStyle>
            <a:defPPr>
              <a:defRPr lang="zh-CN"/>
            </a:defPPr>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kumimoji="1" lang="zh-CN" altLang="en-US" sz="2500" dirty="0"/>
          </a:p>
        </p:txBody>
      </p:sp>
      <p:pic>
        <p:nvPicPr>
          <p:cNvPr id="3" name="图片 2">
            <a:extLst>
              <a:ext uri="{FF2B5EF4-FFF2-40B4-BE49-F238E27FC236}">
                <a16:creationId xmlns:a16="http://schemas.microsoft.com/office/drawing/2014/main" id="{FD04CD8A-0B09-5483-E7BB-73E45409631F}"/>
              </a:ext>
            </a:extLst>
          </p:cNvPr>
          <p:cNvPicPr>
            <a:picLocks noChangeAspect="1"/>
          </p:cNvPicPr>
          <p:nvPr/>
        </p:nvPicPr>
        <p:blipFill>
          <a:blip r:embed="rId4" cstate="print">
            <a:duotone>
              <a:schemeClr val="bg2">
                <a:shade val="45000"/>
                <a:satMod val="135000"/>
              </a:schemeClr>
              <a:prstClr val="white"/>
            </a:duotone>
            <a:extLst>
              <a:ext uri="{BEBA8EAE-BF5A-486C-A8C5-ECC9F3942E4B}">
                <a14:imgProps xmlns:a14="http://schemas.microsoft.com/office/drawing/2010/main">
                  <a14:imgLayer r:embed="rId5">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9370"/>
            <a:ext cx="612140" cy="612140"/>
          </a:xfrm>
          <a:prstGeom prst="rect">
            <a:avLst/>
          </a:prstGeom>
        </p:spPr>
      </p:pic>
      <p:sp>
        <p:nvSpPr>
          <p:cNvPr id="12" name="文本占位符 1">
            <a:extLst>
              <a:ext uri="{FF2B5EF4-FFF2-40B4-BE49-F238E27FC236}">
                <a16:creationId xmlns:a16="http://schemas.microsoft.com/office/drawing/2014/main" id="{30BC3F55-0CCE-6B7C-2D7A-A2C0E4FA1294}"/>
              </a:ext>
            </a:extLst>
          </p:cNvPr>
          <p:cNvSpPr>
            <a:spLocks noGrp="1"/>
          </p:cNvSpPr>
          <p:nvPr/>
        </p:nvSpPr>
        <p:spPr>
          <a:xfrm>
            <a:off x="892175" y="7620"/>
            <a:ext cx="10927292" cy="683260"/>
          </a:xfrm>
          <a:prstGeom prst="rect">
            <a:avLst/>
          </a:prstGeom>
        </p:spPr>
        <p:txBody>
          <a:bodyPr anchor="ctr" anchorCtr="0"/>
          <a:lstStyle>
            <a:defPPr>
              <a:defRPr lang="zh-CN"/>
            </a:defPPr>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500" dirty="0"/>
              <a:t>实验</a:t>
            </a:r>
            <a:endParaRPr kumimoji="1" lang="zh-CN" altLang="en-US" dirty="0"/>
          </a:p>
        </p:txBody>
      </p:sp>
      <p:sp>
        <p:nvSpPr>
          <p:cNvPr id="4" name="文本框 3">
            <a:extLst>
              <a:ext uri="{FF2B5EF4-FFF2-40B4-BE49-F238E27FC236}">
                <a16:creationId xmlns:a16="http://schemas.microsoft.com/office/drawing/2014/main" id="{26167EDD-85B7-8C75-27A8-0C08140662C1}"/>
              </a:ext>
            </a:extLst>
          </p:cNvPr>
          <p:cNvSpPr txBox="1"/>
          <p:nvPr/>
        </p:nvSpPr>
        <p:spPr>
          <a:xfrm>
            <a:off x="1155101" y="1262681"/>
            <a:ext cx="9881797" cy="5287748"/>
          </a:xfrm>
          <a:prstGeom prst="rect">
            <a:avLst/>
          </a:prstGeom>
          <a:noFill/>
        </p:spPr>
        <p:txBody>
          <a:bodyPr wrap="square" rtlCol="0"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lnSpc>
                <a:spcPct val="150000"/>
              </a:lnSpc>
            </a:pPr>
            <a:r>
              <a:rPr lang="zh-CN" altLang="en-US" sz="2800" dirty="0">
                <a:latin typeface="Times New Roman" panose="02020603050405020304" pitchFamily="18" charset="0"/>
                <a:ea typeface="等线" panose="02010600030101010101" pitchFamily="2" charset="-122"/>
                <a:cs typeface="+mn-ea"/>
              </a:rPr>
              <a:t>数据集：</a:t>
            </a:r>
            <a:endParaRPr lang="en-US" altLang="zh-CN" sz="2800" dirty="0">
              <a:latin typeface="Times New Roman" panose="02020603050405020304" pitchFamily="18" charset="0"/>
              <a:ea typeface="等线" panose="02010600030101010101" pitchFamily="2" charset="-122"/>
              <a:cs typeface="+mn-ea"/>
            </a:endParaRPr>
          </a:p>
          <a:p>
            <a:pPr marL="457200" indent="-457200" fontAlgn="auto">
              <a:lnSpc>
                <a:spcPct val="150000"/>
              </a:lnSpc>
              <a:buFont typeface="Arial" panose="020B0604020202020204" pitchFamily="34" charset="0"/>
              <a:buChar char="•"/>
            </a:pPr>
            <a:r>
              <a:rPr lang="zh-CN" altLang="en-US" sz="2800" dirty="0">
                <a:latin typeface="Times New Roman" panose="02020603050405020304" pitchFamily="18" charset="0"/>
                <a:ea typeface="等线" panose="02010600030101010101" pitchFamily="2" charset="-122"/>
                <a:cs typeface="+mn-ea"/>
              </a:rPr>
              <a:t>文本科学实验任务</a:t>
            </a:r>
            <a:r>
              <a:rPr lang="en-US" altLang="zh-CN" sz="2800" dirty="0" err="1">
                <a:latin typeface="Times New Roman" panose="02020603050405020304" pitchFamily="18" charset="0"/>
                <a:ea typeface="等线" panose="02010600030101010101" pitchFamily="2" charset="-122"/>
                <a:cs typeface="+mn-ea"/>
              </a:rPr>
              <a:t>ScienceWorld</a:t>
            </a:r>
            <a:r>
              <a:rPr lang="zh-CN" altLang="en-US" sz="2800" dirty="0">
                <a:latin typeface="Times New Roman" panose="02020603050405020304" pitchFamily="18" charset="0"/>
                <a:ea typeface="等线" panose="02010600030101010101" pitchFamily="2" charset="-122"/>
                <a:cs typeface="+mn-ea"/>
              </a:rPr>
              <a:t>，提供 </a:t>
            </a:r>
            <a:r>
              <a:rPr lang="en-US" altLang="zh-CN" sz="2800" dirty="0">
                <a:latin typeface="Times New Roman" panose="02020603050405020304" pitchFamily="18" charset="0"/>
                <a:ea typeface="等线" panose="02010600030101010101" pitchFamily="2" charset="-122"/>
                <a:cs typeface="+mn-ea"/>
              </a:rPr>
              <a:t>0 </a:t>
            </a:r>
            <a:r>
              <a:rPr lang="zh-CN" altLang="en-US" sz="2800" dirty="0">
                <a:latin typeface="Times New Roman" panose="02020603050405020304" pitchFamily="18" charset="0"/>
                <a:ea typeface="等线" panose="02010600030101010101" pitchFamily="2" charset="-122"/>
                <a:cs typeface="+mn-ea"/>
              </a:rPr>
              <a:t>到 </a:t>
            </a:r>
            <a:r>
              <a:rPr lang="en-US" altLang="zh-CN" sz="2800" dirty="0">
                <a:latin typeface="Times New Roman" panose="02020603050405020304" pitchFamily="18" charset="0"/>
                <a:ea typeface="等线" panose="02010600030101010101" pitchFamily="2" charset="-122"/>
                <a:cs typeface="+mn-ea"/>
              </a:rPr>
              <a:t>1 </a:t>
            </a:r>
            <a:r>
              <a:rPr lang="zh-CN" altLang="en-US" sz="2800" dirty="0">
                <a:latin typeface="Times New Roman" panose="02020603050405020304" pitchFamily="18" charset="0"/>
                <a:ea typeface="等线" panose="02010600030101010101" pitchFamily="2" charset="-122"/>
                <a:cs typeface="+mn-ea"/>
              </a:rPr>
              <a:t>的稠密奖励。</a:t>
            </a:r>
            <a:endParaRPr lang="en-US" altLang="zh-CN" sz="2800" dirty="0">
              <a:latin typeface="Times New Roman" panose="02020603050405020304" pitchFamily="18" charset="0"/>
              <a:ea typeface="等线" panose="02010600030101010101" pitchFamily="2" charset="-122"/>
              <a:cs typeface="+mn-ea"/>
            </a:endParaRPr>
          </a:p>
          <a:p>
            <a:pPr marL="457200" indent="-457200" fontAlgn="auto">
              <a:lnSpc>
                <a:spcPct val="150000"/>
              </a:lnSpc>
              <a:buFont typeface="Arial" panose="020B0604020202020204" pitchFamily="34" charset="0"/>
              <a:buChar char="•"/>
            </a:pPr>
            <a:r>
              <a:rPr lang="zh-CN" altLang="en-US" sz="2800" dirty="0">
                <a:latin typeface="Times New Roman" panose="02020603050405020304" pitchFamily="18" charset="0"/>
                <a:ea typeface="等线" panose="02010600030101010101" pitchFamily="2" charset="-122"/>
                <a:cs typeface="+mn-ea"/>
              </a:rPr>
              <a:t>具身家务任务 </a:t>
            </a:r>
            <a:r>
              <a:rPr lang="en-US" altLang="zh-CN" sz="2800" dirty="0" err="1">
                <a:latin typeface="Times New Roman" panose="02020603050405020304" pitchFamily="18" charset="0"/>
                <a:ea typeface="等线" panose="02010600030101010101" pitchFamily="2" charset="-122"/>
                <a:cs typeface="+mn-ea"/>
              </a:rPr>
              <a:t>ALFWorld</a:t>
            </a:r>
            <a:r>
              <a:rPr lang="zh-CN" altLang="en-US" sz="2800" dirty="0">
                <a:latin typeface="Times New Roman" panose="02020603050405020304" pitchFamily="18" charset="0"/>
                <a:ea typeface="等线" panose="02010600030101010101" pitchFamily="2" charset="-122"/>
                <a:cs typeface="+mn-ea"/>
              </a:rPr>
              <a:t>，提供 </a:t>
            </a:r>
            <a:r>
              <a:rPr lang="en-US" altLang="zh-CN" sz="2800" dirty="0">
                <a:latin typeface="Times New Roman" panose="02020603050405020304" pitchFamily="18" charset="0"/>
                <a:ea typeface="等线" panose="02010600030101010101" pitchFamily="2" charset="-122"/>
                <a:cs typeface="+mn-ea"/>
              </a:rPr>
              <a:t>0 </a:t>
            </a:r>
            <a:r>
              <a:rPr lang="zh-CN" altLang="en-US" sz="2800" dirty="0">
                <a:latin typeface="Times New Roman" panose="02020603050405020304" pitchFamily="18" charset="0"/>
                <a:ea typeface="等线" panose="02010600030101010101" pitchFamily="2" charset="-122"/>
                <a:cs typeface="+mn-ea"/>
              </a:rPr>
              <a:t>到 </a:t>
            </a:r>
            <a:r>
              <a:rPr lang="en-US" altLang="zh-CN" sz="2800" dirty="0">
                <a:latin typeface="Times New Roman" panose="02020603050405020304" pitchFamily="18" charset="0"/>
                <a:ea typeface="等线" panose="02010600030101010101" pitchFamily="2" charset="-122"/>
                <a:cs typeface="+mn-ea"/>
              </a:rPr>
              <a:t>1 </a:t>
            </a:r>
            <a:r>
              <a:rPr lang="zh-CN" altLang="en-US" sz="2800" dirty="0">
                <a:latin typeface="Times New Roman" panose="02020603050405020304" pitchFamily="18" charset="0"/>
                <a:ea typeface="等线" panose="02010600030101010101" pitchFamily="2" charset="-122"/>
                <a:cs typeface="+mn-ea"/>
              </a:rPr>
              <a:t>的稠密奖励。</a:t>
            </a:r>
            <a:endParaRPr lang="en-US" altLang="zh-CN" sz="2800" dirty="0">
              <a:latin typeface="Times New Roman" panose="02020603050405020304" pitchFamily="18" charset="0"/>
              <a:ea typeface="等线" panose="02010600030101010101" pitchFamily="2" charset="-122"/>
              <a:cs typeface="+mn-ea"/>
            </a:endParaRPr>
          </a:p>
          <a:p>
            <a:pPr marL="457200" indent="-457200" fontAlgn="auto">
              <a:lnSpc>
                <a:spcPct val="150000"/>
              </a:lnSpc>
              <a:buFont typeface="Arial" panose="020B0604020202020204" pitchFamily="34" charset="0"/>
              <a:buChar char="•"/>
            </a:pPr>
            <a:r>
              <a:rPr lang="zh-CN" altLang="en-US" sz="2800" dirty="0">
                <a:latin typeface="Times New Roman" panose="02020603050405020304" pitchFamily="18" charset="0"/>
                <a:ea typeface="等线" panose="02010600030101010101" pitchFamily="2" charset="-122"/>
                <a:cs typeface="+mn-ea"/>
              </a:rPr>
              <a:t>在线网页导航任务 </a:t>
            </a:r>
            <a:r>
              <a:rPr lang="en-US" altLang="zh-CN" sz="2800" dirty="0" err="1">
                <a:latin typeface="Times New Roman" panose="02020603050405020304" pitchFamily="18" charset="0"/>
                <a:ea typeface="等线" panose="02010600030101010101" pitchFamily="2" charset="-122"/>
                <a:cs typeface="+mn-ea"/>
              </a:rPr>
              <a:t>WebShop</a:t>
            </a:r>
            <a:r>
              <a:rPr lang="zh-CN" altLang="en-US" sz="2800" dirty="0">
                <a:latin typeface="Times New Roman" panose="02020603050405020304" pitchFamily="18" charset="0"/>
                <a:ea typeface="等线" panose="02010600030101010101" pitchFamily="2" charset="-122"/>
                <a:cs typeface="+mn-ea"/>
              </a:rPr>
              <a:t>，仅提供二值奖励，用于标识任务是否完成。</a:t>
            </a:r>
            <a:endParaRPr lang="en-US" altLang="zh-CN" sz="2800" dirty="0">
              <a:latin typeface="Times New Roman" panose="02020603050405020304" pitchFamily="18" charset="0"/>
              <a:ea typeface="等线" panose="02010600030101010101" pitchFamily="2" charset="-122"/>
              <a:cs typeface="+mn-ea"/>
            </a:endParaRPr>
          </a:p>
          <a:p>
            <a:pPr fontAlgn="auto">
              <a:lnSpc>
                <a:spcPct val="150000"/>
              </a:lnSpc>
            </a:pPr>
            <a:r>
              <a:rPr lang="zh-CN" altLang="en-US" sz="2800" dirty="0">
                <a:latin typeface="Times New Roman" panose="02020603050405020304" pitchFamily="18" charset="0"/>
                <a:ea typeface="等线" panose="02010600030101010101" pitchFamily="2" charset="-122"/>
                <a:cs typeface="+mn-ea"/>
              </a:rPr>
              <a:t>模型：以</a:t>
            </a:r>
            <a:r>
              <a:rPr lang="en-US" altLang="zh-CN" sz="2800" dirty="0">
                <a:latin typeface="Times New Roman" panose="02020603050405020304" pitchFamily="18" charset="0"/>
                <a:ea typeface="等线" panose="02010600030101010101" pitchFamily="2" charset="-122"/>
                <a:cs typeface="+mn-ea"/>
              </a:rPr>
              <a:t>Llama-3.1-8B-Instruct</a:t>
            </a:r>
            <a:r>
              <a:rPr lang="zh-CN" altLang="en-US" sz="2800" dirty="0">
                <a:latin typeface="Times New Roman" panose="02020603050405020304" pitchFamily="18" charset="0"/>
                <a:ea typeface="等线" panose="02010600030101010101" pitchFamily="2" charset="-122"/>
                <a:cs typeface="+mn-ea"/>
              </a:rPr>
              <a:t>作为元规划器</a:t>
            </a:r>
            <a:endParaRPr lang="en-US" altLang="zh-CN" sz="2800" dirty="0">
              <a:latin typeface="Times New Roman" panose="02020603050405020304" pitchFamily="18" charset="0"/>
              <a:ea typeface="等线" panose="02010600030101010101" pitchFamily="2" charset="-122"/>
              <a:cs typeface="+mn-ea"/>
            </a:endParaRPr>
          </a:p>
        </p:txBody>
      </p:sp>
    </p:spTree>
    <p:custDataLst>
      <p:tags r:id="rId1"/>
    </p:custDataLst>
    <p:extLst>
      <p:ext uri="{BB962C8B-B14F-4D97-AF65-F5344CB8AC3E}">
        <p14:creationId xmlns:p14="http://schemas.microsoft.com/office/powerpoint/2010/main" val="40038561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35A08F-A7D6-0E81-E4DA-E633F52EF01D}"/>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B67B6809-6DCB-45D5-B36C-A04F8350D99B}"/>
              </a:ext>
            </a:extLst>
          </p:cNvPr>
          <p:cNvSpPr/>
          <p:nvPr/>
        </p:nvSpPr>
        <p:spPr>
          <a:xfrm>
            <a:off x="-10160" y="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5" name="文本占位符 1">
            <a:extLst>
              <a:ext uri="{FF2B5EF4-FFF2-40B4-BE49-F238E27FC236}">
                <a16:creationId xmlns:a16="http://schemas.microsoft.com/office/drawing/2014/main" id="{A7B5FD40-FBE4-0160-6677-49271D9E3B15}"/>
              </a:ext>
            </a:extLst>
          </p:cNvPr>
          <p:cNvSpPr>
            <a:spLocks noGrp="1"/>
          </p:cNvSpPr>
          <p:nvPr/>
        </p:nvSpPr>
        <p:spPr>
          <a:xfrm>
            <a:off x="892175" y="7620"/>
            <a:ext cx="10426065" cy="683260"/>
          </a:xfrm>
          <a:prstGeom prst="rect">
            <a:avLst/>
          </a:prstGeom>
        </p:spPr>
        <p:txBody>
          <a:bodyPr anchor="ctr" anchorCtr="0"/>
          <a:lstStyle>
            <a:defPPr>
              <a:defRPr lang="zh-CN"/>
            </a:defPPr>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kumimoji="1" lang="zh-CN" altLang="en-US" sz="2500" dirty="0"/>
          </a:p>
        </p:txBody>
      </p:sp>
      <p:pic>
        <p:nvPicPr>
          <p:cNvPr id="3" name="图片 2">
            <a:extLst>
              <a:ext uri="{FF2B5EF4-FFF2-40B4-BE49-F238E27FC236}">
                <a16:creationId xmlns:a16="http://schemas.microsoft.com/office/drawing/2014/main" id="{564786B9-C16F-9C27-BB05-F41BABAF7135}"/>
              </a:ext>
            </a:extLst>
          </p:cNvPr>
          <p:cNvPicPr>
            <a:picLocks noChangeAspect="1"/>
          </p:cNvPicPr>
          <p:nvPr/>
        </p:nvPicPr>
        <p:blipFill>
          <a:blip r:embed="rId4" cstate="print">
            <a:duotone>
              <a:schemeClr val="bg2">
                <a:shade val="45000"/>
                <a:satMod val="135000"/>
              </a:schemeClr>
              <a:prstClr val="white"/>
            </a:duotone>
            <a:extLst>
              <a:ext uri="{BEBA8EAE-BF5A-486C-A8C5-ECC9F3942E4B}">
                <a14:imgProps xmlns:a14="http://schemas.microsoft.com/office/drawing/2010/main">
                  <a14:imgLayer r:embed="rId5">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9370"/>
            <a:ext cx="612140" cy="612140"/>
          </a:xfrm>
          <a:prstGeom prst="rect">
            <a:avLst/>
          </a:prstGeom>
        </p:spPr>
      </p:pic>
      <p:sp>
        <p:nvSpPr>
          <p:cNvPr id="12" name="文本占位符 1">
            <a:extLst>
              <a:ext uri="{FF2B5EF4-FFF2-40B4-BE49-F238E27FC236}">
                <a16:creationId xmlns:a16="http://schemas.microsoft.com/office/drawing/2014/main" id="{08A38816-833A-A22B-D05C-E4C326D20F4D}"/>
              </a:ext>
            </a:extLst>
          </p:cNvPr>
          <p:cNvSpPr>
            <a:spLocks noGrp="1"/>
          </p:cNvSpPr>
          <p:nvPr/>
        </p:nvSpPr>
        <p:spPr>
          <a:xfrm>
            <a:off x="892175" y="7620"/>
            <a:ext cx="10927292" cy="683260"/>
          </a:xfrm>
          <a:prstGeom prst="rect">
            <a:avLst/>
          </a:prstGeom>
        </p:spPr>
        <p:txBody>
          <a:bodyPr anchor="ctr" anchorCtr="0"/>
          <a:lstStyle>
            <a:defPPr>
              <a:defRPr lang="zh-CN"/>
            </a:defPPr>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500" dirty="0"/>
              <a:t>实验</a:t>
            </a:r>
            <a:endParaRPr kumimoji="1" lang="zh-CN" altLang="en-US" dirty="0"/>
          </a:p>
        </p:txBody>
      </p:sp>
      <p:pic>
        <p:nvPicPr>
          <p:cNvPr id="6" name="图片 5">
            <a:extLst>
              <a:ext uri="{FF2B5EF4-FFF2-40B4-BE49-F238E27FC236}">
                <a16:creationId xmlns:a16="http://schemas.microsoft.com/office/drawing/2014/main" id="{2A7FD9F5-FBCE-44FE-A207-6AE8B388424F}"/>
              </a:ext>
            </a:extLst>
          </p:cNvPr>
          <p:cNvPicPr>
            <a:picLocks noChangeAspect="1"/>
          </p:cNvPicPr>
          <p:nvPr/>
        </p:nvPicPr>
        <p:blipFill>
          <a:blip r:embed="rId6"/>
          <a:stretch>
            <a:fillRect/>
          </a:stretch>
        </p:blipFill>
        <p:spPr>
          <a:xfrm>
            <a:off x="1259068" y="698500"/>
            <a:ext cx="9673864" cy="6091625"/>
          </a:xfrm>
          <a:prstGeom prst="rect">
            <a:avLst/>
          </a:prstGeom>
        </p:spPr>
      </p:pic>
    </p:spTree>
    <p:custDataLst>
      <p:tags r:id="rId1"/>
    </p:custDataLst>
    <p:extLst>
      <p:ext uri="{BB962C8B-B14F-4D97-AF65-F5344CB8AC3E}">
        <p14:creationId xmlns:p14="http://schemas.microsoft.com/office/powerpoint/2010/main" val="22192536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868D4-9F21-C4A7-7B8A-86F550EEDFB7}"/>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B5DAE408-4C92-238A-D433-4C8425DBA67E}"/>
              </a:ext>
            </a:extLst>
          </p:cNvPr>
          <p:cNvSpPr/>
          <p:nvPr/>
        </p:nvSpPr>
        <p:spPr>
          <a:xfrm>
            <a:off x="-10160" y="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 name="文本占位符 1">
            <a:extLst>
              <a:ext uri="{FF2B5EF4-FFF2-40B4-BE49-F238E27FC236}">
                <a16:creationId xmlns:a16="http://schemas.microsoft.com/office/drawing/2014/main" id="{D3B9B79F-E293-34EE-71DE-AF9C2DA7860F}"/>
              </a:ext>
            </a:extLst>
          </p:cNvPr>
          <p:cNvSpPr>
            <a:spLocks noGrp="1"/>
          </p:cNvSpPr>
          <p:nvPr/>
        </p:nvSpPr>
        <p:spPr>
          <a:xfrm>
            <a:off x="892175" y="7620"/>
            <a:ext cx="10426065" cy="683260"/>
          </a:xfrm>
          <a:prstGeom prst="rect">
            <a:avLst/>
          </a:prstGeom>
        </p:spPr>
        <p:txBody>
          <a:bodyPr anchor="ctr" anchorCtr="0"/>
          <a:lstStyle>
            <a:defPPr>
              <a:defRPr lang="zh-CN"/>
            </a:defPPr>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500" dirty="0"/>
              <a:t>实验</a:t>
            </a:r>
            <a:r>
              <a:rPr kumimoji="1" lang="en-US" altLang="zh-CN" sz="2500" dirty="0"/>
              <a:t>-</a:t>
            </a:r>
            <a:r>
              <a:rPr kumimoji="1" lang="zh-CN" altLang="en-US" sz="2500" dirty="0"/>
              <a:t>开放式自然推理任务</a:t>
            </a:r>
          </a:p>
        </p:txBody>
      </p:sp>
      <p:pic>
        <p:nvPicPr>
          <p:cNvPr id="3" name="图片 2">
            <a:extLst>
              <a:ext uri="{FF2B5EF4-FFF2-40B4-BE49-F238E27FC236}">
                <a16:creationId xmlns:a16="http://schemas.microsoft.com/office/drawing/2014/main" id="{E329D1C4-9D9B-A6D8-0ADB-6ECE2BE4F8A9}"/>
              </a:ext>
            </a:extLst>
          </p:cNvPr>
          <p:cNvPicPr>
            <a:picLocks noChangeAspect="1"/>
          </p:cNvPicPr>
          <p:nvPr/>
        </p:nvPicPr>
        <p:blipFill>
          <a:blip r:embed="rId4" cstate="print">
            <a:duotone>
              <a:schemeClr val="bg2">
                <a:shade val="45000"/>
                <a:satMod val="135000"/>
              </a:schemeClr>
              <a:prstClr val="white"/>
            </a:duotone>
            <a:extLst>
              <a:ext uri="{BEBA8EAE-BF5A-486C-A8C5-ECC9F3942E4B}">
                <a14:imgProps xmlns:a14="http://schemas.microsoft.com/office/drawing/2010/main">
                  <a14:imgLayer r:embed="rId5">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9370"/>
            <a:ext cx="612140" cy="612140"/>
          </a:xfrm>
          <a:prstGeom prst="rect">
            <a:avLst/>
          </a:prstGeom>
        </p:spPr>
      </p:pic>
      <p:pic>
        <p:nvPicPr>
          <p:cNvPr id="6" name="图片 5">
            <a:extLst>
              <a:ext uri="{FF2B5EF4-FFF2-40B4-BE49-F238E27FC236}">
                <a16:creationId xmlns:a16="http://schemas.microsoft.com/office/drawing/2014/main" id="{1CD4207A-C901-77AB-7AF1-313490A36B0B}"/>
              </a:ext>
            </a:extLst>
          </p:cNvPr>
          <p:cNvPicPr>
            <a:picLocks noChangeAspect="1"/>
          </p:cNvPicPr>
          <p:nvPr/>
        </p:nvPicPr>
        <p:blipFill>
          <a:blip r:embed="rId6"/>
          <a:stretch>
            <a:fillRect/>
          </a:stretch>
        </p:blipFill>
        <p:spPr>
          <a:xfrm>
            <a:off x="343889" y="730250"/>
            <a:ext cx="5752111" cy="4722550"/>
          </a:xfrm>
          <a:prstGeom prst="rect">
            <a:avLst/>
          </a:prstGeom>
        </p:spPr>
      </p:pic>
      <p:pic>
        <p:nvPicPr>
          <p:cNvPr id="8" name="图片 7" descr="表格&#10;&#10;AI 生成的内容可能不正确。">
            <a:extLst>
              <a:ext uri="{FF2B5EF4-FFF2-40B4-BE49-F238E27FC236}">
                <a16:creationId xmlns:a16="http://schemas.microsoft.com/office/drawing/2014/main" id="{8EAF093E-ED55-1A4E-AB0A-30E096C09961}"/>
              </a:ext>
            </a:extLst>
          </p:cNvPr>
          <p:cNvPicPr>
            <a:picLocks noChangeAspect="1"/>
          </p:cNvPicPr>
          <p:nvPr/>
        </p:nvPicPr>
        <p:blipFill>
          <a:blip r:embed="rId7"/>
          <a:stretch>
            <a:fillRect/>
          </a:stretch>
        </p:blipFill>
        <p:spPr>
          <a:xfrm>
            <a:off x="6105207" y="759345"/>
            <a:ext cx="5558934" cy="4342917"/>
          </a:xfrm>
          <a:prstGeom prst="rect">
            <a:avLst/>
          </a:prstGeom>
        </p:spPr>
      </p:pic>
    </p:spTree>
    <p:custDataLst>
      <p:tags r:id="rId1"/>
    </p:custDataLst>
    <p:extLst>
      <p:ext uri="{BB962C8B-B14F-4D97-AF65-F5344CB8AC3E}">
        <p14:creationId xmlns:p14="http://schemas.microsoft.com/office/powerpoint/2010/main" val="24761743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A7F21E-80E4-F2F8-E1FC-CD089B443320}"/>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9D7BD6F1-D365-2633-BEE9-2CBBC0734E16}"/>
              </a:ext>
            </a:extLst>
          </p:cNvPr>
          <p:cNvSpPr/>
          <p:nvPr/>
        </p:nvSpPr>
        <p:spPr>
          <a:xfrm>
            <a:off x="-10160" y="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 name="文本占位符 1">
            <a:extLst>
              <a:ext uri="{FF2B5EF4-FFF2-40B4-BE49-F238E27FC236}">
                <a16:creationId xmlns:a16="http://schemas.microsoft.com/office/drawing/2014/main" id="{E6F05338-5B86-2DEB-DDC0-AE45A596A16A}"/>
              </a:ext>
            </a:extLst>
          </p:cNvPr>
          <p:cNvSpPr>
            <a:spLocks noGrp="1"/>
          </p:cNvSpPr>
          <p:nvPr/>
        </p:nvSpPr>
        <p:spPr>
          <a:xfrm>
            <a:off x="892175" y="7620"/>
            <a:ext cx="10426065" cy="683260"/>
          </a:xfrm>
          <a:prstGeom prst="rect">
            <a:avLst/>
          </a:prstGeom>
        </p:spPr>
        <p:txBody>
          <a:bodyPr anchor="ctr" anchorCtr="0"/>
          <a:lstStyle>
            <a:defPPr>
              <a:defRPr lang="zh-CN"/>
            </a:defPPr>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500" dirty="0"/>
              <a:t>结论</a:t>
            </a:r>
          </a:p>
        </p:txBody>
      </p:sp>
      <p:pic>
        <p:nvPicPr>
          <p:cNvPr id="3" name="图片 2">
            <a:extLst>
              <a:ext uri="{FF2B5EF4-FFF2-40B4-BE49-F238E27FC236}">
                <a16:creationId xmlns:a16="http://schemas.microsoft.com/office/drawing/2014/main" id="{0BA0E317-5131-605F-BDC6-3AC624578650}"/>
              </a:ext>
            </a:extLst>
          </p:cNvPr>
          <p:cNvPicPr>
            <a:picLocks noChangeAspect="1"/>
          </p:cNvPicPr>
          <p:nvPr/>
        </p:nvPicPr>
        <p:blipFill>
          <a:blip r:embed="rId4" cstate="print">
            <a:duotone>
              <a:schemeClr val="bg2">
                <a:shade val="45000"/>
                <a:satMod val="135000"/>
              </a:schemeClr>
              <a:prstClr val="white"/>
            </a:duotone>
            <a:extLst>
              <a:ext uri="{BEBA8EAE-BF5A-486C-A8C5-ECC9F3942E4B}">
                <a14:imgProps xmlns:a14="http://schemas.microsoft.com/office/drawing/2010/main">
                  <a14:imgLayer r:embed="rId5">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9370"/>
            <a:ext cx="612140" cy="612140"/>
          </a:xfrm>
          <a:prstGeom prst="rect">
            <a:avLst/>
          </a:prstGeom>
        </p:spPr>
      </p:pic>
      <p:pic>
        <p:nvPicPr>
          <p:cNvPr id="6" name="图片 5" descr="图表, 条形图, 瀑布图&#10;&#10;AI 生成的内容可能不正确。">
            <a:extLst>
              <a:ext uri="{FF2B5EF4-FFF2-40B4-BE49-F238E27FC236}">
                <a16:creationId xmlns:a16="http://schemas.microsoft.com/office/drawing/2014/main" id="{20C4CA46-E4CD-D96C-C2A3-C3D1A4A36AA1}"/>
              </a:ext>
            </a:extLst>
          </p:cNvPr>
          <p:cNvPicPr>
            <a:picLocks noChangeAspect="1"/>
          </p:cNvPicPr>
          <p:nvPr/>
        </p:nvPicPr>
        <p:blipFill>
          <a:blip r:embed="rId6"/>
          <a:stretch>
            <a:fillRect/>
          </a:stretch>
        </p:blipFill>
        <p:spPr>
          <a:xfrm>
            <a:off x="3559993" y="822960"/>
            <a:ext cx="5072014" cy="5644342"/>
          </a:xfrm>
          <a:prstGeom prst="rect">
            <a:avLst/>
          </a:prstGeom>
        </p:spPr>
      </p:pic>
    </p:spTree>
    <p:custDataLst>
      <p:tags r:id="rId1"/>
    </p:custDataLst>
    <p:extLst>
      <p:ext uri="{BB962C8B-B14F-4D97-AF65-F5344CB8AC3E}">
        <p14:creationId xmlns:p14="http://schemas.microsoft.com/office/powerpoint/2010/main" val="10908479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0E8D0D-B27C-02C6-8DC2-55042EE14682}"/>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EB866610-4D6B-04D0-204F-1FFD675C40E2}"/>
              </a:ext>
            </a:extLst>
          </p:cNvPr>
          <p:cNvSpPr/>
          <p:nvPr/>
        </p:nvSpPr>
        <p:spPr>
          <a:xfrm>
            <a:off x="-10160" y="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 name="文本占位符 1">
            <a:extLst>
              <a:ext uri="{FF2B5EF4-FFF2-40B4-BE49-F238E27FC236}">
                <a16:creationId xmlns:a16="http://schemas.microsoft.com/office/drawing/2014/main" id="{B2328AB4-30C3-5372-3F31-3A64C76C5BD0}"/>
              </a:ext>
            </a:extLst>
          </p:cNvPr>
          <p:cNvSpPr>
            <a:spLocks noGrp="1"/>
          </p:cNvSpPr>
          <p:nvPr/>
        </p:nvSpPr>
        <p:spPr>
          <a:xfrm>
            <a:off x="892175" y="7620"/>
            <a:ext cx="10426065" cy="683260"/>
          </a:xfrm>
          <a:prstGeom prst="rect">
            <a:avLst/>
          </a:prstGeom>
        </p:spPr>
        <p:txBody>
          <a:bodyPr anchor="ctr" anchorCtr="0"/>
          <a:lstStyle>
            <a:defPPr>
              <a:defRPr lang="zh-CN"/>
            </a:defPPr>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500" dirty="0"/>
              <a:t>结论</a:t>
            </a:r>
          </a:p>
        </p:txBody>
      </p:sp>
      <p:pic>
        <p:nvPicPr>
          <p:cNvPr id="3" name="图片 2">
            <a:extLst>
              <a:ext uri="{FF2B5EF4-FFF2-40B4-BE49-F238E27FC236}">
                <a16:creationId xmlns:a16="http://schemas.microsoft.com/office/drawing/2014/main" id="{32CB84AF-AC76-01B7-080F-4B54923AB3E5}"/>
              </a:ext>
            </a:extLst>
          </p:cNvPr>
          <p:cNvPicPr>
            <a:picLocks noChangeAspect="1"/>
          </p:cNvPicPr>
          <p:nvPr/>
        </p:nvPicPr>
        <p:blipFill>
          <a:blip r:embed="rId4" cstate="print">
            <a:duotone>
              <a:schemeClr val="bg2">
                <a:shade val="45000"/>
                <a:satMod val="135000"/>
              </a:schemeClr>
              <a:prstClr val="white"/>
            </a:duotone>
            <a:extLst>
              <a:ext uri="{BEBA8EAE-BF5A-486C-A8C5-ECC9F3942E4B}">
                <a14:imgProps xmlns:a14="http://schemas.microsoft.com/office/drawing/2010/main">
                  <a14:imgLayer r:embed="rId5">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9370"/>
            <a:ext cx="612140" cy="612140"/>
          </a:xfrm>
          <a:prstGeom prst="rect">
            <a:avLst/>
          </a:prstGeom>
        </p:spPr>
      </p:pic>
      <p:pic>
        <p:nvPicPr>
          <p:cNvPr id="8" name="图片 7" descr="图表, 折线图&#10;&#10;AI 生成的内容可能不正确。">
            <a:extLst>
              <a:ext uri="{FF2B5EF4-FFF2-40B4-BE49-F238E27FC236}">
                <a16:creationId xmlns:a16="http://schemas.microsoft.com/office/drawing/2014/main" id="{6E3A5BA0-7C2D-FA8F-AF5F-F020BCCE49CF}"/>
              </a:ext>
            </a:extLst>
          </p:cNvPr>
          <p:cNvPicPr>
            <a:picLocks noChangeAspect="1"/>
          </p:cNvPicPr>
          <p:nvPr/>
        </p:nvPicPr>
        <p:blipFill>
          <a:blip r:embed="rId6"/>
          <a:stretch>
            <a:fillRect/>
          </a:stretch>
        </p:blipFill>
        <p:spPr>
          <a:xfrm>
            <a:off x="202486" y="1097042"/>
            <a:ext cx="5998808" cy="3603847"/>
          </a:xfrm>
          <a:prstGeom prst="rect">
            <a:avLst/>
          </a:prstGeom>
        </p:spPr>
      </p:pic>
      <p:pic>
        <p:nvPicPr>
          <p:cNvPr id="10" name="图片 9" descr="图表, 折线图&#10;&#10;AI 生成的内容可能不正确。">
            <a:extLst>
              <a:ext uri="{FF2B5EF4-FFF2-40B4-BE49-F238E27FC236}">
                <a16:creationId xmlns:a16="http://schemas.microsoft.com/office/drawing/2014/main" id="{21A06214-05DB-0F4A-48ED-45C29F0D98A3}"/>
              </a:ext>
            </a:extLst>
          </p:cNvPr>
          <p:cNvPicPr>
            <a:picLocks noChangeAspect="1"/>
          </p:cNvPicPr>
          <p:nvPr/>
        </p:nvPicPr>
        <p:blipFill>
          <a:blip r:embed="rId7"/>
          <a:stretch>
            <a:fillRect/>
          </a:stretch>
        </p:blipFill>
        <p:spPr>
          <a:xfrm>
            <a:off x="6376028" y="1097042"/>
            <a:ext cx="5613486" cy="3460670"/>
          </a:xfrm>
          <a:prstGeom prst="rect">
            <a:avLst/>
          </a:prstGeom>
        </p:spPr>
      </p:pic>
      <p:pic>
        <p:nvPicPr>
          <p:cNvPr id="12" name="图片 11" descr="文本&#10;&#10;AI 生成的内容可能不正确。">
            <a:extLst>
              <a:ext uri="{FF2B5EF4-FFF2-40B4-BE49-F238E27FC236}">
                <a16:creationId xmlns:a16="http://schemas.microsoft.com/office/drawing/2014/main" id="{C052C925-2552-A476-2D28-3B0C817A9E2C}"/>
              </a:ext>
            </a:extLst>
          </p:cNvPr>
          <p:cNvPicPr>
            <a:picLocks noChangeAspect="1"/>
          </p:cNvPicPr>
          <p:nvPr/>
        </p:nvPicPr>
        <p:blipFill>
          <a:blip r:embed="rId8"/>
          <a:stretch>
            <a:fillRect/>
          </a:stretch>
        </p:blipFill>
        <p:spPr>
          <a:xfrm>
            <a:off x="2452826" y="4963874"/>
            <a:ext cx="7304762" cy="914286"/>
          </a:xfrm>
          <a:prstGeom prst="rect">
            <a:avLst/>
          </a:prstGeom>
        </p:spPr>
      </p:pic>
    </p:spTree>
    <p:custDataLst>
      <p:tags r:id="rId1"/>
    </p:custDataLst>
    <p:extLst>
      <p:ext uri="{BB962C8B-B14F-4D97-AF65-F5344CB8AC3E}">
        <p14:creationId xmlns:p14="http://schemas.microsoft.com/office/powerpoint/2010/main" val="1178269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CFA9CE-1792-B6E0-B2BD-7349A453AB9E}"/>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77ED8B61-1152-A7D4-50D6-066AAE9FA6E0}"/>
              </a:ext>
            </a:extLst>
          </p:cNvPr>
          <p:cNvSpPr/>
          <p:nvPr/>
        </p:nvSpPr>
        <p:spPr>
          <a:xfrm>
            <a:off x="-10160" y="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 name="文本占位符 1">
            <a:extLst>
              <a:ext uri="{FF2B5EF4-FFF2-40B4-BE49-F238E27FC236}">
                <a16:creationId xmlns:a16="http://schemas.microsoft.com/office/drawing/2014/main" id="{D5DD3EBB-C1E9-2671-439A-BF3E6D486A74}"/>
              </a:ext>
            </a:extLst>
          </p:cNvPr>
          <p:cNvSpPr>
            <a:spLocks noGrp="1"/>
          </p:cNvSpPr>
          <p:nvPr/>
        </p:nvSpPr>
        <p:spPr>
          <a:xfrm>
            <a:off x="892175" y="7620"/>
            <a:ext cx="10426065" cy="683260"/>
          </a:xfrm>
          <a:prstGeom prst="rect">
            <a:avLst/>
          </a:prstGeom>
        </p:spPr>
        <p:txBody>
          <a:bodyPr anchor="ctr" anchorCtr="0"/>
          <a:lstStyle>
            <a:defPPr>
              <a:defRPr lang="zh-CN"/>
            </a:defPPr>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500" dirty="0"/>
              <a:t>结论</a:t>
            </a:r>
          </a:p>
        </p:txBody>
      </p:sp>
      <p:pic>
        <p:nvPicPr>
          <p:cNvPr id="3" name="图片 2">
            <a:extLst>
              <a:ext uri="{FF2B5EF4-FFF2-40B4-BE49-F238E27FC236}">
                <a16:creationId xmlns:a16="http://schemas.microsoft.com/office/drawing/2014/main" id="{D323E6F6-582A-2F97-3C15-05776182346A}"/>
              </a:ext>
            </a:extLst>
          </p:cNvPr>
          <p:cNvPicPr>
            <a:picLocks noChangeAspect="1"/>
          </p:cNvPicPr>
          <p:nvPr/>
        </p:nvPicPr>
        <p:blipFill>
          <a:blip r:embed="rId4" cstate="print">
            <a:duotone>
              <a:schemeClr val="bg2">
                <a:shade val="45000"/>
                <a:satMod val="135000"/>
              </a:schemeClr>
              <a:prstClr val="white"/>
            </a:duotone>
            <a:extLst>
              <a:ext uri="{BEBA8EAE-BF5A-486C-A8C5-ECC9F3942E4B}">
                <a14:imgProps xmlns:a14="http://schemas.microsoft.com/office/drawing/2010/main">
                  <a14:imgLayer r:embed="rId5">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9370"/>
            <a:ext cx="612140" cy="612140"/>
          </a:xfrm>
          <a:prstGeom prst="rect">
            <a:avLst/>
          </a:prstGeom>
        </p:spPr>
      </p:pic>
      <p:pic>
        <p:nvPicPr>
          <p:cNvPr id="6" name="图片 5" descr="图表, 折线图&#10;&#10;AI 生成的内容可能不正确。">
            <a:extLst>
              <a:ext uri="{FF2B5EF4-FFF2-40B4-BE49-F238E27FC236}">
                <a16:creationId xmlns:a16="http://schemas.microsoft.com/office/drawing/2014/main" id="{E43BA31D-80D2-CACB-7211-44B46880BF61}"/>
              </a:ext>
            </a:extLst>
          </p:cNvPr>
          <p:cNvPicPr>
            <a:picLocks noChangeAspect="1"/>
          </p:cNvPicPr>
          <p:nvPr/>
        </p:nvPicPr>
        <p:blipFill>
          <a:blip r:embed="rId6"/>
          <a:stretch>
            <a:fillRect/>
          </a:stretch>
        </p:blipFill>
        <p:spPr>
          <a:xfrm>
            <a:off x="205468" y="1118954"/>
            <a:ext cx="8618763" cy="5296263"/>
          </a:xfrm>
          <a:prstGeom prst="rect">
            <a:avLst/>
          </a:prstGeom>
        </p:spPr>
      </p:pic>
      <p:pic>
        <p:nvPicPr>
          <p:cNvPr id="4" name="图片 3" descr="文本&#10;&#10;AI 生成的内容可能不正确。">
            <a:extLst>
              <a:ext uri="{FF2B5EF4-FFF2-40B4-BE49-F238E27FC236}">
                <a16:creationId xmlns:a16="http://schemas.microsoft.com/office/drawing/2014/main" id="{1C8A8D06-8129-4619-F310-D90F1A9D9493}"/>
              </a:ext>
            </a:extLst>
          </p:cNvPr>
          <p:cNvPicPr>
            <a:picLocks noChangeAspect="1"/>
          </p:cNvPicPr>
          <p:nvPr/>
        </p:nvPicPr>
        <p:blipFill>
          <a:blip r:embed="rId7"/>
          <a:stretch>
            <a:fillRect/>
          </a:stretch>
        </p:blipFill>
        <p:spPr>
          <a:xfrm>
            <a:off x="8625871" y="2021206"/>
            <a:ext cx="3566129" cy="692848"/>
          </a:xfrm>
          <a:prstGeom prst="rect">
            <a:avLst/>
          </a:prstGeom>
        </p:spPr>
      </p:pic>
    </p:spTree>
    <p:custDataLst>
      <p:tags r:id="rId1"/>
    </p:custDataLst>
    <p:extLst>
      <p:ext uri="{BB962C8B-B14F-4D97-AF65-F5344CB8AC3E}">
        <p14:creationId xmlns:p14="http://schemas.microsoft.com/office/powerpoint/2010/main" val="42316071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02CA38-E0D0-AB82-25FF-C57B74DF4D68}"/>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4416F536-3072-2715-AD3F-ADA50A347DD7}"/>
              </a:ext>
            </a:extLst>
          </p:cNvPr>
          <p:cNvSpPr/>
          <p:nvPr/>
        </p:nvSpPr>
        <p:spPr>
          <a:xfrm>
            <a:off x="-10160" y="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 name="文本占位符 1">
            <a:extLst>
              <a:ext uri="{FF2B5EF4-FFF2-40B4-BE49-F238E27FC236}">
                <a16:creationId xmlns:a16="http://schemas.microsoft.com/office/drawing/2014/main" id="{C6993B64-7ED2-7E88-79BC-9D11E8DF20B5}"/>
              </a:ext>
            </a:extLst>
          </p:cNvPr>
          <p:cNvSpPr>
            <a:spLocks noGrp="1"/>
          </p:cNvSpPr>
          <p:nvPr/>
        </p:nvSpPr>
        <p:spPr>
          <a:xfrm>
            <a:off x="892175" y="7620"/>
            <a:ext cx="10426065" cy="683260"/>
          </a:xfrm>
          <a:prstGeom prst="rect">
            <a:avLst/>
          </a:prstGeom>
        </p:spPr>
        <p:txBody>
          <a:bodyPr anchor="ctr" anchorCtr="0"/>
          <a:lstStyle>
            <a:defPPr>
              <a:defRPr lang="zh-CN"/>
            </a:defPPr>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500" dirty="0"/>
              <a:t>结论</a:t>
            </a:r>
          </a:p>
        </p:txBody>
      </p:sp>
      <p:pic>
        <p:nvPicPr>
          <p:cNvPr id="3" name="图片 2">
            <a:extLst>
              <a:ext uri="{FF2B5EF4-FFF2-40B4-BE49-F238E27FC236}">
                <a16:creationId xmlns:a16="http://schemas.microsoft.com/office/drawing/2014/main" id="{1C0FC518-041B-8E6A-207D-4A4E4CDE8E84}"/>
              </a:ext>
            </a:extLst>
          </p:cNvPr>
          <p:cNvPicPr>
            <a:picLocks noChangeAspect="1"/>
          </p:cNvPicPr>
          <p:nvPr/>
        </p:nvPicPr>
        <p:blipFill>
          <a:blip r:embed="rId4" cstate="print">
            <a:duotone>
              <a:schemeClr val="bg2">
                <a:shade val="45000"/>
                <a:satMod val="135000"/>
              </a:schemeClr>
              <a:prstClr val="white"/>
            </a:duotone>
            <a:extLst>
              <a:ext uri="{BEBA8EAE-BF5A-486C-A8C5-ECC9F3942E4B}">
                <a14:imgProps xmlns:a14="http://schemas.microsoft.com/office/drawing/2010/main">
                  <a14:imgLayer r:embed="rId5">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9370"/>
            <a:ext cx="612140" cy="612140"/>
          </a:xfrm>
          <a:prstGeom prst="rect">
            <a:avLst/>
          </a:prstGeom>
        </p:spPr>
      </p:pic>
      <p:pic>
        <p:nvPicPr>
          <p:cNvPr id="6" name="图片 5" descr="图形用户界面&#10;&#10;AI 生成的内容可能不正确。">
            <a:extLst>
              <a:ext uri="{FF2B5EF4-FFF2-40B4-BE49-F238E27FC236}">
                <a16:creationId xmlns:a16="http://schemas.microsoft.com/office/drawing/2014/main" id="{9EE977AE-BB60-4749-9707-F4532AA3401C}"/>
              </a:ext>
            </a:extLst>
          </p:cNvPr>
          <p:cNvPicPr>
            <a:picLocks noChangeAspect="1"/>
          </p:cNvPicPr>
          <p:nvPr/>
        </p:nvPicPr>
        <p:blipFill>
          <a:blip r:embed="rId6"/>
          <a:stretch>
            <a:fillRect/>
          </a:stretch>
        </p:blipFill>
        <p:spPr>
          <a:xfrm>
            <a:off x="-10160" y="1159551"/>
            <a:ext cx="12192000" cy="3940380"/>
          </a:xfrm>
          <a:prstGeom prst="rect">
            <a:avLst/>
          </a:prstGeom>
        </p:spPr>
      </p:pic>
    </p:spTree>
    <p:custDataLst>
      <p:tags r:id="rId1"/>
    </p:custDataLst>
    <p:extLst>
      <p:ext uri="{BB962C8B-B14F-4D97-AF65-F5344CB8AC3E}">
        <p14:creationId xmlns:p14="http://schemas.microsoft.com/office/powerpoint/2010/main" val="4785540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6D2B85"/>
        </a:solidFill>
        <a:effectLst/>
      </p:bgPr>
    </p:bg>
    <p:spTree>
      <p:nvGrpSpPr>
        <p:cNvPr id="1" name=""/>
        <p:cNvGrpSpPr/>
        <p:nvPr/>
      </p:nvGrpSpPr>
      <p:grpSpPr>
        <a:xfrm>
          <a:off x="0" y="0"/>
          <a:ext cx="0" cy="0"/>
          <a:chOff x="0" y="0"/>
          <a:chExt cx="0" cy="0"/>
        </a:xfrm>
      </p:grpSpPr>
      <p:sp>
        <p:nvSpPr>
          <p:cNvPr id="3" name="文本框 2"/>
          <p:cNvSpPr txBox="1"/>
          <p:nvPr>
            <p:custDataLst>
              <p:tags r:id="rId1"/>
            </p:custDataLst>
          </p:nvPr>
        </p:nvSpPr>
        <p:spPr>
          <a:xfrm>
            <a:off x="491490" y="2498407"/>
            <a:ext cx="11209655" cy="186118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1500" b="1" i="0" u="none" strike="noStrike" kern="1200" cap="none" spc="-700" normalizeH="0" baseline="0" noProof="0" dirty="0">
                <a:ln>
                  <a:noFill/>
                </a:ln>
                <a:solidFill>
                  <a:prstClr val="white"/>
                </a:solidFill>
                <a:effectLst/>
                <a:uLnTx/>
                <a:uFillTx/>
                <a:latin typeface="等线"/>
                <a:ea typeface="张海山草泥马体" panose="02000000000000000000" pitchFamily="2" charset="-122"/>
                <a:cs typeface="Sitka Heading" charset="0"/>
              </a:rPr>
              <a:t>Thanks</a:t>
            </a:r>
          </a:p>
        </p:txBody>
      </p:sp>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5.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6.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7.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8.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9.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0.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1.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2.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3.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4.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5.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6.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7.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8.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9.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0.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1.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2.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3.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4.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5.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6.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7.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8.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9.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90.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91.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92.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93.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94.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95.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96.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2518</TotalTime>
  <Words>5822</Words>
  <Application>Microsoft Office PowerPoint</Application>
  <PresentationFormat>宽屏</PresentationFormat>
  <Paragraphs>303</Paragraphs>
  <Slides>33</Slides>
  <Notes>31</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33</vt:i4>
      </vt:variant>
    </vt:vector>
  </HeadingPairs>
  <TitlesOfParts>
    <vt:vector size="43" baseType="lpstr">
      <vt:lpstr>等线</vt:lpstr>
      <vt:lpstr>等线 Light</vt:lpstr>
      <vt:lpstr>黑体</vt:lpstr>
      <vt:lpstr>印品黑体</vt:lpstr>
      <vt:lpstr>Arial</vt:lpstr>
      <vt:lpstr>Cambria Math</vt:lpstr>
      <vt:lpstr>Times New Roman</vt:lpstr>
      <vt:lpstr>Wingdings</vt:lpstr>
      <vt:lpstr>WPS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WORLD HLLO</cp:lastModifiedBy>
  <cp:revision>571</cp:revision>
  <dcterms:created xsi:type="dcterms:W3CDTF">2019-06-19T02:08:00Z</dcterms:created>
  <dcterms:modified xsi:type="dcterms:W3CDTF">2026-04-01T05:20:20Z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2052-12.1.0.20784</vt:lpwstr>
  </property>
  <property fmtid="{D5CDD505-2E9C-101B-9397-08002B2CF9AE}" pid="3" name="ICV">
    <vt:lpwstr>AB9BA2E7A970494B8B57B2F36E5BC130_11</vt:lpwstr>
  </property>
</Properties>
</file>