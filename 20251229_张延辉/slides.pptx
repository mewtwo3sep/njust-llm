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4"/>
  </p:handoutMasterIdLst>
  <p:sldIdLst>
    <p:sldId id="590" r:id="rId3"/>
    <p:sldId id="617" r:id="rId5"/>
    <p:sldId id="620" r:id="rId6"/>
    <p:sldId id="614" r:id="rId7"/>
    <p:sldId id="615" r:id="rId8"/>
    <p:sldId id="619" r:id="rId9"/>
    <p:sldId id="425" r:id="rId10"/>
    <p:sldId id="426" r:id="rId11"/>
    <p:sldId id="427" r:id="rId12"/>
    <p:sldId id="605" r:id="rId13"/>
    <p:sldId id="606" r:id="rId14"/>
    <p:sldId id="607" r:id="rId15"/>
    <p:sldId id="612" r:id="rId16"/>
    <p:sldId id="608" r:id="rId17"/>
    <p:sldId id="609" r:id="rId18"/>
    <p:sldId id="610" r:id="rId19"/>
    <p:sldId id="592" r:id="rId20"/>
    <p:sldId id="595" r:id="rId21"/>
    <p:sldId id="593" r:id="rId22"/>
    <p:sldId id="594" r:id="rId23"/>
    <p:sldId id="596" r:id="rId24"/>
    <p:sldId id="598" r:id="rId25"/>
    <p:sldId id="599" r:id="rId26"/>
    <p:sldId id="621" r:id="rId27"/>
    <p:sldId id="597" r:id="rId28"/>
    <p:sldId id="600" r:id="rId29"/>
    <p:sldId id="601" r:id="rId30"/>
    <p:sldId id="602" r:id="rId31"/>
    <p:sldId id="604" r:id="rId32"/>
    <p:sldId id="603" r:id="rId33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ina ZYX Zhang" initials="TZZ" lastIdx="1" clrIdx="0"/>
  <p:cmAuthor id="2" name="Shi, Serena Jiahui" initials="SSJ" lastIdx="3" clrIdx="1"/>
  <p:cmAuthor id="3" name="Duo, Li" initials="DL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7E7"/>
    <a:srgbClr val="57467B"/>
    <a:srgbClr val="92278F"/>
    <a:srgbClr val="6D2B85"/>
    <a:srgbClr val="3B1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gs" Target="tags/tag63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algn="l" fontAlgn="auto">
              <a:lnSpc>
                <a:spcPct val="125000"/>
              </a:lnSpc>
              <a:buFont typeface="+mj-ea"/>
              <a:buNone/>
            </a:pP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小高自主调研并整合信息，制定详细且个性化的行程，提供远超传统导航的智能规划体验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好，我现在需要帮用户规划一个香港三日游的路线。首先，我得</a:t>
            </a:r>
            <a:r>
              <a:rPr lang="zh-CN" altLang="en-US" b="1"/>
              <a:t>分析用户的深层次需求</a:t>
            </a:r>
            <a:r>
              <a:rPr lang="zh-CN" altLang="en-US"/>
              <a:t>。用户可能希望在三天内尽可能多地体验香港的著名景点，同时行程安排合理，不要太赶，确保舒适度。接下来，我看看高德提供的景点信息。景点列表里有香港公园、天星小轮、西九文化区、香港故宫文化博物馆、香港迪士尼乐园、大埔海滨公园、赤松黄大仙祠、太古坊、浅水湾、浅水湾海滩、香港海洋公园和维多利亚港。这些景点分布在不同的区域，我需要考虑地理位置和交通便利性，尽量安排顺路的景点在同一日游览。根据约束条件，每天最多安排</a:t>
            </a:r>
            <a:r>
              <a:rPr lang="en-US" altLang="zh-CN"/>
              <a:t>4</a:t>
            </a:r>
            <a:r>
              <a:rPr lang="zh-CN" altLang="en-US"/>
              <a:t>个景点，总时长不超过</a:t>
            </a:r>
            <a:r>
              <a:rPr lang="en-US" altLang="zh-CN"/>
              <a:t>10</a:t>
            </a:r>
            <a:r>
              <a:rPr lang="zh-CN" altLang="en-US"/>
              <a:t>小时，包括每个景点</a:t>
            </a:r>
            <a:r>
              <a:rPr lang="en-US" altLang="zh-CN"/>
              <a:t>0.5</a:t>
            </a:r>
            <a:r>
              <a:rPr lang="zh-CN" altLang="en-US"/>
              <a:t>小时的交通时间。同时，要优先选择高热度的景点，比如</a:t>
            </a:r>
            <a:r>
              <a:rPr lang="en-US" altLang="zh-CN"/>
              <a:t>S</a:t>
            </a:r>
            <a:r>
              <a:rPr lang="zh-CN" altLang="en-US"/>
              <a:t>级和</a:t>
            </a:r>
            <a:r>
              <a:rPr lang="en-US" altLang="zh-CN"/>
              <a:t>A</a:t>
            </a:r>
            <a:r>
              <a:rPr lang="zh-CN" altLang="en-US"/>
              <a:t>级，确保用户体验。第一天，我考虑安排中环的景点，因为那里交通便利，景点集中。香港公园和天星小轮都在中西区，顺路。接着去西九文化区和香港故宫文化博物馆，这两个地方都在油尖旺区，可以安排在同一天，这样节省时间，也方便游客体验文化氛围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agent</a:t>
            </a:r>
            <a:r>
              <a:rPr lang="zh-CN" altLang="en-US"/>
              <a:t>：感知环境，与环境</a:t>
            </a:r>
            <a:r>
              <a:rPr lang="zh-CN" altLang="en-US"/>
              <a:t>交互、自主决策并执行动作以实现特定目标，其中还包含记忆</a:t>
            </a:r>
            <a:r>
              <a:rPr lang="zh-CN" altLang="en-US"/>
              <a:t>模块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直观</a:t>
            </a:r>
            <a:r>
              <a:rPr lang="zh-CN" altLang="en-US"/>
              <a:t>认识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**</a:t>
            </a:r>
            <a:r>
              <a:rPr lang="zh-CN" altLang="en-US"/>
              <a:t>收集</a:t>
            </a:r>
            <a:r>
              <a:rPr lang="en-US" altLang="zh-CN"/>
              <a:t> 30,000+ </a:t>
            </a:r>
            <a:r>
              <a:rPr lang="zh-CN" altLang="en-US"/>
              <a:t>真实</a:t>
            </a:r>
            <a:r>
              <a:rPr lang="en-US" altLang="zh-CN"/>
              <a:t> API**</a:t>
            </a:r>
            <a:r>
              <a:rPr lang="zh-CN" altLang="en-US"/>
              <a:t>，清洗并标准化。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抽象总结保留有价值的</a:t>
            </a:r>
            <a:r>
              <a:rPr lang="zh-CN" altLang="en-US"/>
              <a:t>信息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Explorer</a:t>
            </a:r>
            <a:r>
              <a:rPr lang="zh-CN" altLang="en-US">
                <a:sym typeface="+mn-ea"/>
              </a:rPr>
              <a:t>（探索者）：基于</a:t>
            </a:r>
            <a:r>
              <a:rPr lang="en-US" altLang="zh-CN">
                <a:sym typeface="+mn-ea"/>
              </a:rPr>
              <a:t> ReAct </a:t>
            </a:r>
            <a:r>
              <a:rPr lang="zh-CN" altLang="en-US">
                <a:sym typeface="+mn-ea"/>
              </a:rPr>
              <a:t>框架，在</a:t>
            </a:r>
            <a:r>
              <a:rPr lang="en-US" altLang="zh-CN">
                <a:sym typeface="+mn-ea"/>
              </a:rPr>
              <a:t>Thought-Action-Observation </a:t>
            </a:r>
            <a:r>
              <a:rPr lang="zh-CN" altLang="en-US">
                <a:sym typeface="+mn-ea"/>
              </a:rPr>
              <a:t>循环中点击</a:t>
            </a:r>
            <a:r>
              <a:rPr lang="en-US" altLang="zh-CN">
                <a:sym typeface="+mn-ea"/>
              </a:rPr>
              <a:t>HTML </a:t>
            </a:r>
            <a:r>
              <a:rPr lang="zh-CN" altLang="en-US">
                <a:sym typeface="+mn-ea"/>
              </a:rPr>
              <a:t>按钮，向下遍历网页</a:t>
            </a:r>
            <a:r>
              <a:rPr lang="en-US" altLang="zh-CN">
                <a:sym typeface="+mn-ea"/>
              </a:rPr>
              <a:t> 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Critic</a:t>
            </a:r>
            <a:r>
              <a:rPr lang="zh-CN" altLang="en-US">
                <a:sym typeface="+mn-ea"/>
              </a:rPr>
              <a:t>（评判者）：维护记忆（</a:t>
            </a:r>
            <a:r>
              <a:rPr lang="en-US" altLang="zh-CN">
                <a:sym typeface="+mn-ea"/>
              </a:rPr>
              <a:t>Memory</a:t>
            </a:r>
            <a:r>
              <a:rPr lang="zh-CN" altLang="en-US">
                <a:sym typeface="+mn-ea"/>
              </a:rPr>
              <a:t>），判断当前收集的信息是否足以回答问题，并最终生成答案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2. webdancer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提出两种自动合成高难度多步问答对的方法：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■</a:t>
            </a:r>
            <a:r>
              <a:rPr lang="en-US" altLang="zh-CN">
                <a:sym typeface="+mn-ea"/>
              </a:rPr>
              <a:t>  CRAWLQA</a:t>
            </a:r>
            <a:r>
              <a:rPr lang="zh-CN" altLang="en-US">
                <a:sym typeface="+mn-ea"/>
              </a:rPr>
              <a:t>：从真实网站（如</a:t>
            </a:r>
            <a:r>
              <a:rPr lang="en-US" altLang="zh-CN">
                <a:sym typeface="+mn-ea"/>
              </a:rPr>
              <a:t> GitHub, arXiv, Wiki</a:t>
            </a:r>
            <a:r>
              <a:rPr lang="zh-CN" altLang="en-US">
                <a:sym typeface="+mn-ea"/>
              </a:rPr>
              <a:t>）递归爬取页面，用</a:t>
            </a:r>
            <a:r>
              <a:rPr lang="en-US" altLang="zh-CN">
                <a:sym typeface="+mn-ea"/>
              </a:rPr>
              <a:t> GPT-4o </a:t>
            </a:r>
            <a:r>
              <a:rPr lang="zh-CN" altLang="en-US">
                <a:sym typeface="+mn-ea"/>
              </a:rPr>
              <a:t>生成多跳问题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■</a:t>
            </a:r>
            <a:r>
              <a:rPr lang="en-US" altLang="zh-CN">
                <a:sym typeface="+mn-ea"/>
              </a:rPr>
              <a:t> E2HQA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Easy-to-Hard QA</a:t>
            </a:r>
            <a:r>
              <a:rPr lang="zh-CN" altLang="en-US">
                <a:sym typeface="+mn-ea"/>
              </a:rPr>
              <a:t>）：从简单问题出发，通过多次检索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重写迭代，逐步构造更复杂的问题，答案保持不变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轨迹采样（</a:t>
            </a:r>
            <a:r>
              <a:rPr lang="en-US" altLang="zh-CN">
                <a:sym typeface="+mn-ea"/>
              </a:rPr>
              <a:t>Trajectory Sampling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基于</a:t>
            </a:r>
            <a:r>
              <a:rPr lang="en-US" altLang="zh-CN">
                <a:sym typeface="+mn-ea"/>
              </a:rPr>
              <a:t> QA </a:t>
            </a:r>
            <a:r>
              <a:rPr lang="zh-CN" altLang="en-US">
                <a:sym typeface="+mn-ea"/>
              </a:rPr>
              <a:t>对，使用</a:t>
            </a:r>
            <a:r>
              <a:rPr lang="en-US" altLang="zh-CN">
                <a:sym typeface="+mn-ea"/>
              </a:rPr>
              <a:t> LLM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GPT-4o</a:t>
            </a:r>
            <a:r>
              <a:rPr lang="zh-CN" altLang="en-US">
                <a:sym typeface="+mn-ea"/>
              </a:rPr>
              <a:t>）和</a:t>
            </a:r>
            <a:r>
              <a:rPr lang="en-US" altLang="zh-CN">
                <a:sym typeface="+mn-ea"/>
              </a:rPr>
              <a:t> LRM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QwQ-Plus</a:t>
            </a:r>
            <a:r>
              <a:rPr lang="zh-CN" altLang="en-US">
                <a:sym typeface="+mn-ea"/>
              </a:rPr>
              <a:t>）生成</a:t>
            </a:r>
            <a:r>
              <a:rPr lang="en-US" altLang="zh-CN">
                <a:sym typeface="+mn-ea"/>
              </a:rPr>
              <a:t> ReAct </a:t>
            </a:r>
            <a:r>
              <a:rPr lang="zh-CN" altLang="en-US">
                <a:sym typeface="+mn-ea"/>
              </a:rPr>
              <a:t>风格的推理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动作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观察轨迹：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■</a:t>
            </a:r>
            <a:r>
              <a:rPr lang="en-US" altLang="zh-CN">
                <a:sym typeface="+mn-ea"/>
              </a:rPr>
              <a:t> Short-CoT</a:t>
            </a:r>
            <a:r>
              <a:rPr lang="zh-CN" altLang="en-US">
                <a:sym typeface="+mn-ea"/>
              </a:rPr>
              <a:t>：由</a:t>
            </a:r>
            <a:r>
              <a:rPr lang="en-US" altLang="zh-CN">
                <a:sym typeface="+mn-ea"/>
              </a:rPr>
              <a:t> LLM </a:t>
            </a:r>
            <a:r>
              <a:rPr lang="zh-CN" altLang="en-US">
                <a:sym typeface="+mn-ea"/>
              </a:rPr>
              <a:t>生成短链推理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■</a:t>
            </a:r>
            <a:r>
              <a:rPr lang="en-US" altLang="zh-CN">
                <a:sym typeface="+mn-ea"/>
              </a:rPr>
              <a:t> Long-CoT</a:t>
            </a:r>
            <a:r>
              <a:rPr lang="zh-CN" altLang="en-US">
                <a:sym typeface="+mn-ea"/>
              </a:rPr>
              <a:t>：由</a:t>
            </a:r>
            <a:r>
              <a:rPr lang="en-US" altLang="zh-CN">
                <a:sym typeface="+mn-ea"/>
              </a:rPr>
              <a:t> LRM </a:t>
            </a:r>
            <a:r>
              <a:rPr lang="zh-CN" altLang="en-US">
                <a:sym typeface="+mn-ea"/>
              </a:rPr>
              <a:t>生成长链推理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■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并通过拒绝采样（</a:t>
            </a:r>
            <a:r>
              <a:rPr lang="en-US" altLang="zh-CN">
                <a:sym typeface="+mn-ea"/>
              </a:rPr>
              <a:t>rejection sampling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+ </a:t>
            </a:r>
            <a:r>
              <a:rPr lang="zh-CN" altLang="en-US">
                <a:sym typeface="+mn-ea"/>
              </a:rPr>
              <a:t>三阶段过滤（有效性、正确性、质量）确保轨迹高质量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3 WebSailor</a:t>
            </a:r>
            <a:endParaRPr lang="en-US" altLang="zh-CN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为</a:t>
            </a:r>
            <a:r>
              <a:rPr lang="en-US" altLang="zh-CN"/>
              <a:t> Level 1</a:t>
            </a:r>
            <a:r>
              <a:rPr lang="zh-CN" altLang="en-US"/>
              <a:t>（单跳问答）或</a:t>
            </a:r>
            <a:r>
              <a:rPr lang="en-US" altLang="zh-CN"/>
              <a:t> Level 2</a:t>
            </a:r>
            <a:r>
              <a:rPr lang="zh-CN" altLang="en-US"/>
              <a:t>（结构化多跳问答）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通过在真实网络信息中构建知识子图（由随机游走生成），再对子图中的实体和关系进行信息模糊化（如模糊时间、部分遮蔽名称），生成</a:t>
            </a:r>
            <a:r>
              <a:rPr lang="en-US" altLang="zh-CN">
                <a:sym typeface="+mn-ea"/>
              </a:rPr>
              <a:t> Level 3 </a:t>
            </a:r>
            <a:r>
              <a:rPr lang="zh-CN" altLang="en-US">
                <a:sym typeface="+mn-ea"/>
              </a:rPr>
              <a:t>任务。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>
                <a:sym typeface="+mn-ea"/>
              </a:rPr>
              <a:t>●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使用已有强推理模型（如</a:t>
            </a:r>
            <a:r>
              <a:rPr lang="en-US" altLang="zh-CN">
                <a:sym typeface="+mn-ea"/>
              </a:rPr>
              <a:t> QwQ</a:t>
            </a:r>
            <a:r>
              <a:rPr lang="zh-CN" altLang="en-US">
                <a:sym typeface="+mn-ea"/>
              </a:rPr>
              <a:t>）生成完整成功轨迹（包括动作与观察），但丢弃其冗长、风格化原始思考过程。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>
                <a:sym typeface="+mn-ea"/>
              </a:rPr>
              <a:t>●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用另一个指令模型为每一步重建简洁、面向动作的</a:t>
            </a:r>
            <a:r>
              <a:rPr lang="en-US" altLang="zh-CN">
                <a:sym typeface="+mn-ea"/>
              </a:rPr>
              <a:t> CoT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Chain-of-Thought</a:t>
            </a:r>
            <a:r>
              <a:rPr lang="zh-CN" altLang="en-US">
                <a:sym typeface="+mn-ea"/>
              </a:rPr>
              <a:t>），形成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干净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的监督信号，避免模仿导致策略僵化或上下文爆炸。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一种高效</a:t>
            </a:r>
            <a:r>
              <a:rPr lang="en-US" altLang="zh-CN">
                <a:sym typeface="+mn-ea"/>
              </a:rPr>
              <a:t> RL </a:t>
            </a:r>
            <a:r>
              <a:rPr lang="zh-CN" altLang="en-US">
                <a:sym typeface="+mn-ea"/>
              </a:rPr>
              <a:t>算法，在</a:t>
            </a:r>
            <a:r>
              <a:rPr lang="en-US" altLang="zh-CN">
                <a:sym typeface="+mn-ea"/>
              </a:rPr>
              <a:t> Rollout </a:t>
            </a:r>
            <a:r>
              <a:rPr lang="zh-CN" altLang="en-US">
                <a:sym typeface="+mn-ea"/>
              </a:rPr>
              <a:t>前和训练中动态采样，剔除标准差为</a:t>
            </a:r>
            <a:r>
              <a:rPr lang="en-US" altLang="zh-CN">
                <a:sym typeface="+mn-ea"/>
              </a:rPr>
              <a:t> 0 </a:t>
            </a:r>
            <a:r>
              <a:rPr lang="zh-CN" altLang="en-US">
                <a:sym typeface="+mn-ea"/>
              </a:rPr>
              <a:t>的样本（全对或全错），并用同批非平凡样本复制填充，提升</a:t>
            </a:r>
            <a:r>
              <a:rPr lang="en-US" altLang="zh-CN">
                <a:sym typeface="+mn-ea"/>
              </a:rPr>
              <a:t> 2–3 </a:t>
            </a:r>
            <a:r>
              <a:rPr lang="zh-CN" altLang="en-US">
                <a:sym typeface="+mn-ea"/>
              </a:rPr>
              <a:t>倍训练速度。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训练前过滤</a:t>
            </a:r>
            <a:r>
              <a:rPr lang="en-US" altLang="zh-CN"/>
              <a:t> (Pre-filtering)</a:t>
            </a:r>
            <a:r>
              <a:rPr lang="zh-CN" altLang="en-US"/>
              <a:t>：在训练开始前，首先剔除模型已能</a:t>
            </a:r>
            <a:r>
              <a:rPr lang="en-US" altLang="zh-CN"/>
              <a:t> 100% </a:t>
            </a:r>
            <a:r>
              <a:rPr lang="zh-CN" altLang="en-US"/>
              <a:t>解决的简单任务。此举旨在避免在</a:t>
            </a:r>
            <a:r>
              <a:rPr lang="en-US" altLang="zh-CN"/>
              <a:t> Rollout </a:t>
            </a:r>
            <a:r>
              <a:rPr lang="zh-CN" altLang="en-US"/>
              <a:t>过程中生成无效的训练样本，将计算资源集中于模型需要提升的领域。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训练中复制</a:t>
            </a:r>
            <a:r>
              <a:rPr lang="en-US" altLang="zh-CN"/>
              <a:t> (In-training Duplication)</a:t>
            </a:r>
            <a:r>
              <a:rPr lang="zh-CN" altLang="en-US"/>
              <a:t>：此为</a:t>
            </a:r>
            <a:r>
              <a:rPr lang="en-US" altLang="zh-CN"/>
              <a:t> DUPO </a:t>
            </a:r>
            <a:r>
              <a:rPr lang="zh-CN" altLang="en-US"/>
              <a:t>的核心。作为对比，</a:t>
            </a:r>
            <a:r>
              <a:rPr lang="en-US" altLang="zh-CN"/>
              <a:t>DAPO </a:t>
            </a:r>
            <a:r>
              <a:rPr lang="zh-CN" altLang="en-US"/>
              <a:t>算法会在训练中剔除整组成败结果一致（全对或全错）的样本，并补充新样本。然而，这会导致批次</a:t>
            </a:r>
            <a:r>
              <a:rPr lang="en-US" altLang="zh-CN"/>
              <a:t> (batch) </a:t>
            </a:r>
            <a:r>
              <a:rPr lang="zh-CN" altLang="en-US"/>
              <a:t>内不同样本需串行执行</a:t>
            </a:r>
            <a:r>
              <a:rPr lang="en-US" altLang="zh-CN"/>
              <a:t> Rollout</a:t>
            </a:r>
            <a:r>
              <a:rPr lang="zh-CN" altLang="en-US"/>
              <a:t>，在涉及大量工具调用的</a:t>
            </a:r>
            <a:r>
              <a:rPr lang="en-US" altLang="zh-CN"/>
              <a:t> Agent </a:t>
            </a:r>
            <a:r>
              <a:rPr lang="zh-CN" altLang="en-US"/>
              <a:t>训练中效率极低。</a:t>
            </a:r>
            <a:r>
              <a:rPr lang="en-US" altLang="zh-CN"/>
              <a:t>DUPO </a:t>
            </a:r>
            <a:r>
              <a:rPr lang="zh-CN" altLang="en-US"/>
              <a:t>则直接在批次内随机复制那些结果存在差异（即奖励标准差不为</a:t>
            </a:r>
            <a:r>
              <a:rPr lang="en-US" altLang="zh-CN"/>
              <a:t> 0</a:t>
            </a:r>
            <a:r>
              <a:rPr lang="zh-CN" altLang="en-US"/>
              <a:t>）的轨迹</a:t>
            </a:r>
            <a:r>
              <a:rPr lang="en-US" altLang="zh-CN"/>
              <a:t> (trajectory) </a:t>
            </a:r>
            <a:r>
              <a:rPr lang="zh-CN" altLang="en-US"/>
              <a:t>来填充批次。这种设计保持了数据处理的并行性，从而显著提升了训练效率。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9 WebSailor-V2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>
                <a:sym typeface="+mn-ea"/>
              </a:rPr>
              <a:t>●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构建稠密互联的知识图谱：与以往方法生成树状或无环结构不同，</a:t>
            </a:r>
            <a:r>
              <a:rPr lang="en-US" altLang="zh-CN">
                <a:sym typeface="+mn-ea"/>
              </a:rPr>
              <a:t>V2 </a:t>
            </a:r>
            <a:r>
              <a:rPr lang="zh-CN" altLang="en-US">
                <a:sym typeface="+mn-ea"/>
              </a:rPr>
              <a:t>版本主动构建包含环状结构和复杂依赖关系的稠密知识图谱，更真实地模拟现实世界知识的网状特性。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>
                <a:sym typeface="+mn-ea"/>
              </a:rPr>
              <a:t>●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基于子图的问答生成：通过随机游走等方法从知识图谱中高效抽取非同构子图，并基于子图的拓扑结构生成问题，确保问题覆盖丰富的逻辑关系。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>
                <a:sym typeface="+mn-ea"/>
              </a:rPr>
              <a:t>●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高保真模拟环境（</a:t>
            </a:r>
            <a:r>
              <a:rPr lang="en-US" altLang="zh-CN">
                <a:sym typeface="+mn-ea"/>
              </a:rPr>
              <a:t>Simulator</a:t>
            </a:r>
            <a:r>
              <a:rPr lang="zh-CN" altLang="en-US">
                <a:sym typeface="+mn-ea"/>
              </a:rPr>
              <a:t>）：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基于离线维基百科知识库构建，支持高速、低成本、高并发的策略迭代。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状态转移、工具调用、奖励机制与真实环境高度对齐，保障策略可迁移性。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>
                <a:sym typeface="+mn-ea"/>
              </a:rPr>
              <a:t>●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鲁棒的真实环境（</a:t>
            </a:r>
            <a:r>
              <a:rPr lang="en-US" altLang="zh-CN">
                <a:sym typeface="+mn-ea"/>
              </a:rPr>
              <a:t>Real World</a:t>
            </a:r>
            <a:r>
              <a:rPr lang="zh-CN" altLang="en-US">
                <a:sym typeface="+mn-ea"/>
              </a:rPr>
              <a:t>）：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对搜索、网页访问、学术搜索（</a:t>
            </a:r>
            <a:r>
              <a:rPr lang="en-US" altLang="zh-CN">
                <a:sym typeface="+mn-ea"/>
              </a:rPr>
              <a:t>Google Scholar</a:t>
            </a:r>
            <a:r>
              <a:rPr lang="zh-CN" altLang="en-US">
                <a:sym typeface="+mn-ea"/>
              </a:rPr>
              <a:t>）、</a:t>
            </a:r>
            <a:r>
              <a:rPr lang="en-US" altLang="zh-CN">
                <a:sym typeface="+mn-ea"/>
              </a:rPr>
              <a:t>Python </a:t>
            </a:r>
            <a:r>
              <a:rPr lang="zh-CN" altLang="en-US">
                <a:sym typeface="+mn-ea"/>
              </a:rPr>
              <a:t>执行等工具进行系统化管理，包括：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■</a:t>
            </a:r>
            <a:r>
              <a:rPr lang="en-US" altLang="zh-CN">
                <a:sym typeface="+mn-ea"/>
              </a:rPr>
              <a:t> QPS </a:t>
            </a:r>
            <a:r>
              <a:rPr lang="zh-CN" altLang="en-US">
                <a:sym typeface="+mn-ea"/>
              </a:rPr>
              <a:t>限流、结果缓存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■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超时重试与故障降级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■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多数据源备份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 RL </a:t>
            </a:r>
            <a:r>
              <a:rPr lang="zh-CN" altLang="en-US">
                <a:sym typeface="+mn-ea"/>
              </a:rPr>
              <a:t>提供稳定、一致的训练信号。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4 WebShaper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一个自主智能体，负责按形式化结构逐步扩展问题复杂度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每次扩展只作用于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叶节点常量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，将其替换为新变量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子问题，从而：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■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避免冗余信息（如常量连常量）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■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杜绝推理捷径（如答案可直接从表面信息猜出）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 ReAct </a:t>
            </a:r>
            <a:r>
              <a:rPr lang="zh-CN" altLang="en-US">
                <a:sym typeface="+mn-ea"/>
              </a:rPr>
              <a:t>框架，配备三大工具：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■</a:t>
            </a:r>
            <a:r>
              <a:rPr lang="en-US" altLang="zh-CN">
                <a:sym typeface="+mn-ea"/>
              </a:rPr>
              <a:t> Search</a:t>
            </a:r>
            <a:r>
              <a:rPr lang="zh-CN" altLang="en-US">
                <a:sym typeface="+mn-ea"/>
              </a:rPr>
              <a:t>：联网搜索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■</a:t>
            </a:r>
            <a:r>
              <a:rPr lang="en-US" altLang="zh-CN">
                <a:sym typeface="+mn-ea"/>
              </a:rPr>
              <a:t> Summarize</a:t>
            </a:r>
            <a:r>
              <a:rPr lang="zh-CN" altLang="en-US">
                <a:sym typeface="+mn-ea"/>
              </a:rPr>
              <a:t>：聚合多源信息生成联合常量（支持</a:t>
            </a:r>
            <a:r>
              <a:rPr lang="en-US" altLang="zh-CN">
                <a:sym typeface="+mn-ea"/>
              </a:rPr>
              <a:t> R-Union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■</a:t>
            </a:r>
            <a:r>
              <a:rPr lang="en-US" altLang="zh-CN">
                <a:sym typeface="+mn-ea"/>
              </a:rPr>
              <a:t> Validate</a:t>
            </a:r>
            <a:r>
              <a:rPr lang="zh-CN" altLang="en-US">
                <a:sym typeface="+mn-ea"/>
              </a:rPr>
              <a:t>：验证子问题是否合理且非平凡（避免</a:t>
            </a:r>
            <a:r>
              <a:rPr lang="en-US" altLang="zh-CN">
                <a:sym typeface="+mn-ea"/>
              </a:rPr>
              <a:t> LLM </a:t>
            </a:r>
            <a:r>
              <a:rPr lang="zh-CN" altLang="en-US">
                <a:sym typeface="+mn-ea"/>
              </a:rPr>
              <a:t>直接回答）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3. </a:t>
            </a:r>
            <a:r>
              <a:rPr lang="zh-CN" altLang="en-US">
                <a:sym typeface="+mn-ea"/>
              </a:rPr>
              <a:t>分层扩展策略（</a:t>
            </a:r>
            <a:r>
              <a:rPr lang="en-US" altLang="zh-CN">
                <a:sym typeface="+mn-ea"/>
              </a:rPr>
              <a:t>Layer-wise Expansion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区别于以往的随机或线性扩展，</a:t>
            </a:r>
            <a:r>
              <a:rPr lang="en-US" altLang="zh-CN">
                <a:sym typeface="+mn-ea"/>
              </a:rPr>
              <a:t>WebShaper </a:t>
            </a:r>
            <a:r>
              <a:rPr lang="zh-CN" altLang="en-US">
                <a:sym typeface="+mn-ea"/>
              </a:rPr>
              <a:t>采用图结构分层遍历方式扩展问题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确保生成的问题具有可控复杂度、高多样性、无捷径、结构一致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4. </a:t>
            </a:r>
            <a:r>
              <a:rPr lang="zh-CN" altLang="en-US">
                <a:sym typeface="+mn-ea"/>
              </a:rPr>
              <a:t>构建</a:t>
            </a:r>
            <a:r>
              <a:rPr lang="en-US" altLang="zh-CN">
                <a:sym typeface="+mn-ea"/>
              </a:rPr>
              <a:t> WebShaper </a:t>
            </a:r>
            <a:r>
              <a:rPr lang="zh-CN" altLang="en-US">
                <a:sym typeface="+mn-ea"/>
              </a:rPr>
              <a:t>数据集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从</a:t>
            </a:r>
            <a:r>
              <a:rPr lang="en-US" altLang="zh-CN">
                <a:sym typeface="+mn-ea"/>
              </a:rPr>
              <a:t> Wikipedia </a:t>
            </a:r>
            <a:r>
              <a:rPr lang="zh-CN" altLang="en-US">
                <a:sym typeface="+mn-ea"/>
              </a:rPr>
              <a:t>随机游走生成</a:t>
            </a:r>
            <a:r>
              <a:rPr lang="en-US" altLang="zh-CN">
                <a:sym typeface="+mn-ea"/>
              </a:rPr>
              <a:t> 18k </a:t>
            </a:r>
            <a:r>
              <a:rPr lang="zh-CN" altLang="en-US">
                <a:sym typeface="+mn-ea"/>
              </a:rPr>
              <a:t>种子问题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</a:rPr>
              <a:t> Expander </a:t>
            </a:r>
            <a:r>
              <a:rPr lang="zh-CN" altLang="en-US">
                <a:sym typeface="+mn-ea"/>
              </a:rPr>
              <a:t>多步扩展，最终构建出覆盖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体育、学术、政治、娱乐等多领域的高质量合成数据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生成</a:t>
            </a:r>
            <a:r>
              <a:rPr lang="en-US" altLang="zh-CN">
                <a:sym typeface="+mn-ea"/>
              </a:rPr>
              <a:t> 5,000 </a:t>
            </a:r>
            <a:r>
              <a:rPr lang="zh-CN" altLang="en-US">
                <a:sym typeface="+mn-ea"/>
              </a:rPr>
              <a:t>条带工具调用轨迹的训练样本，用于</a:t>
            </a:r>
            <a:r>
              <a:rPr lang="en-US" altLang="zh-CN">
                <a:sym typeface="+mn-ea"/>
              </a:rPr>
              <a:t> SFT + RL </a:t>
            </a:r>
            <a:r>
              <a:rPr lang="zh-CN" altLang="en-US">
                <a:sym typeface="+mn-ea"/>
              </a:rPr>
              <a:t>训练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13 WebLeaper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Basic</a:t>
            </a:r>
            <a:r>
              <a:rPr lang="zh-CN" altLang="en-US">
                <a:sym typeface="+mn-ea"/>
              </a:rPr>
              <a:t>（基础版）：从单个结构化表格生成任务，包含大量属性实体（例如某年诺贝尔文学奖得主及其国籍、性别、获奖年份等）。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Union</a:t>
            </a:r>
            <a:r>
              <a:rPr lang="zh-CN" altLang="en-US">
                <a:sym typeface="+mn-ea"/>
              </a:rPr>
              <a:t>（联合版）：跨多个信息源（如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诺贝尔奖得主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布克奖得主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）合成任务，要求智能体进行多源信息融合与交集推理。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Reverse-Union</a:t>
            </a:r>
            <a:r>
              <a:rPr lang="zh-CN" altLang="en-US">
                <a:sym typeface="+mn-ea"/>
              </a:rPr>
              <a:t>（逆向联合版）：反转推理流程，先给模糊线索（如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写过关于一群英国男孩在荒岛的小说的</a:t>
            </a:r>
            <a:r>
              <a:rPr lang="en-US" altLang="zh-CN">
                <a:sym typeface="+mn-ea"/>
              </a:rPr>
              <a:t>1980</a:t>
            </a:r>
            <a:r>
              <a:rPr lang="zh-CN" altLang="en-US">
                <a:sym typeface="+mn-ea"/>
              </a:rPr>
              <a:t>年代获奖者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），迫使智能体先推断中间实体（如</a:t>
            </a:r>
            <a:r>
              <a:rPr lang="en-US" altLang="zh-CN">
                <a:sym typeface="+mn-ea"/>
              </a:rPr>
              <a:t> William Golding</a:t>
            </a:r>
            <a:r>
              <a:rPr lang="zh-CN" altLang="en-US">
                <a:sym typeface="+mn-ea"/>
              </a:rPr>
              <a:t>），再以此为锚点开展进一步搜索，防止简单关键词匹配。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3. </a:t>
            </a:r>
            <a:r>
              <a:rPr lang="zh-CN" altLang="en-US">
                <a:sym typeface="+mn-ea"/>
              </a:rPr>
              <a:t>设计信息导向的轨迹筛选机制：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引入两个关键指标：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■</a:t>
            </a:r>
            <a:r>
              <a:rPr lang="en-US" altLang="zh-CN">
                <a:sym typeface="+mn-ea"/>
              </a:rPr>
              <a:t> ISR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Information-Seeking Rate</a:t>
            </a:r>
            <a:r>
              <a:rPr lang="zh-CN" altLang="en-US">
                <a:sym typeface="+mn-ea"/>
              </a:rPr>
              <a:t>）：衡量检索到的目标实体覆盖率（召回率）。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■</a:t>
            </a:r>
            <a:r>
              <a:rPr lang="en-US" altLang="zh-CN">
                <a:sym typeface="+mn-ea"/>
              </a:rPr>
              <a:t> ISE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Information-Seeking Efficiency</a:t>
            </a:r>
            <a:r>
              <a:rPr lang="zh-CN" altLang="en-US">
                <a:sym typeface="+mn-ea"/>
              </a:rPr>
              <a:t>）：衡量单位动作获取的目标实体数（效率）。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只保留</a:t>
            </a:r>
            <a:r>
              <a:rPr lang="en-US" altLang="zh-CN">
                <a:sym typeface="+mn-ea"/>
              </a:rPr>
              <a:t> ISR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ISE </a:t>
            </a:r>
            <a:r>
              <a:rPr lang="zh-CN" altLang="en-US">
                <a:sym typeface="+mn-ea"/>
              </a:rPr>
              <a:t>同时达标的轨迹用于训练，确保模型学习又准又快的策略。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4. </a:t>
            </a:r>
            <a:r>
              <a:rPr lang="zh-CN" altLang="en-US">
                <a:sym typeface="+mn-ea"/>
              </a:rPr>
              <a:t>设计混合奖励的强化学习机制：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针对高实体密度任务，提出基于软匹配</a:t>
            </a:r>
            <a:r>
              <a:rPr lang="en-US" altLang="zh-CN">
                <a:sym typeface="+mn-ea"/>
              </a:rPr>
              <a:t> F-score</a:t>
            </a:r>
            <a:r>
              <a:rPr lang="zh-CN" altLang="en-US">
                <a:sym typeface="+mn-ea"/>
              </a:rPr>
              <a:t>的细粒度奖励（容忍</a:t>
            </a:r>
            <a:r>
              <a:rPr lang="en-US" altLang="zh-CN">
                <a:sym typeface="+mn-ea"/>
              </a:rPr>
              <a:t>“USA”</a:t>
            </a:r>
            <a:r>
              <a:rPr lang="zh-CN" altLang="en-US">
                <a:sym typeface="+mn-ea"/>
              </a:rPr>
              <a:t>与</a:t>
            </a:r>
            <a:r>
              <a:rPr lang="en-US" altLang="zh-CN">
                <a:sym typeface="+mn-ea"/>
              </a:rPr>
              <a:t>“United States”</a:t>
            </a:r>
            <a:r>
              <a:rPr lang="zh-CN" altLang="en-US">
                <a:sym typeface="+mn-ea"/>
              </a:rPr>
              <a:t>等语义等价表达）。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</a:t>
            </a:r>
            <a:r>
              <a:rPr lang="en-US" altLang="en-US">
                <a:sym typeface="+mn-ea"/>
              </a:rPr>
              <a:t>○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与传统基准任务的原有奖励函数结合，形成混合奖励系统（</a:t>
            </a:r>
            <a:r>
              <a:rPr lang="en-US" altLang="zh-CN">
                <a:sym typeface="+mn-ea"/>
              </a:rPr>
              <a:t>Hybrid Reward</a:t>
            </a:r>
            <a:r>
              <a:rPr lang="zh-CN" altLang="en-US">
                <a:sym typeface="+mn-ea"/>
              </a:rPr>
              <a:t>），兼容性强且训练信号更丰富。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17 AgentFrontier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用自动化、可扩展的方式，从原始知识文本中逐步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进化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出高复杂度、高质量的问答数据，用于大模型的持续预训练和后训练。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从原始文本</a:t>
            </a:r>
            <a:r>
              <a:rPr lang="en-US" altLang="zh-CN">
                <a:sym typeface="+mn-ea"/>
              </a:rPr>
              <a:t>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种子</a:t>
            </a:r>
            <a:r>
              <a:rPr lang="en-US" altLang="zh-CN">
                <a:sym typeface="+mn-ea"/>
              </a:rPr>
              <a:t> QA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复杂推理</a:t>
            </a:r>
            <a:r>
              <a:rPr lang="en-US" altLang="zh-CN">
                <a:sym typeface="+mn-ea"/>
              </a:rPr>
              <a:t> QA 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ZPD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Zone of Proximal Development</a:t>
            </a:r>
            <a:r>
              <a:rPr lang="zh-CN" altLang="en-US">
                <a:sym typeface="+mn-ea"/>
              </a:rPr>
              <a:t>，最近发展区）：基础</a:t>
            </a:r>
            <a:r>
              <a:rPr lang="en-US" altLang="zh-CN">
                <a:sym typeface="+mn-ea"/>
              </a:rPr>
              <a:t>LLM</a:t>
            </a:r>
            <a:r>
              <a:rPr lang="zh-CN" altLang="en-US">
                <a:sym typeface="+mn-ea"/>
              </a:rPr>
              <a:t>能力边界之外，但可在外部工具辅助下解决的问题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第一阶段：不是难，而是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干净</a:t>
            </a:r>
            <a:r>
              <a:rPr lang="en-US" altLang="zh-CN">
                <a:sym typeface="+mn-ea"/>
              </a:rPr>
              <a:t> + </a:t>
            </a:r>
            <a:r>
              <a:rPr lang="zh-CN" altLang="en-US">
                <a:sym typeface="+mn-ea"/>
              </a:rPr>
              <a:t>覆盖广</a:t>
            </a:r>
            <a:r>
              <a:rPr lang="en-US" altLang="zh-CN">
                <a:sym typeface="+mn-ea"/>
              </a:rPr>
              <a:t>”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第二阶段：通过多轮迭代，让</a:t>
            </a:r>
            <a:r>
              <a:rPr lang="en-US" altLang="zh-CN">
                <a:sym typeface="+mn-ea"/>
              </a:rPr>
              <a:t> QA </a:t>
            </a:r>
            <a:r>
              <a:rPr lang="zh-CN" altLang="en-US">
                <a:sym typeface="+mn-ea"/>
              </a:rPr>
              <a:t>从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单跳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进化为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多跳</a:t>
            </a:r>
            <a:r>
              <a:rPr lang="en-US" altLang="zh-CN">
                <a:sym typeface="+mn-ea"/>
              </a:rPr>
              <a:t> / </a:t>
            </a:r>
            <a:r>
              <a:rPr lang="zh-CN" altLang="en-US">
                <a:sym typeface="+mn-ea"/>
              </a:rPr>
              <a:t>复杂推理</a:t>
            </a:r>
            <a:r>
              <a:rPr lang="en-US" altLang="zh-CN">
                <a:sym typeface="+mn-ea"/>
              </a:rPr>
              <a:t>”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第三阶段：验证、筛选与数据分流（生成的</a:t>
            </a:r>
            <a:r>
              <a:rPr lang="en-US" altLang="zh-CN">
                <a:sym typeface="+mn-ea"/>
              </a:rPr>
              <a:t> QA</a:t>
            </a:r>
            <a:r>
              <a:rPr lang="zh-CN" altLang="en-US">
                <a:sym typeface="+mn-ea"/>
              </a:rPr>
              <a:t>，哪些真的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值得训练模型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？）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 </a:t>
            </a:r>
            <a:r>
              <a:rPr lang="zh-CN" altLang="en-US">
                <a:sym typeface="+mn-ea"/>
              </a:rPr>
              <a:t>用</a:t>
            </a:r>
            <a:r>
              <a:rPr lang="en-US" altLang="zh-CN">
                <a:sym typeface="+mn-ea"/>
              </a:rPr>
              <a:t> base LLM </a:t>
            </a:r>
            <a:r>
              <a:rPr lang="zh-CN" altLang="en-US">
                <a:sym typeface="+mn-ea"/>
              </a:rPr>
              <a:t>直接回答</a:t>
            </a:r>
            <a:r>
              <a:rPr lang="en-US" altLang="zh-CN">
                <a:sym typeface="+mn-ea"/>
              </a:rPr>
              <a:t> QA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如果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能轻松答对：说明</a:t>
            </a:r>
            <a:r>
              <a:rPr lang="en-US" altLang="zh-CN">
                <a:sym typeface="+mn-ea"/>
              </a:rPr>
              <a:t> QA </a:t>
            </a:r>
            <a:r>
              <a:rPr lang="zh-CN" altLang="en-US">
                <a:sym typeface="+mn-ea"/>
              </a:rPr>
              <a:t>不够难，更适合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继续预训练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 </a:t>
            </a:r>
            <a:r>
              <a:rPr lang="zh-CN" altLang="en-US">
                <a:sym typeface="+mn-ea"/>
              </a:rPr>
              <a:t>用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工具增强</a:t>
            </a:r>
            <a:r>
              <a:rPr lang="en-US" altLang="zh-CN">
                <a:sym typeface="+mn-ea"/>
              </a:rPr>
              <a:t> Agent</a:t>
            </a:r>
            <a:r>
              <a:rPr lang="zh-CN" altLang="en-US">
                <a:sym typeface="+mn-ea"/>
              </a:rPr>
              <a:t>：多次</a:t>
            </a:r>
            <a:r>
              <a:rPr lang="en-US" altLang="zh-CN">
                <a:sym typeface="+mn-ea"/>
              </a:rPr>
              <a:t> Best-of-N </a:t>
            </a:r>
            <a:r>
              <a:rPr lang="zh-CN" altLang="en-US">
                <a:sym typeface="+mn-ea"/>
              </a:rPr>
              <a:t>验证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 QA Flagged for Review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人工复核（</a:t>
            </a:r>
            <a:r>
              <a:rPr lang="en-US" altLang="zh-CN">
                <a:sym typeface="+mn-ea"/>
              </a:rPr>
              <a:t>D_human</a:t>
            </a:r>
            <a:r>
              <a:rPr lang="zh-CN" altLang="en-US">
                <a:sym typeface="+mn-ea"/>
              </a:rPr>
              <a:t>）（验证失败、相似度过低、潜在错误）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 reranker</a:t>
            </a:r>
            <a:r>
              <a:rPr lang="zh-CN" altLang="en-US">
                <a:sym typeface="+mn-ea"/>
              </a:rPr>
              <a:t>相似度过滤（重复、语义漂移、伪复杂问题）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10 agentic cpt</a:t>
            </a:r>
            <a:endParaRPr lang="en-US" altLang="zh-CN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单靠后训练让通用基座模型</a:t>
            </a:r>
            <a:r>
              <a:rPr lang="en-US" altLang="zh-CN"/>
              <a:t>“</a:t>
            </a:r>
            <a:r>
              <a:rPr lang="zh-CN" altLang="en-US"/>
              <a:t>临时学会做智能体</a:t>
            </a:r>
            <a:r>
              <a:rPr lang="en-US" altLang="zh-CN"/>
              <a:t>”</a:t>
            </a:r>
            <a:r>
              <a:rPr lang="zh-CN" altLang="en-US"/>
              <a:t>，会遇到数据、覆盖、长轨迹与优化冲突的瓶颈；因此先用持续预训练把</a:t>
            </a:r>
            <a:r>
              <a:rPr lang="en-US" altLang="zh-CN"/>
              <a:t>“</a:t>
            </a:r>
            <a:r>
              <a:rPr lang="zh-CN" altLang="en-US"/>
              <a:t>智能体的归纳偏置</a:t>
            </a:r>
            <a:r>
              <a:rPr lang="en-US" altLang="zh-CN"/>
              <a:t>/</a:t>
            </a:r>
            <a:r>
              <a:rPr lang="zh-CN" altLang="en-US"/>
              <a:t>底层知识</a:t>
            </a:r>
            <a:r>
              <a:rPr lang="en-US" altLang="zh-CN"/>
              <a:t>/</a:t>
            </a:r>
            <a:r>
              <a:rPr lang="zh-CN" altLang="en-US"/>
              <a:t>行为习惯</a:t>
            </a:r>
            <a:r>
              <a:rPr lang="en-US" altLang="zh-CN"/>
              <a:t>”</a:t>
            </a:r>
            <a:r>
              <a:rPr lang="zh-CN" altLang="en-US"/>
              <a:t>打进基座，再去</a:t>
            </a:r>
            <a:r>
              <a:rPr lang="en-US" altLang="zh-CN"/>
              <a:t> RL </a:t>
            </a:r>
            <a:r>
              <a:rPr lang="zh-CN" altLang="en-US"/>
              <a:t>对齐，会更稳、更可扩展。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通用基座缺少</a:t>
            </a:r>
            <a:r>
              <a:rPr lang="en-US" altLang="zh-CN"/>
              <a:t> agentic inductive bias</a:t>
            </a:r>
            <a:r>
              <a:rPr lang="zh-CN" altLang="en-US"/>
              <a:t>，导致后训练阶段要同时学</a:t>
            </a:r>
            <a:r>
              <a:rPr lang="en-US" altLang="zh-CN"/>
              <a:t>“</a:t>
            </a:r>
            <a:r>
              <a:rPr lang="zh-CN" altLang="en-US"/>
              <a:t>能力（会用工具</a:t>
            </a:r>
            <a:r>
              <a:rPr lang="en-US" altLang="zh-CN"/>
              <a:t>/</a:t>
            </a:r>
            <a:r>
              <a:rPr lang="zh-CN" altLang="en-US"/>
              <a:t>会规划）</a:t>
            </a:r>
            <a:r>
              <a:rPr lang="en-US" altLang="zh-CN"/>
              <a:t>”</a:t>
            </a:r>
            <a:r>
              <a:rPr lang="zh-CN" altLang="en-US"/>
              <a:t>和</a:t>
            </a:r>
            <a:r>
              <a:rPr lang="en-US" altLang="zh-CN"/>
              <a:t>“</a:t>
            </a:r>
            <a:r>
              <a:rPr lang="zh-CN" altLang="en-US"/>
              <a:t>对齐（按人类偏好</a:t>
            </a:r>
            <a:r>
              <a:rPr lang="en-US" altLang="zh-CN"/>
              <a:t>/</a:t>
            </a:r>
            <a:r>
              <a:rPr lang="zh-CN" altLang="en-US"/>
              <a:t>专家示范）</a:t>
            </a:r>
            <a:r>
              <a:rPr lang="en-US" altLang="zh-CN"/>
              <a:t>”</a:t>
            </a:r>
            <a:r>
              <a:rPr lang="zh-CN" altLang="en-US"/>
              <a:t>，形成优化张力与冲突。给后训练</a:t>
            </a:r>
            <a:r>
              <a:rPr lang="en-US" altLang="zh-CN"/>
              <a:t>“</a:t>
            </a:r>
            <a:r>
              <a:rPr lang="zh-CN" altLang="en-US"/>
              <a:t>打地基</a:t>
            </a:r>
            <a:r>
              <a:rPr lang="en-US" altLang="zh-CN"/>
              <a:t>”</a:t>
            </a:r>
            <a:r>
              <a:rPr lang="zh-CN" altLang="en-US"/>
              <a:t>，先做一个</a:t>
            </a:r>
            <a:r>
              <a:rPr lang="en-US" altLang="zh-CN"/>
              <a:t>“</a:t>
            </a:r>
            <a:r>
              <a:rPr lang="zh-CN" altLang="en-US"/>
              <a:t>预对齐的</a:t>
            </a:r>
            <a:r>
              <a:rPr lang="en-US" altLang="zh-CN"/>
              <a:t> agent </a:t>
            </a:r>
            <a:r>
              <a:rPr lang="zh-CN" altLang="en-US"/>
              <a:t>基座</a:t>
            </a:r>
            <a:r>
              <a:rPr lang="en-US" altLang="zh-CN"/>
              <a:t>”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以前：</a:t>
            </a:r>
            <a:r>
              <a:rPr lang="zh-CN" altLang="en-US" b="1"/>
              <a:t>通用大模型</a:t>
            </a:r>
            <a:r>
              <a:rPr lang="en-US" altLang="zh-CN" b="1"/>
              <a:t> </a:t>
            </a:r>
            <a:r>
              <a:rPr lang="en-US" altLang="en-US" b="1"/>
              <a:t>→</a:t>
            </a:r>
            <a:r>
              <a:rPr lang="zh-CN" altLang="en-US" b="1"/>
              <a:t>（</a:t>
            </a:r>
            <a:r>
              <a:rPr lang="en-US" altLang="zh-CN" b="1"/>
              <a:t>SFT/RL </a:t>
            </a:r>
            <a:r>
              <a:rPr lang="zh-CN" altLang="en-US" b="1"/>
              <a:t>硬教它当</a:t>
            </a:r>
            <a:r>
              <a:rPr lang="en-US" altLang="zh-CN" b="1"/>
              <a:t> agent</a:t>
            </a:r>
            <a:r>
              <a:rPr lang="zh-CN" altLang="en-US" b="1"/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现在：通用大模型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Agentic CPT </a:t>
            </a:r>
            <a:r>
              <a:rPr lang="zh-CN" altLang="en-US"/>
              <a:t>先</a:t>
            </a:r>
            <a:r>
              <a:rPr lang="en-US" altLang="zh-CN"/>
              <a:t>“</a:t>
            </a:r>
            <a:r>
              <a:rPr lang="zh-CN" altLang="en-US"/>
              <a:t>长出</a:t>
            </a:r>
            <a:r>
              <a:rPr lang="en-US" altLang="zh-CN"/>
              <a:t>”</a:t>
            </a:r>
            <a:r>
              <a:rPr lang="zh-CN" altLang="en-US"/>
              <a:t>工具调用</a:t>
            </a:r>
            <a:r>
              <a:rPr lang="en-US" altLang="zh-CN"/>
              <a:t>/</a:t>
            </a:r>
            <a:r>
              <a:rPr lang="zh-CN" altLang="en-US"/>
              <a:t>规划</a:t>
            </a:r>
            <a:r>
              <a:rPr lang="en-US" altLang="zh-CN"/>
              <a:t>/</a:t>
            </a:r>
            <a:r>
              <a:rPr lang="zh-CN" altLang="en-US"/>
              <a:t>长程推理的骨架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zh-CN" altLang="en-US"/>
              <a:t>（</a:t>
            </a:r>
            <a:r>
              <a:rPr lang="en-US" altLang="zh-CN"/>
              <a:t>SFT/RL </a:t>
            </a:r>
            <a:r>
              <a:rPr lang="zh-CN" altLang="en-US"/>
              <a:t>再把它</a:t>
            </a:r>
            <a:r>
              <a:rPr lang="en-US" altLang="zh-CN"/>
              <a:t>“</a:t>
            </a:r>
            <a:r>
              <a:rPr lang="zh-CN" altLang="en-US"/>
              <a:t>训得更听话、更可靠</a:t>
            </a:r>
            <a:r>
              <a:rPr lang="en-US" altLang="zh-CN"/>
              <a:t>”</a:t>
            </a:r>
            <a:r>
              <a:rPr lang="zh-CN" altLang="en-US"/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离线动作合成：基于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实体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知识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映射库，自动生成多风格复杂问题（如多跳、数值、合成类）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对每个问题，合成两种数据：（</a:t>
            </a:r>
            <a:r>
              <a:rPr lang="en-US" altLang="zh-CN">
                <a:sym typeface="+mn-ea"/>
              </a:rPr>
              <a:t>planning</a:t>
            </a:r>
            <a:r>
              <a:rPr lang="zh-CN" altLang="en-US">
                <a:sym typeface="+mn-ea"/>
              </a:rPr>
              <a:t>）：问题分解、下一步工具调用预测。</a:t>
            </a:r>
            <a:r>
              <a:rPr lang="en-US" altLang="zh-CN">
                <a:sym typeface="+mn-ea"/>
              </a:rPr>
              <a:t>reasoning</a:t>
            </a:r>
            <a:r>
              <a:rPr lang="zh-CN" altLang="en-US">
                <a:sym typeface="+mn-ea"/>
              </a:rPr>
              <a:t>）：基于内部知识的逻辑推理链。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高阶动作合成：利用历史训练轨迹提升数据利用效率，将每一步轨迹视为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决策点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，在该步生成多个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可行的替代动作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将原始轨迹</a:t>
            </a:r>
            <a:r>
              <a:rPr lang="en-US" altLang="zh-CN">
                <a:sym typeface="+mn-ea"/>
              </a:rPr>
              <a:t> + </a:t>
            </a:r>
            <a:r>
              <a:rPr lang="zh-CN" altLang="en-US">
                <a:sym typeface="+mn-ea"/>
              </a:rPr>
              <a:t>扩展选项重组为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多选项决策过程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，让模型学习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在多种合理路径中做选择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，而非简单模仿单一轨迹。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**Stage 1**</a:t>
            </a:r>
            <a:r>
              <a:rPr lang="zh-CN" altLang="en-US">
                <a:sym typeface="+mn-ea"/>
              </a:rPr>
              <a:t>：使用</a:t>
            </a:r>
            <a:r>
              <a:rPr lang="en-US" altLang="zh-CN">
                <a:sym typeface="+mn-ea"/>
              </a:rPr>
              <a:t> ~200B tokens 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 FAS + </a:t>
            </a:r>
            <a:r>
              <a:rPr lang="zh-CN" altLang="en-US">
                <a:sym typeface="+mn-ea"/>
              </a:rPr>
              <a:t>短上下文</a:t>
            </a:r>
            <a:r>
              <a:rPr lang="en-US" altLang="zh-CN">
                <a:sym typeface="+mn-ea"/>
              </a:rPr>
              <a:t> HAS </a:t>
            </a:r>
            <a:r>
              <a:rPr lang="zh-CN" altLang="en-US">
                <a:sym typeface="+mn-ea"/>
              </a:rPr>
              <a:t>数据（</a:t>
            </a:r>
            <a:r>
              <a:rPr lang="en-US" altLang="zh-CN">
                <a:sym typeface="+mn-ea"/>
              </a:rPr>
              <a:t>32K context</a:t>
            </a:r>
            <a:r>
              <a:rPr lang="zh-CN" altLang="en-US">
                <a:sym typeface="+mn-ea"/>
              </a:rPr>
              <a:t>）。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**Stage 2**</a:t>
            </a:r>
            <a:r>
              <a:rPr lang="zh-CN" altLang="en-US">
                <a:sym typeface="+mn-ea"/>
              </a:rPr>
              <a:t>：使用</a:t>
            </a:r>
            <a:r>
              <a:rPr lang="en-US" altLang="zh-CN">
                <a:sym typeface="+mn-ea"/>
              </a:rPr>
              <a:t> 100B tokens </a:t>
            </a:r>
            <a:r>
              <a:rPr lang="zh-CN" altLang="en-US">
                <a:sym typeface="+mn-ea"/>
              </a:rPr>
              <a:t>高质量长上下文</a:t>
            </a:r>
            <a:r>
              <a:rPr lang="en-US" altLang="zh-CN">
                <a:sym typeface="+mn-ea"/>
              </a:rPr>
              <a:t> HAS </a:t>
            </a:r>
            <a:r>
              <a:rPr lang="zh-CN" altLang="en-US">
                <a:sym typeface="+mn-ea"/>
              </a:rPr>
              <a:t>数据（</a:t>
            </a:r>
            <a:r>
              <a:rPr lang="en-US" altLang="zh-CN">
                <a:sym typeface="+mn-ea"/>
              </a:rPr>
              <a:t>128K context</a:t>
            </a:r>
            <a:r>
              <a:rPr lang="zh-CN" altLang="en-US">
                <a:sym typeface="+mn-ea"/>
              </a:rPr>
              <a:t>），强化长程规划能力。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一阶行为合成（</a:t>
            </a:r>
            <a:r>
              <a:rPr lang="en-US" altLang="zh-CN"/>
              <a:t>FAS</a:t>
            </a:r>
            <a:r>
              <a:rPr lang="zh-CN" altLang="en-US"/>
              <a:t>）：无监督信号的基础行为数据生成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FAS</a:t>
            </a:r>
            <a:r>
              <a:rPr lang="zh-CN" altLang="en-US"/>
              <a:t>无需外部工具调用（无</a:t>
            </a:r>
            <a:r>
              <a:rPr lang="en-US" altLang="zh-CN"/>
              <a:t>API</a:t>
            </a:r>
            <a:r>
              <a:rPr lang="zh-CN" altLang="en-US"/>
              <a:t>成本），仅依赖多样化数据源，生成</a:t>
            </a:r>
            <a:r>
              <a:rPr lang="en-US" altLang="zh-CN"/>
              <a:t>“</a:t>
            </a:r>
            <a:r>
              <a:rPr lang="zh-CN" altLang="en-US"/>
              <a:t>问题</a:t>
            </a:r>
            <a:r>
              <a:rPr lang="en-US" altLang="zh-CN"/>
              <a:t>-</a:t>
            </a:r>
            <a:r>
              <a:rPr lang="zh-CN" altLang="en-US"/>
              <a:t>规划</a:t>
            </a:r>
            <a:r>
              <a:rPr lang="en-US" altLang="zh-CN"/>
              <a:t>-</a:t>
            </a:r>
            <a:r>
              <a:rPr lang="zh-CN" altLang="en-US"/>
              <a:t>行为</a:t>
            </a:r>
            <a:r>
              <a:rPr lang="en-US" altLang="zh-CN"/>
              <a:t>”</a:t>
            </a:r>
            <a:r>
              <a:rPr lang="zh-CN" altLang="en-US"/>
              <a:t>三元组，包含</a:t>
            </a:r>
            <a:r>
              <a:rPr lang="en-US" altLang="zh-CN"/>
              <a:t>“</a:t>
            </a:r>
            <a:r>
              <a:rPr lang="zh-CN" altLang="en-US"/>
              <a:t>知识</a:t>
            </a:r>
            <a:r>
              <a:rPr lang="en-US" altLang="zh-CN"/>
              <a:t>-</a:t>
            </a:r>
            <a:r>
              <a:rPr lang="zh-CN" altLang="en-US"/>
              <a:t>问题转化</a:t>
            </a:r>
            <a:r>
              <a:rPr lang="en-US" altLang="zh-CN"/>
              <a:t>”“</a:t>
            </a:r>
            <a:r>
              <a:rPr lang="zh-CN" altLang="en-US"/>
              <a:t>规划行为合成</a:t>
            </a:r>
            <a:r>
              <a:rPr lang="en-US" altLang="zh-CN"/>
              <a:t>”“</a:t>
            </a:r>
            <a:r>
              <a:rPr lang="zh-CN" altLang="en-US"/>
              <a:t>推理行为合成</a:t>
            </a:r>
            <a:r>
              <a:rPr lang="en-US" altLang="zh-CN"/>
              <a:t>”</a:t>
            </a:r>
            <a:r>
              <a:rPr lang="zh-CN" altLang="en-US"/>
              <a:t>三步骤。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11 </a:t>
            </a:r>
            <a:r>
              <a:rPr lang="zh-CN" altLang="en-US">
                <a:sym typeface="+mn-ea"/>
              </a:rPr>
              <a:t>环境扩展化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阶段一：全自动、可扩展的环境构建（</a:t>
            </a:r>
            <a:r>
              <a:rPr lang="en-US" altLang="zh-CN">
                <a:sym typeface="+mn-ea"/>
              </a:rPr>
              <a:t>Environment Construction &amp; Scaling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抽象核心思想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：将每个工具调用视为对一个底层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环境数据库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environment database</a:t>
            </a:r>
            <a:r>
              <a:rPr lang="zh-CN" altLang="en-US">
                <a:sym typeface="+mn-ea"/>
              </a:rPr>
              <a:t>）的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读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写操作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具体步骤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1. **</a:t>
            </a:r>
            <a:r>
              <a:rPr lang="zh-CN" altLang="en-US">
                <a:sym typeface="+mn-ea"/>
              </a:rPr>
              <a:t>收集</a:t>
            </a:r>
            <a:r>
              <a:rPr lang="en-US" altLang="zh-CN">
                <a:sym typeface="+mn-ea"/>
              </a:rPr>
              <a:t> 30,000+ </a:t>
            </a:r>
            <a:r>
              <a:rPr lang="zh-CN" altLang="en-US">
                <a:sym typeface="+mn-ea"/>
              </a:rPr>
              <a:t>真实</a:t>
            </a:r>
            <a:r>
              <a:rPr lang="en-US" altLang="zh-CN">
                <a:sym typeface="+mn-ea"/>
              </a:rPr>
              <a:t> API**</a:t>
            </a:r>
            <a:r>
              <a:rPr lang="zh-CN" altLang="en-US">
                <a:sym typeface="+mn-ea"/>
              </a:rPr>
              <a:t>，清洗并标准化。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2. **</a:t>
            </a:r>
            <a:r>
              <a:rPr lang="zh-CN" altLang="en-US">
                <a:sym typeface="+mn-ea"/>
              </a:rPr>
              <a:t>构建工具依赖图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Tool Dependency Graph</a:t>
            </a:r>
            <a:r>
              <a:rPr lang="zh-CN" altLang="en-US">
                <a:sym typeface="+mn-ea"/>
              </a:rPr>
              <a:t>）：基于参数语义相似性建立工具间连接。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3. **</a:t>
            </a: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 Louvain </a:t>
            </a:r>
            <a:r>
              <a:rPr lang="zh-CN" altLang="en-US">
                <a:sym typeface="+mn-ea"/>
              </a:rPr>
              <a:t>社区检测算法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将工具划分为</a:t>
            </a:r>
            <a:r>
              <a:rPr lang="en-US" altLang="zh-CN">
                <a:sym typeface="+mn-ea"/>
              </a:rPr>
              <a:t> **1000+ </a:t>
            </a:r>
            <a:r>
              <a:rPr lang="zh-CN" altLang="en-US">
                <a:sym typeface="+mn-ea"/>
              </a:rPr>
              <a:t>个领域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domains</a:t>
            </a:r>
            <a:r>
              <a:rPr lang="zh-CN" altLang="en-US">
                <a:sym typeface="+mn-ea"/>
              </a:rPr>
              <a:t>），每个领域代表一个功能场景（如零售、航空）。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4. **</a:t>
            </a:r>
            <a:r>
              <a:rPr lang="zh-CN" altLang="en-US">
                <a:sym typeface="+mn-ea"/>
              </a:rPr>
              <a:t>为每个领域自动生成数据库结构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，并将工具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程序化实现为可执行</a:t>
            </a:r>
            <a:r>
              <a:rPr lang="en-US" altLang="zh-CN">
                <a:sym typeface="+mn-ea"/>
              </a:rPr>
              <a:t> Python </a:t>
            </a:r>
            <a:r>
              <a:rPr lang="zh-CN" altLang="en-US">
                <a:sym typeface="+mn-ea"/>
              </a:rPr>
              <a:t>代码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，使其能真实操作数据库状态。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5. **</a:t>
            </a:r>
            <a:r>
              <a:rPr lang="zh-CN" altLang="en-US">
                <a:sym typeface="+mn-ea"/>
              </a:rPr>
              <a:t>从工具图中采样逻辑连贯的工具调用序列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，初始化数据库状态，生成可验证的用户意图和完整任务轨迹。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1. **</a:t>
            </a:r>
            <a:r>
              <a:rPr lang="zh-CN" altLang="en-US">
                <a:sym typeface="+mn-ea"/>
              </a:rPr>
              <a:t>阶段二：两阶段智能体经验学习（</a:t>
            </a:r>
            <a:r>
              <a:rPr lang="en-US" altLang="zh-CN">
                <a:sym typeface="+mn-ea"/>
              </a:rPr>
              <a:t>Agent Experience Learning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数据生成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：在上述环境中，通过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模拟用户</a:t>
            </a:r>
            <a:r>
              <a:rPr lang="en-US" altLang="zh-CN">
                <a:sym typeface="+mn-ea"/>
              </a:rPr>
              <a:t>–</a:t>
            </a:r>
            <a:r>
              <a:rPr lang="zh-CN" altLang="en-US">
                <a:sym typeface="+mn-ea"/>
              </a:rPr>
              <a:t>智能体交互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生成轨迹。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严格三阶段过滤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确保数据质量：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1. **</a:t>
            </a:r>
            <a:r>
              <a:rPr lang="zh-CN" altLang="en-US">
                <a:sym typeface="+mn-ea"/>
              </a:rPr>
              <a:t>有效性控制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（格式正确、无重复推理）；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2. **</a:t>
            </a:r>
            <a:r>
              <a:rPr lang="zh-CN" altLang="en-US">
                <a:sym typeface="+mn-ea"/>
              </a:rPr>
              <a:t>环境状态对齐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（最终数据库状态匹配黄金状态）；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3. **</a:t>
            </a:r>
            <a:r>
              <a:rPr lang="zh-CN" altLang="en-US">
                <a:sym typeface="+mn-ea"/>
              </a:rPr>
              <a:t>函数调用精确匹配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（工具序列和参数完全一致）。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训练策略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**</a:t>
            </a:r>
            <a:r>
              <a:rPr lang="zh-CN" altLang="en-US">
                <a:sym typeface="+mn-ea"/>
              </a:rPr>
              <a:t>第一阶段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：在通用领域上训练，获得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基础工具调用能力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；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**</a:t>
            </a:r>
            <a:r>
              <a:rPr lang="zh-CN" altLang="en-US">
                <a:sym typeface="+mn-ea"/>
              </a:rPr>
              <a:t>第二阶段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：在垂直领域（如电信、航空）上微调，实现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领域专业化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15 **E-GRPO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在合成数据（</a:t>
            </a:r>
            <a:r>
              <a:rPr lang="en-US" altLang="zh-CN">
                <a:sym typeface="+mn-ea"/>
              </a:rPr>
              <a:t>synthetic data</a:t>
            </a:r>
            <a:r>
              <a:rPr lang="zh-CN" altLang="en-US">
                <a:sym typeface="+mn-ea"/>
              </a:rPr>
              <a:t>）生成过程中，通常会嵌入一系列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关键事实实体（</a:t>
            </a:r>
            <a:r>
              <a:rPr lang="en-US" altLang="zh-CN">
                <a:sym typeface="+mn-ea"/>
              </a:rPr>
              <a:t>ground-truth entities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，这些实体构成了正确答案的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事实骨架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</a:t>
            </a:r>
            <a:r>
              <a:rPr lang="zh-CN" altLang="en-US">
                <a:sym typeface="+mn-ea"/>
              </a:rPr>
              <a:t>作者通过实证分析发现：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智能体在推理过程中识别出的正确实体数量（</a:t>
            </a:r>
            <a:r>
              <a:rPr lang="en-US" altLang="zh-CN">
                <a:sym typeface="+mn-ea"/>
              </a:rPr>
              <a:t>entity match rate</a:t>
            </a:r>
            <a:r>
              <a:rPr lang="zh-CN" altLang="en-US">
                <a:sym typeface="+mn-ea"/>
              </a:rPr>
              <a:t>）与最终答案正确率高度正相关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</a:t>
            </a:r>
            <a:r>
              <a:rPr lang="zh-CN" altLang="en-US">
                <a:sym typeface="+mn-ea"/>
              </a:rPr>
              <a:t>换句话说，如果一个轨迹提到了更多正确实体，它更可能是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接近正确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### 15.2.2 **</a:t>
            </a:r>
            <a:r>
              <a:rPr lang="zh-CN" altLang="en-US">
                <a:sym typeface="+mn-ea"/>
              </a:rPr>
              <a:t>提出方法：</a:t>
            </a:r>
            <a:r>
              <a:rPr lang="en-US" altLang="zh-CN">
                <a:sym typeface="+mn-ea"/>
              </a:rPr>
              <a:t>E-GRPO**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E-GRPO 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 GRPO </a:t>
            </a:r>
            <a:r>
              <a:rPr lang="zh-CN" altLang="en-US">
                <a:sym typeface="+mn-ea"/>
              </a:rPr>
              <a:t>的基础上，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引入了一个基于实体匹配率的细粒度奖励信号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</a:t>
            </a:r>
            <a:r>
              <a:rPr lang="zh-CN" altLang="en-US">
                <a:sym typeface="+mn-ea"/>
              </a:rPr>
              <a:t>如果轨迹最终正确</a:t>
            </a:r>
            <a:r>
              <a:rPr lang="en-US" altLang="zh-CN">
                <a:sym typeface="+mn-ea"/>
              </a:rPr>
              <a:t>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奖励为</a:t>
            </a:r>
            <a:r>
              <a:rPr lang="en-US" altLang="zh-CN">
                <a:sym typeface="+mn-ea"/>
              </a:rPr>
              <a:t> 1</a:t>
            </a:r>
            <a:r>
              <a:rPr lang="zh-CN" altLang="en-US">
                <a:sym typeface="+mn-ea"/>
              </a:rPr>
              <a:t>；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</a:t>
            </a:r>
            <a:r>
              <a:rPr lang="zh-CN" altLang="en-US">
                <a:sym typeface="+mn-ea"/>
              </a:rPr>
              <a:t>如果轨迹错误但提到了部分正确实体</a:t>
            </a:r>
            <a:r>
              <a:rPr lang="en-US" altLang="zh-CN">
                <a:sym typeface="+mn-ea"/>
              </a:rPr>
              <a:t>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奖励为</a:t>
            </a:r>
            <a:r>
              <a:rPr lang="en-US" altLang="zh-CN">
                <a:sym typeface="+mn-ea"/>
              </a:rPr>
              <a:t> α · γ</a:t>
            </a:r>
            <a:r>
              <a:rPr lang="en-US" altLang="en-US">
                <a:sym typeface="+mn-ea"/>
              </a:rPr>
              <a:t>̂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γ</a:t>
            </a:r>
            <a:r>
              <a:rPr lang="en-US" altLang="en-US">
                <a:sym typeface="+mn-ea"/>
              </a:rPr>
              <a:t>̂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是归一化后的实体匹配率，</a:t>
            </a:r>
            <a:r>
              <a:rPr lang="en-US" altLang="zh-CN">
                <a:sym typeface="+mn-ea"/>
              </a:rPr>
              <a:t>α </a:t>
            </a:r>
            <a:r>
              <a:rPr lang="zh-CN" altLang="en-US">
                <a:sym typeface="+mn-ea"/>
              </a:rPr>
              <a:t>是超参）；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</a:t>
            </a:r>
            <a:r>
              <a:rPr lang="zh-CN" altLang="en-US">
                <a:sym typeface="+mn-ea"/>
              </a:rPr>
              <a:t>如果轨迹存在格式错误或超长</a:t>
            </a:r>
            <a:r>
              <a:rPr lang="en-US" altLang="zh-CN">
                <a:sym typeface="+mn-ea"/>
              </a:rPr>
              <a:t>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奖励为</a:t>
            </a:r>
            <a:r>
              <a:rPr lang="en-US" altLang="zh-CN">
                <a:sym typeface="+mn-ea"/>
              </a:rPr>
              <a:t> 0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</a:t>
            </a:r>
            <a:r>
              <a:rPr lang="zh-CN" altLang="en-US">
                <a:sym typeface="+mn-ea"/>
              </a:rPr>
              <a:t>这种设计让模型能从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部分正确的推理路径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中学习，而不仅仅是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对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错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二元信号。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6 **WebResearcher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当前大多数开源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闭源的深度研究智能体普遍采用</a:t>
            </a:r>
            <a:r>
              <a:rPr lang="en-US" altLang="zh-CN">
                <a:sym typeface="+mn-ea"/>
              </a:rPr>
              <a:t> **“</a:t>
            </a:r>
            <a:r>
              <a:rPr lang="zh-CN" altLang="en-US">
                <a:sym typeface="+mn-ea"/>
              </a:rPr>
              <a:t>单上下文范式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mono-contextual paradigm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，即：将所有检索到的信息、中间推理、工具调用记录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线性累积到一个不断增长的上下文窗口中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**</a:t>
            </a:r>
            <a:r>
              <a:rPr lang="zh-CN" altLang="en-US">
                <a:sym typeface="+mn-ea"/>
              </a:rPr>
              <a:t>存在的问题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认知工作区窒息（</a:t>
            </a:r>
            <a:r>
              <a:rPr lang="en-US" altLang="zh-CN">
                <a:sym typeface="+mn-ea"/>
              </a:rPr>
              <a:t>Cognitive Workspace Suffocation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：随着上下文膨胀，留给模型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主动思考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的空间被压缩，导致推理质量下降。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不可逆噪声污染（</a:t>
            </a:r>
            <a:r>
              <a:rPr lang="en-US" altLang="zh-CN">
                <a:sym typeface="+mn-ea"/>
              </a:rPr>
              <a:t>Irreversible Noise Contamination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：早期错误、无关信息一旦写入上下文，无法过滤或修正，会持续干扰后续推理。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IterResearch</a:t>
            </a:r>
            <a:r>
              <a:rPr lang="zh-CN" altLang="en-US">
                <a:sym typeface="+mn-ea"/>
              </a:rPr>
              <a:t>：迭代式深度研究范式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</a:t>
            </a:r>
            <a:r>
              <a:rPr lang="zh-CN" altLang="en-US">
                <a:sym typeface="+mn-ea"/>
              </a:rPr>
              <a:t>将深度研究建模为一个</a:t>
            </a:r>
            <a:r>
              <a:rPr lang="en-US" altLang="zh-CN">
                <a:sym typeface="+mn-ea"/>
              </a:rPr>
              <a:t> **</a:t>
            </a:r>
            <a:r>
              <a:rPr lang="zh-CN" altLang="en-US">
                <a:sym typeface="+mn-ea"/>
              </a:rPr>
              <a:t>马尔可夫决策过程（</a:t>
            </a:r>
            <a:r>
              <a:rPr lang="en-US" altLang="zh-CN">
                <a:sym typeface="+mn-ea"/>
              </a:rPr>
              <a:t>MDP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</a:t>
            </a:r>
            <a:r>
              <a:rPr lang="zh-CN" altLang="en-US">
                <a:sym typeface="+mn-ea"/>
              </a:rPr>
              <a:t>每轮（</a:t>
            </a:r>
            <a:r>
              <a:rPr lang="en-US" altLang="zh-CN">
                <a:sym typeface="+mn-ea"/>
              </a:rPr>
              <a:t>round</a:t>
            </a:r>
            <a:r>
              <a:rPr lang="zh-CN" altLang="en-US">
                <a:sym typeface="+mn-ea"/>
              </a:rPr>
              <a:t>）只保留三要素：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原始问题（</a:t>
            </a:r>
            <a:r>
              <a:rPr lang="en-US" altLang="zh-CN">
                <a:sym typeface="+mn-ea"/>
              </a:rPr>
              <a:t>Question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演化报告（</a:t>
            </a:r>
            <a:r>
              <a:rPr lang="en-US" altLang="zh-CN">
                <a:sym typeface="+mn-ea"/>
              </a:rPr>
              <a:t>Evolving Report</a:t>
            </a:r>
            <a:r>
              <a:rPr lang="zh-CN" altLang="en-US">
                <a:sym typeface="+mn-ea"/>
              </a:rPr>
              <a:t>）：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对前期发现的合成摘要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（作为中央记忆）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最近一次工具响应（</a:t>
            </a:r>
            <a:r>
              <a:rPr lang="en-US" altLang="zh-CN">
                <a:sym typeface="+mn-ea"/>
              </a:rPr>
              <a:t>Tool Response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</a:t>
            </a:r>
            <a:r>
              <a:rPr lang="zh-CN" altLang="en-US">
                <a:sym typeface="+mn-ea"/>
              </a:rPr>
              <a:t>每轮结束后，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主动合成新报告并重建精简工作区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，丢弃临时噪声。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</a:t>
            </a:r>
            <a:r>
              <a:rPr lang="zh-CN" altLang="en-US">
                <a:sym typeface="+mn-ea"/>
              </a:rPr>
              <a:t>支持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理论上无界的研究深度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，避免上下文膨胀。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Research-Synthesis </a:t>
            </a:r>
            <a:r>
              <a:rPr lang="zh-CN" altLang="en-US">
                <a:sym typeface="+mn-ea"/>
              </a:rPr>
              <a:t>框架：测试时并行扩展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并行研究阶段（</a:t>
            </a:r>
            <a:r>
              <a:rPr lang="en-US" altLang="zh-CN">
                <a:sym typeface="+mn-ea"/>
              </a:rPr>
              <a:t>Parallel Research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：多个</a:t>
            </a:r>
            <a:r>
              <a:rPr lang="en-US" altLang="zh-CN">
                <a:sym typeface="+mn-ea"/>
              </a:rPr>
              <a:t> IterResearch </a:t>
            </a:r>
            <a:r>
              <a:rPr lang="zh-CN" altLang="en-US">
                <a:sym typeface="+mn-ea"/>
              </a:rPr>
              <a:t>智能体独立探索不同路径，各自输出最终报告。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整合合成阶段（</a:t>
            </a:r>
            <a:r>
              <a:rPr lang="en-US" altLang="zh-CN">
                <a:sym typeface="+mn-ea"/>
              </a:rPr>
              <a:t>Integrative Synthesis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：一个合成智能体（如</a:t>
            </a:r>
            <a:r>
              <a:rPr lang="en-US" altLang="zh-CN">
                <a:sym typeface="+mn-ea"/>
              </a:rPr>
              <a:t> Qwen3-235B</a:t>
            </a:r>
            <a:r>
              <a:rPr lang="zh-CN" altLang="en-US">
                <a:sym typeface="+mn-ea"/>
              </a:rPr>
              <a:t>）基于所有最终报告生成统一答案。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优势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：避免拼接完整轨迹（太长），仅用精炼报告实现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高效测试时扩展（</a:t>
            </a:r>
            <a:r>
              <a:rPr lang="en-US" altLang="zh-CN">
                <a:sym typeface="+mn-ea"/>
              </a:rPr>
              <a:t>test-time scaling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8 **WebWeaver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现有方法存在两大问题：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1. **</a:t>
            </a:r>
            <a:r>
              <a:rPr lang="zh-CN" altLang="en-US">
                <a:sym typeface="+mn-ea"/>
              </a:rPr>
              <a:t>静态研究流程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：先生成固定提纲再搜索（或先搜索再生成提纲），导致提纲与证据脱节，无法根据新发现动态调整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2. **</a:t>
            </a:r>
            <a:r>
              <a:rPr lang="zh-CN" altLang="en-US">
                <a:sym typeface="+mn-ea"/>
              </a:rPr>
              <a:t>单次生成模式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：将所有检索到的材料一次性塞入上下文，导致：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上下文过长，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中间信息丢失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lost in the middle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引用幻觉（</a:t>
            </a:r>
            <a:r>
              <a:rPr lang="en-US" altLang="zh-CN">
                <a:sym typeface="+mn-ea"/>
              </a:rPr>
              <a:t>citation hallucination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报告质量下降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Planner</a:t>
            </a:r>
            <a:r>
              <a:rPr lang="zh-CN" altLang="en-US">
                <a:sym typeface="+mn-ea"/>
              </a:rPr>
              <a:t>（规划者）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动态构建证据驱动的提纲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动态研究循环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：交替进行</a:t>
            </a:r>
            <a:r>
              <a:rPr lang="en-US" altLang="zh-CN">
                <a:sym typeface="+mn-ea"/>
              </a:rPr>
              <a:t>“**</a:t>
            </a:r>
            <a:r>
              <a:rPr lang="zh-CN" altLang="en-US">
                <a:sym typeface="+mn-ea"/>
              </a:rPr>
              <a:t>证据收集</a:t>
            </a:r>
            <a:r>
              <a:rPr lang="en-US" altLang="zh-CN">
                <a:sym typeface="+mn-ea"/>
              </a:rPr>
              <a:t>**”</a:t>
            </a:r>
            <a:r>
              <a:rPr lang="zh-CN" altLang="en-US">
                <a:sym typeface="+mn-ea"/>
              </a:rPr>
              <a:t>与</a:t>
            </a:r>
            <a:r>
              <a:rPr lang="en-US" altLang="zh-CN">
                <a:sym typeface="+mn-ea"/>
              </a:rPr>
              <a:t>“**</a:t>
            </a:r>
            <a:r>
              <a:rPr lang="zh-CN" altLang="en-US">
                <a:sym typeface="+mn-ea"/>
              </a:rPr>
              <a:t>提纲优化</a:t>
            </a:r>
            <a:r>
              <a:rPr lang="en-US" altLang="zh-CN">
                <a:sym typeface="+mn-ea"/>
              </a:rPr>
              <a:t>**”</a:t>
            </a:r>
            <a:r>
              <a:rPr lang="zh-CN" altLang="en-US">
                <a:sym typeface="+mn-ea"/>
              </a:rPr>
              <a:t>，形成反馈闭环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每次搜索后，用新证据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细化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重构提纲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提纲中的每个子项都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显式引用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内存库中的证据（如</a:t>
            </a:r>
            <a:r>
              <a:rPr lang="en-US" altLang="zh-CN">
                <a:sym typeface="+mn-ea"/>
              </a:rPr>
              <a:t> `&lt;citation&gt;id_12&lt;/citation&gt;`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构建结构化记忆库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：只保存网页的摘要和关键证据，而非原始全文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2. **Writer</a:t>
            </a:r>
            <a:r>
              <a:rPr lang="zh-CN" altLang="en-US">
                <a:sym typeface="+mn-ea"/>
              </a:rPr>
              <a:t>（撰写者）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分层、聚焦式写作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按提纲逐节撰写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，每写一节：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**</a:t>
            </a:r>
            <a:r>
              <a:rPr lang="zh-CN" altLang="en-US">
                <a:sym typeface="+mn-ea"/>
              </a:rPr>
              <a:t>只检索该节引用的证据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（通过</a:t>
            </a:r>
            <a:r>
              <a:rPr lang="en-US" altLang="zh-CN">
                <a:sym typeface="+mn-ea"/>
              </a:rPr>
              <a:t> citation ID </a:t>
            </a:r>
            <a:r>
              <a:rPr lang="zh-CN" altLang="en-US">
                <a:sym typeface="+mn-ea"/>
              </a:rPr>
              <a:t>从记忆库中提取）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写完后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清空当前上下文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，避免跨节干扰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</a:t>
            </a:r>
            <a:r>
              <a:rPr lang="zh-CN" altLang="en-US">
                <a:sym typeface="+mn-ea"/>
              </a:rPr>
              <a:t>这种</a:t>
            </a:r>
            <a:r>
              <a:rPr lang="en-US" altLang="zh-CN">
                <a:sym typeface="+mn-ea"/>
              </a:rPr>
              <a:t>“**</a:t>
            </a:r>
            <a:r>
              <a:rPr lang="zh-CN" altLang="en-US">
                <a:sym typeface="+mn-ea"/>
              </a:rPr>
              <a:t>分而治之</a:t>
            </a:r>
            <a:r>
              <a:rPr lang="en-US" altLang="zh-CN">
                <a:sym typeface="+mn-ea"/>
              </a:rPr>
              <a:t>**”</a:t>
            </a:r>
            <a:r>
              <a:rPr lang="zh-CN" altLang="en-US">
                <a:sym typeface="+mn-ea"/>
              </a:rPr>
              <a:t>策略：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减轻模型注意力负担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显著提升引用准确率和内容连贯性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避免长上下文带来的幻觉问题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7 **ReSum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当前主流的</a:t>
            </a:r>
            <a:r>
              <a:rPr lang="en-US" altLang="zh-CN">
                <a:sym typeface="+mn-ea"/>
              </a:rPr>
              <a:t> LLM </a:t>
            </a:r>
            <a:r>
              <a:rPr lang="zh-CN" altLang="en-US">
                <a:sym typeface="+mn-ea"/>
              </a:rPr>
              <a:t>智能体交互范式（如</a:t>
            </a:r>
            <a:r>
              <a:rPr lang="en-US" altLang="zh-CN">
                <a:sym typeface="+mn-ea"/>
              </a:rPr>
              <a:t> **ReAct**</a:t>
            </a:r>
            <a:r>
              <a:rPr lang="zh-CN" altLang="en-US">
                <a:sym typeface="+mn-ea"/>
              </a:rPr>
              <a:t>）在执行复杂</a:t>
            </a:r>
            <a:r>
              <a:rPr lang="en-US" altLang="zh-CN">
                <a:sym typeface="+mn-ea"/>
              </a:rPr>
              <a:t> Web </a:t>
            </a:r>
            <a:r>
              <a:rPr lang="zh-CN" altLang="en-US">
                <a:sym typeface="+mn-ea"/>
              </a:rPr>
              <a:t>搜索任务时，会不断将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思考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动作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观察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历史追加到上下文中。但</a:t>
            </a:r>
            <a:r>
              <a:rPr lang="en-US" altLang="zh-CN">
                <a:sym typeface="+mn-ea"/>
              </a:rPr>
              <a:t> LLM </a:t>
            </a:r>
            <a:r>
              <a:rPr lang="zh-CN" altLang="en-US">
                <a:sym typeface="+mn-ea"/>
              </a:rPr>
              <a:t>的上下文窗口有限（如</a:t>
            </a:r>
            <a:r>
              <a:rPr lang="en-US" altLang="zh-CN">
                <a:sym typeface="+mn-ea"/>
              </a:rPr>
              <a:t> 32k tokens</a:t>
            </a:r>
            <a:r>
              <a:rPr lang="zh-CN" altLang="en-US">
                <a:sym typeface="+mn-ea"/>
              </a:rPr>
              <a:t>），导致：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</a:t>
            </a:r>
            <a:r>
              <a:rPr lang="zh-CN" altLang="en-US">
                <a:sym typeface="+mn-ea"/>
              </a:rPr>
              <a:t>长周期探索中上下文迅速耗尽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</a:t>
            </a:r>
            <a:r>
              <a:rPr lang="zh-CN" altLang="en-US">
                <a:sym typeface="+mn-ea"/>
              </a:rPr>
              <a:t>智能体在找到答案前就被迫终止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</a:t>
            </a:r>
            <a:r>
              <a:rPr lang="zh-CN" altLang="en-US">
                <a:sym typeface="+mn-ea"/>
              </a:rPr>
              <a:t>特别是在涉及多实体、复杂关系、高不确定性的查询中，问题尤为严重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*</a:t>
            </a:r>
            <a:r>
              <a:rPr lang="zh-CN" altLang="en-US">
                <a:sym typeface="+mn-ea"/>
              </a:rPr>
              <a:t>周期性地对交互历史进行上下文摘要，将冗长的历史压缩为一个结构化的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推理状态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，并以此为基础继续探索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**</a:t>
            </a:r>
            <a:r>
              <a:rPr lang="zh-CN" altLang="en-US">
                <a:sym typeface="+mn-ea"/>
              </a:rPr>
              <a:t>具体流程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1. **</a:t>
            </a:r>
            <a:r>
              <a:rPr lang="zh-CN" altLang="en-US">
                <a:sym typeface="+mn-ea"/>
              </a:rPr>
              <a:t>初始阶段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：与</a:t>
            </a:r>
            <a:r>
              <a:rPr lang="en-US" altLang="zh-CN">
                <a:sym typeface="+mn-ea"/>
              </a:rPr>
              <a:t> ReAct </a:t>
            </a:r>
            <a:r>
              <a:rPr lang="zh-CN" altLang="en-US">
                <a:sym typeface="+mn-ea"/>
              </a:rPr>
              <a:t>一致，积累交互历史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2. **</a:t>
            </a:r>
            <a:r>
              <a:rPr lang="zh-CN" altLang="en-US">
                <a:sym typeface="+mn-ea"/>
              </a:rPr>
              <a:t>触发摘要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：当接近上下文上限时（或由智能体主动决定），调用一个专门的摘要工具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3. **</a:t>
            </a:r>
            <a:r>
              <a:rPr lang="zh-CN" altLang="en-US">
                <a:sym typeface="+mn-ea"/>
              </a:rPr>
              <a:t>压缩状态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：将当前问题和历史压缩为</a:t>
            </a:r>
            <a:r>
              <a:rPr lang="en-US" altLang="zh-CN">
                <a:sym typeface="+mn-ea"/>
              </a:rPr>
              <a:t> `&lt;summary&gt;`</a:t>
            </a:r>
            <a:r>
              <a:rPr lang="zh-CN" altLang="en-US">
                <a:sym typeface="+mn-ea"/>
              </a:rPr>
              <a:t>，包含已验证证据、信息缺口、下一步方向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4. **</a:t>
            </a:r>
            <a:r>
              <a:rPr lang="zh-CN" altLang="en-US">
                <a:sym typeface="+mn-ea"/>
              </a:rPr>
              <a:t>重启推理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：以</a:t>
            </a:r>
            <a:r>
              <a:rPr lang="en-US" altLang="zh-CN">
                <a:sym typeface="+mn-ea"/>
              </a:rPr>
              <a:t> `(</a:t>
            </a:r>
            <a:r>
              <a:rPr lang="zh-CN" altLang="en-US">
                <a:sym typeface="+mn-ea"/>
              </a:rPr>
              <a:t>原始问题</a:t>
            </a:r>
            <a:r>
              <a:rPr lang="en-US" altLang="zh-CN">
                <a:sym typeface="+mn-ea"/>
              </a:rPr>
              <a:t>, </a:t>
            </a:r>
            <a:r>
              <a:rPr lang="zh-CN" altLang="en-US">
                <a:sym typeface="+mn-ea"/>
              </a:rPr>
              <a:t>摘要</a:t>
            </a:r>
            <a:r>
              <a:rPr lang="en-US" altLang="zh-CN">
                <a:sym typeface="+mn-ea"/>
              </a:rPr>
              <a:t>)` </a:t>
            </a:r>
            <a:r>
              <a:rPr lang="zh-CN" altLang="en-US">
                <a:sym typeface="+mn-ea"/>
              </a:rPr>
              <a:t>作为新上下文继续探索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5. **</a:t>
            </a:r>
            <a:r>
              <a:rPr lang="zh-CN" altLang="en-US">
                <a:sym typeface="+mn-ea"/>
              </a:rPr>
              <a:t>可无限延续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：理论上支持无限轮次的搜索，突破上下文限制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**ReSumTool-30B**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一个专门微调的</a:t>
            </a:r>
            <a:r>
              <a:rPr lang="en-US" altLang="zh-CN">
                <a:sym typeface="+mn-ea"/>
              </a:rPr>
              <a:t> 30B </a:t>
            </a:r>
            <a:r>
              <a:rPr lang="zh-CN" altLang="en-US">
                <a:sym typeface="+mn-ea"/>
              </a:rPr>
              <a:t>参数摘要模型（基于</a:t>
            </a:r>
            <a:r>
              <a:rPr lang="en-US" altLang="zh-CN">
                <a:sym typeface="+mn-ea"/>
              </a:rPr>
              <a:t> Qwen3-30B-A3B-Thinking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训练目标：从嘈杂、冗长的</a:t>
            </a:r>
            <a:r>
              <a:rPr lang="en-US" altLang="zh-CN">
                <a:sym typeface="+mn-ea"/>
              </a:rPr>
              <a:t> Web </a:t>
            </a:r>
            <a:r>
              <a:rPr lang="zh-CN" altLang="en-US">
                <a:sym typeface="+mn-ea"/>
              </a:rPr>
              <a:t>搜索交互中提取</a:t>
            </a:r>
            <a:r>
              <a:rPr lang="en-US" altLang="zh-CN">
                <a:sym typeface="+mn-ea"/>
              </a:rPr>
              <a:t> **</a:t>
            </a:r>
            <a:r>
              <a:rPr lang="zh-CN" altLang="en-US">
                <a:sym typeface="+mn-ea"/>
              </a:rPr>
              <a:t>关键证据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、识别</a:t>
            </a:r>
            <a:r>
              <a:rPr lang="en-US" altLang="zh-CN">
                <a:sym typeface="+mn-ea"/>
              </a:rPr>
              <a:t> **</a:t>
            </a:r>
            <a:r>
              <a:rPr lang="zh-CN" altLang="en-US">
                <a:sym typeface="+mn-ea"/>
              </a:rPr>
              <a:t>信息缺口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、提出</a:t>
            </a:r>
            <a:r>
              <a:rPr lang="en-US" altLang="zh-CN">
                <a:sym typeface="+mn-ea"/>
              </a:rPr>
              <a:t> **</a:t>
            </a:r>
            <a:r>
              <a:rPr lang="zh-CN" altLang="en-US">
                <a:sym typeface="+mn-ea"/>
              </a:rPr>
              <a:t>可操作的下一步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2. **ReSum-GRPO**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一种基于</a:t>
            </a:r>
            <a:r>
              <a:rPr lang="en-US" altLang="zh-CN">
                <a:sym typeface="+mn-ea"/>
              </a:rPr>
              <a:t> **GRPO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Group Relative Policy Optimization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 </a:t>
            </a:r>
            <a:r>
              <a:rPr lang="zh-CN" altLang="en-US">
                <a:sym typeface="+mn-ea"/>
              </a:rPr>
              <a:t>的强化学习算法，用于让智能体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适应摘要条件下的推理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创新点：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    + **</a:t>
            </a:r>
            <a:r>
              <a:rPr lang="zh-CN" altLang="en-US">
                <a:sym typeface="+mn-ea"/>
              </a:rPr>
              <a:t>轨迹分段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：每次摘要后，将长轨迹自然划分为多个片段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    + **</a:t>
            </a:r>
            <a:r>
              <a:rPr lang="zh-CN" altLang="en-US">
                <a:sym typeface="+mn-ea"/>
              </a:rPr>
              <a:t>优势广播（</a:t>
            </a:r>
            <a:r>
              <a:rPr lang="en-US" altLang="zh-CN">
                <a:sym typeface="+mn-ea"/>
              </a:rPr>
              <a:t>Advantage Broadcasting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：将整个轨迹的最终奖励（或优势）广播到所有分段，鼓励智能体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        - </a:t>
            </a:r>
            <a:r>
              <a:rPr lang="zh-CN" altLang="en-US">
                <a:sym typeface="+mn-ea"/>
              </a:rPr>
              <a:t>有效利用摘要继续推理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        - </a:t>
            </a:r>
            <a:r>
              <a:rPr lang="zh-CN" altLang="en-US">
                <a:sym typeface="+mn-ea"/>
              </a:rPr>
              <a:t>收集易于被摘要的信息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12 **AgentFold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当前主流的</a:t>
            </a:r>
            <a:r>
              <a:rPr lang="en-US" altLang="zh-CN">
                <a:sym typeface="+mn-ea"/>
              </a:rPr>
              <a:t> LLM </a:t>
            </a:r>
            <a:r>
              <a:rPr lang="zh-CN" altLang="en-US">
                <a:sym typeface="+mn-ea"/>
              </a:rPr>
              <a:t>网络智能体（如基于</a:t>
            </a:r>
            <a:r>
              <a:rPr lang="en-US" altLang="zh-CN">
                <a:sym typeface="+mn-ea"/>
              </a:rPr>
              <a:t> ReAct </a:t>
            </a:r>
            <a:r>
              <a:rPr lang="zh-CN" altLang="en-US">
                <a:sym typeface="+mn-ea"/>
              </a:rPr>
              <a:t>范式）在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长视野任务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long-horizon tasks</a:t>
            </a:r>
            <a:r>
              <a:rPr lang="zh-CN" altLang="en-US">
                <a:sym typeface="+mn-ea"/>
              </a:rPr>
              <a:t>）中面临严重挑战：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上下文饱和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Context Saturation</a:t>
            </a:r>
            <a:r>
              <a:rPr lang="zh-CN" altLang="en-US">
                <a:sym typeface="+mn-ea"/>
              </a:rPr>
              <a:t>）：</a:t>
            </a:r>
            <a:r>
              <a:rPr lang="en-US" altLang="zh-CN">
                <a:sym typeface="+mn-ea"/>
              </a:rPr>
              <a:t>ReAct </a:t>
            </a:r>
            <a:r>
              <a:rPr lang="zh-CN" altLang="en-US">
                <a:sym typeface="+mn-ea"/>
              </a:rPr>
              <a:t>类智能体不断追加历史动作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观察记录，导致上下文冗长、噪声累积，关键信息被淹没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信息丢失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Information Loss</a:t>
            </a:r>
            <a:r>
              <a:rPr lang="zh-CN" altLang="en-US">
                <a:sym typeface="+mn-ea"/>
              </a:rPr>
              <a:t>）：一些方法在每一步都对全部历史做摘要，但这种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机械式压缩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容易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不可逆地丢失关键细节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主动式上下文折叠（</a:t>
            </a:r>
            <a:r>
              <a:rPr lang="en-US" altLang="zh-CN">
                <a:sym typeface="+mn-ea"/>
              </a:rPr>
              <a:t>Proactive Context Folding</a:t>
            </a:r>
            <a:r>
              <a:rPr lang="zh-CN" altLang="en-US">
                <a:sym typeface="+mn-ea"/>
              </a:rPr>
              <a:t>）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它在每一步决策时，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同时输出两个内容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1. **</a:t>
            </a:r>
            <a:r>
              <a:rPr lang="zh-CN" altLang="en-US">
                <a:sym typeface="+mn-ea"/>
              </a:rPr>
              <a:t>下一步的工具调用（</a:t>
            </a:r>
            <a:r>
              <a:rPr lang="en-US" altLang="zh-CN">
                <a:sym typeface="+mn-ea"/>
              </a:rPr>
              <a:t>action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2. **</a:t>
            </a:r>
            <a:r>
              <a:rPr lang="zh-CN" altLang="en-US">
                <a:sym typeface="+mn-ea"/>
              </a:rPr>
              <a:t>一个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折叠指令（</a:t>
            </a:r>
            <a:r>
              <a:rPr lang="en-US" altLang="zh-CN">
                <a:sym typeface="+mn-ea"/>
              </a:rPr>
              <a:t>folding directive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”**</a:t>
            </a:r>
            <a:r>
              <a:rPr lang="zh-CN" altLang="en-US">
                <a:sym typeface="+mn-ea"/>
              </a:rPr>
              <a:t>，用于主动整理历史上下文。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折叠操作支持两种粒度：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**</a:t>
            </a:r>
            <a:r>
              <a:rPr lang="zh-CN" altLang="en-US">
                <a:sym typeface="+mn-ea"/>
              </a:rPr>
              <a:t>细粒度压缩（</a:t>
            </a:r>
            <a:r>
              <a:rPr lang="en-US" altLang="zh-CN">
                <a:sym typeface="+mn-ea"/>
              </a:rPr>
              <a:t>Granular Condensation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：将最新一步的交互压缩为一个简洁的状态摘要（保留细节）。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**</a:t>
            </a:r>
            <a:r>
              <a:rPr lang="zh-CN" altLang="en-US">
                <a:sym typeface="+mn-ea"/>
              </a:rPr>
              <a:t>深度整合（</a:t>
            </a:r>
            <a:r>
              <a:rPr lang="en-US" altLang="zh-CN">
                <a:sym typeface="+mn-ea"/>
              </a:rPr>
              <a:t>Deep Consolidation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：将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多步历史（如一个子任务）</a:t>
            </a:r>
            <a:r>
              <a:rPr lang="en-US" altLang="zh-CN">
                <a:sym typeface="+mn-ea"/>
              </a:rPr>
              <a:t>** </a:t>
            </a:r>
            <a:r>
              <a:rPr lang="zh-CN" altLang="en-US">
                <a:sym typeface="+mn-ea"/>
              </a:rPr>
              <a:t>抽象为一个高层总结（去除噪声、保留结论）。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AgentFold </a:t>
            </a:r>
            <a:r>
              <a:rPr lang="zh-CN" altLang="en-US">
                <a:sym typeface="+mn-ea"/>
              </a:rPr>
              <a:t>的上下文被显式划分为：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**</a:t>
            </a:r>
            <a:r>
              <a:rPr lang="zh-CN" altLang="en-US">
                <a:sym typeface="+mn-ea"/>
              </a:rPr>
              <a:t>用户问题（</a:t>
            </a:r>
            <a:r>
              <a:rPr lang="en-US" altLang="zh-CN">
                <a:sym typeface="+mn-ea"/>
              </a:rPr>
              <a:t>Question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**</a:t>
            </a:r>
            <a:r>
              <a:rPr lang="zh-CN" altLang="en-US">
                <a:sym typeface="+mn-ea"/>
              </a:rPr>
              <a:t>可用工具（</a:t>
            </a:r>
            <a:r>
              <a:rPr lang="en-US" altLang="zh-CN">
                <a:sym typeface="+mn-ea"/>
              </a:rPr>
              <a:t>Tools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**</a:t>
            </a:r>
            <a:r>
              <a:rPr lang="zh-CN" altLang="en-US">
                <a:sym typeface="+mn-ea"/>
              </a:rPr>
              <a:t>多尺度状态摘要（</a:t>
            </a:r>
            <a:r>
              <a:rPr lang="en-US" altLang="zh-CN">
                <a:sym typeface="+mn-ea"/>
              </a:rPr>
              <a:t>Multi-Scale State Summaries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：长期记忆，由不同粒度的压缩块组成。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**</a:t>
            </a:r>
            <a:r>
              <a:rPr lang="zh-CN" altLang="en-US">
                <a:sym typeface="+mn-ea"/>
              </a:rPr>
              <a:t>最新交互（</a:t>
            </a:r>
            <a:r>
              <a:rPr lang="en-US" altLang="zh-CN">
                <a:sym typeface="+mn-ea"/>
              </a:rPr>
              <a:t>Latest Interaction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：短期工作记忆，包含上一步完整的解释、动作与观测。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16 ParallelMuse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主要针对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深度信息搜寻（</a:t>
            </a:r>
            <a:r>
              <a:rPr lang="en-US" altLang="zh-CN">
                <a:sym typeface="+mn-ea"/>
              </a:rPr>
              <a:t>Deep Information-Seeking, IS</a:t>
            </a:r>
            <a:r>
              <a:rPr lang="zh-CN" altLang="en-US">
                <a:sym typeface="+mn-ea"/>
              </a:rPr>
              <a:t>）智能体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在使用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并行思维（</a:t>
            </a:r>
            <a:r>
              <a:rPr lang="en-US" altLang="zh-CN">
                <a:sym typeface="+mn-ea"/>
              </a:rPr>
              <a:t>Parallel Thinking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时所面临的两个核心挑战，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并行思维（</a:t>
            </a:r>
            <a:r>
              <a:rPr lang="en-US" altLang="zh-CN">
                <a:sym typeface="+mn-ea"/>
              </a:rPr>
              <a:t>Parallel Thinking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 </a:t>
            </a:r>
            <a:r>
              <a:rPr lang="zh-CN" altLang="en-US">
                <a:sym typeface="+mn-ea"/>
              </a:rPr>
              <a:t>是一种测试时缩放（</a:t>
            </a:r>
            <a:r>
              <a:rPr lang="en-US" altLang="zh-CN">
                <a:sym typeface="+mn-ea"/>
              </a:rPr>
              <a:t>test-time scaling</a:t>
            </a:r>
            <a:r>
              <a:rPr lang="zh-CN" altLang="en-US">
                <a:sym typeface="+mn-ea"/>
              </a:rPr>
              <a:t>）策略：通过生成多条推理路径（轨迹），再聚合生成最终答案，以提升性能。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**</a:t>
            </a:r>
            <a:r>
              <a:rPr lang="zh-CN" altLang="en-US">
                <a:sym typeface="+mn-ea"/>
              </a:rPr>
              <a:t>动机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Deep IS </a:t>
            </a:r>
            <a:r>
              <a:rPr lang="zh-CN" altLang="en-US">
                <a:sym typeface="+mn-ea"/>
              </a:rPr>
              <a:t>智能体生成的内容包含两类功能区域：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**</a:t>
            </a:r>
            <a:r>
              <a:rPr lang="zh-CN" altLang="en-US">
                <a:sym typeface="+mn-ea"/>
              </a:rPr>
              <a:t>推理（</a:t>
            </a:r>
            <a:r>
              <a:rPr lang="en-US" altLang="zh-CN">
                <a:sym typeface="+mn-ea"/>
              </a:rPr>
              <a:t>Reasoning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：内部思考逻辑；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**</a:t>
            </a:r>
            <a:r>
              <a:rPr lang="zh-CN" altLang="en-US">
                <a:sym typeface="+mn-ea"/>
              </a:rPr>
              <a:t>探索（</a:t>
            </a:r>
            <a:r>
              <a:rPr lang="en-US" altLang="zh-CN">
                <a:sym typeface="+mn-ea"/>
              </a:rPr>
              <a:t>Exploration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：工具调用（如</a:t>
            </a:r>
            <a:r>
              <a:rPr lang="en-US" altLang="zh-CN">
                <a:sym typeface="+mn-ea"/>
              </a:rPr>
              <a:t> Search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Visit</a:t>
            </a:r>
            <a:r>
              <a:rPr lang="zh-CN" altLang="en-US">
                <a:sym typeface="+mn-ea"/>
              </a:rPr>
              <a:t>）。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</a:t>
            </a:r>
            <a:r>
              <a:rPr lang="zh-CN" altLang="en-US">
                <a:sym typeface="+mn-ea"/>
              </a:rPr>
              <a:t>这两类区域的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不确定性（</a:t>
            </a:r>
            <a:r>
              <a:rPr lang="en-US" altLang="zh-CN">
                <a:sym typeface="+mn-ea"/>
              </a:rPr>
              <a:t>uncertainty</a:t>
            </a:r>
            <a:r>
              <a:rPr lang="zh-CN" altLang="en-US">
                <a:sym typeface="+mn-ea"/>
              </a:rPr>
              <a:t>）模式不同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（见图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探索不确定性早期高（因缺乏外部信息），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推理不确定性稍晚达到峰值（整合信息时最不确定）。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做法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先生成少量初始轨迹；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按功能区域分别计算每步的困惑度（</a:t>
            </a:r>
            <a:r>
              <a:rPr lang="en-US" altLang="zh-CN">
                <a:sym typeface="+mn-ea"/>
              </a:rPr>
              <a:t>PPL</a:t>
            </a:r>
            <a:r>
              <a:rPr lang="zh-CN" altLang="en-US">
                <a:sym typeface="+mn-ea"/>
              </a:rPr>
              <a:t>）作为不确定性指标；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在高不确定性步骤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选择性分支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branching</a:t>
            </a:r>
            <a:r>
              <a:rPr lang="zh-CN" altLang="en-US">
                <a:sym typeface="+mn-ea"/>
              </a:rPr>
              <a:t>），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复用</a:t>
            </a:r>
            <a:r>
              <a:rPr lang="en-US" altLang="zh-CN">
                <a:sym typeface="+mn-ea"/>
              </a:rPr>
              <a:t> KV </a:t>
            </a:r>
            <a:r>
              <a:rPr lang="zh-CN" altLang="en-US">
                <a:sym typeface="+mn-ea"/>
              </a:rPr>
              <a:t>缓存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避免重复计算；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异步并行生成新轨迹，提升探索效率。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效果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：减少</a:t>
            </a:r>
            <a:r>
              <a:rPr lang="en-US" altLang="zh-CN">
                <a:sym typeface="+mn-ea"/>
              </a:rPr>
              <a:t> 10–30% </a:t>
            </a:r>
            <a:r>
              <a:rPr lang="zh-CN" altLang="en-US">
                <a:sym typeface="+mn-ea"/>
              </a:rPr>
              <a:t>的探索</a:t>
            </a:r>
            <a:r>
              <a:rPr lang="en-US" altLang="zh-CN">
                <a:sym typeface="+mn-ea"/>
              </a:rPr>
              <a:t> token </a:t>
            </a:r>
            <a:r>
              <a:rPr lang="zh-CN" altLang="en-US">
                <a:sym typeface="+mn-ea"/>
              </a:rPr>
              <a:t>消耗，同时提升路径多样性。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压缩推理聚合（</a:t>
            </a:r>
            <a:r>
              <a:rPr lang="en-US" altLang="zh-CN">
                <a:sym typeface="+mn-ea"/>
              </a:rPr>
              <a:t>Compressed Reasoning Aggregation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动机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：实验发现，智能体探索的实体中，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绝大多数与最终答案无关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（冗余率高达</a:t>
            </a:r>
            <a:r>
              <a:rPr lang="en-US" altLang="zh-CN">
                <a:sym typeface="+mn-ea"/>
              </a:rPr>
              <a:t> 75–98%</a:t>
            </a:r>
            <a:r>
              <a:rPr lang="zh-CN" altLang="en-US">
                <a:sym typeface="+mn-ea"/>
              </a:rPr>
              <a:t>，见图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），说明轨迹可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无损压缩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做法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将每条完整轨迹压缩为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结构化报告（</a:t>
            </a:r>
            <a:r>
              <a:rPr lang="en-US" altLang="zh-CN">
                <a:sym typeface="+mn-ea"/>
              </a:rPr>
              <a:t>structured report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，仅保留三类关键信息：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    1. **</a:t>
            </a:r>
            <a:r>
              <a:rPr lang="zh-CN" altLang="en-US">
                <a:sym typeface="+mn-ea"/>
              </a:rPr>
              <a:t>问题分解计划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Solution Planning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    2. **</a:t>
            </a:r>
            <a:r>
              <a:rPr lang="zh-CN" altLang="en-US">
                <a:sym typeface="+mn-ea"/>
              </a:rPr>
              <a:t>工具调用与子答案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Solution Methods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    3. **</a:t>
            </a:r>
            <a:r>
              <a:rPr lang="zh-CN" altLang="en-US">
                <a:sym typeface="+mn-ea"/>
              </a:rPr>
              <a:t>最终推理链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Final Reasoning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聚合阶段将所有压缩报告输入模型，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基于完整推理逻辑生成答案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，而非仅看最终答案或投票。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优势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上下文占用减少</a:t>
            </a:r>
            <a:r>
              <a:rPr lang="en-US" altLang="zh-CN">
                <a:sym typeface="+mn-ea"/>
              </a:rPr>
              <a:t> **</a:t>
            </a:r>
            <a:r>
              <a:rPr lang="zh-CN" altLang="en-US">
                <a:sym typeface="+mn-ea"/>
              </a:rPr>
              <a:t>高达</a:t>
            </a:r>
            <a:r>
              <a:rPr lang="en-US" altLang="zh-CN">
                <a:sym typeface="+mn-ea"/>
              </a:rPr>
              <a:t> 99%**</a:t>
            </a:r>
            <a:r>
              <a:rPr lang="zh-CN" altLang="en-US">
                <a:sym typeface="+mn-ea"/>
              </a:rPr>
              <a:t>（图</a:t>
            </a: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）；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避免多数投票偏差（</a:t>
            </a:r>
            <a:r>
              <a:rPr lang="en-US" altLang="zh-CN">
                <a:sym typeface="+mn-ea"/>
              </a:rPr>
              <a:t>majority bias</a:t>
            </a:r>
            <a:r>
              <a:rPr lang="zh-CN" altLang="en-US">
                <a:sym typeface="+mn-ea"/>
              </a:rPr>
              <a:t>）和置信度校准问题；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    * </a:t>
            </a:r>
            <a:r>
              <a:rPr lang="zh-CN" altLang="en-US">
                <a:sym typeface="+mn-ea"/>
              </a:rPr>
              <a:t>更可靠地评估推理一致性。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14 **BrowseConf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尽管模型普遍存在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过度自信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overconfidence</a:t>
            </a:r>
            <a:r>
              <a:rPr lang="zh-CN" altLang="en-US">
                <a:sym typeface="+mn-ea"/>
              </a:rPr>
              <a:t>）现象（如报告</a:t>
            </a:r>
            <a:r>
              <a:rPr lang="en-US" altLang="zh-CN">
                <a:sym typeface="+mn-ea"/>
              </a:rPr>
              <a:t>90%</a:t>
            </a:r>
            <a:r>
              <a:rPr lang="zh-CN" altLang="en-US">
                <a:sym typeface="+mn-ea"/>
              </a:rPr>
              <a:t>置信度但实际准确率仅</a:t>
            </a:r>
            <a:r>
              <a:rPr lang="en-US" altLang="zh-CN">
                <a:sym typeface="+mn-ea"/>
              </a:rPr>
              <a:t>50%</a:t>
            </a:r>
            <a:r>
              <a:rPr lang="zh-CN" altLang="en-US">
                <a:sym typeface="+mn-ea"/>
              </a:rPr>
              <a:t>），但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置信度与任务准确率之间存在强正相关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高置信度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（如</a:t>
            </a:r>
            <a:r>
              <a:rPr lang="en-US" altLang="zh-CN">
                <a:sym typeface="+mn-ea"/>
              </a:rPr>
              <a:t>&gt;95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准确率显著高于平均水平；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    - **</a:t>
            </a:r>
            <a:r>
              <a:rPr lang="zh-CN" altLang="en-US">
                <a:sym typeface="+mn-ea"/>
              </a:rPr>
              <a:t>低置信度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（如</a:t>
            </a:r>
            <a:r>
              <a:rPr lang="en-US" altLang="zh-CN">
                <a:sym typeface="+mn-ea"/>
              </a:rPr>
              <a:t>&lt;70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准确率接近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种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置信度引导的测试时扩展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TTS</a:t>
            </a:r>
            <a:r>
              <a:rPr lang="zh-CN" altLang="en-US">
                <a:sym typeface="+mn-ea"/>
              </a:rPr>
              <a:t>）策略：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</a:t>
            </a:r>
            <a:r>
              <a:rPr lang="zh-CN" altLang="en-US">
                <a:sym typeface="+mn-ea"/>
              </a:rPr>
              <a:t>模型在每次尝试（</a:t>
            </a:r>
            <a:r>
              <a:rPr lang="en-US" altLang="zh-CN">
                <a:sym typeface="+mn-ea"/>
              </a:rPr>
              <a:t>attempt</a:t>
            </a:r>
            <a:r>
              <a:rPr lang="zh-CN" altLang="en-US">
                <a:sym typeface="+mn-ea"/>
              </a:rPr>
              <a:t>）后输出一个</a:t>
            </a:r>
            <a:r>
              <a:rPr lang="en-US" altLang="zh-CN">
                <a:sym typeface="+mn-ea"/>
              </a:rPr>
              <a:t> 0–100 </a:t>
            </a:r>
            <a:r>
              <a:rPr lang="zh-CN" altLang="en-US">
                <a:sym typeface="+mn-ea"/>
              </a:rPr>
              <a:t>的置信分；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</a:t>
            </a:r>
            <a:r>
              <a:rPr lang="zh-CN" altLang="en-US">
                <a:sym typeface="+mn-ea"/>
              </a:rPr>
              <a:t>若置信分</a:t>
            </a:r>
            <a:r>
              <a:rPr lang="en-US" altLang="zh-CN">
                <a:sym typeface="+mn-ea"/>
              </a:rPr>
              <a:t> &lt; </a:t>
            </a:r>
            <a:r>
              <a:rPr lang="zh-CN" altLang="en-US">
                <a:sym typeface="+mn-ea"/>
              </a:rPr>
              <a:t>预设阈值</a:t>
            </a:r>
            <a:r>
              <a:rPr lang="en-US" altLang="zh-CN">
                <a:sym typeface="+mn-ea"/>
              </a:rPr>
              <a:t> τ</a:t>
            </a:r>
            <a:r>
              <a:rPr lang="zh-CN" altLang="en-US">
                <a:sym typeface="+mn-ea"/>
              </a:rPr>
              <a:t>，则触发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新一轮尝试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；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</a:t>
            </a:r>
            <a:r>
              <a:rPr lang="zh-CN" altLang="en-US">
                <a:sym typeface="+mn-ea"/>
              </a:rPr>
              <a:t>最多尝试</a:t>
            </a:r>
            <a:r>
              <a:rPr lang="en-US" altLang="zh-CN">
                <a:sym typeface="+mn-ea"/>
              </a:rPr>
              <a:t> N </a:t>
            </a:r>
            <a:r>
              <a:rPr lang="zh-CN" altLang="en-US">
                <a:sym typeface="+mn-ea"/>
              </a:rPr>
              <a:t>次（如</a:t>
            </a:r>
            <a:r>
              <a:rPr lang="en-US" altLang="zh-CN">
                <a:sym typeface="+mn-ea"/>
              </a:rPr>
              <a:t> N=10</a:t>
            </a:r>
            <a:r>
              <a:rPr lang="zh-CN" altLang="en-US">
                <a:sym typeface="+mn-ea"/>
              </a:rPr>
              <a:t>）；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+ </a:t>
            </a:r>
            <a:r>
              <a:rPr lang="zh-CN" altLang="en-US">
                <a:sym typeface="+mn-ea"/>
              </a:rPr>
              <a:t>最终返回：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首个达到阈值的答案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，或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所有尝试中置信度最高的答案</a:t>
            </a:r>
            <a:r>
              <a:rPr lang="en-US" altLang="zh-CN">
                <a:sym typeface="+mn-ea"/>
              </a:rPr>
              <a:t>**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https://arxiv.org/pdf/2508.05748</a:t>
            </a:r>
            <a:endParaRPr lang="en-US" altLang="zh-CN"/>
          </a:p>
          <a:p>
            <a:r>
              <a:rPr lang="zh-CN" altLang="en-US"/>
              <a:t>开拓视觉</a:t>
            </a:r>
            <a:r>
              <a:rPr lang="en-US" altLang="zh-CN"/>
              <a:t>-</a:t>
            </a:r>
            <a:r>
              <a:rPr lang="zh-CN" altLang="en-US"/>
              <a:t>语言深度研究智能体的新前沿</a:t>
            </a:r>
            <a:endParaRPr lang="zh-CN" altLang="en-US"/>
          </a:p>
          <a:p>
            <a:r>
              <a:rPr lang="zh-CN" altLang="en-US"/>
              <a:t>研究经验</a:t>
            </a:r>
            <a:r>
              <a:rPr lang="zh-CN" altLang="en-US"/>
              <a:t>分享，而不是提出特别创新的</a:t>
            </a:r>
            <a:r>
              <a:rPr lang="zh-CN" altLang="en-US"/>
              <a:t>方法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当前许多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深度研究（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 Research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）智能体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在处理复杂任务（如复杂信息检索、问题回答等）时已经有很好的表现，但这些工作基本上是文本为中心的，这就意味着：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忽略了现实世界中的视觉信息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多模态场景下需要：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-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图像理解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-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跨模态推理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-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多工具协作能力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而这些能力对于真实信息检索、理解复杂网页、图表等任务至今仍较弱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penguin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：企鹅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seagull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：海鸥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/>
              <a:t> Atlantic puffin</a:t>
            </a:r>
            <a:r>
              <a:rPr lang="zh-CN" altLang="en-US"/>
              <a:t>：大西洋海雀</a:t>
            </a:r>
            <a:r>
              <a:rPr lang="en-US" altLang="zh-CN"/>
              <a:t>   </a:t>
            </a:r>
            <a:r>
              <a:rPr lang="zh-CN" altLang="en-US"/>
              <a:t>一定要依靠图像才能解决</a:t>
            </a:r>
            <a:r>
              <a:rPr lang="zh-CN" altLang="en-US"/>
              <a:t>问题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在所提供图片中该动物的维基百科页面上，</a:t>
            </a:r>
            <a:r>
              <a:rPr lang="en-US" altLang="zh-CN"/>
              <a:t>2020</a:t>
            </a:r>
            <a:r>
              <a:rPr lang="zh-CN" altLang="en-US"/>
              <a:t>年之前有多少次修订带有</a:t>
            </a:r>
            <a:r>
              <a:rPr lang="en-US" altLang="zh-CN"/>
              <a:t>“visual edit”</a:t>
            </a:r>
            <a:r>
              <a:rPr lang="zh-CN" altLang="en-US"/>
              <a:t>（可视化编辑）标签？</a:t>
            </a:r>
            <a:r>
              <a:rPr lang="en-US" altLang="zh-CN"/>
              <a:t> </a:t>
            </a:r>
            <a:r>
              <a:rPr lang="zh-CN" altLang="en-US"/>
              <a:t>工具使用不当，依赖浅层问题分解，且缺乏深度推理能力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普通</a:t>
            </a:r>
            <a:r>
              <a:rPr lang="en-US" altLang="zh-CN"/>
              <a:t> VL Agent</a:t>
            </a:r>
            <a:r>
              <a:rPr lang="zh-CN" altLang="en-US"/>
              <a:t>：过度依赖局部视觉特征，错误实体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后续全部错误（过度依赖边缘</a:t>
            </a:r>
            <a:r>
              <a:rPr lang="en-US" altLang="zh-CN"/>
              <a:t>/</a:t>
            </a:r>
            <a:r>
              <a:rPr lang="zh-CN" altLang="en-US"/>
              <a:t>纹理层面的推断，放大了后续工具调用中的错误）</a:t>
            </a:r>
            <a:r>
              <a:rPr lang="en-US" altLang="zh-CN"/>
              <a:t> pelican</a:t>
            </a:r>
            <a:r>
              <a:rPr lang="zh-CN" altLang="en-US"/>
              <a:t>：鹈鹕</a:t>
            </a:r>
            <a:endParaRPr lang="zh-CN" altLang="en-US"/>
          </a:p>
          <a:p>
            <a:r>
              <a:rPr lang="zh-CN" altLang="en-US"/>
              <a:t>以视觉为锚点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多步工具化研究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证据汇总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交叉验证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精确回答（真正的多步推理能力，配合恰当的工具使用与交叉验证）</a:t>
            </a:r>
            <a:endParaRPr lang="zh-CN" altLang="en-US"/>
          </a:p>
          <a:p>
            <a:r>
              <a:rPr lang="zh-CN" altLang="en-US">
                <a:sym typeface="+mn-ea"/>
              </a:rPr>
              <a:t>工具使用不当，依赖浅层问题分解，且缺乏深度推理能力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这个问题需不需要视觉信息？需不需要外部事实验证？需要几个子问题？</a:t>
            </a:r>
            <a:endParaRPr lang="zh-CN" altLang="en-US"/>
          </a:p>
          <a:p>
            <a:r>
              <a:rPr lang="en-US" altLang="zh-CN"/>
              <a:t>ImageSearch</a:t>
            </a:r>
            <a:r>
              <a:rPr lang="zh-CN" altLang="en-US"/>
              <a:t>搜索相关图片，</a:t>
            </a:r>
            <a:r>
              <a:rPr lang="en-US" altLang="zh-CN"/>
              <a:t>OCR</a:t>
            </a:r>
            <a:r>
              <a:rPr lang="zh-CN" altLang="en-US"/>
              <a:t>从图片中提取文字信息，</a:t>
            </a:r>
            <a:r>
              <a:rPr lang="en-US" altLang="zh-CN"/>
              <a:t>VisualDiff</a:t>
            </a:r>
            <a:r>
              <a:rPr lang="zh-CN" altLang="en-US"/>
              <a:t>比较多张图之间的差异，</a:t>
            </a:r>
            <a:r>
              <a:rPr lang="en-US" altLang="zh-CN"/>
              <a:t>ImageVisit</a:t>
            </a:r>
            <a:r>
              <a:rPr lang="zh-CN" altLang="en-US"/>
              <a:t>深入查看某一张关键图片对应的页面，</a:t>
            </a:r>
            <a:r>
              <a:rPr lang="en-US" altLang="zh-CN"/>
              <a:t>WebSearch</a:t>
            </a:r>
            <a:r>
              <a:rPr lang="zh-CN" altLang="en-US"/>
              <a:t>文本层面的外部检索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数独</a:t>
            </a:r>
            <a:r>
              <a:rPr lang="zh-CN" altLang="en-US"/>
              <a:t>问题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种子问题：哪一种蛇是以</a:t>
            </a:r>
            <a:r>
              <a:rPr lang="en-US" altLang="zh-CN"/>
              <a:t> James Roy Kinghorn </a:t>
            </a:r>
            <a:r>
              <a:rPr lang="zh-CN" altLang="en-US"/>
              <a:t>命名的？</a:t>
            </a:r>
            <a:r>
              <a:rPr lang="en-US" altLang="zh-CN"/>
              <a:t>”  </a:t>
            </a:r>
            <a:r>
              <a:rPr lang="zh-CN" altLang="en-US"/>
              <a:t>澳大利亚灌木蟒</a:t>
            </a:r>
            <a:endParaRPr lang="zh-CN" altLang="en-US"/>
          </a:p>
          <a:p>
            <a:r>
              <a:rPr lang="en-US" altLang="zh-CN"/>
              <a:t>level 1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他出生在图中所展示的地方，并经常出现在</a:t>
            </a:r>
            <a:r>
              <a:rPr lang="en-US" altLang="zh-CN"/>
              <a:t> 1950 </a:t>
            </a:r>
            <a:r>
              <a:rPr lang="zh-CN" altLang="en-US"/>
              <a:t>年代的电视剧《</a:t>
            </a:r>
            <a:r>
              <a:rPr lang="en-US" altLang="zh-CN"/>
              <a:t>Captain Fortune Show</a:t>
            </a:r>
            <a:r>
              <a:rPr lang="zh-CN" altLang="en-US"/>
              <a:t>》中。</a:t>
            </a:r>
            <a:endParaRPr lang="zh-CN" altLang="en-US"/>
          </a:p>
          <a:p>
            <a:r>
              <a:rPr lang="zh-CN" altLang="en-US"/>
              <a:t>他的出生地以被列入文化遗产名录的邮局，以及霍克斯伯里农业学院（建于</a:t>
            </a:r>
            <a:r>
              <a:rPr lang="en-US" altLang="zh-CN"/>
              <a:t> 1891 </a:t>
            </a:r>
            <a:r>
              <a:rPr lang="zh-CN" altLang="en-US"/>
              <a:t>年）而闻名。</a:t>
            </a:r>
            <a:endParaRPr lang="zh-CN" altLang="en-US"/>
          </a:p>
          <a:p>
            <a:r>
              <a:rPr lang="zh-CN" altLang="en-US"/>
              <a:t>那么，以他名字命名的蛇的俗称是什么？</a:t>
            </a:r>
            <a:endParaRPr lang="zh-CN" altLang="en-US"/>
          </a:p>
          <a:p>
            <a:r>
              <a:rPr lang="en-US" altLang="zh-CN"/>
              <a:t>Level 2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一位著名的动物学家，出生在图中所示地点（一个牧师家庭），因其在</a:t>
            </a:r>
            <a:r>
              <a:rPr lang="en-US" altLang="zh-CN"/>
              <a:t> 1950 </a:t>
            </a:r>
            <a:r>
              <a:rPr lang="zh-CN" altLang="en-US"/>
              <a:t>年代电视节目中的野生动物教育而闻名。那么，以他命名的蛇的俗称是什么？</a:t>
            </a:r>
            <a:endParaRPr lang="zh-CN" altLang="en-US"/>
          </a:p>
          <a:p>
            <a:r>
              <a:rPr lang="en-US" altLang="zh-CN"/>
              <a:t>  - </a:t>
            </a:r>
            <a:r>
              <a:rPr lang="zh-CN" altLang="en-US"/>
              <a:t>为每个目标实体（答案相关）检索</a:t>
            </a:r>
            <a:r>
              <a:rPr lang="en-US" altLang="zh-CN"/>
              <a:t> 2 </a:t>
            </a:r>
            <a:r>
              <a:rPr lang="zh-CN" altLang="en-US"/>
              <a:t>张真实网络图像（通过</a:t>
            </a:r>
            <a:r>
              <a:rPr lang="en-US" altLang="zh-CN"/>
              <a:t> Google SerpApi</a:t>
            </a:r>
            <a:r>
              <a:rPr lang="zh-CN" altLang="en-US"/>
              <a:t>），确保视觉真实性</a:t>
            </a:r>
            <a:endParaRPr lang="zh-CN" altLang="en-US"/>
          </a:p>
          <a:p>
            <a:r>
              <a:rPr lang="en-US" altLang="zh-CN"/>
              <a:t>  - </a:t>
            </a:r>
            <a:r>
              <a:rPr lang="zh-CN" altLang="en-US"/>
              <a:t>使用</a:t>
            </a:r>
            <a:r>
              <a:rPr lang="en-US" altLang="zh-CN"/>
              <a:t> GPT-4o </a:t>
            </a:r>
            <a:r>
              <a:rPr lang="zh-CN" altLang="en-US"/>
              <a:t>将文本问题中的实体替换为视觉指代表达（如</a:t>
            </a:r>
            <a:r>
              <a:rPr lang="en-US" altLang="zh-CN"/>
              <a:t>“</a:t>
            </a:r>
            <a:r>
              <a:rPr lang="zh-CN" altLang="en-US"/>
              <a:t>图中的这个车站</a:t>
            </a:r>
            <a:r>
              <a:rPr lang="en-US" altLang="zh-CN"/>
              <a:t>”</a:t>
            </a:r>
            <a:r>
              <a:rPr lang="zh-CN" altLang="en-US"/>
              <a:t>），生成图像锚定的</a:t>
            </a:r>
            <a:r>
              <a:rPr lang="en-US" altLang="zh-CN"/>
              <a:t> VQA </a:t>
            </a:r>
            <a:r>
              <a:rPr lang="zh-CN" altLang="en-US"/>
              <a:t>问题</a:t>
            </a:r>
            <a:endParaRPr lang="zh-CN" altLang="en-US"/>
          </a:p>
          <a:p>
            <a:r>
              <a:rPr lang="en-US" altLang="zh-CN"/>
              <a:t>  - </a:t>
            </a:r>
            <a:r>
              <a:rPr lang="zh-CN" altLang="en-US"/>
              <a:t>每个文本</a:t>
            </a:r>
            <a:r>
              <a:rPr lang="en-US" altLang="zh-CN"/>
              <a:t> QA </a:t>
            </a:r>
            <a:r>
              <a:rPr lang="zh-CN" altLang="en-US"/>
              <a:t>生成</a:t>
            </a:r>
            <a:r>
              <a:rPr lang="en-US" altLang="zh-CN"/>
              <a:t> K=2 </a:t>
            </a:r>
            <a:r>
              <a:rPr lang="zh-CN" altLang="en-US"/>
              <a:t>个</a:t>
            </a:r>
            <a:r>
              <a:rPr lang="en-US" altLang="zh-CN"/>
              <a:t> VQA </a:t>
            </a:r>
            <a:r>
              <a:rPr lang="zh-CN" altLang="en-US"/>
              <a:t>示例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Selector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  - </a:t>
            </a:r>
            <a:r>
              <a:rPr lang="zh-CN" altLang="en-US"/>
              <a:t>过滤未成功模糊化的问题</a:t>
            </a:r>
            <a:endParaRPr lang="zh-CN" altLang="en-US"/>
          </a:p>
          <a:p>
            <a:r>
              <a:rPr lang="en-US" altLang="zh-CN"/>
              <a:t>  - </a:t>
            </a:r>
            <a:r>
              <a:rPr lang="zh-CN" altLang="en-US"/>
              <a:t>用</a:t>
            </a:r>
            <a:r>
              <a:rPr lang="en-US" altLang="zh-CN"/>
              <a:t> GPT-4o </a:t>
            </a:r>
            <a:r>
              <a:rPr lang="zh-CN" altLang="en-US"/>
              <a:t>评估图像与问题的语义对齐度，剔除无关图像</a:t>
            </a:r>
            <a:endParaRPr lang="zh-CN" altLang="en-US"/>
          </a:p>
          <a:p>
            <a:r>
              <a:rPr lang="en-US" altLang="zh-CN"/>
              <a:t>- Examiner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  - </a:t>
            </a:r>
            <a:r>
              <a:rPr lang="zh-CN" altLang="en-US"/>
              <a:t>要求</a:t>
            </a:r>
            <a:r>
              <a:rPr lang="en-US" altLang="zh-CN"/>
              <a:t> GPT-4o </a:t>
            </a:r>
            <a:r>
              <a:rPr lang="zh-CN" altLang="en-US"/>
              <a:t>仅凭图像和标题回答问题</a:t>
            </a:r>
            <a:endParaRPr lang="zh-CN" altLang="en-US"/>
          </a:p>
          <a:p>
            <a:r>
              <a:rPr lang="en-US" altLang="zh-CN"/>
              <a:t>  - </a:t>
            </a:r>
            <a:r>
              <a:rPr lang="zh-CN" altLang="en-US"/>
              <a:t>若无法正确回答，说明图像不足以支撑推理，剔除该样本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重要性采样比率：估计策略模型更新幅度和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改进方向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每次更新策略模型不要偏离旧策略模型太远，限制更新幅度，训练稳定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重要性采样使得这种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一次采样，多次更新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成为可能，显著提升训练效率和稳定性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/>
              <a:t>只做了：</a:t>
            </a:r>
            <a:endParaRPr lang="zh-CN" altLang="en-US"/>
          </a:p>
          <a:p>
            <a:r>
              <a:rPr lang="zh-CN" altLang="en-US"/>
              <a:t>中心化（</a:t>
            </a:r>
            <a:r>
              <a:rPr lang="en-US" altLang="zh-CN"/>
              <a:t>centering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没有做标准化（</a:t>
            </a:r>
            <a:r>
              <a:rPr lang="en-US" altLang="zh-CN"/>
              <a:t>scaling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排序信号，判断这条轨迹在同组中是</a:t>
            </a:r>
            <a:r>
              <a:rPr lang="en-US" altLang="zh-CN"/>
              <a:t>“</a:t>
            </a:r>
            <a:r>
              <a:rPr lang="zh-CN" altLang="en-US"/>
              <a:t>更好还是更差</a:t>
            </a:r>
            <a:r>
              <a:rPr lang="en-US" altLang="zh-CN"/>
              <a:t>”</a:t>
            </a:r>
            <a:r>
              <a:rPr lang="zh-CN" altLang="en-US"/>
              <a:t>，</a:t>
            </a:r>
            <a:r>
              <a:rPr lang="zh-CN" altLang="en-US"/>
              <a:t>引入一个与排序无关的缩放因子，在小</a:t>
            </a:r>
            <a:r>
              <a:rPr lang="en-US" altLang="zh-CN"/>
              <a:t> K </a:t>
            </a:r>
            <a:r>
              <a:rPr lang="zh-CN" altLang="en-US"/>
              <a:t>的情况下缩放是非常不稳定的。</a:t>
            </a:r>
            <a:endParaRPr lang="zh-CN" altLang="en-US"/>
          </a:p>
          <a:p>
            <a:r>
              <a:rPr lang="zh-CN" altLang="en-US"/>
              <a:t>在小样本下噪声极大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KL</a:t>
            </a:r>
            <a:r>
              <a:rPr lang="zh-CN" altLang="en-US"/>
              <a:t>：控制策略不要偏离旧策略太远</a:t>
            </a:r>
            <a:endParaRPr lang="zh-CN" altLang="en-US"/>
          </a:p>
          <a:p>
            <a:r>
              <a:rPr lang="zh-CN" altLang="en-US"/>
              <a:t>不受限的策略梯度项</a:t>
            </a:r>
            <a:endParaRPr lang="zh-CN" altLang="en-US"/>
          </a:p>
          <a:p>
            <a:r>
              <a:rPr lang="en-US" altLang="zh-CN"/>
              <a:t>| </a:t>
            </a:r>
            <a:r>
              <a:rPr lang="zh-CN" altLang="en-US"/>
              <a:t>情况</a:t>
            </a:r>
            <a:r>
              <a:rPr lang="en-US" altLang="zh-CN"/>
              <a:t>   | (A_{\text{rel}}) |</a:t>
            </a:r>
            <a:endParaRPr lang="en-US" altLang="zh-CN"/>
          </a:p>
          <a:p>
            <a:r>
              <a:rPr lang="en-US" altLang="zh-CN"/>
              <a:t>| ---- | ---------------- |</a:t>
            </a:r>
            <a:endParaRPr lang="en-US" altLang="zh-CN"/>
          </a:p>
          <a:p>
            <a:r>
              <a:rPr lang="en-US" altLang="zh-CN"/>
              <a:t>| </a:t>
            </a:r>
            <a:r>
              <a:rPr lang="zh-CN" altLang="en-US"/>
              <a:t>高于平均</a:t>
            </a:r>
            <a:r>
              <a:rPr lang="en-US" altLang="zh-CN"/>
              <a:t> | </a:t>
            </a:r>
            <a:r>
              <a:rPr lang="zh-CN" altLang="en-US"/>
              <a:t>正优势（鼓励）</a:t>
            </a:r>
            <a:r>
              <a:rPr lang="en-US" altLang="zh-CN"/>
              <a:t>          |</a:t>
            </a:r>
            <a:endParaRPr lang="en-US" altLang="zh-CN"/>
          </a:p>
          <a:p>
            <a:r>
              <a:rPr lang="en-US" altLang="zh-CN"/>
              <a:t>| </a:t>
            </a:r>
            <a:r>
              <a:rPr lang="zh-CN" altLang="en-US"/>
              <a:t>低于平均</a:t>
            </a:r>
            <a:r>
              <a:rPr lang="en-US" altLang="zh-CN"/>
              <a:t> | </a:t>
            </a:r>
            <a:r>
              <a:rPr lang="zh-CN" altLang="en-US"/>
              <a:t>负优势（惩罚）</a:t>
            </a:r>
            <a:r>
              <a:rPr lang="en-US" altLang="zh-CN"/>
              <a:t>          |</a:t>
            </a:r>
            <a:endParaRPr lang="en-US" altLang="zh-CN"/>
          </a:p>
          <a:p>
            <a:r>
              <a:rPr lang="en-US" altLang="zh-CN"/>
              <a:t>| </a:t>
            </a:r>
            <a:r>
              <a:rPr lang="zh-CN" altLang="en-US"/>
              <a:t>等于平均</a:t>
            </a:r>
            <a:r>
              <a:rPr lang="en-US" altLang="zh-CN"/>
              <a:t> | 0                |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OmniSearch</a:t>
            </a:r>
            <a:r>
              <a:rPr lang="zh-CN" altLang="en-US"/>
              <a:t>是阿里巴巴通义实验室推出的多模态检索增强生成框架，具备自适应规划能力。</a:t>
            </a:r>
            <a:r>
              <a:rPr lang="en-US" altLang="zh-CN"/>
              <a:t>OmniSearch</a:t>
            </a:r>
            <a:r>
              <a:rPr lang="zh-CN" altLang="en-US"/>
              <a:t>能动态拆解复杂问题，根据检索结果和问题情境调整检索策略，基于递归式的检索与推理流程，根据当前的解答状态判断是否需要继续检索或提出新的子问题。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WebWatcher </a:t>
            </a:r>
            <a:r>
              <a:rPr lang="zh-CN" altLang="en-US"/>
              <a:t>中</a:t>
            </a:r>
            <a:r>
              <a:rPr lang="en-US" altLang="zh-CN"/>
              <a:t> 7B </a:t>
            </a:r>
            <a:r>
              <a:rPr lang="zh-CN" altLang="en-US"/>
              <a:t>在部分</a:t>
            </a:r>
            <a:r>
              <a:rPr lang="en-US" altLang="zh-CN"/>
              <a:t> CS/AI</a:t>
            </a:r>
            <a:r>
              <a:rPr lang="zh-CN" altLang="en-US"/>
              <a:t>、</a:t>
            </a:r>
            <a:r>
              <a:rPr lang="en-US" altLang="zh-CN"/>
              <a:t>Engineer</a:t>
            </a:r>
            <a:r>
              <a:rPr lang="zh-CN" altLang="en-US"/>
              <a:t>、</a:t>
            </a:r>
            <a:r>
              <a:rPr lang="en-US" altLang="zh-CN"/>
              <a:t>Physics </a:t>
            </a:r>
            <a:r>
              <a:rPr lang="zh-CN" altLang="en-US"/>
              <a:t>上优于</a:t>
            </a:r>
            <a:r>
              <a:rPr lang="en-US" altLang="zh-CN"/>
              <a:t> 32B</a:t>
            </a:r>
            <a:r>
              <a:rPr lang="zh-CN" altLang="en-US"/>
              <a:t>，不是模型</a:t>
            </a:r>
            <a:r>
              <a:rPr lang="en-US" altLang="zh-CN"/>
              <a:t>“</a:t>
            </a:r>
            <a:r>
              <a:rPr lang="zh-CN" altLang="en-US"/>
              <a:t>更聪明</a:t>
            </a:r>
            <a:r>
              <a:rPr lang="en-US" altLang="zh-CN"/>
              <a:t>”</a:t>
            </a:r>
            <a:r>
              <a:rPr lang="zh-CN" altLang="en-US"/>
              <a:t>，而是</a:t>
            </a:r>
            <a:r>
              <a:rPr lang="en-US" altLang="zh-CN"/>
              <a:t>“Agent </a:t>
            </a:r>
            <a:r>
              <a:rPr lang="zh-CN" altLang="en-US"/>
              <a:t>行为</a:t>
            </a:r>
            <a:r>
              <a:rPr lang="en-US" altLang="zh-CN"/>
              <a:t> + </a:t>
            </a:r>
            <a:r>
              <a:rPr lang="zh-CN" altLang="en-US"/>
              <a:t>证据约束</a:t>
            </a:r>
            <a:r>
              <a:rPr lang="en-US" altLang="zh-CN"/>
              <a:t>”</a:t>
            </a:r>
            <a:r>
              <a:rPr lang="zh-CN" altLang="en-US"/>
              <a:t>在这些任务上更稳定。</a:t>
            </a:r>
            <a:endParaRPr lang="zh-CN" altLang="en-US"/>
          </a:p>
          <a:p>
            <a:r>
              <a:rPr lang="en-US" altLang="zh-CN"/>
              <a:t>WebWatcher </a:t>
            </a:r>
            <a:r>
              <a:rPr lang="zh-CN" altLang="en-US"/>
              <a:t>里，模型需要不断做这类决策：下一步该搜什么？当前证据是否足够？是否该继续探索还是汇总？证据链变长，但不更强。</a:t>
            </a:r>
            <a:r>
              <a:rPr lang="en-US" altLang="zh-CN"/>
              <a:t>32B </a:t>
            </a:r>
            <a:r>
              <a:rPr lang="zh-CN" altLang="en-US"/>
              <a:t>更容易进行</a:t>
            </a:r>
            <a:r>
              <a:rPr lang="en-US" altLang="zh-CN"/>
              <a:t> </a:t>
            </a:r>
            <a:r>
              <a:rPr lang="zh-CN" altLang="en-US"/>
              <a:t>高阶抽象但</a:t>
            </a:r>
            <a:r>
              <a:rPr lang="en-US" altLang="zh-CN"/>
              <a:t> HLE-VL </a:t>
            </a:r>
            <a:r>
              <a:rPr lang="zh-CN" altLang="en-US"/>
              <a:t>很多问题需要的是：具体、可验证</a:t>
            </a:r>
            <a:endParaRPr lang="zh-CN" altLang="en-US"/>
          </a:p>
          <a:p>
            <a:r>
              <a:rPr lang="en-US" altLang="zh-CN"/>
              <a:t>32B</a:t>
            </a:r>
            <a:r>
              <a:rPr lang="zh-CN" altLang="en-US"/>
              <a:t>：更容易</a:t>
            </a:r>
            <a:r>
              <a:rPr lang="en-US" altLang="zh-CN"/>
              <a:t>“</a:t>
            </a:r>
            <a:r>
              <a:rPr lang="zh-CN" altLang="en-US"/>
              <a:t>自信补全</a:t>
            </a:r>
            <a:r>
              <a:rPr lang="en-US" altLang="zh-CN"/>
              <a:t>”</a:t>
            </a:r>
            <a:r>
              <a:rPr lang="zh-CN" altLang="en-US"/>
              <a:t>，思维链过长会影响</a:t>
            </a:r>
            <a:r>
              <a:rPr lang="zh-CN" altLang="en-US"/>
              <a:t>模型回答</a:t>
            </a:r>
            <a:endParaRPr lang="zh-CN" altLang="en-US"/>
          </a:p>
          <a:p>
            <a:r>
              <a:rPr lang="zh-CN" altLang="en-US"/>
              <a:t>更容易跨证据边界下结论</a:t>
            </a:r>
            <a:endParaRPr lang="zh-CN" altLang="en-US"/>
          </a:p>
          <a:p>
            <a:r>
              <a:rPr lang="en-US" altLang="zh-CN"/>
              <a:t>7B</a:t>
            </a:r>
            <a:r>
              <a:rPr lang="zh-CN" altLang="en-US"/>
              <a:t>：更倾向于</a:t>
            </a:r>
            <a:r>
              <a:rPr lang="en-US" altLang="zh-CN"/>
              <a:t> </a:t>
            </a:r>
            <a:r>
              <a:rPr lang="zh-CN" altLang="en-US"/>
              <a:t>贴着证据说话，即使结论短，也更安全。</a:t>
            </a:r>
            <a:endParaRPr lang="zh-CN" altLang="en-US"/>
          </a:p>
          <a:p>
            <a:r>
              <a:rPr lang="zh-CN" altLang="en-US"/>
              <a:t>模型规模</a:t>
            </a:r>
            <a:r>
              <a:rPr lang="en-US" altLang="zh-CN"/>
              <a:t> </a:t>
            </a:r>
            <a:r>
              <a:rPr lang="en-US" altLang="en-US"/>
              <a:t>↑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搜索与推理自由度</a:t>
            </a:r>
            <a:r>
              <a:rPr lang="en-US" altLang="zh-CN"/>
              <a:t> </a:t>
            </a:r>
            <a:r>
              <a:rPr lang="en-US" altLang="en-US"/>
              <a:t>↑</a:t>
            </a:r>
            <a:endParaRPr lang="en-US" altLang="en-US"/>
          </a:p>
          <a:p>
            <a:r>
              <a:rPr lang="zh-CN" altLang="en-US"/>
              <a:t>自由度</a:t>
            </a:r>
            <a:r>
              <a:rPr lang="en-US" altLang="zh-CN"/>
              <a:t> </a:t>
            </a:r>
            <a:r>
              <a:rPr lang="en-US" altLang="en-US"/>
              <a:t>↑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路径不稳定风险</a:t>
            </a:r>
            <a:r>
              <a:rPr lang="en-US" altLang="zh-CN"/>
              <a:t> </a:t>
            </a:r>
            <a:r>
              <a:rPr lang="en-US" altLang="en-US"/>
              <a:t>↑</a:t>
            </a:r>
            <a:endParaRPr lang="en-US" altLang="en-US"/>
          </a:p>
          <a:p>
            <a:r>
              <a:rPr lang="zh-CN" altLang="en-US"/>
              <a:t>在</a:t>
            </a:r>
            <a:r>
              <a:rPr lang="en-US" altLang="zh-CN"/>
              <a:t> Bio / Human / Other </a:t>
            </a:r>
            <a:r>
              <a:rPr lang="zh-CN" altLang="en-US"/>
              <a:t>这些：模糊、综合、描述型</a:t>
            </a:r>
            <a:endParaRPr lang="zh-CN" altLang="en-US"/>
          </a:p>
          <a:p>
            <a:r>
              <a:rPr lang="zh-CN" altLang="en-US"/>
              <a:t>问题中：</a:t>
            </a:r>
            <a:r>
              <a:rPr lang="en-US" altLang="zh-CN"/>
              <a:t>32B </a:t>
            </a:r>
            <a:r>
              <a:rPr lang="zh-CN" altLang="en-US"/>
              <a:t>的表达和整合能力终于派上用场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Code </a:t>
            </a:r>
            <a:r>
              <a:rPr lang="zh-CN" altLang="en-US"/>
              <a:t>很少，但在关键题中不可替代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https://arxiv.org/pdf/2511.05271</a:t>
            </a:r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把图像编码成</a:t>
            </a:r>
            <a:r>
              <a:rPr lang="en-US" altLang="zh-CN"/>
              <a:t> tokens</a:t>
            </a:r>
            <a:r>
              <a:rPr lang="zh-CN" altLang="en-US"/>
              <a:t>，再与文本</a:t>
            </a:r>
            <a:r>
              <a:rPr lang="en-US" altLang="zh-CN"/>
              <a:t> tokens </a:t>
            </a:r>
            <a:r>
              <a:rPr lang="zh-CN" altLang="en-US"/>
              <a:t>混合输入模型。这导致：图像信息往往被</a:t>
            </a:r>
            <a:r>
              <a:rPr lang="en-US" altLang="zh-CN"/>
              <a:t>“</a:t>
            </a:r>
            <a:r>
              <a:rPr lang="zh-CN" altLang="en-US"/>
              <a:t>淹没</a:t>
            </a:r>
            <a:r>
              <a:rPr lang="en-US" altLang="zh-CN"/>
              <a:t>”</a:t>
            </a:r>
            <a:r>
              <a:rPr lang="zh-CN" altLang="en-US"/>
              <a:t>在文本推理流中，视觉动作（如局部放大、细节观察）不能自然融入推理链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不是让模型</a:t>
            </a:r>
            <a:r>
              <a:rPr lang="en-US" altLang="zh-CN"/>
              <a:t> “</a:t>
            </a:r>
            <a:r>
              <a:rPr lang="zh-CN" altLang="en-US"/>
              <a:t>把图像看一遍</a:t>
            </a:r>
            <a:r>
              <a:rPr lang="en-US" altLang="zh-CN"/>
              <a:t>”</a:t>
            </a:r>
            <a:r>
              <a:rPr lang="zh-CN" altLang="en-US"/>
              <a:t>，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/>
              <a:t>❌</a:t>
            </a:r>
            <a:r>
              <a:rPr lang="en-US" altLang="zh-CN"/>
              <a:t> </a:t>
            </a:r>
            <a:r>
              <a:rPr lang="zh-CN" altLang="en-US"/>
              <a:t>也不是让模型</a:t>
            </a:r>
            <a:r>
              <a:rPr lang="en-US" altLang="zh-CN"/>
              <a:t> “</a:t>
            </a:r>
            <a:r>
              <a:rPr lang="zh-CN" altLang="en-US"/>
              <a:t>先做语言推理再加视觉校验</a:t>
            </a:r>
            <a:r>
              <a:rPr lang="en-US" altLang="zh-CN"/>
              <a:t>”</a:t>
            </a:r>
            <a:r>
              <a:rPr lang="zh-CN" altLang="en-US"/>
              <a:t>，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👉</a:t>
            </a:r>
            <a:r>
              <a:rPr lang="en-US" altLang="zh-CN"/>
              <a:t> </a:t>
            </a:r>
            <a:r>
              <a:rPr lang="zh-CN" altLang="en-US"/>
              <a:t>而是让视觉信息和推理过程本质上</a:t>
            </a:r>
            <a:r>
              <a:rPr lang="en-US" altLang="zh-CN"/>
              <a:t> </a:t>
            </a:r>
            <a:r>
              <a:rPr lang="zh-CN" altLang="en-US"/>
              <a:t>交错融合成一个统一的动态过程。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手机是在背包的左边还是右边？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回答正确就有工具调用</a:t>
            </a:r>
            <a:r>
              <a:rPr lang="zh-CN" altLang="en-US"/>
              <a:t>奖励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请指出图像中所示花卉的确切物种。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Qwen 2.5 VL</a:t>
            </a:r>
            <a:r>
              <a:rPr lang="zh-CN" altLang="en-US"/>
              <a:t>：直接回答。照片中的花是紫色的，形状类似于兰花。我无法确定其确切品种。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MMSearch-R1</a:t>
            </a:r>
            <a:r>
              <a:rPr lang="zh-CN" altLang="en-US"/>
              <a:t>：仅搜索。搜索结果未提供有关该花朵的任何相关信息。</a:t>
            </a:r>
            <a:r>
              <a:rPr lang="en-US" altLang="zh-CN"/>
              <a:t>&lt;</a:t>
            </a:r>
            <a:r>
              <a:rPr lang="zh-CN" altLang="en-US"/>
              <a:t>文本搜索：</a:t>
            </a:r>
            <a:r>
              <a:rPr lang="en-US" altLang="zh-CN"/>
              <a:t>What kind of orchid is pink ?&gt; </a:t>
            </a:r>
            <a:r>
              <a:rPr lang="zh-CN" altLang="en-US"/>
              <a:t>存在许多种类的粉色兰花。然而，我无法确定其具体类型。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Deepees V1</a:t>
            </a:r>
            <a:r>
              <a:rPr lang="zh-CN" altLang="en-US"/>
              <a:t>：仅裁剪。</a:t>
            </a:r>
            <a:r>
              <a:rPr lang="en-US" altLang="zh-CN"/>
              <a:t>&lt;Image Zoom In Tool: {"bbox_2d": [0,578,157,776]}&gt;</a:t>
            </a:r>
            <a:r>
              <a:rPr lang="zh-CN" altLang="en-US"/>
              <a:t>我们可以看到花瓣是紫色的，看起来像兰花。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Deepees V2</a:t>
            </a:r>
            <a:r>
              <a:rPr lang="zh-CN" altLang="en-US"/>
              <a:t>：裁剪</a:t>
            </a:r>
            <a:r>
              <a:rPr lang="en-US" altLang="zh-CN"/>
              <a:t> + </a:t>
            </a:r>
            <a:r>
              <a:rPr lang="zh-CN" altLang="en-US"/>
              <a:t>搜索</a:t>
            </a:r>
            <a:r>
              <a:rPr lang="en-US" altLang="zh-CN"/>
              <a:t>&lt;Code: Crop&gt; &lt;</a:t>
            </a:r>
            <a:r>
              <a:rPr lang="zh-CN" altLang="en-US"/>
              <a:t>图像搜索</a:t>
            </a:r>
            <a:r>
              <a:rPr lang="en-US" altLang="zh-CN"/>
              <a:t>&gt; </a:t>
            </a:r>
            <a:r>
              <a:rPr lang="zh-CN" altLang="en-US"/>
              <a:t>图像搜索结果中最相似的匹配项提到了</a:t>
            </a:r>
            <a:r>
              <a:rPr lang="en-US" altLang="zh-CN"/>
              <a:t>“</a:t>
            </a:r>
            <a:r>
              <a:rPr lang="zh-CN" altLang="en-US"/>
              <a:t>蛾兰</a:t>
            </a:r>
            <a:r>
              <a:rPr lang="en-US" altLang="zh-CN"/>
              <a:t>”</a:t>
            </a:r>
            <a:r>
              <a:rPr lang="zh-CN" altLang="en-US"/>
              <a:t>。文本搜索：</a:t>
            </a:r>
            <a:r>
              <a:rPr lang="en-US" altLang="zh-CN"/>
              <a:t>Moth orchid&gt; </a:t>
            </a:r>
            <a:r>
              <a:rPr lang="zh-CN" altLang="en-US"/>
              <a:t>搜索结果进一步确认了图片中的花朵是蛾兰。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代码执行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网页搜索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图像操作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/>
              <a:t> </a:t>
            </a:r>
            <a:r>
              <a:rPr lang="zh-CN" altLang="en-US"/>
              <a:t>把</a:t>
            </a:r>
            <a:r>
              <a:rPr lang="en-US" altLang="zh-CN"/>
              <a:t> </a:t>
            </a:r>
            <a:r>
              <a:rPr lang="zh-CN" altLang="en-US"/>
              <a:t>代码执行与</a:t>
            </a:r>
            <a:r>
              <a:rPr lang="en-US" altLang="zh-CN"/>
              <a:t> </a:t>
            </a:r>
            <a:r>
              <a:rPr lang="zh-CN" altLang="en-US"/>
              <a:t>文本</a:t>
            </a:r>
            <a:r>
              <a:rPr lang="en-US" altLang="zh-CN"/>
              <a:t>/</a:t>
            </a:r>
            <a:r>
              <a:rPr lang="zh-CN" altLang="en-US"/>
              <a:t>图片检索</a:t>
            </a:r>
            <a:r>
              <a:rPr lang="en-US" altLang="zh-CN"/>
              <a:t> </a:t>
            </a:r>
            <a:r>
              <a:rPr lang="zh-CN" altLang="en-US"/>
              <a:t>作为可交错的工具，嵌入同一个推理轨迹中，模型可以边想边调用工具、把工具输出作为</a:t>
            </a:r>
            <a:r>
              <a:rPr lang="en-US" altLang="zh-CN"/>
              <a:t> observation </a:t>
            </a:r>
            <a:r>
              <a:rPr lang="zh-CN" altLang="en-US"/>
              <a:t>继续推理，直到得到结论。</a:t>
            </a:r>
            <a:endParaRPr lang="zh-CN" altLang="en-US"/>
          </a:p>
          <a:p>
            <a:r>
              <a:rPr lang="zh-CN" altLang="en-US"/>
              <a:t>马克斯</a:t>
            </a:r>
            <a:r>
              <a:rPr lang="en-US" altLang="zh-CN"/>
              <a:t>·</a:t>
            </a:r>
            <a:r>
              <a:rPr lang="zh-CN" altLang="en-US"/>
              <a:t>普朗克诺贝尔奖时间线</a:t>
            </a:r>
            <a:endParaRPr lang="zh-CN" altLang="en-US"/>
          </a:p>
          <a:p>
            <a:r>
              <a:rPr lang="zh-CN" altLang="en-US"/>
              <a:t>这张照片中第一排从左数第二位的人是在哪一年获得诺贝尔奖的？马克斯</a:t>
            </a:r>
            <a:r>
              <a:rPr lang="en-US" altLang="zh-CN"/>
              <a:t>·</a:t>
            </a:r>
            <a:r>
              <a:rPr lang="zh-CN" altLang="en-US"/>
              <a:t>普朗克</a:t>
            </a:r>
            <a:r>
              <a:rPr lang="en-US" altLang="zh-CN"/>
              <a:t> 1918</a:t>
            </a:r>
            <a:r>
              <a:rPr lang="zh-CN" altLang="en-US"/>
              <a:t>年获得物理学奖</a:t>
            </a:r>
            <a:endParaRPr lang="zh-CN" altLang="en-US"/>
          </a:p>
          <a:p>
            <a:r>
              <a:rPr lang="zh-CN" altLang="en-US"/>
              <a:t>工具细节：图片检索用</a:t>
            </a:r>
            <a:r>
              <a:rPr lang="en-US" altLang="zh-CN"/>
              <a:t> SerpAPI </a:t>
            </a:r>
            <a:r>
              <a:rPr lang="zh-CN" altLang="en-US"/>
              <a:t>返回</a:t>
            </a:r>
            <a:r>
              <a:rPr lang="en-US" altLang="zh-CN"/>
              <a:t> Top-5 </a:t>
            </a:r>
            <a:r>
              <a:rPr lang="zh-CN" altLang="en-US"/>
              <a:t>视觉匹配网页（图</a:t>
            </a:r>
            <a:r>
              <a:rPr lang="en-US" altLang="zh-CN"/>
              <a:t>+</a:t>
            </a:r>
            <a:r>
              <a:rPr lang="zh-CN" altLang="en-US"/>
              <a:t>标题），文本检索返回</a:t>
            </a:r>
            <a:r>
              <a:rPr lang="en-US" altLang="zh-CN"/>
              <a:t> Top-5 </a:t>
            </a:r>
            <a:r>
              <a:rPr lang="zh-CN" altLang="en-US"/>
              <a:t>网页（标题</a:t>
            </a:r>
            <a:r>
              <a:rPr lang="en-US" altLang="zh-CN"/>
              <a:t>+snippet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没有</a:t>
            </a:r>
            <a:r>
              <a:rPr lang="en-US" altLang="zh-CN"/>
              <a:t>/</a:t>
            </a:r>
            <a:r>
              <a:rPr lang="zh-CN" altLang="en-US"/>
              <a:t>有工具使用奖励</a:t>
            </a:r>
            <a:endParaRPr lang="zh-CN" altLang="en-US"/>
          </a:p>
          <a:p>
            <a:r>
              <a:rPr lang="zh-CN" altLang="en-US"/>
              <a:t>红线表示在单轮</a:t>
            </a:r>
            <a:r>
              <a:rPr lang="en-US" altLang="zh-CN"/>
              <a:t>rollout</a:t>
            </a:r>
            <a:r>
              <a:rPr lang="zh-CN" altLang="en-US"/>
              <a:t>里工具调用次数；蓝线表示平均响应长度</a:t>
            </a:r>
            <a:endParaRPr lang="zh-CN" altLang="en-US"/>
          </a:p>
          <a:p>
            <a:r>
              <a:rPr lang="zh-CN" altLang="en-US"/>
              <a:t>智能体（</a:t>
            </a:r>
            <a:r>
              <a:rPr lang="en-US" altLang="zh-CN"/>
              <a:t>Agent</a:t>
            </a:r>
            <a:r>
              <a:rPr lang="zh-CN" altLang="en-US"/>
              <a:t>）通过利用奖励函数中的漏洞或不完整性，以非预期甚至有害的方式最大化奖励，而非真正完成设计者期望的任务目标。废话文学（堆砌重复语句）、格式作弊（要求输出包含</a:t>
            </a:r>
            <a:r>
              <a:rPr lang="en-US" altLang="zh-CN"/>
              <a:t> &lt;think&gt; </a:t>
            </a:r>
            <a:r>
              <a:rPr lang="zh-CN" altLang="en-US"/>
              <a:t>标签，</a:t>
            </a:r>
            <a:r>
              <a:rPr lang="en-US" altLang="zh-CN"/>
              <a:t>AI </a:t>
            </a:r>
            <a:r>
              <a:rPr lang="zh-CN" altLang="en-US"/>
              <a:t>在每条回答末尾机械添加空标签，却不进行真实推理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能使用工具回答正确：</a:t>
            </a:r>
            <a:r>
              <a:rPr lang="en-US" altLang="zh-CN"/>
              <a:t>RL</a:t>
            </a:r>
            <a:r>
              <a:rPr lang="zh-CN" altLang="en-US"/>
              <a:t>子集，不能回答正确：</a:t>
            </a:r>
            <a:r>
              <a:rPr lang="en-US" altLang="zh-CN"/>
              <a:t>cold-start</a:t>
            </a:r>
            <a:endParaRPr lang="en-US" altLang="zh-CN"/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ArxivQA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Pixmo Counting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TallyQA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SeekWorld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/>
              <a:t>1</a:t>
            </a:r>
            <a:r>
              <a:rPr lang="zh-CN" altLang="en-US"/>
              <a:t>、准确率奖励，根据最终答案与标准答案的匹配度打分；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、格式奖励，对代码报错、搜索关键词无效等格式问题进行惩罚。</a:t>
            </a:r>
            <a:endParaRPr lang="zh-CN" altLang="en-US"/>
          </a:p>
          <a:p>
            <a:r>
              <a:rPr lang="zh-CN" altLang="en-US"/>
              <a:t>对于监督微调（</a:t>
            </a:r>
            <a:r>
              <a:rPr lang="en-US" altLang="zh-CN"/>
              <a:t>SFT</a:t>
            </a:r>
            <a:r>
              <a:rPr lang="zh-CN" altLang="en-US"/>
              <a:t>），我们使用</a:t>
            </a:r>
            <a:r>
              <a:rPr lang="en-US" altLang="zh-CN"/>
              <a:t> 128 </a:t>
            </a:r>
            <a:r>
              <a:rPr lang="zh-CN" altLang="en-US"/>
              <a:t>的批量大小（</a:t>
            </a:r>
            <a:r>
              <a:rPr lang="en-US" altLang="zh-CN"/>
              <a:t>batch size</a:t>
            </a:r>
            <a:r>
              <a:rPr lang="zh-CN" altLang="en-US"/>
              <a:t>）和</a:t>
            </a:r>
            <a:r>
              <a:rPr lang="en-US" altLang="zh-CN"/>
              <a:t> 1</a:t>
            </a:r>
            <a:r>
              <a:rPr lang="en-US" altLang="en-US"/>
              <a:t>×</a:t>
            </a:r>
            <a:r>
              <a:rPr lang="en-US" altLang="zh-CN"/>
              <a:t>10 −5</a:t>
            </a:r>
            <a:r>
              <a:rPr lang="zh-CN" altLang="en-US"/>
              <a:t>的学习率进行训练。模型采用</a:t>
            </a:r>
            <a:r>
              <a:rPr lang="en-US" altLang="zh-CN"/>
              <a:t> AdamW [34] </a:t>
            </a:r>
            <a:r>
              <a:rPr lang="zh-CN" altLang="en-US"/>
              <a:t>优化器，配合余弦退火学习率衰减策略，共优化</a:t>
            </a:r>
            <a:r>
              <a:rPr lang="en-US" altLang="zh-CN"/>
              <a:t> 3 </a:t>
            </a:r>
            <a:r>
              <a:rPr lang="zh-CN" altLang="en-US"/>
              <a:t>个</a:t>
            </a:r>
            <a:r>
              <a:rPr lang="en-US" altLang="zh-CN"/>
              <a:t> epoch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在强化学习（</a:t>
            </a:r>
            <a:r>
              <a:rPr lang="en-US" altLang="zh-CN"/>
              <a:t>RL</a:t>
            </a:r>
            <a:r>
              <a:rPr lang="zh-CN" altLang="en-US"/>
              <a:t>）阶段，我们采用</a:t>
            </a:r>
            <a:r>
              <a:rPr lang="en-US" altLang="zh-CN"/>
              <a:t> DAPO [55] </a:t>
            </a:r>
            <a:r>
              <a:rPr lang="zh-CN" altLang="en-US"/>
              <a:t>作为优化算法，批量大小设为</a:t>
            </a:r>
            <a:r>
              <a:rPr lang="en-US" altLang="zh-CN"/>
              <a:t> 256</a:t>
            </a:r>
            <a:r>
              <a:rPr lang="zh-CN" altLang="en-US"/>
              <a:t>，每个提示（</a:t>
            </a:r>
            <a:r>
              <a:rPr lang="en-US" altLang="zh-CN"/>
              <a:t>prompt</a:t>
            </a:r>
            <a:r>
              <a:rPr lang="zh-CN" altLang="en-US"/>
              <a:t>）生成</a:t>
            </a:r>
            <a:r>
              <a:rPr lang="en-US" altLang="zh-CN"/>
              <a:t> 16 </a:t>
            </a:r>
            <a:r>
              <a:rPr lang="zh-CN" altLang="en-US"/>
              <a:t>条轨迹（</a:t>
            </a:r>
            <a:r>
              <a:rPr lang="en-US" altLang="zh-CN"/>
              <a:t>rollouts</a:t>
            </a:r>
            <a:r>
              <a:rPr lang="zh-CN" altLang="en-US"/>
              <a:t>）。</a:t>
            </a:r>
            <a:r>
              <a:rPr lang="en-US" altLang="zh-CN"/>
              <a:t>KL </a:t>
            </a:r>
            <a:r>
              <a:rPr lang="zh-CN" altLang="en-US"/>
              <a:t>系数设为</a:t>
            </a:r>
            <a:r>
              <a:rPr lang="en-US" altLang="zh-CN"/>
              <a:t> 0.0</a:t>
            </a:r>
            <a:r>
              <a:rPr lang="zh-CN" altLang="en-US"/>
              <a:t>，最大响应长度限制为</a:t>
            </a:r>
            <a:r>
              <a:rPr lang="en-US" altLang="zh-CN"/>
              <a:t> 16,384 </a:t>
            </a:r>
            <a:r>
              <a:rPr lang="zh-CN" altLang="en-US"/>
              <a:t>个</a:t>
            </a:r>
            <a:r>
              <a:rPr lang="en-US" altLang="zh-CN"/>
              <a:t> token</a:t>
            </a:r>
            <a:r>
              <a:rPr lang="zh-CN" altLang="en-US"/>
              <a:t>。学习率为</a:t>
            </a:r>
            <a:r>
              <a:rPr lang="en-US" altLang="zh-CN"/>
              <a:t> 1</a:t>
            </a:r>
            <a:r>
              <a:rPr lang="en-US" altLang="en-US"/>
              <a:t>×</a:t>
            </a:r>
            <a:r>
              <a:rPr lang="en-US" altLang="zh-CN"/>
              <a:t>10 −6</a:t>
            </a:r>
            <a:r>
              <a:rPr lang="zh-CN" altLang="en-US"/>
              <a:t>，裁剪比率（</a:t>
            </a:r>
            <a:r>
              <a:rPr lang="en-US" altLang="zh-CN"/>
              <a:t>clip ratio</a:t>
            </a:r>
            <a:r>
              <a:rPr lang="zh-CN" altLang="en-US"/>
              <a:t>）的上限和下限分别设为</a:t>
            </a:r>
            <a:r>
              <a:rPr lang="en-US" altLang="zh-CN"/>
              <a:t> 0.30 </a:t>
            </a:r>
            <a:r>
              <a:rPr lang="zh-CN" altLang="en-US"/>
              <a:t>和</a:t>
            </a:r>
            <a:r>
              <a:rPr lang="en-US" altLang="zh-CN"/>
              <a:t> 0.20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我们使用</a:t>
            </a:r>
            <a:r>
              <a:rPr lang="en-US" altLang="zh-CN"/>
              <a:t> VLMEvalKit [12] </a:t>
            </a:r>
            <a:r>
              <a:rPr lang="zh-CN" altLang="en-US"/>
              <a:t>进行所有评估工作。</a:t>
            </a:r>
            <a:endParaRPr lang="zh-CN" altLang="en-US"/>
          </a:p>
          <a:p>
            <a:r>
              <a:rPr lang="zh-CN" altLang="en-US"/>
              <a:t>提高裁剪上界（</a:t>
            </a:r>
            <a:r>
              <a:rPr lang="en-US" altLang="zh-CN"/>
              <a:t>Clip-Higher</a:t>
            </a:r>
            <a:r>
              <a:rPr lang="zh-CN" altLang="en-US"/>
              <a:t>）策略，鼓励模型进行探索；动态采样，去除全对</a:t>
            </a:r>
            <a:r>
              <a:rPr lang="en-US" altLang="zh-CN"/>
              <a:t>/</a:t>
            </a:r>
            <a:r>
              <a:rPr lang="zh-CN" altLang="en-US"/>
              <a:t>错样本，</a:t>
            </a:r>
            <a:r>
              <a:rPr lang="en-US" altLang="zh-CN"/>
              <a:t>kl</a:t>
            </a:r>
            <a:r>
              <a:rPr lang="zh-CN" altLang="en-US"/>
              <a:t>散度去除，设定生成的最大长度，并对过长样本进行截断；</a:t>
            </a:r>
            <a:r>
              <a:rPr lang="en-US" altLang="zh-CN"/>
              <a:t>Token-Level Policy Gradient Loss</a:t>
            </a:r>
            <a:r>
              <a:rPr lang="zh-CN" altLang="en-US"/>
              <a:t>：精准优化长序列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sft</a:t>
            </a:r>
            <a:r>
              <a:rPr lang="zh-CN" altLang="en-US"/>
              <a:t>：</a:t>
            </a:r>
            <a:r>
              <a:rPr lang="en-US" altLang="zh-CN"/>
              <a:t>100k</a:t>
            </a:r>
            <a:r>
              <a:rPr lang="zh-CN" altLang="en-US"/>
              <a:t>、</a:t>
            </a:r>
            <a:r>
              <a:rPr lang="en-US" altLang="zh-CN"/>
              <a:t>RL</a:t>
            </a:r>
            <a:r>
              <a:rPr lang="zh-CN" altLang="en-US"/>
              <a:t>：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强调真实场景、难度、可自动验证的客观短答案，并标注</a:t>
            </a:r>
            <a:r>
              <a:rPr lang="en-US" altLang="zh-CN"/>
              <a:t> perception/search/reasoning </a:t>
            </a:r>
            <a:r>
              <a:rPr lang="zh-CN" altLang="en-US"/>
              <a:t>以及三者同时困难的</a:t>
            </a:r>
            <a:r>
              <a:rPr lang="en-US" altLang="zh-CN"/>
              <a:t> integration </a:t>
            </a:r>
            <a:r>
              <a:rPr lang="zh-CN" altLang="en-US"/>
              <a:t>子集。</a:t>
            </a:r>
            <a:endParaRPr lang="zh-CN" altLang="en-US"/>
          </a:p>
          <a:p>
            <a:r>
              <a:rPr lang="zh-CN" altLang="en-US"/>
              <a:t>提出</a:t>
            </a:r>
            <a:r>
              <a:rPr lang="en-US" altLang="zh-CN"/>
              <a:t>RealX-Bench</a:t>
            </a:r>
            <a:r>
              <a:rPr lang="zh-CN" altLang="en-US"/>
              <a:t>，包含</a:t>
            </a:r>
            <a:r>
              <a:rPr lang="en-US" altLang="zh-CN"/>
              <a:t>300</a:t>
            </a:r>
            <a:r>
              <a:rPr lang="zh-CN" altLang="en-US"/>
              <a:t>个真实场景问题，覆盖日常生活、媒体、体育、知识、游戏五大领域。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推断这是一个</a:t>
            </a:r>
            <a:r>
              <a:rPr lang="en-US" altLang="zh-CN"/>
              <a:t> </a:t>
            </a:r>
            <a:r>
              <a:rPr lang="zh-CN" altLang="en-US"/>
              <a:t>音乐相关的拼图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思考：图片裁剪、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OCR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识别图片内容、网络搜索歌名、歌词细节、文化背景推断（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药用材料）、数值推理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答案：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DeepEyesV2 </a:t>
            </a:r>
            <a:r>
              <a:rPr lang="zh-CN" altLang="en-US"/>
              <a:t>的定位更像</a:t>
            </a:r>
            <a:r>
              <a:rPr lang="en-US" altLang="zh-CN"/>
              <a:t>“</a:t>
            </a:r>
            <a:r>
              <a:rPr lang="zh-CN" altLang="en-US"/>
              <a:t>把开源</a:t>
            </a:r>
            <a:r>
              <a:rPr lang="en-US" altLang="zh-CN"/>
              <a:t> 7B </a:t>
            </a:r>
            <a:r>
              <a:rPr lang="zh-CN" altLang="en-US"/>
              <a:t>做成可用的</a:t>
            </a:r>
            <a:r>
              <a:rPr lang="en-US" altLang="zh-CN"/>
              <a:t> agentic </a:t>
            </a:r>
            <a:r>
              <a:rPr lang="zh-CN" altLang="en-US"/>
              <a:t>版本</a:t>
            </a:r>
            <a:r>
              <a:rPr lang="en-US" altLang="zh-CN"/>
              <a:t>”</a:t>
            </a:r>
            <a:r>
              <a:rPr lang="zh-CN" altLang="en-US"/>
              <a:t>，而</a:t>
            </a:r>
            <a:r>
              <a:rPr lang="en-US" altLang="zh-CN"/>
              <a:t> RealX-Bench </a:t>
            </a:r>
            <a:r>
              <a:rPr lang="zh-CN" altLang="en-US"/>
              <a:t>也在提醒：离</a:t>
            </a:r>
            <a:r>
              <a:rPr lang="en-US" altLang="zh-CN"/>
              <a:t>“</a:t>
            </a:r>
            <a:r>
              <a:rPr lang="zh-CN" altLang="en-US"/>
              <a:t>人类级综合多模态代理</a:t>
            </a:r>
            <a:r>
              <a:rPr lang="en-US" altLang="zh-CN"/>
              <a:t>”</a:t>
            </a:r>
            <a:r>
              <a:rPr lang="zh-CN" altLang="en-US"/>
              <a:t>还有很大距离。</a:t>
            </a:r>
            <a:endParaRPr lang="zh-CN" altLang="en-US"/>
          </a:p>
          <a:p>
            <a:r>
              <a:rPr lang="en-US" altLang="zh-CN"/>
              <a:t>Thyme</a:t>
            </a:r>
            <a:r>
              <a:rPr lang="zh-CN" altLang="en-US"/>
              <a:t>的寓意是</a:t>
            </a:r>
            <a:r>
              <a:rPr lang="en-US" altLang="zh-CN"/>
              <a:t>“</a:t>
            </a:r>
            <a:r>
              <a:rPr lang="zh-CN" altLang="en-US"/>
              <a:t>超越图像思考</a:t>
            </a:r>
            <a:r>
              <a:rPr lang="en-US" altLang="zh-CN"/>
              <a:t>”</a:t>
            </a:r>
            <a:r>
              <a:rPr lang="zh-CN" altLang="en-US"/>
              <a:t>，它赋予了</a:t>
            </a:r>
            <a:r>
              <a:rPr lang="en-US" altLang="zh-CN"/>
              <a:t>MLLM</a:t>
            </a:r>
            <a:r>
              <a:rPr lang="zh-CN" altLang="en-US"/>
              <a:t>一项新能力：通过自主生成并执行代码，来实现一系列复杂的图像处理和数学计算操作。这意味着模型不再仅仅是</a:t>
            </a:r>
            <a:r>
              <a:rPr lang="en-US" altLang="zh-CN"/>
              <a:t>“</a:t>
            </a:r>
            <a:r>
              <a:rPr lang="zh-CN" altLang="en-US"/>
              <a:t>看图说话</a:t>
            </a:r>
            <a:r>
              <a:rPr lang="en-US" altLang="zh-CN"/>
              <a:t>”</a:t>
            </a:r>
            <a:r>
              <a:rPr lang="zh-CN" altLang="en-US"/>
              <a:t>，而是变成了一个能够主动</a:t>
            </a:r>
            <a:r>
              <a:rPr lang="en-US" altLang="zh-CN"/>
              <a:t>“</a:t>
            </a:r>
            <a:r>
              <a:rPr lang="zh-CN" altLang="en-US"/>
              <a:t>动手</a:t>
            </a:r>
            <a:r>
              <a:rPr lang="en-US" altLang="zh-CN"/>
              <a:t>”</a:t>
            </a:r>
            <a:r>
              <a:rPr lang="zh-CN" altLang="en-US"/>
              <a:t>解决问题的智能体，可以自行决定何时以及如何进行裁剪、旋转、增强对比度等图像操作，甚至完成复杂的数学计算。</a:t>
            </a:r>
            <a:endParaRPr lang="zh-CN" altLang="en-US"/>
          </a:p>
          <a:p>
            <a:r>
              <a:rPr lang="zh-CN" altLang="en-US"/>
              <a:t>提升</a:t>
            </a:r>
            <a:r>
              <a:rPr lang="en-US" altLang="zh-CN"/>
              <a:t>MLLM</a:t>
            </a:r>
            <a:r>
              <a:rPr lang="zh-CN" altLang="en-US"/>
              <a:t>推理能力主要有两种技术路线：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生成图像辅助思考：模型先生成一张图（如数学题的辅助线）来帮助自己推理。这种方法在需要想象力的场景中有优势，但生成图像的质量不高，容易丢失细节，且计算成本高、速度慢。</a:t>
            </a:r>
            <a:endParaRPr lang="zh-CN" altLang="en-US"/>
          </a:p>
          <a:p>
            <a:r>
              <a:rPr lang="zh-CN" altLang="en-US"/>
              <a:t>裁剪图像辅助思考：模型通过输出坐标框（</a:t>
            </a:r>
            <a:r>
              <a:rPr lang="en-US" altLang="zh-CN"/>
              <a:t>Bounding Box</a:t>
            </a:r>
            <a:r>
              <a:rPr lang="zh-CN" altLang="en-US"/>
              <a:t>）来</a:t>
            </a:r>
            <a:r>
              <a:rPr lang="en-US" altLang="zh-CN"/>
              <a:t>“</a:t>
            </a:r>
            <a:r>
              <a:rPr lang="zh-CN" altLang="en-US"/>
              <a:t>聚焦</a:t>
            </a:r>
            <a:r>
              <a:rPr lang="en-US" altLang="zh-CN"/>
              <a:t>”</a:t>
            </a:r>
            <a:r>
              <a:rPr lang="zh-CN" altLang="en-US"/>
              <a:t>图像的关键区域，然后交由外部程序处理。这种方法能提升感知精度，但功能单一，仅限于裁剪，远不如闭源模型那般灵活。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Pixel-Reasoner </a:t>
            </a:r>
            <a:r>
              <a:rPr lang="zh-CN" altLang="en-US"/>
              <a:t>在某些单项高于</a:t>
            </a:r>
            <a:r>
              <a:rPr lang="en-US" altLang="zh-CN"/>
              <a:t> DeepEyesV2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，从像素级</a:t>
            </a:r>
            <a:r>
              <a:rPr lang="zh-CN" altLang="en-US"/>
              <a:t>图像密集理解上有专门的</a:t>
            </a:r>
            <a:r>
              <a:rPr lang="zh-CN" altLang="en-US"/>
              <a:t>奖励设计，更多的</a:t>
            </a:r>
            <a:r>
              <a:rPr lang="zh-CN" altLang="en-US"/>
              <a:t>训练数据</a:t>
            </a:r>
            <a:endParaRPr lang="zh-CN" altLang="en-US"/>
          </a:p>
          <a:p>
            <a:r>
              <a:rPr lang="en-US" altLang="zh-CN"/>
              <a:t>MathVision / WeMath / LogicVista</a:t>
            </a:r>
            <a:r>
              <a:rPr lang="zh-CN" altLang="en-US"/>
              <a:t>：这些任务主要依赖数学概念推导</a:t>
            </a:r>
            <a:r>
              <a:rPr lang="en-US" altLang="zh-CN"/>
              <a:t>+</a:t>
            </a:r>
            <a:r>
              <a:rPr lang="zh-CN" altLang="en-US"/>
              <a:t>文本推理，</a:t>
            </a:r>
            <a:r>
              <a:rPr lang="en-US" altLang="zh-CN"/>
              <a:t>DeepEyesV2 </a:t>
            </a:r>
            <a:r>
              <a:rPr lang="zh-CN" altLang="en-US"/>
              <a:t>的优势来自工具操作与视觉驱动推理，而数学测试对于工具操作的依赖不如</a:t>
            </a:r>
            <a:r>
              <a:rPr lang="en-US" altLang="zh-CN"/>
              <a:t> Real-World Bench </a:t>
            </a:r>
            <a:r>
              <a:rPr lang="zh-CN" altLang="en-US"/>
              <a:t>那么大</a:t>
            </a:r>
            <a:endParaRPr lang="zh-CN" altLang="en-US"/>
          </a:p>
          <a:p>
            <a:r>
              <a:rPr lang="en-US" altLang="zh-CN"/>
              <a:t>Thyme</a:t>
            </a:r>
            <a:r>
              <a:rPr lang="zh-CN" altLang="en-US"/>
              <a:t>：用「代码</a:t>
            </a:r>
            <a:r>
              <a:rPr lang="en-US" altLang="zh-CN"/>
              <a:t> + </a:t>
            </a:r>
            <a:r>
              <a:rPr lang="zh-CN" altLang="en-US"/>
              <a:t>视觉</a:t>
            </a:r>
            <a:r>
              <a:rPr lang="en-US" altLang="zh-CN"/>
              <a:t> grounding</a:t>
            </a:r>
            <a:r>
              <a:rPr lang="zh-CN" altLang="en-US"/>
              <a:t>」做可靠的多模态推理、视觉理解</a:t>
            </a:r>
            <a:r>
              <a:rPr lang="en-US" altLang="zh-CN"/>
              <a:t>“</a:t>
            </a:r>
            <a:r>
              <a:rPr lang="zh-CN" altLang="en-US"/>
              <a:t>落地</a:t>
            </a:r>
            <a:r>
              <a:rPr lang="en-US" altLang="zh-CN"/>
              <a:t>”</a:t>
            </a:r>
            <a:r>
              <a:rPr lang="zh-CN" altLang="en-US"/>
              <a:t>为可执行、可验证的推理过程。</a:t>
            </a:r>
            <a:r>
              <a:rPr lang="en-US" altLang="zh-CN"/>
              <a:t>LLaVA-OV</a:t>
            </a:r>
            <a:r>
              <a:rPr lang="zh-CN" altLang="en-US"/>
              <a:t>：扩展</a:t>
            </a:r>
            <a:r>
              <a:rPr lang="en-US" altLang="zh-CN"/>
              <a:t> LLaVA </a:t>
            </a:r>
            <a:r>
              <a:rPr lang="zh-CN" altLang="en-US"/>
              <a:t>的「开放世界视觉理解」，更多的</a:t>
            </a:r>
            <a:r>
              <a:rPr lang="zh-CN" altLang="en-US"/>
              <a:t>世界知识</a:t>
            </a:r>
            <a:endParaRPr lang="zh-CN" altLang="en-US"/>
          </a:p>
          <a:p>
            <a:r>
              <a:rPr lang="en-US" altLang="zh-CN"/>
              <a:t>SEED-2 Plus </a:t>
            </a:r>
            <a:r>
              <a:rPr lang="zh-CN" altLang="en-US"/>
              <a:t>任务类型非常杂，但多数是一次性理解</a:t>
            </a:r>
            <a:r>
              <a:rPr lang="en-US" altLang="zh-CN"/>
              <a:t>   </a:t>
            </a:r>
            <a:r>
              <a:rPr lang="zh-CN" altLang="en-US"/>
              <a:t>来说，最优模型往往是：强</a:t>
            </a:r>
            <a:r>
              <a:rPr lang="en-US" altLang="zh-CN"/>
              <a:t> backbone</a:t>
            </a:r>
            <a:r>
              <a:rPr lang="zh-CN" altLang="en-US"/>
              <a:t>、强静态视觉编码、强语言先验、少</a:t>
            </a:r>
            <a:r>
              <a:rPr lang="en-US" altLang="zh-CN"/>
              <a:t> reasoning</a:t>
            </a:r>
            <a:r>
              <a:rPr lang="zh-CN" altLang="en-US"/>
              <a:t>、少行动。不是模型弱，而是任务</a:t>
            </a:r>
            <a:r>
              <a:rPr lang="en-US" altLang="zh-CN"/>
              <a:t>–</a:t>
            </a:r>
            <a:r>
              <a:rPr lang="zh-CN" altLang="en-US"/>
              <a:t>能力错配</a:t>
            </a:r>
            <a:endParaRPr lang="zh-CN" altLang="en-US"/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数学推理：需要数学概念推导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文本推理，和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DeepEyesV2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工具调用与视觉驱动推理的优势不同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强调模型文本</a:t>
            </a:r>
            <a:r>
              <a:rPr lang="zh-CN" altLang="en-US"/>
              <a:t>推理能力</a:t>
            </a:r>
            <a:endParaRPr lang="zh-CN" altLang="en-US"/>
          </a:p>
          <a:p>
            <a:r>
              <a:rPr lang="zh-CN" altLang="en-US"/>
              <a:t>过度思考、过拟合错误假设、偏离最直接的常识判断</a:t>
            </a:r>
            <a:endParaRPr lang="zh-CN" altLang="en-US"/>
          </a:p>
          <a:p>
            <a:r>
              <a:rPr lang="zh-CN" altLang="en-US" b="1"/>
              <a:t>没有特别优化模型思考</a:t>
            </a:r>
            <a:r>
              <a:rPr lang="zh-CN" altLang="en-US" b="1"/>
              <a:t>推理能力</a:t>
            </a:r>
            <a:endParaRPr lang="zh-CN" altLang="en-US" b="1"/>
          </a:p>
          <a:p>
            <a:r>
              <a:rPr lang="zh-CN" altLang="en-US"/>
              <a:t>做不到每项都是</a:t>
            </a:r>
            <a:r>
              <a:rPr lang="zh-CN" altLang="en-US"/>
              <a:t>最强。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mmeureka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想解决的问题：文本领域里类似</a:t>
            </a:r>
            <a:r>
              <a:rPr lang="en-US" altLang="zh-CN"/>
              <a:t> DeepSeek-R1 </a:t>
            </a:r>
            <a:r>
              <a:rPr lang="zh-CN" altLang="en-US"/>
              <a:t>的</a:t>
            </a:r>
            <a:r>
              <a:rPr lang="en-US" altLang="zh-CN"/>
              <a:t>“</a:t>
            </a:r>
            <a:r>
              <a:rPr lang="zh-CN" altLang="en-US"/>
              <a:t>规则奖励</a:t>
            </a:r>
            <a:r>
              <a:rPr lang="en-US" altLang="zh-CN"/>
              <a:t> + </a:t>
            </a:r>
            <a:r>
              <a:rPr lang="zh-CN" altLang="en-US"/>
              <a:t>大规模</a:t>
            </a:r>
            <a:r>
              <a:rPr lang="en-US" altLang="zh-CN"/>
              <a:t> RL”</a:t>
            </a:r>
            <a:r>
              <a:rPr lang="zh-CN" altLang="en-US"/>
              <a:t>能显著提升推理，但在多模态（图像</a:t>
            </a:r>
            <a:r>
              <a:rPr lang="en-US" altLang="zh-CN"/>
              <a:t>+</a:t>
            </a:r>
            <a:r>
              <a:rPr lang="zh-CN" altLang="en-US"/>
              <a:t>文本）上复现困难。</a:t>
            </a:r>
            <a:endParaRPr lang="zh-CN" altLang="en-US"/>
          </a:p>
          <a:p>
            <a:r>
              <a:rPr lang="zh-CN" altLang="en-US"/>
              <a:t>核心做法：将</a:t>
            </a:r>
            <a:r>
              <a:rPr lang="en-US" altLang="zh-CN"/>
              <a:t>rule-based RL</a:t>
            </a:r>
            <a:r>
              <a:rPr lang="zh-CN" altLang="en-US"/>
              <a:t>（规则定义的正确性奖励等）直接用于多模态推理训练，使模型在不依赖额外</a:t>
            </a:r>
            <a:r>
              <a:rPr lang="en-US" altLang="zh-CN"/>
              <a:t> SFT </a:t>
            </a:r>
            <a:r>
              <a:rPr lang="zh-CN" altLang="en-US"/>
              <a:t>的情况下也能学到更强的视觉推理能力。</a:t>
            </a:r>
            <a:endParaRPr lang="zh-CN" altLang="en-US"/>
          </a:p>
          <a:p>
            <a:r>
              <a:rPr lang="zh-CN" altLang="en-US"/>
              <a:t>把</a:t>
            </a:r>
            <a:r>
              <a:rPr lang="en-US" altLang="zh-CN"/>
              <a:t> MCTS</a:t>
            </a:r>
            <a:r>
              <a:rPr lang="zh-CN" altLang="en-US"/>
              <a:t>（蒙特卡洛树搜索）当成</a:t>
            </a:r>
            <a:r>
              <a:rPr lang="en-US" altLang="zh-CN"/>
              <a:t>“</a:t>
            </a:r>
            <a:r>
              <a:rPr lang="zh-CN" altLang="en-US"/>
              <a:t>解题探索器</a:t>
            </a:r>
            <a:r>
              <a:rPr lang="en-US" altLang="zh-CN"/>
              <a:t>”</a:t>
            </a:r>
            <a:r>
              <a:rPr lang="zh-CN" altLang="en-US"/>
              <a:t>，用模型在</a:t>
            </a:r>
            <a:r>
              <a:rPr lang="en-US" altLang="zh-CN"/>
              <a:t> MCTS </a:t>
            </a:r>
            <a:r>
              <a:rPr lang="zh-CN" altLang="en-US"/>
              <a:t>中需要多少次推理迭代才能解出来，作为样本难度指标；从大量开源样本里筛出更能诱导深入推理、但仍然可学的子集</a:t>
            </a:r>
            <a:endParaRPr lang="zh-CN" altLang="en-US"/>
          </a:p>
          <a:p>
            <a:r>
              <a:rPr lang="en-US" altLang="zh-CN"/>
              <a:t>VL-Rethinker</a:t>
            </a:r>
            <a:r>
              <a:rPr lang="zh-CN" altLang="en-US"/>
              <a:t>：用</a:t>
            </a:r>
            <a:r>
              <a:rPr lang="en-US" altLang="zh-CN"/>
              <a:t> RL </a:t>
            </a:r>
            <a:r>
              <a:rPr lang="zh-CN" altLang="en-US"/>
              <a:t>显式</a:t>
            </a:r>
            <a:r>
              <a:rPr lang="en-US" altLang="zh-CN"/>
              <a:t>“</a:t>
            </a:r>
            <a:r>
              <a:rPr lang="zh-CN" altLang="en-US"/>
              <a:t>激励自我反思</a:t>
            </a:r>
            <a:r>
              <a:rPr lang="en-US" altLang="zh-CN"/>
              <a:t>”</a:t>
            </a:r>
            <a:r>
              <a:rPr lang="zh-CN" altLang="en-US"/>
              <a:t>，让</a:t>
            </a:r>
            <a:r>
              <a:rPr lang="en-US" altLang="zh-CN"/>
              <a:t> VLM </a:t>
            </a:r>
            <a:r>
              <a:rPr lang="zh-CN" altLang="en-US"/>
              <a:t>真的慢思考</a:t>
            </a:r>
            <a:endParaRPr lang="zh-CN" altLang="en-US"/>
          </a:p>
          <a:p>
            <a:r>
              <a:rPr lang="zh-CN" altLang="en-US"/>
              <a:t>想解决的问题：即使有</a:t>
            </a:r>
            <a:r>
              <a:rPr lang="en-US" altLang="zh-CN"/>
              <a:t>“</a:t>
            </a:r>
            <a:r>
              <a:rPr lang="zh-CN" altLang="en-US"/>
              <a:t>慢思考</a:t>
            </a:r>
            <a:r>
              <a:rPr lang="en-US" altLang="zh-CN"/>
              <a:t>”</a:t>
            </a:r>
            <a:r>
              <a:rPr lang="zh-CN" altLang="en-US"/>
              <a:t>系统在文本上很强，多模态推理往往仍接近</a:t>
            </a:r>
            <a:r>
              <a:rPr lang="en-US" altLang="zh-CN"/>
              <a:t>“</a:t>
            </a:r>
            <a:r>
              <a:rPr lang="zh-CN" altLang="en-US"/>
              <a:t>快思考</a:t>
            </a:r>
            <a:r>
              <a:rPr lang="en-US" altLang="zh-CN"/>
              <a:t>”</a:t>
            </a:r>
            <a:r>
              <a:rPr lang="zh-CN" altLang="en-US"/>
              <a:t>水平；而且</a:t>
            </a:r>
            <a:r>
              <a:rPr lang="en-US" altLang="zh-CN"/>
              <a:t> RL </a:t>
            </a:r>
            <a:r>
              <a:rPr lang="zh-CN" altLang="en-US"/>
              <a:t>训练里容易出现优势（</a:t>
            </a:r>
            <a:r>
              <a:rPr lang="en-US" altLang="zh-CN"/>
              <a:t>advantage</a:t>
            </a:r>
            <a:r>
              <a:rPr lang="zh-CN" altLang="en-US"/>
              <a:t>）变弱、以及模型缺少真正自检反思。</a:t>
            </a:r>
            <a:endParaRPr lang="zh-CN" altLang="en-US"/>
          </a:p>
          <a:p>
            <a:r>
              <a:rPr lang="zh-CN" altLang="en-US"/>
              <a:t>核心做法：基于</a:t>
            </a:r>
            <a:r>
              <a:rPr lang="en-US" altLang="zh-CN"/>
              <a:t> GRPO </a:t>
            </a:r>
            <a:r>
              <a:rPr lang="zh-CN" altLang="en-US"/>
              <a:t>做</a:t>
            </a:r>
            <a:r>
              <a:rPr lang="en-US" altLang="zh-CN"/>
              <a:t> RL</a:t>
            </a:r>
            <a:r>
              <a:rPr lang="zh-CN" altLang="en-US"/>
              <a:t>，并引入两招：</a:t>
            </a:r>
            <a:endParaRPr lang="zh-CN" altLang="en-US"/>
          </a:p>
          <a:p>
            <a:r>
              <a:rPr lang="en-US" altLang="zh-CN"/>
              <a:t>SSR</a:t>
            </a:r>
            <a:r>
              <a:rPr lang="zh-CN" altLang="en-US"/>
              <a:t>（</a:t>
            </a:r>
            <a:r>
              <a:rPr lang="en-US" altLang="zh-CN"/>
              <a:t>Selective Sample Replay</a:t>
            </a:r>
            <a:r>
              <a:rPr lang="zh-CN" altLang="en-US"/>
              <a:t>）：用于缓解训练中的</a:t>
            </a:r>
            <a:r>
              <a:rPr lang="en-US" altLang="zh-CN"/>
              <a:t>“</a:t>
            </a:r>
            <a:r>
              <a:rPr lang="zh-CN" altLang="en-US"/>
              <a:t>优势消失</a:t>
            </a:r>
            <a:r>
              <a:rPr lang="en-US" altLang="zh-CN"/>
              <a:t>”</a:t>
            </a:r>
            <a:r>
              <a:rPr lang="zh-CN" altLang="en-US"/>
              <a:t>等问题；</a:t>
            </a:r>
            <a:endParaRPr lang="zh-CN" altLang="en-US"/>
          </a:p>
          <a:p>
            <a:r>
              <a:rPr lang="en-US" altLang="zh-CN"/>
              <a:t>Forced Rethinking</a:t>
            </a:r>
            <a:r>
              <a:rPr lang="zh-CN" altLang="en-US"/>
              <a:t>（强制再思考）：在</a:t>
            </a:r>
            <a:r>
              <a:rPr lang="en-US" altLang="zh-CN"/>
              <a:t> rollouts </a:t>
            </a:r>
            <a:r>
              <a:rPr lang="zh-CN" altLang="en-US"/>
              <a:t>末尾追加</a:t>
            </a:r>
            <a:r>
              <a:rPr lang="en-US" altLang="zh-CN"/>
              <a:t>“rethink </a:t>
            </a:r>
            <a:r>
              <a:rPr lang="zh-CN" altLang="en-US"/>
              <a:t>触发器</a:t>
            </a:r>
            <a:r>
              <a:rPr lang="en-US" altLang="zh-CN"/>
              <a:t>”</a:t>
            </a:r>
            <a:r>
              <a:rPr lang="zh-CN" altLang="en-US"/>
              <a:t>，硬性让模型多走一步自我反思</a:t>
            </a:r>
            <a:r>
              <a:rPr lang="en-US" altLang="zh-CN"/>
              <a:t>/</a:t>
            </a:r>
            <a:r>
              <a:rPr lang="zh-CN" altLang="en-US"/>
              <a:t>自我验证再输出结论。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VLAA-Thinking </a:t>
            </a:r>
            <a:r>
              <a:rPr lang="zh-CN" altLang="en-US"/>
              <a:t>数据集：既有高质量逐步推理轨迹用于</a:t>
            </a:r>
            <a:r>
              <a:rPr lang="en-US" altLang="zh-CN"/>
              <a:t> SFT</a:t>
            </a:r>
            <a:r>
              <a:rPr lang="zh-CN" altLang="en-US"/>
              <a:t>，也有更难的</a:t>
            </a:r>
            <a:r>
              <a:rPr lang="en-US" altLang="zh-CN"/>
              <a:t> RL split </a:t>
            </a:r>
            <a:r>
              <a:rPr lang="zh-CN" altLang="en-US"/>
              <a:t>来测试</a:t>
            </a:r>
            <a:r>
              <a:rPr lang="en-US" altLang="zh-CN"/>
              <a:t>/</a:t>
            </a:r>
            <a:r>
              <a:rPr lang="zh-CN" altLang="en-US"/>
              <a:t>训练真正的推理改进；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InfoSeek</a:t>
            </a:r>
            <a:r>
              <a:rPr lang="zh-CN" altLang="en-US"/>
              <a:t>本身更</a:t>
            </a:r>
            <a:r>
              <a:rPr lang="en-US" altLang="zh-CN"/>
              <a:t>“</a:t>
            </a:r>
            <a:r>
              <a:rPr lang="zh-CN" altLang="en-US"/>
              <a:t>吃</a:t>
            </a:r>
            <a:r>
              <a:rPr lang="en-US" altLang="zh-CN"/>
              <a:t>”</a:t>
            </a:r>
            <a:r>
              <a:rPr lang="zh-CN" altLang="en-US"/>
              <a:t>精细实体识别与实体链接</a:t>
            </a:r>
            <a:endParaRPr lang="zh-CN" altLang="en-US"/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InfoSeek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（要求精确实体级检索）：训练与测试分布存在差异（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DeepEyesV2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主要采用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MMSearch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训练数据）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/>
              <a:t>DeepEyesV2 </a:t>
            </a:r>
            <a:r>
              <a:rPr lang="zh-CN" altLang="en-US"/>
              <a:t>在</a:t>
            </a:r>
            <a:r>
              <a:rPr lang="en-US" altLang="zh-CN"/>
              <a:t> InfoSeek </a:t>
            </a:r>
            <a:r>
              <a:rPr lang="zh-CN" altLang="en-US"/>
              <a:t>上被更</a:t>
            </a:r>
            <a:r>
              <a:rPr lang="en-US" altLang="zh-CN"/>
              <a:t>“</a:t>
            </a:r>
            <a:r>
              <a:rPr lang="zh-CN" altLang="en-US"/>
              <a:t>纯搜索强化</a:t>
            </a:r>
            <a:r>
              <a:rPr lang="en-US" altLang="zh-CN"/>
              <a:t>”</a:t>
            </a:r>
            <a:r>
              <a:rPr lang="zh-CN" altLang="en-US"/>
              <a:t>的模型压住。这通常暗示</a:t>
            </a:r>
            <a:r>
              <a:rPr lang="en-US" altLang="zh-CN"/>
              <a:t> InfoSeek </a:t>
            </a:r>
            <a:r>
              <a:rPr lang="zh-CN" altLang="en-US"/>
              <a:t>可能更依赖：</a:t>
            </a:r>
            <a:endParaRPr lang="zh-CN" altLang="en-US"/>
          </a:p>
          <a:p>
            <a:r>
              <a:rPr lang="zh-CN" altLang="en-US"/>
              <a:t>检索召回质量</a:t>
            </a:r>
            <a:r>
              <a:rPr lang="en-US" altLang="zh-CN"/>
              <a:t> / </a:t>
            </a:r>
            <a:r>
              <a:rPr lang="zh-CN" altLang="en-US"/>
              <a:t>证据覆盖率（而不是复杂规划）</a:t>
            </a:r>
            <a:endParaRPr lang="zh-CN" altLang="en-US"/>
          </a:p>
          <a:p>
            <a:r>
              <a:rPr lang="zh-CN" altLang="en-US"/>
              <a:t>或者更严格的证据对齐与抽取（搜索模型可能优化更专门）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InfoSeek </a:t>
            </a:r>
            <a:r>
              <a:rPr lang="zh-CN" altLang="en-US"/>
              <a:t>是</a:t>
            </a:r>
            <a:r>
              <a:rPr lang="en-US" altLang="zh-CN"/>
              <a:t>“</a:t>
            </a:r>
            <a:r>
              <a:rPr lang="zh-CN" altLang="en-US"/>
              <a:t>视觉信息寻求</a:t>
            </a:r>
            <a:r>
              <a:rPr lang="en-US" altLang="zh-CN"/>
              <a:t>”VQA</a:t>
            </a:r>
            <a:r>
              <a:rPr lang="zh-CN" altLang="en-US"/>
              <a:t>：很多问题不能靠常识，关键在于先从图里识别出具体实体（往往是长尾</a:t>
            </a:r>
            <a:r>
              <a:rPr lang="en-US" altLang="zh-CN"/>
              <a:t>/</a:t>
            </a:r>
            <a:r>
              <a:rPr lang="zh-CN" altLang="en-US"/>
              <a:t>专名），再去外部知识源查证。</a:t>
            </a:r>
            <a:endParaRPr lang="zh-CN" altLang="en-US"/>
          </a:p>
          <a:p>
            <a:r>
              <a:rPr lang="en-US" altLang="zh-CN"/>
              <a:t>open-vision-language.github.io</a:t>
            </a:r>
            <a:endParaRPr lang="en-US" altLang="zh-CN"/>
          </a:p>
          <a:p>
            <a:r>
              <a:rPr lang="en-US" altLang="zh-CN"/>
              <a:t>+1</a:t>
            </a:r>
            <a:r>
              <a:rPr lang="zh-CN" altLang="en-US" b="1"/>
              <a:t>这类题的瓶颈通常不是</a:t>
            </a:r>
            <a:r>
              <a:rPr lang="en-US" altLang="zh-CN" b="1"/>
              <a:t>“</a:t>
            </a:r>
            <a:r>
              <a:rPr lang="zh-CN" altLang="en-US" b="1"/>
              <a:t>会不会推理</a:t>
            </a:r>
            <a:r>
              <a:rPr lang="en-US" altLang="zh-CN" b="1"/>
              <a:t>”</a:t>
            </a:r>
            <a:r>
              <a:rPr lang="zh-CN" altLang="en-US"/>
              <a:t>，而是：图里到底是哪一个具体地标</a:t>
            </a:r>
            <a:r>
              <a:rPr lang="en-US" altLang="zh-CN"/>
              <a:t>/</a:t>
            </a:r>
            <a:r>
              <a:rPr lang="zh-CN" altLang="en-US"/>
              <a:t>人物</a:t>
            </a:r>
            <a:r>
              <a:rPr lang="en-US" altLang="zh-CN"/>
              <a:t>/</a:t>
            </a:r>
            <a:r>
              <a:rPr lang="zh-CN" altLang="en-US"/>
              <a:t>作品（细粒度视觉实体识别）查询时能否形成正确的实体级检索</a:t>
            </a:r>
            <a:r>
              <a:rPr lang="en-US" altLang="zh-CN"/>
              <a:t> query</a:t>
            </a:r>
            <a:r>
              <a:rPr lang="zh-CN" altLang="en-US"/>
              <a:t>（</a:t>
            </a:r>
            <a:r>
              <a:rPr lang="en-US" altLang="zh-CN"/>
              <a:t>entity linking / disambiguation</a:t>
            </a:r>
            <a:r>
              <a:rPr lang="zh-CN" altLang="en-US"/>
              <a:t>）检索结果是否能稳定落到权威页面（如</a:t>
            </a:r>
            <a:r>
              <a:rPr lang="en-US" altLang="zh-CN"/>
              <a:t> Wikipedia/Wikidata</a:t>
            </a:r>
            <a:r>
              <a:rPr lang="zh-CN" altLang="en-US"/>
              <a:t>）任何一个环节小偏差，最后</a:t>
            </a:r>
            <a:r>
              <a:rPr lang="en-US" altLang="zh-CN"/>
              <a:t> EM/Accuracy </a:t>
            </a:r>
            <a:r>
              <a:rPr lang="zh-CN" altLang="en-US"/>
              <a:t>就会直接掉。</a:t>
            </a:r>
            <a:endParaRPr lang="zh-CN" altLang="en-US"/>
          </a:p>
          <a:p>
            <a:r>
              <a:rPr lang="zh-CN" altLang="en-US"/>
              <a:t>说它的</a:t>
            </a:r>
            <a:r>
              <a:rPr lang="en-US" altLang="zh-CN"/>
              <a:t> search </a:t>
            </a:r>
            <a:r>
              <a:rPr lang="zh-CN" altLang="en-US"/>
              <a:t>相关训练主要采用</a:t>
            </a:r>
            <a:r>
              <a:rPr lang="en-US" altLang="zh-CN"/>
              <a:t> MMSearch-R1</a:t>
            </a:r>
            <a:r>
              <a:rPr lang="zh-CN" altLang="en-US"/>
              <a:t>（包含图像与文本检索问题）。</a:t>
            </a:r>
            <a:endParaRPr lang="zh-CN" altLang="en-US"/>
          </a:p>
          <a:p>
            <a:r>
              <a:rPr lang="en-US" altLang="zh-CN"/>
              <a:t>arXiv</a:t>
            </a:r>
            <a:endParaRPr lang="en-US" altLang="zh-CN"/>
          </a:p>
          <a:p>
            <a:r>
              <a:rPr lang="zh-CN" altLang="en-US"/>
              <a:t>这会导致一个常见现象：在</a:t>
            </a:r>
            <a:r>
              <a:rPr lang="en-US" altLang="zh-CN"/>
              <a:t> MMSearch </a:t>
            </a:r>
            <a:r>
              <a:rPr lang="zh-CN" altLang="en-US"/>
              <a:t>上（你表里也看到）</a:t>
            </a:r>
            <a:r>
              <a:rPr lang="en-US" altLang="zh-CN"/>
              <a:t>DeepEyesV2 </a:t>
            </a:r>
            <a:r>
              <a:rPr lang="zh-CN" altLang="en-US"/>
              <a:t>大幅提升，因为训练分布贴近、工具链更适配</a:t>
            </a:r>
            <a:endParaRPr lang="zh-CN" altLang="en-US"/>
          </a:p>
          <a:p>
            <a:r>
              <a:rPr lang="zh-CN" altLang="en-US"/>
              <a:t>但</a:t>
            </a:r>
            <a:r>
              <a:rPr lang="en-US" altLang="zh-CN"/>
              <a:t> InfoSeek </a:t>
            </a:r>
            <a:r>
              <a:rPr lang="zh-CN" altLang="en-US"/>
              <a:t>的题型更偏</a:t>
            </a:r>
            <a:r>
              <a:rPr lang="en-US" altLang="zh-CN"/>
              <a:t>“</a:t>
            </a:r>
            <a:r>
              <a:rPr lang="zh-CN" altLang="en-US"/>
              <a:t>实体识别</a:t>
            </a:r>
            <a:r>
              <a:rPr lang="en-US" altLang="en-US"/>
              <a:t>→</a:t>
            </a:r>
            <a:r>
              <a:rPr lang="en-US" altLang="zh-CN"/>
              <a:t>wiki</a:t>
            </a:r>
            <a:r>
              <a:rPr lang="zh-CN" altLang="en-US"/>
              <a:t>知识核对</a:t>
            </a:r>
            <a:r>
              <a:rPr lang="en-US" altLang="zh-CN"/>
              <a:t>”</a:t>
            </a:r>
            <a:r>
              <a:rPr lang="zh-CN" altLang="en-US"/>
              <a:t>，分布差异会让</a:t>
            </a:r>
            <a:r>
              <a:rPr lang="en-US" altLang="zh-CN"/>
              <a:t>“</a:t>
            </a:r>
            <a:r>
              <a:rPr lang="zh-CN" altLang="en-US"/>
              <a:t>学到的检索</a:t>
            </a:r>
            <a:r>
              <a:rPr lang="en-US" altLang="zh-CN"/>
              <a:t>/</a:t>
            </a:r>
            <a:r>
              <a:rPr lang="zh-CN" altLang="en-US"/>
              <a:t>证据整合策略</a:t>
            </a:r>
            <a:r>
              <a:rPr lang="en-US" altLang="zh-CN"/>
              <a:t>”</a:t>
            </a:r>
            <a:r>
              <a:rPr lang="zh-CN" altLang="en-US"/>
              <a:t>迁移得不完美</a:t>
            </a:r>
            <a:endParaRPr lang="zh-CN" altLang="en-US"/>
          </a:p>
          <a:p>
            <a:r>
              <a:rPr lang="en-US" altLang="zh-CN"/>
              <a:t>RL </a:t>
            </a:r>
            <a:r>
              <a:rPr lang="zh-CN" altLang="en-US"/>
              <a:t>后模型学会</a:t>
            </a:r>
            <a:r>
              <a:rPr lang="en-US" altLang="zh-CN"/>
              <a:t>“</a:t>
            </a:r>
            <a:r>
              <a:rPr lang="zh-CN" altLang="en-US"/>
              <a:t>少用工具</a:t>
            </a:r>
            <a:r>
              <a:rPr lang="en-US" altLang="zh-CN"/>
              <a:t>”</a:t>
            </a:r>
            <a:r>
              <a:rPr lang="zh-CN" altLang="en-US"/>
              <a:t>，但</a:t>
            </a:r>
            <a:r>
              <a:rPr lang="en-US" altLang="zh-CN"/>
              <a:t> InfoSeek </a:t>
            </a:r>
            <a:r>
              <a:rPr lang="zh-CN" altLang="en-US"/>
              <a:t>往往</a:t>
            </a:r>
            <a:r>
              <a:rPr lang="en-US" altLang="zh-CN"/>
              <a:t>“</a:t>
            </a:r>
            <a:r>
              <a:rPr lang="zh-CN" altLang="en-US"/>
              <a:t>必须用搜索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SFT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只训练</a:t>
            </a:r>
            <a:r>
              <a:rPr lang="en-US" altLang="zh-CN"/>
              <a:t> perception </a:t>
            </a:r>
            <a:r>
              <a:rPr lang="zh-CN" altLang="en-US"/>
              <a:t>只涨感知不涨推理；只训练</a:t>
            </a:r>
            <a:r>
              <a:rPr lang="en-US" altLang="zh-CN"/>
              <a:t> reasoning </a:t>
            </a:r>
            <a:r>
              <a:rPr lang="zh-CN" altLang="en-US"/>
              <a:t>收益有限甚至负增；</a:t>
            </a:r>
            <a:endParaRPr lang="zh-CN" altLang="en-US"/>
          </a:p>
          <a:p>
            <a:r>
              <a:rPr lang="zh-CN" altLang="en-US"/>
              <a:t>加入</a:t>
            </a:r>
            <a:r>
              <a:rPr lang="en-US" altLang="zh-CN"/>
              <a:t> Long CoT </a:t>
            </a:r>
            <a:r>
              <a:rPr lang="zh-CN" altLang="en-US"/>
              <a:t>会显著提升推理与工具使用；</a:t>
            </a:r>
            <a:endParaRPr lang="zh-CN" altLang="en-US"/>
          </a:p>
          <a:p>
            <a:r>
              <a:rPr lang="zh-CN" altLang="en-US"/>
              <a:t>三者结合最好，说明</a:t>
            </a:r>
            <a:r>
              <a:rPr lang="en-US" altLang="zh-CN"/>
              <a:t>“</a:t>
            </a:r>
            <a:r>
              <a:rPr lang="zh-CN" altLang="en-US"/>
              <a:t>多样性</a:t>
            </a:r>
            <a:r>
              <a:rPr lang="en-US" altLang="zh-CN"/>
              <a:t> + </a:t>
            </a:r>
            <a:r>
              <a:rPr lang="zh-CN" altLang="en-US"/>
              <a:t>长链推理能力</a:t>
            </a:r>
            <a:r>
              <a:rPr lang="en-US" altLang="zh-CN"/>
              <a:t>”</a:t>
            </a:r>
            <a:r>
              <a:rPr lang="zh-CN" altLang="en-US"/>
              <a:t>是工具使用泛化的关键。</a:t>
            </a:r>
            <a:endParaRPr lang="zh-CN" altLang="en-US"/>
          </a:p>
          <a:p>
            <a:r>
              <a:rPr lang="en-US" altLang="zh-CN"/>
              <a:t>RL 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只用</a:t>
            </a:r>
            <a:r>
              <a:rPr lang="en-US" altLang="zh-CN"/>
              <a:t> perception </a:t>
            </a:r>
            <a:r>
              <a:rPr lang="zh-CN" altLang="en-US"/>
              <a:t>或只用</a:t>
            </a:r>
            <a:r>
              <a:rPr lang="en-US" altLang="zh-CN"/>
              <a:t> reasoning </a:t>
            </a:r>
            <a:r>
              <a:rPr lang="zh-CN" altLang="en-US"/>
              <a:t>都会导致其它能力下降；把</a:t>
            </a:r>
            <a:r>
              <a:rPr lang="en-US" altLang="zh-CN"/>
              <a:t> perception+reasoning </a:t>
            </a:r>
            <a:r>
              <a:rPr lang="zh-CN" altLang="en-US"/>
              <a:t>结合可同时提升两类；再加入</a:t>
            </a:r>
            <a:r>
              <a:rPr lang="en-US" altLang="zh-CN"/>
              <a:t> search </a:t>
            </a:r>
            <a:r>
              <a:rPr lang="zh-CN" altLang="en-US"/>
              <a:t>数据，会让</a:t>
            </a:r>
            <a:r>
              <a:rPr lang="en-US" altLang="zh-CN"/>
              <a:t> InfoSeek</a:t>
            </a:r>
            <a:r>
              <a:rPr lang="zh-CN" altLang="en-US"/>
              <a:t>、</a:t>
            </a:r>
            <a:r>
              <a:rPr lang="en-US" altLang="zh-CN"/>
              <a:t>MMSearch </a:t>
            </a:r>
            <a:r>
              <a:rPr lang="zh-CN" altLang="en-US"/>
              <a:t>等检索任务明显变强，整体更均衡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工具引用统计，</a:t>
            </a:r>
            <a:r>
              <a:rPr lang="en-US" altLang="zh-CN"/>
              <a:t>RL</a:t>
            </a:r>
            <a:r>
              <a:rPr lang="zh-CN" altLang="en-US"/>
              <a:t>之后学会</a:t>
            </a:r>
            <a:r>
              <a:rPr lang="zh-CN" altLang="en-US"/>
              <a:t>更多使用</a:t>
            </a:r>
            <a:r>
              <a:rPr lang="zh-CN" altLang="en-US"/>
              <a:t>工具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团队发现：输出长度在不断下降，且工具调用的平均次数也在逐步下降，但是工具调用的方差仍然很大。</a:t>
            </a:r>
            <a:endParaRPr lang="zh-CN" altLang="en-US"/>
          </a:p>
          <a:p>
            <a:r>
              <a:rPr lang="zh-CN" altLang="en-US"/>
              <a:t>一开始为了得到更多奖励，更多调用工具，后端开始真正思考，用更少的调用次数</a:t>
            </a:r>
            <a:r>
              <a:rPr lang="zh-CN" altLang="en-US"/>
              <a:t>完成简短</a:t>
            </a:r>
            <a:r>
              <a:rPr lang="zh-CN" altLang="en-US"/>
              <a:t>回答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这说明，模型并不是简单地收敛到固定的工具调用次数（比如，每个问题调用一次工具）。</a:t>
            </a:r>
            <a:endParaRPr lang="zh-CN" altLang="en-US"/>
          </a:p>
          <a:p>
            <a:r>
              <a:rPr lang="zh-CN" altLang="en-US"/>
              <a:t>相反，模型学会了自适应思考，只在必要的时候有选择地调用工具。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C00AE-59F2-4D25-A597-FC7F782084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669F0-A3FF-4831-B3C1-7CF636CA51D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tags" Target="../tags/tag15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4.xml"/><Relationship Id="rId10" Type="http://schemas.openxmlformats.org/officeDocument/2006/relationships/notesSlide" Target="../notesSlides/notesSlide8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tags" Target="../tags/tag18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tags" Target="../tags/tag21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7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tags" Target="../tags/tag3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tags" Target="../tags/tag37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tags" Target="../tags/tag40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microsoft.com/office/2007/relationships/hdphoto" Target="../media/image2.wdp"/><Relationship Id="rId4" Type="http://schemas.openxmlformats.org/officeDocument/2006/relationships/image" Target="../media/image1.png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0025" y="2538095"/>
            <a:ext cx="75114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/>
              <a:t>基于强化学习的</a:t>
            </a:r>
            <a:r>
              <a:rPr lang="en-US" altLang="zh-CN" sz="4000"/>
              <a:t>Agent</a:t>
            </a:r>
            <a:r>
              <a:rPr lang="zh-CN" altLang="en-US" sz="4000"/>
              <a:t>论文解读</a:t>
            </a:r>
            <a:endParaRPr lang="zh-CN" altLang="en-US" sz="400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9490075" y="5262245"/>
            <a:ext cx="2524125" cy="11309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张延辉</a:t>
            </a:r>
            <a:endParaRPr 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DeepResearch</a:t>
            </a:r>
            <a:r>
              <a:rPr kumimoji="1" lang="zh-CN" altLang="en-US" sz="2500" dirty="0"/>
              <a:t>系列论文</a:t>
            </a:r>
            <a:r>
              <a:rPr kumimoji="1" lang="zh-CN" altLang="en-US" sz="2500" dirty="0"/>
              <a:t>概述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05740" y="796290"/>
            <a:ext cx="9177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什么是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DeepResearch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？</a:t>
            </a:r>
            <a:r>
              <a:rPr lang="zh-CN" altLang="en-US" sz="2000" b="1">
                <a:sym typeface="+mn-ea"/>
              </a:rPr>
              <a:t>面向复杂问题的研究型</a:t>
            </a:r>
            <a:r>
              <a:rPr lang="en-US" altLang="zh-CN" sz="2000" b="1">
                <a:sym typeface="+mn-ea"/>
              </a:rPr>
              <a:t>Agent</a:t>
            </a:r>
            <a:endParaRPr lang="en-US" altLang="zh-CN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" name="图片 7" descr="应用"/>
          <p:cNvPicPr>
            <a:picLocks noChangeAspect="1"/>
          </p:cNvPicPr>
          <p:nvPr/>
        </p:nvPicPr>
        <p:blipFill>
          <a:blip r:embed="rId5"/>
          <a:srcRect l="2134" t="3143" r="49851" b="1632"/>
          <a:stretch>
            <a:fillRect/>
          </a:stretch>
        </p:blipFill>
        <p:spPr>
          <a:xfrm>
            <a:off x="3470275" y="1616075"/>
            <a:ext cx="4769485" cy="51708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1565" y="1574165"/>
            <a:ext cx="2393950" cy="52819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391275" y="1236980"/>
            <a:ext cx="259270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 b="0" i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rPr>
              <a:t>高</a:t>
            </a:r>
            <a:r>
              <a:rPr lang="zh-CN" altLang="en-US" sz="1600" b="0" i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rPr>
              <a:t>德地图</a:t>
            </a:r>
            <a:r>
              <a:rPr lang="en-US" altLang="zh-CN" sz="1600" b="0" i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600" b="0" i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rPr>
              <a:t>旅行规划</a:t>
            </a:r>
            <a:r>
              <a:rPr lang="zh-CN" altLang="en-US" sz="1600" b="0" i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rPr>
              <a:t>示例</a:t>
            </a:r>
            <a:endParaRPr lang="zh-CN" altLang="en-US" sz="1600" b="0" i="0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3295" y="1837055"/>
            <a:ext cx="1558290" cy="56705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ctr" fontAlgn="auto">
              <a:lnSpc>
                <a:spcPct val="125000"/>
              </a:lnSpc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加号 13"/>
          <p:cNvSpPr/>
          <p:nvPr/>
        </p:nvSpPr>
        <p:spPr>
          <a:xfrm>
            <a:off x="1518285" y="2540000"/>
            <a:ext cx="297815" cy="290195"/>
          </a:xfrm>
          <a:prstGeom prst="mathPlus">
            <a:avLst>
              <a:gd name="adj1" fmla="val 809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2000" y="2966085"/>
            <a:ext cx="1810385" cy="56705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ctr" fontAlgn="auto">
              <a:lnSpc>
                <a:spcPct val="125000"/>
              </a:lnSpc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多轮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加号 15"/>
          <p:cNvSpPr/>
          <p:nvPr/>
        </p:nvSpPr>
        <p:spPr>
          <a:xfrm>
            <a:off x="1518285" y="3669030"/>
            <a:ext cx="297815" cy="290195"/>
          </a:xfrm>
          <a:prstGeom prst="mathPlus">
            <a:avLst>
              <a:gd name="adj1" fmla="val 809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8965" y="4095115"/>
            <a:ext cx="2001520" cy="56705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ctr" fontAlgn="auto">
              <a:lnSpc>
                <a:spcPct val="125000"/>
              </a:lnSpc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迭代推理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加号 17"/>
          <p:cNvSpPr/>
          <p:nvPr/>
        </p:nvSpPr>
        <p:spPr>
          <a:xfrm>
            <a:off x="1518285" y="4798060"/>
            <a:ext cx="297815" cy="290195"/>
          </a:xfrm>
          <a:prstGeom prst="mathPlus">
            <a:avLst>
              <a:gd name="adj1" fmla="val 809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3270" y="5224145"/>
            <a:ext cx="1808480" cy="56705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ctr" fontAlgn="auto">
              <a:lnSpc>
                <a:spcPct val="125000"/>
              </a:lnSpc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结构化写作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DeepResearch</a:t>
            </a:r>
            <a:r>
              <a:rPr kumimoji="1" lang="zh-CN" altLang="en-US" sz="2500" dirty="0"/>
              <a:t>系列论文</a:t>
            </a:r>
            <a:r>
              <a:rPr kumimoji="1" lang="zh-CN" altLang="en-US" sz="2500" dirty="0"/>
              <a:t>概述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2275" y="793115"/>
            <a:ext cx="1717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主要内容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2178050"/>
            <a:ext cx="10447655" cy="4766310"/>
          </a:xfrm>
          <a:prstGeom prst="rect">
            <a:avLst/>
          </a:prstGeom>
        </p:spPr>
      </p:pic>
      <p:sp>
        <p:nvSpPr>
          <p:cNvPr id="3" name="右大括号 2"/>
          <p:cNvSpPr/>
          <p:nvPr/>
        </p:nvSpPr>
        <p:spPr>
          <a:xfrm>
            <a:off x="10623550" y="2427605"/>
            <a:ext cx="171450" cy="84772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右大括号 7"/>
          <p:cNvSpPr/>
          <p:nvPr/>
        </p:nvSpPr>
        <p:spPr>
          <a:xfrm>
            <a:off x="10623550" y="3736975"/>
            <a:ext cx="171450" cy="84772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大括号 8"/>
          <p:cNvSpPr/>
          <p:nvPr/>
        </p:nvSpPr>
        <p:spPr>
          <a:xfrm>
            <a:off x="10623550" y="5046980"/>
            <a:ext cx="171450" cy="162687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979785" y="2667635"/>
            <a:ext cx="1122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数据层面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979785" y="3991610"/>
            <a:ext cx="1122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训练层面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979785" y="5691505"/>
            <a:ext cx="11220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推理层面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4005" y="1041400"/>
            <a:ext cx="4303395" cy="84836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03580" y="3492500"/>
            <a:ext cx="1810385" cy="463550"/>
          </a:xfrm>
          <a:prstGeom prst="rect">
            <a:avLst/>
          </a:prstGeom>
        </p:spPr>
        <p:txBody>
          <a:bodyPr wrap="square">
            <a:noAutofit/>
          </a:bodyPr>
          <a:p>
            <a:pPr indent="0" algn="ctr" fontAlgn="auto">
              <a:lnSpc>
                <a:spcPct val="125000"/>
              </a:lnSpc>
              <a:buFont typeface="Wingdings" panose="05000000000000000000" charset="0"/>
              <a:buNone/>
            </a:pP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篇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DeepResearch</a:t>
            </a:r>
            <a:r>
              <a:rPr kumimoji="1" lang="zh-CN" altLang="en-US" sz="2500" dirty="0"/>
              <a:t>系列论文</a:t>
            </a:r>
            <a:r>
              <a:rPr kumimoji="1" lang="zh-CN" altLang="en-US" sz="2500" dirty="0"/>
              <a:t>概述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05740" y="796290"/>
            <a:ext cx="1717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数据层面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51940"/>
            <a:ext cx="12192000" cy="37534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DeepResearch</a:t>
            </a:r>
            <a:r>
              <a:rPr kumimoji="1" lang="zh-CN" altLang="en-US" sz="2500" dirty="0"/>
              <a:t>系列论文</a:t>
            </a:r>
            <a:r>
              <a:rPr kumimoji="1" lang="zh-CN" altLang="en-US" sz="2500" dirty="0"/>
              <a:t>概述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5740" y="796290"/>
            <a:ext cx="1717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训练层面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45" y="1277620"/>
            <a:ext cx="11398885" cy="51244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DeepResearch</a:t>
            </a:r>
            <a:r>
              <a:rPr kumimoji="1" lang="zh-CN" altLang="en-US" sz="2500" dirty="0"/>
              <a:t>系列论文</a:t>
            </a:r>
            <a:r>
              <a:rPr kumimoji="1" lang="zh-CN" altLang="en-US" sz="2500" dirty="0"/>
              <a:t>概述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05740" y="796290"/>
            <a:ext cx="1717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推理层面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80" y="1277620"/>
            <a:ext cx="11242040" cy="518350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80" y="1319530"/>
            <a:ext cx="10775950" cy="36601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40810" y="5436870"/>
            <a:ext cx="48304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Arxiv2025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https://arxiv.org/pdf/2508.05748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>
                <a:sym typeface="+mn-ea"/>
              </a:rPr>
              <a:t>1. </a:t>
            </a:r>
            <a:r>
              <a:rPr kumimoji="1" lang="zh-CN" altLang="en-US" sz="2500" dirty="0">
                <a:sym typeface="+mn-ea"/>
              </a:rPr>
              <a:t>研究动机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0" y="885825"/>
            <a:ext cx="9677400" cy="1171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当前许多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 Research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智能体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以文本推理为中心，忽略现实世界中的视觉信息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多模态场景下需要图像理解、跨模态推理、多工具协作能力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100" y="2299335"/>
            <a:ext cx="3185160" cy="347345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895090" y="3112770"/>
            <a:ext cx="8218170" cy="1871980"/>
            <a:chOff x="6134" y="4902"/>
            <a:chExt cx="12942" cy="294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15" y="4902"/>
              <a:ext cx="12361" cy="245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34" y="7070"/>
              <a:ext cx="1020" cy="780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/>
        </p:nvSpPr>
        <p:spPr>
          <a:xfrm>
            <a:off x="8710295" y="6363970"/>
            <a:ext cx="32067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penguin</a:t>
            </a: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：企鹅</a:t>
            </a:r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 seagull</a:t>
            </a: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：海鸥</a:t>
            </a:r>
            <a:endParaRPr lang="zh-CN" altLang="en-US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0875" y="6014720"/>
            <a:ext cx="30803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Atlantic puffin</a:t>
            </a:r>
            <a:r>
              <a:rPr lang="zh-CN" altLang="en-US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：大西洋海雀</a:t>
            </a:r>
            <a:endParaRPr lang="zh-CN" altLang="en-US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298450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2. </a:t>
            </a:r>
            <a:r>
              <a:rPr kumimoji="1" lang="zh-CN" altLang="en-US" sz="2500" dirty="0"/>
              <a:t>框架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71170" y="778510"/>
            <a:ext cx="6210935" cy="596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WebWatcher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：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多步工具调用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交叉验证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精确回答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640" y="1290320"/>
            <a:ext cx="10334625" cy="53060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298450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3. </a:t>
            </a:r>
            <a:r>
              <a:rPr kumimoji="1" lang="zh-CN" altLang="en-US" sz="2500" dirty="0"/>
              <a:t>实验：</a:t>
            </a:r>
            <a:r>
              <a:rPr kumimoji="1" lang="zh-CN" altLang="en-US" sz="2500" dirty="0"/>
              <a:t>构造数据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04470" y="730250"/>
            <a:ext cx="6995160" cy="596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数据合成流程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复杂文本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QA 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VQA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带有工具调用的轨迹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7500" y="1326515"/>
            <a:ext cx="9098280" cy="8528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fontAlgn="auto">
              <a:lnSpc>
                <a:spcPct val="125000"/>
              </a:lnSpc>
              <a:buFont typeface="+mj-ea"/>
              <a:buAutoNum type="circleNumDbPlain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复杂文本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QA 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VQA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 fontAlgn="auto">
              <a:lnSpc>
                <a:spcPct val="125000"/>
              </a:lnSpc>
              <a:buFont typeface="+mj-ea"/>
              <a:buNone/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BrowseComp-VL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Level-1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明确实体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+ 4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Level-2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模糊实体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）样本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4765" y="2179320"/>
            <a:ext cx="9745980" cy="43167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914890" y="2059940"/>
            <a:ext cx="2066925" cy="50673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Wikipedia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346690" y="3433445"/>
            <a:ext cx="1203325" cy="50673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图片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检索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下箭头 12"/>
          <p:cNvSpPr/>
          <p:nvPr/>
        </p:nvSpPr>
        <p:spPr>
          <a:xfrm>
            <a:off x="10797540" y="2753995"/>
            <a:ext cx="228600" cy="49212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979660" y="879475"/>
            <a:ext cx="1864360" cy="50673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问题中的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实体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下箭头 14"/>
          <p:cNvSpPr/>
          <p:nvPr/>
        </p:nvSpPr>
        <p:spPr>
          <a:xfrm>
            <a:off x="10797540" y="1567815"/>
            <a:ext cx="228600" cy="49212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597390" y="5140325"/>
            <a:ext cx="2496185" cy="92202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Selector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：语义相似度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Examiner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：回答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正确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321925" y="4806950"/>
            <a:ext cx="1046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GPT-4o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3" grpId="0" animBg="1"/>
      <p:bldP spid="15" grpId="0" animBg="1"/>
      <p:bldP spid="16" grpId="0"/>
      <p:bldP spid="17" grpId="0"/>
      <p:bldP spid="14" grpId="0"/>
      <p:bldP spid="3" grpId="1"/>
      <p:bldP spid="10" grpId="1"/>
      <p:bldP spid="11" grpId="1"/>
      <p:bldP spid="13" grpId="1" animBg="1"/>
      <p:bldP spid="15" grpId="1" animBg="1"/>
      <p:bldP spid="16" grpId="1"/>
      <p:bldP spid="17" grpId="1"/>
      <p:bldP spid="1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298450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3. </a:t>
            </a:r>
            <a:r>
              <a:rPr kumimoji="1" lang="zh-CN" altLang="en-US" sz="2500" dirty="0">
                <a:sym typeface="+mn-ea"/>
              </a:rPr>
              <a:t>实验：构造</a:t>
            </a:r>
            <a:r>
              <a:rPr kumimoji="1" lang="zh-CN" altLang="en-US" sz="2500" dirty="0"/>
              <a:t>数据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7500" y="901065"/>
            <a:ext cx="3559175" cy="485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+mj-ea"/>
              <a:buAutoNum type="circleNumDbPlain" startAt="2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VQA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带有工具调用的轨迹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865" y="1284605"/>
            <a:ext cx="1157986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GPT-4o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ReAct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风格推理轨迹：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思考（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&lt;think&gt;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&lt;tool_call&gt;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&lt;answer&gt;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–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&lt;tool_response&gt;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3865" y="2206625"/>
            <a:ext cx="1088707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轨迹过滤：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 fontAlgn="auto">
              <a:lnSpc>
                <a:spcPct val="125000"/>
              </a:lnSpc>
              <a:buFont typeface="Wingdings" panose="05000000000000000000" charset="0"/>
              <a:buNone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最终答案匹配：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仅保留最终答案与标准答案一致的轨迹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 fontAlgn="auto">
              <a:lnSpc>
                <a:spcPct val="125000"/>
              </a:lnSpc>
              <a:buFont typeface="Wingdings" panose="05000000000000000000" charset="0"/>
              <a:buNone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步骤一致性检查：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GPT-4o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验证每一步推理是否逻辑连贯、工具调用合理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 fontAlgn="auto">
              <a:lnSpc>
                <a:spcPct val="125000"/>
              </a:lnSpc>
              <a:buFont typeface="Wingdings" panose="05000000000000000000" charset="0"/>
              <a:buNone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最少工具调用要求（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≥3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次）：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剔除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捷径式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单步或两步解答，确保多跳、工具协同的复杂性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2203450" y="3761740"/>
          <a:ext cx="7368540" cy="2895600"/>
        </p:xfrm>
        <a:graphic>
          <a:graphicData uri="http://schemas.openxmlformats.org/drawingml/2006/table">
            <a:tbl>
              <a:tblPr firstRow="1" bandRow="1"/>
              <a:tblGrid>
                <a:gridCol w="4259580"/>
                <a:gridCol w="3108960"/>
              </a:tblGrid>
              <a:tr h="579120">
                <a:tc>
                  <a:txBody>
                    <a:bodyPr/>
                    <a:lstStyle/>
                    <a:p>
                      <a:pPr marL="0" indent="0" algn="l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Web Image Search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oogle SerpAPI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6A00"/>
                      </a:solidFill>
                      <a:prstDash val="solid"/>
                    </a:lnR>
                    <a:lnT w="12700" cap="flat" cmpd="sng" algn="ctr">
                      <a:solidFill>
                        <a:srgbClr val="FF6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/>
                      <a:r>
                        <a:rPr lang="zh-CN" altLang="en-US" sz="16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Helvetica Light"/>
                        </a:rPr>
                        <a:t>找相关图片、</a:t>
                      </a:r>
                      <a:r>
                        <a:rPr lang="en-US" altLang="zh-CN" sz="16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Helvetica Light"/>
                        </a:rPr>
                        <a:t>caption</a:t>
                      </a:r>
                      <a:r>
                        <a:rPr lang="zh-CN" altLang="en-US" sz="16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Helvetica Light"/>
                        </a:rPr>
                        <a:t>、网页</a:t>
                      </a:r>
                      <a:endParaRPr lang="zh-CN" altLang="en-US" sz="16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Helvetica Light"/>
                      </a:endParaRPr>
                    </a:p>
                  </a:txBody>
                  <a:tcPr anchor="ctr">
                    <a:lnL w="12700">
                      <a:solidFill>
                        <a:srgbClr val="FF6A00"/>
                      </a:solidFill>
                      <a:prstDash val="solid"/>
                    </a:lnL>
                    <a:lnR w="12700" cap="flat" cmpd="sng" algn="ctr">
                      <a:solidFill>
                        <a:srgbClr val="FD5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 algn="l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Web Text Search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Google SerpAPI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）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D5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6A00"/>
                      </a:solidFill>
                      <a:prstDash val="soli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/>
                      <a:r>
                        <a:rPr lang="zh-CN" altLang="en-US" sz="16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Helvetica Light"/>
                        </a:rPr>
                        <a:t>开放域文本检索</a:t>
                      </a:r>
                      <a:endParaRPr lang="zh-CN" altLang="en-US" sz="16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Helvetica Light"/>
                      </a:endParaRPr>
                    </a:p>
                  </a:txBody>
                  <a:tcPr anchor="ctr">
                    <a:lnL w="12700">
                      <a:solidFill>
                        <a:srgbClr val="FF6A00"/>
                      </a:solidFill>
                      <a:prstDash val="solid"/>
                    </a:lnL>
                    <a:lnR w="12700" cap="flat" cmpd="sng" algn="ctr">
                      <a:solidFill>
                        <a:srgbClr val="FD5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912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微软雅黑" panose="020B0503020204020204" charset="-122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微软雅黑" panose="020B0503020204020204" charset="-122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微软雅黑" panose="020B0503020204020204" charset="-122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微软雅黑" panose="020B0503020204020204" charset="-122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微软雅黑" panose="020B0503020204020204" charset="-122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微软雅黑" panose="020B0503020204020204" charset="-122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微软雅黑" panose="020B0503020204020204" charset="-122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微软雅黑" panose="020B0503020204020204" charset="-122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微软雅黑" panose="020B0503020204020204" charset="-122"/>
                        </a:defRPr>
                      </a:lvl9pPr>
                    </a:lstStyle>
                    <a:p>
                      <a:pPr marL="0" indent="0" algn="l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Visit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Jina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D5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6A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Helvetica Light"/>
                        </a:rPr>
                        <a:t>访问网页并生成</a:t>
                      </a:r>
                      <a:r>
                        <a:rPr lang="zh-CN" altLang="en-US" sz="1600" b="0" dirty="0">
                          <a:ln>
                            <a:noFill/>
                          </a:ln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Helvetica Light"/>
                        </a:rPr>
                        <a:t>目标摘要</a:t>
                      </a:r>
                      <a:endParaRPr lang="zh-CN" altLang="en-US" sz="1600" b="0" dirty="0">
                        <a:ln>
                          <a:noFill/>
                        </a:ln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Helvetica Light"/>
                      </a:endParaRPr>
                    </a:p>
                  </a:txBody>
                  <a:tcPr anchor="ctr">
                    <a:lnL w="12700">
                      <a:solidFill>
                        <a:srgbClr val="FF6A00"/>
                      </a:solidFill>
                      <a:prstDash val="solid"/>
                    </a:lnL>
                    <a:lnR w="12700" cap="flat" cmpd="sng" algn="ctr">
                      <a:solidFill>
                        <a:srgbClr val="FD5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 algn="l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Code Interpreter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D5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6A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数值推理</a:t>
                      </a:r>
                      <a:endParaRPr lang="zh-CN" altLang="en-US" sz="16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FF6A00"/>
                      </a:solidFill>
                      <a:prstDash val="solid"/>
                    </a:lnL>
                    <a:lnR w="12700" cap="flat" cmpd="sng" algn="ctr">
                      <a:solidFill>
                        <a:srgbClr val="FD5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0" indent="0" algn="l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OCR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D5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6A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E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i="0" u="none" strike="noStrike" kern="120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从输入图像中提取文本</a:t>
                      </a:r>
                      <a:endParaRPr lang="zh-CN" altLang="en-US" sz="1600" b="0" i="0" u="none" strike="noStrike" kern="120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FF6A00"/>
                      </a:solidFill>
                      <a:prstDash val="solid"/>
                    </a:lnL>
                    <a:lnR w="12700" cap="flat" cmpd="sng" algn="ctr">
                      <a:solidFill>
                        <a:srgbClr val="FD56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E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298450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3. </a:t>
            </a:r>
            <a:r>
              <a:rPr kumimoji="1" lang="zh-CN" altLang="en-US" sz="2500" dirty="0">
                <a:sym typeface="+mn-ea"/>
              </a:rPr>
              <a:t>实验：</a:t>
            </a:r>
            <a:r>
              <a:rPr kumimoji="1" lang="zh-CN" altLang="en-US" sz="2500" dirty="0"/>
              <a:t>训练策略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3540" y="692785"/>
            <a:ext cx="11157585" cy="163004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l" fontAlgn="auto">
              <a:lnSpc>
                <a:spcPct val="125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冷启动训练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25000"/>
              </a:lnSpc>
              <a:buFont typeface="Wingdings" panose="05000000000000000000" charset="0"/>
              <a:buNone/>
            </a:pP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 algn="l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使用过滤后的高质量轨迹（共约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8,000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条）对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Qwen2.5-VL-7B/32B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SFT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 algn="l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目标：教会模型理解任务、规划步骤、基本工具调用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3540" y="2733675"/>
            <a:ext cx="3642995" cy="47561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l" fontAlgn="auto">
              <a:lnSpc>
                <a:spcPct val="125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强化学习（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GRPO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325" y="4481830"/>
            <a:ext cx="3105150" cy="5334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9130" y="4586605"/>
            <a:ext cx="1085850" cy="4286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92175" y="3209290"/>
            <a:ext cx="68192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损失函数：一次采样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K=16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条完整轨迹，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2k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92175" y="3865245"/>
            <a:ext cx="16459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奖励设计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298450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4. </a:t>
            </a:r>
            <a:r>
              <a:rPr kumimoji="1" lang="zh-CN" altLang="en-US" sz="2500" dirty="0">
                <a:sym typeface="+mn-ea"/>
              </a:rPr>
              <a:t>实验结果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879715" y="3093720"/>
            <a:ext cx="4350385" cy="47561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l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复杂问题需要工具调用与多步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" y="829310"/>
            <a:ext cx="7483475" cy="57727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298450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4. </a:t>
            </a:r>
            <a:r>
              <a:rPr kumimoji="1" lang="zh-CN" altLang="en-US" sz="2500" dirty="0">
                <a:sym typeface="+mn-ea"/>
              </a:rPr>
              <a:t>实验结果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798195"/>
            <a:ext cx="8353425" cy="53467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44865" y="1883410"/>
            <a:ext cx="3747135" cy="355346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l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纯模型推理：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不可用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：明显提升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科学知识问答效果（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Bio/Chem/CS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），复杂推理仍然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乏力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25000"/>
              </a:lnSpc>
              <a:buFont typeface="Wingdings" panose="05000000000000000000" charset="0"/>
              <a:buNone/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Reasoning Model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：可以提升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推理能力，缺乏工具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：可调用工具，执行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多步复杂推理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675894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4. </a:t>
            </a:r>
            <a:r>
              <a:rPr kumimoji="1" lang="zh-CN" altLang="en-US" sz="2500" dirty="0">
                <a:sym typeface="+mn-ea"/>
              </a:rPr>
              <a:t>实验结果：工具调用分布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79880" y="6038850"/>
            <a:ext cx="9032240" cy="47561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fontAlgn="auto">
              <a:lnSpc>
                <a:spcPct val="125000"/>
              </a:lnSpc>
              <a:buFont typeface="Wingdings" panose="05000000000000000000" charset="0"/>
              <a:buChar char="p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学会动态调用工具：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Text search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永远是主力，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 search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VQA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中显著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545" y="683260"/>
            <a:ext cx="10784840" cy="53162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298450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4. </a:t>
            </a:r>
            <a:r>
              <a:rPr kumimoji="1" lang="zh-CN" altLang="en-US" sz="2500" dirty="0">
                <a:sym typeface="+mn-ea"/>
              </a:rPr>
              <a:t>实验结果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1340" y="5002530"/>
            <a:ext cx="11452225" cy="47561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fontAlgn="auto">
              <a:lnSpc>
                <a:spcPct val="125000"/>
              </a:lnSpc>
              <a:buFont typeface="Wingdings" panose="05000000000000000000" charset="0"/>
              <a:buChar char="p"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SFT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必要性：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若直接从指令微调模型启动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RL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，因工具格式错误频繁，奖励接近零，训练无法收敛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2210"/>
            <a:ext cx="12192000" cy="30035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450" y="1543685"/>
            <a:ext cx="9563100" cy="31146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40810" y="5436870"/>
            <a:ext cx="48304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Arxiv2025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https://arxiv.org/pdf/2511.05271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>
                <a:sym typeface="+mn-ea"/>
              </a:rPr>
              <a:t>1. </a:t>
            </a:r>
            <a:r>
              <a:rPr kumimoji="1" lang="zh-CN" altLang="en-US" sz="2500" dirty="0">
                <a:sym typeface="+mn-ea"/>
              </a:rPr>
              <a:t>背景：</a:t>
            </a:r>
            <a:r>
              <a:rPr kumimoji="1" lang="en-US" altLang="zh-CN" sz="2500" dirty="0">
                <a:sym typeface="+mn-ea"/>
              </a:rPr>
              <a:t>DeepEyesV1</a:t>
            </a:r>
            <a:endParaRPr kumimoji="1" lang="zh-CN" altLang="en-US" sz="25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91440" y="2402840"/>
            <a:ext cx="3566795" cy="20523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如何实现视觉信息在推理过程中真正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动态贡献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而不是静态提示：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让模型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像人类一样用图像思考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8465" y="1372870"/>
            <a:ext cx="7597775" cy="50539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05105" y="828675"/>
            <a:ext cx="7169150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Incentivizing “Thinking with Images” via Reinforcement Learning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02945" y="5720715"/>
            <a:ext cx="29552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工具：只有图像</a:t>
            </a: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放大、裁剪</a:t>
            </a:r>
            <a:endParaRPr lang="zh-CN" altLang="en-US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>
                <a:sym typeface="+mn-ea"/>
              </a:rPr>
              <a:t>2. </a:t>
            </a:r>
            <a:r>
              <a:rPr kumimoji="1" lang="zh-CN" altLang="en-US" sz="2500" dirty="0">
                <a:sym typeface="+mn-ea"/>
              </a:rPr>
              <a:t>研究动机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-10160" y="1014095"/>
            <a:ext cx="3566795" cy="44469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工具调用能力薄弱：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只能单一调用某类工具，无法形成组合策略，让模型在面对复杂任务时束手无策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无法实现多能力协同：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人类解决问题时，会自然串联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观察（感知）</a:t>
            </a:r>
            <a:r>
              <a:rPr lang="en-US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查资料（搜索）</a:t>
            </a:r>
            <a:r>
              <a:rPr lang="en-US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算结果（推理）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等步骤，但传统多模态模型却难以实现这种协同。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96000" y="5866765"/>
            <a:ext cx="35687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Moth orchid</a:t>
            </a: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：蛾兰</a:t>
            </a:r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 orchid</a:t>
            </a: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：</a:t>
            </a: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兰花</a:t>
            </a:r>
            <a:endParaRPr lang="zh-CN" altLang="en-US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635" y="770890"/>
            <a:ext cx="8544560" cy="469011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298450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3. </a:t>
            </a:r>
            <a:r>
              <a:rPr kumimoji="1" lang="zh-CN" altLang="en-US" sz="2500" dirty="0"/>
              <a:t>框架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465" y="897890"/>
            <a:ext cx="9808845" cy="56451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298450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4. </a:t>
            </a:r>
            <a:r>
              <a:rPr kumimoji="1" lang="zh-CN" altLang="en-US" sz="2500" dirty="0"/>
              <a:t>验证</a:t>
            </a:r>
            <a:r>
              <a:rPr kumimoji="1" lang="zh-CN" altLang="en-US" sz="2500" dirty="0"/>
              <a:t>性实验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34315" y="910590"/>
            <a:ext cx="803910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RL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学不会稳定工具使用，需要先进行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cold-start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SFT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" y="2990850"/>
            <a:ext cx="12192000" cy="29089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03580" y="1397000"/>
            <a:ext cx="1083564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直接在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Qwen2.5-VL-7B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上做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RL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，模型早期偶尔写代码但大量报错，后期退化为短回答，绕开工具；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工具使用奖励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又出现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reward hacking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：每题固定输出一个不可执行的占位代码块。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53310" y="6167755"/>
            <a:ext cx="70523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红线表示在单轮</a:t>
            </a:r>
            <a:r>
              <a:rPr lang="en-US" altLang="zh-CN">
                <a:sym typeface="+mn-ea"/>
              </a:rPr>
              <a:t>rollout</a:t>
            </a:r>
            <a:r>
              <a:rPr lang="zh-CN" altLang="en-US">
                <a:sym typeface="+mn-ea"/>
              </a:rPr>
              <a:t>里工具</a:t>
            </a:r>
            <a:r>
              <a:rPr lang="zh-CN" altLang="en-US">
                <a:sym typeface="+mn-ea"/>
              </a:rPr>
              <a:t>平均调用次数；蓝线表示平均响应长度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408241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5. </a:t>
            </a:r>
            <a:r>
              <a:rPr kumimoji="1" lang="zh-CN" altLang="en-US" sz="2500" dirty="0"/>
              <a:t>数据</a:t>
            </a:r>
            <a:r>
              <a:rPr kumimoji="1" lang="zh-CN" altLang="en-US" sz="2500" dirty="0"/>
              <a:t>准备：构造</a:t>
            </a:r>
            <a:r>
              <a:rPr kumimoji="1" lang="zh-CN" altLang="en-US" sz="2500" dirty="0"/>
              <a:t>训练数据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34315" y="910590"/>
            <a:ext cx="901446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实验整体流程：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cold-start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SFT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 RL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DAPO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、准确率奖励和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格式奖励）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13180" y="2043430"/>
            <a:ext cx="5600700" cy="175323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感知类数据：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需用图像裁剪、标记工具解决的问题。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推理类数据：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需用代码计算工具解决的数学问题。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搜索类数据：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需用联网工具解决的问题。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CoT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纯文本的推理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4315" y="1470660"/>
            <a:ext cx="815340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训练数据筛选：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2.5 Pro / GPT-4o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生成带有工具标记的轨迹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4315" y="4046855"/>
            <a:ext cx="224599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训练数据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过滤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3580" y="4803775"/>
            <a:ext cx="11226800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难度过滤：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只保留基础模型无法解决的问题（用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Qwen2.5-VL-7B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对每题采样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次，正确次数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≤2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才保留，去掉“太容易”的样本）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工具收益过滤：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确保工具调用能显著提升答案准确率（再让模型使用工具采样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次，按成功率分配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495" y="1536700"/>
            <a:ext cx="11652885" cy="452374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408241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5. </a:t>
            </a:r>
            <a:r>
              <a:rPr kumimoji="1" lang="zh-CN" altLang="en-US" sz="2500" dirty="0"/>
              <a:t>数据准备：</a:t>
            </a:r>
            <a:r>
              <a:rPr kumimoji="1" lang="zh-CN" altLang="en-US" sz="2500" dirty="0"/>
              <a:t>测试数据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34315" y="910590"/>
            <a:ext cx="11833860" cy="67564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p"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OCR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、表格问答（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ChartQA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）、多模态数学推理（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MathVista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MathVision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等）、多模态检索（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InfoSeek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MMSearch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4315" y="1680845"/>
            <a:ext cx="1156462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真实场景问题：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RealX-Bench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个问题），专门测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的综合能力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75" y="3042920"/>
            <a:ext cx="10982960" cy="355155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408241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5. </a:t>
            </a:r>
            <a:r>
              <a:rPr kumimoji="1" lang="zh-CN" altLang="en-US" sz="2500" dirty="0"/>
              <a:t>数据准备：数据样例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84470" y="2639060"/>
            <a:ext cx="6867525" cy="61404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问题：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在第一行中第三张图片对应的歌词里，出现了多少种不同类型的药用材料？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195" y="768985"/>
            <a:ext cx="4641215" cy="58375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284470" y="3429000"/>
            <a:ext cx="6867525" cy="113728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思考：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图片裁剪、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OCR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识别图片内容、网络搜索歌名、歌词细节、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知识推断、数值推理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答案：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493395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6. </a:t>
            </a:r>
            <a:r>
              <a:rPr kumimoji="1" lang="zh-CN" altLang="en-US" sz="2500" dirty="0"/>
              <a:t>实验结果：</a:t>
            </a:r>
            <a:r>
              <a:rPr lang="en-US" altLang="zh-CN" sz="2500">
                <a:sym typeface="+mn-ea"/>
              </a:rPr>
              <a:t>RealX-Bench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49060" y="2477770"/>
            <a:ext cx="5666105" cy="1903095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buFont typeface="Wingdings" panose="05000000000000000000" charset="0"/>
              <a:buChar char="p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RealX-Bench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：同时启用文本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图片检索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人类：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70.0%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2.5 Pro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46.0%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 fontAlgn="auto">
              <a:lnSpc>
                <a:spcPct val="125000"/>
              </a:lnSpc>
              <a:buFont typeface="Wingdings" panose="05000000000000000000" charset="0"/>
              <a:buChar char="Ø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DeepEyesV2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28.3%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，尤其在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Search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Integration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子集提升更明显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665" y="756920"/>
            <a:ext cx="5588000" cy="59429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557657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6. </a:t>
            </a:r>
            <a:r>
              <a:rPr kumimoji="1" lang="zh-CN" altLang="en-US" sz="2500" dirty="0"/>
              <a:t>实验结果：感知、推理能力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320405" y="2879725"/>
            <a:ext cx="3871595" cy="1965325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buFont typeface="Wingdings" panose="05000000000000000000" charset="0"/>
              <a:buChar char="p"/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OCR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Chart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部分数据：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需要模型有很强的视觉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理解能力和先验知识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数学推理：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没有特别优化模型思考推理能力，做不到每项都是最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buFont typeface="Wingdings" panose="05000000000000000000" charset="0"/>
              <a:buChar char="p"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45" y="748665"/>
            <a:ext cx="8267065" cy="28181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175" y="3671570"/>
            <a:ext cx="7019925" cy="31578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394398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6. </a:t>
            </a:r>
            <a:r>
              <a:rPr kumimoji="1" lang="zh-CN" altLang="en-US" sz="2500" dirty="0"/>
              <a:t>实验结果：检索能力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179955" y="5518150"/>
            <a:ext cx="7832090" cy="620395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多数需要检索的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VQA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数据中，能显著超过同尺寸的搜索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类基线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7705" y="1237615"/>
            <a:ext cx="8174355" cy="37261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386461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6. </a:t>
            </a:r>
            <a:r>
              <a:rPr kumimoji="1" lang="zh-CN" altLang="en-US" sz="2500" dirty="0"/>
              <a:t>实验结果：消融实验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411845" y="2524125"/>
            <a:ext cx="3621405" cy="198374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buFont typeface="Wingdings" panose="05000000000000000000" charset="0"/>
              <a:buChar char="p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数据多样性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SFT/RL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perception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reason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数据，收益有限甚至负增；加入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Long CoT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会显著提升推理；多样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化数据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使模型明显变强，整体更均衡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" y="887730"/>
            <a:ext cx="8308340" cy="52565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7575"/>
            <a:ext cx="12192000" cy="43878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92175" y="0"/>
            <a:ext cx="461518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6. </a:t>
            </a:r>
            <a:r>
              <a:rPr kumimoji="1" lang="zh-CN" altLang="en-US" sz="2500" dirty="0"/>
              <a:t>实验结果：工具使用分布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955415" y="5931535"/>
            <a:ext cx="4281805" cy="492125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>
                <a:sym typeface="+mn-ea"/>
              </a:rPr>
              <a:t>RL</a:t>
            </a:r>
            <a:r>
              <a:rPr lang="zh-CN" altLang="en-US" sz="2000">
                <a:sym typeface="+mn-ea"/>
              </a:rPr>
              <a:t>之后根据数据集合理使用工具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31850"/>
            <a:ext cx="12192000" cy="447421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461518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500" dirty="0"/>
              <a:t>6. </a:t>
            </a:r>
            <a:r>
              <a:rPr kumimoji="1" lang="zh-CN" altLang="en-US" sz="2500" dirty="0"/>
              <a:t>实验结果：工具使用分布</a:t>
            </a:r>
            <a:r>
              <a:rPr kumimoji="1" lang="en-US" altLang="zh-CN" sz="2500" dirty="0"/>
              <a:t> 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21310" y="4958715"/>
            <a:ext cx="11880850" cy="480695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响应长度、奖励值、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工具调用次数的动态变化：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模型学会了自适应思考，只在必要的时候有选择地调用工具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" y="1244600"/>
            <a:ext cx="12192000" cy="32512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COMMONDATA" val="eyJjb3VudCI6NjksImhkaWQiOiIyNTQyNjRmNDkxNzUzZDI3YzNmMGIxOTljNzliMTU2NCIsInVzZXJDb3VudCI6Njl9"/>
  <p:tag name="RESOURCE_RECORD_KEY" val="{&quot;29&quot;:[20740297,20740292,20750895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2781</Words>
  <Application>WPS 演示</Application>
  <PresentationFormat>宽屏</PresentationFormat>
  <Paragraphs>229</Paragraphs>
  <Slides>30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4" baseType="lpstr">
      <vt:lpstr>Arial</vt:lpstr>
      <vt:lpstr>宋体</vt:lpstr>
      <vt:lpstr>Wingdings</vt:lpstr>
      <vt:lpstr>微软雅黑</vt:lpstr>
      <vt:lpstr>Wingdings</vt:lpstr>
      <vt:lpstr>Times New Roman</vt:lpstr>
      <vt:lpstr>等线</vt:lpstr>
      <vt:lpstr>Arial Unicode MS</vt:lpstr>
      <vt:lpstr>等线 Light</vt:lpstr>
      <vt:lpstr>Helvetica Light</vt:lpstr>
      <vt:lpstr>Arial</vt:lpstr>
      <vt:lpstr>Calibri</vt:lpstr>
      <vt:lpstr>Helvetica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Trent</dc:creator>
  <cp:lastModifiedBy>墨柒子</cp:lastModifiedBy>
  <cp:revision>3700</cp:revision>
  <dcterms:created xsi:type="dcterms:W3CDTF">2019-08-05T08:55:00Z</dcterms:created>
  <dcterms:modified xsi:type="dcterms:W3CDTF">2026-01-04T07:24:16Z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KSOTemplateUUID">
    <vt:lpwstr>v1.0_mb_309qU2p8cyERvITLY45YNg==</vt:lpwstr>
  </property>
  <property fmtid="{D5CDD505-2E9C-101B-9397-08002B2CF9AE}" pid="4" name="ICV">
    <vt:lpwstr>59DA9CC6CA01423BB75A36AD0868D7C3_12</vt:lpwstr>
  </property>
</Properties>
</file>